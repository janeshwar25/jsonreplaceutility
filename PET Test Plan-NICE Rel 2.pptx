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30"/>
  </p:notesMasterIdLst>
  <p:sldIdLst>
    <p:sldId id="371" r:id="rId6"/>
    <p:sldId id="2147470047" r:id="rId7"/>
    <p:sldId id="267" r:id="rId8"/>
    <p:sldId id="269" r:id="rId9"/>
    <p:sldId id="462" r:id="rId10"/>
    <p:sldId id="469" r:id="rId11"/>
    <p:sldId id="457" r:id="rId12"/>
    <p:sldId id="459" r:id="rId13"/>
    <p:sldId id="464" r:id="rId14"/>
    <p:sldId id="470" r:id="rId15"/>
    <p:sldId id="466" r:id="rId16"/>
    <p:sldId id="2147470050" r:id="rId17"/>
    <p:sldId id="2147470052" r:id="rId18"/>
    <p:sldId id="2147470054" r:id="rId19"/>
    <p:sldId id="2147470051" r:id="rId20"/>
    <p:sldId id="2147470053" r:id="rId21"/>
    <p:sldId id="2147470048" r:id="rId22"/>
    <p:sldId id="284" r:id="rId23"/>
    <p:sldId id="468" r:id="rId24"/>
    <p:sldId id="270" r:id="rId25"/>
    <p:sldId id="285" r:id="rId26"/>
    <p:sldId id="286" r:id="rId27"/>
    <p:sldId id="287" r:id="rId28"/>
    <p:sldId id="28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46A4EF-7E86-42AB-AC7A-B8B2103DD355}" v="6" dt="2026-06-22T15:21:34.7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e, Sakshi M" userId="7e28f46d-29d6-4212-af2b-3bd53e795d4c" providerId="ADAL" clId="{C5944A2E-39D8-4194-AB08-0DBD42279927}"/>
    <pc:docChg chg="undo custSel modSld">
      <pc:chgData name="Mohite, Sakshi M" userId="7e28f46d-29d6-4212-af2b-3bd53e795d4c" providerId="ADAL" clId="{C5944A2E-39D8-4194-AB08-0DBD42279927}" dt="2026-06-22T15:21:40.003" v="17" actId="20577"/>
      <pc:docMkLst>
        <pc:docMk/>
      </pc:docMkLst>
      <pc:sldChg chg="addSp modSp mod">
        <pc:chgData name="Mohite, Sakshi M" userId="7e28f46d-29d6-4212-af2b-3bd53e795d4c" providerId="ADAL" clId="{C5944A2E-39D8-4194-AB08-0DBD42279927}" dt="2026-06-22T15:21:40.003" v="17" actId="20577"/>
        <pc:sldMkLst>
          <pc:docMk/>
          <pc:sldMk cId="4067509824" sldId="457"/>
        </pc:sldMkLst>
        <pc:spChg chg="mod">
          <ac:chgData name="Mohite, Sakshi M" userId="7e28f46d-29d6-4212-af2b-3bd53e795d4c" providerId="ADAL" clId="{C5944A2E-39D8-4194-AB08-0DBD42279927}" dt="2026-06-22T15:21:40.003" v="17" actId="20577"/>
          <ac:spMkLst>
            <pc:docMk/>
            <pc:sldMk cId="4067509824" sldId="457"/>
            <ac:spMk id="5" creationId="{EF293423-59BF-45D1-99A3-B175F7D316CC}"/>
          </ac:spMkLst>
        </pc:spChg>
        <pc:graphicFrameChg chg="add mod">
          <ac:chgData name="Mohite, Sakshi M" userId="7e28f46d-29d6-4212-af2b-3bd53e795d4c" providerId="ADAL" clId="{C5944A2E-39D8-4194-AB08-0DBD42279927}" dt="2026-06-22T15:20:52.667" v="1"/>
          <ac:graphicFrameMkLst>
            <pc:docMk/>
            <pc:sldMk cId="4067509824" sldId="457"/>
            <ac:graphicFrameMk id="3" creationId="{8556112C-1CA8-AA26-46F3-2EA187D8C6A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320E32-8704-457F-9C78-AD649C441A1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6099F-0704-4375-9700-2C3E6C3E6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31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Required</a:t>
            </a:r>
          </a:p>
          <a:p>
            <a:r>
              <a:rPr lang="en-US"/>
              <a:t>Owner: EA/Product Architect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6480">
              <a:defRPr/>
            </a:pPr>
            <a:fld id="{DF0177F8-3717-E441-ABD5-E9CC1E0ED10B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16480">
                <a:defRPr/>
              </a:pPr>
              <a:t>2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92140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10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53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66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00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46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845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5C99A-34FD-0D90-3CB5-B9AB72A81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50648-8E69-EDAF-03B2-0A4725FCE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68D18-46CB-3EB9-9759-77E574380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1B125-475F-7F35-FE14-8B7C46BC0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72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85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84031-6CE6-31B6-D093-82B9D40E3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69A7AE-920D-44E9-A6CB-905FAFED2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44E27-B2F6-F959-32F5-130F70FA2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03F83-6108-DF35-16EA-890108F8FD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D6099F-0704-4375-9700-2C3E6C3E6B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0579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4AB8F-EAB2-BD7F-F93C-4F77C4C1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875F6-F7D5-CA2A-4568-AA3E5652A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B40D0A-21FB-863D-FBB3-9C0D6EB15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D3FC5-3C62-499E-2C40-FE5A2A5CC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D6099F-0704-4375-9700-2C3E6C3E6B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49796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D4511-9F87-34C5-146E-99042A5D0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6F294-7930-14E5-E486-946CD1EC5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7DF00-790B-3F68-D390-CBD3CCA2C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882FD-CE55-365B-8D70-91094F91A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D6099F-0704-4375-9700-2C3E6C3E6B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123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B9C47-86D1-9989-9C42-198815B4F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E6A2F-E9B8-8F78-6E7F-C93203885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26678-98E9-D882-2AB5-1FB620BDB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E0533-B98D-B5C2-F778-3BB792D010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D6099F-0704-4375-9700-2C3E6C3E6B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111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DFD31-1416-B654-2847-B8DB25EF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E732C-02BA-94E9-DF42-FC4AF188A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1863B-147F-2B6A-A15A-3462FDF02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06B9D-729C-AE91-63A6-AC57DBDF2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D6099F-0704-4375-9700-2C3E6C3E6B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62330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287D1-1B6A-2702-01DB-6FE2199C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10C6F-BF66-443D-808E-0CA60FE63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238C5-0E7C-D50E-A9B5-EBD20FC72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40850-F1F0-DC20-CF97-A8DBA3C3F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72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D6892-1744-438A-9B62-65E8F896A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317A10-18E3-4C5A-8C97-68FD6F1B1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E10EE-BAED-48D6-A4CB-F7F51DDC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F85E6-8A8B-4CD7-BA56-F31CDD68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0A4C4-30E7-4C79-BBA4-B039F5256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17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B30E0-A7E0-4B71-A37F-45B5CD53C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81882-95AC-49DA-B875-0FDF4F336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7666D-19BA-46D2-A50B-E4B1A9D22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D43D0-12B0-43A2-A058-E448D1EF0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52658-0478-40EB-B583-CF32F47DB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80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AAE47-9381-4984-952D-C7C1F35A0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BCC12-DDB9-4660-88D6-A2011F9EA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08E0D-C11D-4533-9B50-5C33577EA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325C9-12C5-416F-804B-3A5B9B5D1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8328E-62A8-4C4A-96AD-7C10B1D24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6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F1CA6-86DD-44D8-9885-1774C8762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42DDF-8BE1-4108-90A3-6DD4DC441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CD360-5482-4C95-A79E-C341BF400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69E8A-AEC9-4524-831C-D577F7B69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AC211-231E-4FE5-A664-A6064877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34781-2CF2-4211-969C-8C3F0BAB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82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4C25-2508-44AE-A8ED-4C8E6FA81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296EA-E051-4C46-B970-F48BAC6D2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15475F-909A-4CE9-94D8-1F2D67235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AC902D-6328-4010-91F8-74BC7B279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C7A112-B8EA-4993-9EF9-FA705AFB51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147D22-74E9-4A09-9227-688D78A3A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DD43D5-DB00-4E8A-B6B2-CE5636909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0A7C05-6CA7-4239-A757-C14C6E05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25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8A6E5-3EB4-439D-894F-5A1FB8F3F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1E0AF0-0619-43B5-BBC6-8BFBC4BE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11DC0-C58F-4703-B9E5-FA4D865F4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E21A07-E8C9-4C70-BA0D-DD7497E5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51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FFF3C8-25FF-4599-9435-E01ABCE1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0F05A-9518-4BDB-A9B8-7C98B9886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3504E-7EF4-4F44-8943-9ACA828A0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1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BF872-17A4-4E0A-A20A-930887CB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BC2DC-3A25-43AE-BE7F-4F128DBF7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F01AD-EFD4-48FF-B49B-602063809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7B698-23F2-4685-949F-792C736F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4CBBE-B618-4DAE-BEF7-5D912678D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E50A8-FCF9-4AEC-9929-F4AADA0C1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17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BCAAC-E648-4F2E-B0EA-6CCAB422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626F6A-5E30-4DBD-96CF-22D07F465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3F760-CF2A-4300-A134-AC51BC88F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461B4-D3CA-42B7-8B65-739864C1F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93F64-E738-4359-8E89-09322D2B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CEF44-2898-493E-BACC-71892708B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2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6E17C-7CAF-4A4D-829A-A8A2C7831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D2B4A4-821F-4D98-8C49-8BF850568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EF114-216B-4335-921D-D11642283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22846-EFF6-4172-80FD-6D4D807EB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94A4E-7C9D-4539-BBAA-0C4118E8C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04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CE57C9-1BEA-4AF2-AF31-D5B0BE6287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7C8A4-861F-4238-8ACB-5E88347A0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FAB8A-0551-47D1-8EDF-A33EF6DD0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9CD88-CAD4-485C-A01C-02E343409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5AC1F-22F8-444A-8AB9-4F02A28D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84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78325" y="2378752"/>
            <a:ext cx="6349391" cy="1470025"/>
          </a:xfrm>
        </p:spPr>
        <p:txBody>
          <a:bodyPr anchor="ctr">
            <a:noAutofit/>
          </a:bodyPr>
          <a:lstStyle>
            <a:lvl1pPr>
              <a:defRPr sz="4267" spc="-68"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C1CE73-A306-824E-AF5D-DFABDA223E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109" y="5808212"/>
            <a:ext cx="2012175" cy="63152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6962A78-5F90-E849-926E-E27C20197959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14" name="Chevron 13">
              <a:extLst>
                <a:ext uri="{FF2B5EF4-FFF2-40B4-BE49-F238E27FC236}">
                  <a16:creationId xmlns:a16="http://schemas.microsoft.com/office/drawing/2014/main" id="{673B59A0-63BC-0F46-8B19-44FD67D42D94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8DDFA2FC-9DC8-3D4B-8217-398D230F5C57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6" name="Chevron 15">
              <a:extLst>
                <a:ext uri="{FF2B5EF4-FFF2-40B4-BE49-F238E27FC236}">
                  <a16:creationId xmlns:a16="http://schemas.microsoft.com/office/drawing/2014/main" id="{C54180A5-7756-E048-A966-59067574F7BA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B27F661-382B-BC47-B53A-37C814026FC3}"/>
              </a:ext>
            </a:extLst>
          </p:cNvPr>
          <p:cNvGrpSpPr/>
          <p:nvPr userDrawn="1"/>
        </p:nvGrpSpPr>
        <p:grpSpPr>
          <a:xfrm>
            <a:off x="5335596" y="6205137"/>
            <a:ext cx="3479121" cy="306732"/>
            <a:chOff x="744483" y="4848998"/>
            <a:chExt cx="2609341" cy="2300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24A353D-2250-8848-B6A0-16BF03C42779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19" name="Title 3">
              <a:extLst>
                <a:ext uri="{FF2B5EF4-FFF2-40B4-BE49-F238E27FC236}">
                  <a16:creationId xmlns:a16="http://schemas.microsoft.com/office/drawing/2014/main" id="{64EB3198-E83E-A24B-AA77-090BB5B1A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37B8663-024F-8F4F-82F1-488E09622219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935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C1CE73-A306-824E-AF5D-DFABDA223E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109" y="5808212"/>
            <a:ext cx="2012175" cy="63152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6962A78-5F90-E849-926E-E27C20197959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14" name="Chevron 13">
              <a:extLst>
                <a:ext uri="{FF2B5EF4-FFF2-40B4-BE49-F238E27FC236}">
                  <a16:creationId xmlns:a16="http://schemas.microsoft.com/office/drawing/2014/main" id="{673B59A0-63BC-0F46-8B19-44FD67D42D94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8DDFA2FC-9DC8-3D4B-8217-398D230F5C57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6" name="Chevron 15">
              <a:extLst>
                <a:ext uri="{FF2B5EF4-FFF2-40B4-BE49-F238E27FC236}">
                  <a16:creationId xmlns:a16="http://schemas.microsoft.com/office/drawing/2014/main" id="{C54180A5-7756-E048-A966-59067574F7BA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DDBE942-5C20-1049-963F-D9BDD4B704AD}"/>
              </a:ext>
            </a:extLst>
          </p:cNvPr>
          <p:cNvGrpSpPr/>
          <p:nvPr userDrawn="1"/>
        </p:nvGrpSpPr>
        <p:grpSpPr>
          <a:xfrm>
            <a:off x="5629224" y="2878492"/>
            <a:ext cx="6493017" cy="499575"/>
            <a:chOff x="4221917" y="2158866"/>
            <a:chExt cx="4869763" cy="37468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4ABAC76-EE16-9C4A-A031-E26084E221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8671" y="2175160"/>
              <a:ext cx="0" cy="358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E8C3CA4-D98A-0649-BB27-B61F761535E4}"/>
                </a:ext>
              </a:extLst>
            </p:cNvPr>
            <p:cNvSpPr txBox="1"/>
            <p:nvPr userDrawn="1"/>
          </p:nvSpPr>
          <p:spPr>
            <a:xfrm>
              <a:off x="6708459" y="2158866"/>
              <a:ext cx="2383221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3200" b="1" i="0" spc="-68" baseline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</a:rPr>
                <a:t>Better Together</a:t>
              </a:r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3B7303F-E15F-E84C-8DB3-E150AE7EF477}"/>
                </a:ext>
              </a:extLst>
            </p:cNvPr>
            <p:cNvSpPr txBox="1"/>
            <p:nvPr userDrawn="1"/>
          </p:nvSpPr>
          <p:spPr>
            <a:xfrm>
              <a:off x="4633576" y="2234023"/>
              <a:ext cx="190053" cy="225624"/>
            </a:xfrm>
            <a:custGeom>
              <a:avLst/>
              <a:gdLst/>
              <a:ahLst/>
              <a:cxnLst/>
              <a:rect l="l" t="t" r="r" b="b"/>
              <a:pathLst>
                <a:path w="190053" h="225624">
                  <a:moveTo>
                    <a:pt x="102096" y="0"/>
                  </a:moveTo>
                  <a:cubicBezTo>
                    <a:pt x="128785" y="0"/>
                    <a:pt x="150465" y="7888"/>
                    <a:pt x="167134" y="23664"/>
                  </a:cubicBezTo>
                  <a:cubicBezTo>
                    <a:pt x="177055" y="32991"/>
                    <a:pt x="184497" y="46385"/>
                    <a:pt x="189458" y="63848"/>
                  </a:cubicBezTo>
                  <a:lnTo>
                    <a:pt x="145851" y="74266"/>
                  </a:lnTo>
                  <a:cubicBezTo>
                    <a:pt x="143271" y="62955"/>
                    <a:pt x="137889" y="54025"/>
                    <a:pt x="129703" y="47477"/>
                  </a:cubicBezTo>
                  <a:cubicBezTo>
                    <a:pt x="121518" y="40928"/>
                    <a:pt x="111571" y="37654"/>
                    <a:pt x="99863" y="37654"/>
                  </a:cubicBezTo>
                  <a:cubicBezTo>
                    <a:pt x="83691" y="37654"/>
                    <a:pt x="70569" y="43458"/>
                    <a:pt x="60498" y="55067"/>
                  </a:cubicBezTo>
                  <a:cubicBezTo>
                    <a:pt x="50427" y="66675"/>
                    <a:pt x="45392" y="85477"/>
                    <a:pt x="45392" y="111473"/>
                  </a:cubicBezTo>
                  <a:cubicBezTo>
                    <a:pt x="45392" y="139055"/>
                    <a:pt x="50353" y="158701"/>
                    <a:pt x="60275" y="170409"/>
                  </a:cubicBezTo>
                  <a:cubicBezTo>
                    <a:pt x="70197" y="182116"/>
                    <a:pt x="83095" y="187970"/>
                    <a:pt x="98970" y="187970"/>
                  </a:cubicBezTo>
                  <a:cubicBezTo>
                    <a:pt x="110678" y="187970"/>
                    <a:pt x="120749" y="184250"/>
                    <a:pt x="129182" y="176808"/>
                  </a:cubicBezTo>
                  <a:cubicBezTo>
                    <a:pt x="137616" y="169367"/>
                    <a:pt x="143668" y="157659"/>
                    <a:pt x="147339" y="141685"/>
                  </a:cubicBezTo>
                  <a:lnTo>
                    <a:pt x="190053" y="155228"/>
                  </a:lnTo>
                  <a:cubicBezTo>
                    <a:pt x="183505" y="179041"/>
                    <a:pt x="172615" y="196726"/>
                    <a:pt x="157385" y="208285"/>
                  </a:cubicBezTo>
                  <a:cubicBezTo>
                    <a:pt x="142155" y="219844"/>
                    <a:pt x="122832" y="225624"/>
                    <a:pt x="99417" y="225624"/>
                  </a:cubicBezTo>
                  <a:cubicBezTo>
                    <a:pt x="70445" y="225624"/>
                    <a:pt x="46632" y="215727"/>
                    <a:pt x="27979" y="195933"/>
                  </a:cubicBezTo>
                  <a:cubicBezTo>
                    <a:pt x="9326" y="176138"/>
                    <a:pt x="0" y="149077"/>
                    <a:pt x="0" y="114747"/>
                  </a:cubicBezTo>
                  <a:cubicBezTo>
                    <a:pt x="0" y="78433"/>
                    <a:pt x="9376" y="50230"/>
                    <a:pt x="28128" y="30138"/>
                  </a:cubicBezTo>
                  <a:cubicBezTo>
                    <a:pt x="46880" y="10046"/>
                    <a:pt x="71536" y="0"/>
                    <a:pt x="1020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85B8ADC-EA55-6544-906B-071EFDD2ADDC}"/>
                </a:ext>
              </a:extLst>
            </p:cNvPr>
            <p:cNvSpPr txBox="1"/>
            <p:nvPr userDrawn="1"/>
          </p:nvSpPr>
          <p:spPr>
            <a:xfrm>
              <a:off x="4221917" y="2237745"/>
              <a:ext cx="173980" cy="221903"/>
            </a:xfrm>
            <a:custGeom>
              <a:avLst/>
              <a:gdLst/>
              <a:ahLst/>
              <a:cxnLst/>
              <a:rect l="l" t="t" r="r" b="b"/>
              <a:pathLst>
                <a:path w="173980" h="221903">
                  <a:moveTo>
                    <a:pt x="0" y="0"/>
                  </a:moveTo>
                  <a:lnTo>
                    <a:pt x="44053" y="0"/>
                  </a:lnTo>
                  <a:lnTo>
                    <a:pt x="44053" y="118170"/>
                  </a:lnTo>
                  <a:cubicBezTo>
                    <a:pt x="44053" y="136922"/>
                    <a:pt x="44599" y="149076"/>
                    <a:pt x="45690" y="154633"/>
                  </a:cubicBezTo>
                  <a:cubicBezTo>
                    <a:pt x="47575" y="163562"/>
                    <a:pt x="52065" y="170731"/>
                    <a:pt x="59159" y="176138"/>
                  </a:cubicBezTo>
                  <a:cubicBezTo>
                    <a:pt x="66253" y="181546"/>
                    <a:pt x="75952" y="184249"/>
                    <a:pt x="88255" y="184249"/>
                  </a:cubicBezTo>
                  <a:cubicBezTo>
                    <a:pt x="100757" y="184249"/>
                    <a:pt x="110182" y="181694"/>
                    <a:pt x="116532" y="176585"/>
                  </a:cubicBezTo>
                  <a:cubicBezTo>
                    <a:pt x="122882" y="171475"/>
                    <a:pt x="126702" y="165199"/>
                    <a:pt x="127992" y="157758"/>
                  </a:cubicBezTo>
                  <a:cubicBezTo>
                    <a:pt x="129282" y="150316"/>
                    <a:pt x="129927" y="137964"/>
                    <a:pt x="129927" y="120700"/>
                  </a:cubicBezTo>
                  <a:lnTo>
                    <a:pt x="129927" y="0"/>
                  </a:lnTo>
                  <a:lnTo>
                    <a:pt x="173980" y="0"/>
                  </a:lnTo>
                  <a:lnTo>
                    <a:pt x="173980" y="114598"/>
                  </a:lnTo>
                  <a:cubicBezTo>
                    <a:pt x="173980" y="140791"/>
                    <a:pt x="172789" y="159296"/>
                    <a:pt x="170408" y="170111"/>
                  </a:cubicBezTo>
                  <a:cubicBezTo>
                    <a:pt x="168027" y="180925"/>
                    <a:pt x="163636" y="190054"/>
                    <a:pt x="157237" y="197495"/>
                  </a:cubicBezTo>
                  <a:cubicBezTo>
                    <a:pt x="150837" y="204936"/>
                    <a:pt x="142280" y="210865"/>
                    <a:pt x="131564" y="215280"/>
                  </a:cubicBezTo>
                  <a:cubicBezTo>
                    <a:pt x="120848" y="219695"/>
                    <a:pt x="106859" y="221903"/>
                    <a:pt x="89595" y="221903"/>
                  </a:cubicBezTo>
                  <a:cubicBezTo>
                    <a:pt x="68759" y="221903"/>
                    <a:pt x="52958" y="219497"/>
                    <a:pt x="42193" y="214685"/>
                  </a:cubicBezTo>
                  <a:cubicBezTo>
                    <a:pt x="31428" y="209873"/>
                    <a:pt x="22920" y="203622"/>
                    <a:pt x="16669" y="195932"/>
                  </a:cubicBezTo>
                  <a:cubicBezTo>
                    <a:pt x="10418" y="188243"/>
                    <a:pt x="6300" y="180181"/>
                    <a:pt x="4316" y="171748"/>
                  </a:cubicBezTo>
                  <a:cubicBezTo>
                    <a:pt x="1439" y="159246"/>
                    <a:pt x="0" y="140791"/>
                    <a:pt x="0" y="1163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FC94635-322A-2C4E-94AC-588E33D0DB81}"/>
                </a:ext>
              </a:extLst>
            </p:cNvPr>
            <p:cNvSpPr txBox="1"/>
            <p:nvPr userDrawn="1"/>
          </p:nvSpPr>
          <p:spPr>
            <a:xfrm>
              <a:off x="4431913" y="2237744"/>
              <a:ext cx="174427" cy="218182"/>
            </a:xfrm>
            <a:custGeom>
              <a:avLst/>
              <a:gdLst/>
              <a:ahLst/>
              <a:cxnLst/>
              <a:rect l="l" t="t" r="r" b="b"/>
              <a:pathLst>
                <a:path w="174427" h="218182">
                  <a:moveTo>
                    <a:pt x="0" y="0"/>
                  </a:moveTo>
                  <a:lnTo>
                    <a:pt x="44054" y="0"/>
                  </a:lnTo>
                  <a:lnTo>
                    <a:pt x="44054" y="85874"/>
                  </a:lnTo>
                  <a:lnTo>
                    <a:pt x="130374" y="85874"/>
                  </a:lnTo>
                  <a:lnTo>
                    <a:pt x="130374" y="0"/>
                  </a:lnTo>
                  <a:lnTo>
                    <a:pt x="174427" y="0"/>
                  </a:lnTo>
                  <a:lnTo>
                    <a:pt x="174427" y="218182"/>
                  </a:lnTo>
                  <a:lnTo>
                    <a:pt x="130374" y="218182"/>
                  </a:lnTo>
                  <a:lnTo>
                    <a:pt x="130374" y="122783"/>
                  </a:lnTo>
                  <a:lnTo>
                    <a:pt x="44054" y="122783"/>
                  </a:lnTo>
                  <a:lnTo>
                    <a:pt x="44054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6891785-D783-D04D-B092-61D9C04EA8EC}"/>
                </a:ext>
              </a:extLst>
            </p:cNvPr>
            <p:cNvSpPr txBox="1"/>
            <p:nvPr userDrawn="1"/>
          </p:nvSpPr>
          <p:spPr>
            <a:xfrm>
              <a:off x="4835238" y="2237744"/>
              <a:ext cx="173384" cy="218182"/>
            </a:xfrm>
            <a:custGeom>
              <a:avLst/>
              <a:gdLst/>
              <a:ahLst/>
              <a:cxnLst/>
              <a:rect l="l" t="t" r="r" b="b"/>
              <a:pathLst>
                <a:path w="173384" h="218182">
                  <a:moveTo>
                    <a:pt x="0" y="0"/>
                  </a:moveTo>
                  <a:lnTo>
                    <a:pt x="173384" y="0"/>
                  </a:lnTo>
                  <a:lnTo>
                    <a:pt x="173384" y="36909"/>
                  </a:lnTo>
                  <a:lnTo>
                    <a:pt x="108793" y="36909"/>
                  </a:lnTo>
                  <a:lnTo>
                    <a:pt x="108793" y="218182"/>
                  </a:lnTo>
                  <a:lnTo>
                    <a:pt x="64740" y="218182"/>
                  </a:lnTo>
                  <a:lnTo>
                    <a:pt x="64740" y="36909"/>
                  </a:lnTo>
                  <a:lnTo>
                    <a:pt x="0" y="36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3651B17-76E2-854A-9AE8-173330B26C25}"/>
                </a:ext>
              </a:extLst>
            </p:cNvPr>
            <p:cNvSpPr txBox="1"/>
            <p:nvPr userDrawn="1"/>
          </p:nvSpPr>
          <p:spPr>
            <a:xfrm>
              <a:off x="5336193" y="2237744"/>
              <a:ext cx="143917" cy="218182"/>
            </a:xfrm>
            <a:custGeom>
              <a:avLst/>
              <a:gdLst/>
              <a:ahLst/>
              <a:cxnLst/>
              <a:rect l="l" t="t" r="r" b="b"/>
              <a:pathLst>
                <a:path w="143917" h="218182">
                  <a:moveTo>
                    <a:pt x="0" y="0"/>
                  </a:moveTo>
                  <a:lnTo>
                    <a:pt x="41821" y="0"/>
                  </a:lnTo>
                  <a:lnTo>
                    <a:pt x="41821" y="80218"/>
                  </a:lnTo>
                  <a:cubicBezTo>
                    <a:pt x="55315" y="64443"/>
                    <a:pt x="71438" y="56555"/>
                    <a:pt x="90190" y="56555"/>
                  </a:cubicBezTo>
                  <a:cubicBezTo>
                    <a:pt x="99814" y="56555"/>
                    <a:pt x="108496" y="58341"/>
                    <a:pt x="116235" y="61913"/>
                  </a:cubicBezTo>
                  <a:cubicBezTo>
                    <a:pt x="123974" y="65484"/>
                    <a:pt x="129803" y="70049"/>
                    <a:pt x="133722" y="75605"/>
                  </a:cubicBezTo>
                  <a:cubicBezTo>
                    <a:pt x="137641" y="81161"/>
                    <a:pt x="140320" y="87313"/>
                    <a:pt x="141759" y="94059"/>
                  </a:cubicBezTo>
                  <a:cubicBezTo>
                    <a:pt x="143197" y="100806"/>
                    <a:pt x="143917" y="111274"/>
                    <a:pt x="143917" y="125462"/>
                  </a:cubicBezTo>
                  <a:lnTo>
                    <a:pt x="143917" y="218182"/>
                  </a:lnTo>
                  <a:lnTo>
                    <a:pt x="102096" y="218182"/>
                  </a:lnTo>
                  <a:lnTo>
                    <a:pt x="102096" y="134690"/>
                  </a:lnTo>
                  <a:cubicBezTo>
                    <a:pt x="102096" y="118120"/>
                    <a:pt x="101302" y="107603"/>
                    <a:pt x="99715" y="103138"/>
                  </a:cubicBezTo>
                  <a:cubicBezTo>
                    <a:pt x="98128" y="98673"/>
                    <a:pt x="95325" y="95126"/>
                    <a:pt x="91306" y="92497"/>
                  </a:cubicBezTo>
                  <a:cubicBezTo>
                    <a:pt x="87288" y="89867"/>
                    <a:pt x="82252" y="88553"/>
                    <a:pt x="76200" y="88553"/>
                  </a:cubicBezTo>
                  <a:cubicBezTo>
                    <a:pt x="69255" y="88553"/>
                    <a:pt x="63054" y="90240"/>
                    <a:pt x="57597" y="93613"/>
                  </a:cubicBezTo>
                  <a:cubicBezTo>
                    <a:pt x="52140" y="96986"/>
                    <a:pt x="48146" y="102071"/>
                    <a:pt x="45616" y="108868"/>
                  </a:cubicBezTo>
                  <a:cubicBezTo>
                    <a:pt x="43086" y="115664"/>
                    <a:pt x="41821" y="125710"/>
                    <a:pt x="41821" y="139006"/>
                  </a:cubicBezTo>
                  <a:lnTo>
                    <a:pt x="41821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B56E0-DBB7-1140-91A3-4BFC37341F76}"/>
                </a:ext>
              </a:extLst>
            </p:cNvPr>
            <p:cNvSpPr txBox="1"/>
            <p:nvPr userDrawn="1"/>
          </p:nvSpPr>
          <p:spPr>
            <a:xfrm>
              <a:off x="5879267" y="2237744"/>
              <a:ext cx="41821" cy="218182"/>
            </a:xfrm>
            <a:custGeom>
              <a:avLst/>
              <a:gdLst/>
              <a:ahLst/>
              <a:cxnLst/>
              <a:rect l="l" t="t" r="r" b="b"/>
              <a:pathLst>
                <a:path w="41821" h="218182">
                  <a:moveTo>
                    <a:pt x="0" y="0"/>
                  </a:moveTo>
                  <a:lnTo>
                    <a:pt x="41821" y="0"/>
                  </a:lnTo>
                  <a:lnTo>
                    <a:pt x="41821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1686D8C-3165-114E-97BD-E8628EC7F395}"/>
                </a:ext>
              </a:extLst>
            </p:cNvPr>
            <p:cNvSpPr txBox="1"/>
            <p:nvPr userDrawn="1"/>
          </p:nvSpPr>
          <p:spPr>
            <a:xfrm>
              <a:off x="5000288" y="2294300"/>
              <a:ext cx="147675" cy="165199"/>
            </a:xfrm>
            <a:custGeom>
              <a:avLst/>
              <a:gdLst/>
              <a:ahLst/>
              <a:cxnLst/>
              <a:rect l="l" t="t" r="r" b="b"/>
              <a:pathLst>
                <a:path w="147675" h="165199">
                  <a:moveTo>
                    <a:pt x="72479" y="0"/>
                  </a:moveTo>
                  <a:cubicBezTo>
                    <a:pt x="95994" y="0"/>
                    <a:pt x="114548" y="7764"/>
                    <a:pt x="128141" y="23291"/>
                  </a:cubicBezTo>
                  <a:cubicBezTo>
                    <a:pt x="141734" y="38819"/>
                    <a:pt x="148233" y="62607"/>
                    <a:pt x="147638" y="94654"/>
                  </a:cubicBezTo>
                  <a:lnTo>
                    <a:pt x="42863" y="94654"/>
                  </a:lnTo>
                  <a:cubicBezTo>
                    <a:pt x="43160" y="107057"/>
                    <a:pt x="46534" y="116706"/>
                    <a:pt x="52983" y="123602"/>
                  </a:cubicBezTo>
                  <a:cubicBezTo>
                    <a:pt x="59432" y="130497"/>
                    <a:pt x="67469" y="133945"/>
                    <a:pt x="77093" y="133945"/>
                  </a:cubicBezTo>
                  <a:cubicBezTo>
                    <a:pt x="83641" y="133945"/>
                    <a:pt x="89148" y="132159"/>
                    <a:pt x="93613" y="128587"/>
                  </a:cubicBezTo>
                  <a:cubicBezTo>
                    <a:pt x="98078" y="125015"/>
                    <a:pt x="101451" y="119261"/>
                    <a:pt x="103733" y="111323"/>
                  </a:cubicBezTo>
                  <a:lnTo>
                    <a:pt x="145405" y="118318"/>
                  </a:lnTo>
                  <a:cubicBezTo>
                    <a:pt x="140047" y="133598"/>
                    <a:pt x="131589" y="145231"/>
                    <a:pt x="120030" y="153218"/>
                  </a:cubicBezTo>
                  <a:cubicBezTo>
                    <a:pt x="108471" y="161205"/>
                    <a:pt x="94010" y="165199"/>
                    <a:pt x="76647" y="165199"/>
                  </a:cubicBezTo>
                  <a:cubicBezTo>
                    <a:pt x="49163" y="165199"/>
                    <a:pt x="28823" y="156220"/>
                    <a:pt x="15627" y="138261"/>
                  </a:cubicBezTo>
                  <a:cubicBezTo>
                    <a:pt x="5209" y="123874"/>
                    <a:pt x="0" y="105717"/>
                    <a:pt x="0" y="83790"/>
                  </a:cubicBezTo>
                  <a:cubicBezTo>
                    <a:pt x="0" y="57596"/>
                    <a:pt x="6846" y="37083"/>
                    <a:pt x="20538" y="22250"/>
                  </a:cubicBezTo>
                  <a:cubicBezTo>
                    <a:pt x="34231" y="7416"/>
                    <a:pt x="51544" y="0"/>
                    <a:pt x="72479" y="0"/>
                  </a:cubicBezTo>
                  <a:close/>
                  <a:moveTo>
                    <a:pt x="75009" y="31998"/>
                  </a:moveTo>
                  <a:cubicBezTo>
                    <a:pt x="65881" y="31998"/>
                    <a:pt x="58341" y="35322"/>
                    <a:pt x="52388" y="41969"/>
                  </a:cubicBezTo>
                  <a:cubicBezTo>
                    <a:pt x="46434" y="48617"/>
                    <a:pt x="43507" y="57646"/>
                    <a:pt x="43607" y="69056"/>
                  </a:cubicBezTo>
                  <a:lnTo>
                    <a:pt x="106114" y="69056"/>
                  </a:lnTo>
                  <a:cubicBezTo>
                    <a:pt x="105817" y="56951"/>
                    <a:pt x="102691" y="47749"/>
                    <a:pt x="96738" y="41448"/>
                  </a:cubicBezTo>
                  <a:cubicBezTo>
                    <a:pt x="90785" y="35148"/>
                    <a:pt x="83542" y="31998"/>
                    <a:pt x="75009" y="319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285349C-A7B3-7645-B904-34B35CE09072}"/>
                </a:ext>
              </a:extLst>
            </p:cNvPr>
            <p:cNvSpPr txBox="1"/>
            <p:nvPr userDrawn="1"/>
          </p:nvSpPr>
          <p:spPr>
            <a:xfrm>
              <a:off x="5165190" y="2294300"/>
              <a:ext cx="149125" cy="165199"/>
            </a:xfrm>
            <a:custGeom>
              <a:avLst/>
              <a:gdLst/>
              <a:ahLst/>
              <a:cxnLst/>
              <a:rect l="l" t="t" r="r" b="b"/>
              <a:pathLst>
                <a:path w="149125" h="165199">
                  <a:moveTo>
                    <a:pt x="76646" y="0"/>
                  </a:moveTo>
                  <a:cubicBezTo>
                    <a:pt x="95894" y="0"/>
                    <a:pt x="111199" y="4142"/>
                    <a:pt x="122560" y="12427"/>
                  </a:cubicBezTo>
                  <a:cubicBezTo>
                    <a:pt x="133920" y="20712"/>
                    <a:pt x="142081" y="33337"/>
                    <a:pt x="147042" y="50304"/>
                  </a:cubicBezTo>
                  <a:lnTo>
                    <a:pt x="105816" y="57745"/>
                  </a:lnTo>
                  <a:cubicBezTo>
                    <a:pt x="104427" y="49510"/>
                    <a:pt x="101277" y="43309"/>
                    <a:pt x="96366" y="39142"/>
                  </a:cubicBezTo>
                  <a:cubicBezTo>
                    <a:pt x="91454" y="34974"/>
                    <a:pt x="85080" y="32891"/>
                    <a:pt x="77241" y="32891"/>
                  </a:cubicBezTo>
                  <a:cubicBezTo>
                    <a:pt x="66823" y="32891"/>
                    <a:pt x="58514" y="36487"/>
                    <a:pt x="52313" y="43681"/>
                  </a:cubicBezTo>
                  <a:cubicBezTo>
                    <a:pt x="46112" y="50874"/>
                    <a:pt x="43011" y="62904"/>
                    <a:pt x="43011" y="79772"/>
                  </a:cubicBezTo>
                  <a:cubicBezTo>
                    <a:pt x="43011" y="98524"/>
                    <a:pt x="46161" y="111770"/>
                    <a:pt x="52462" y="119509"/>
                  </a:cubicBezTo>
                  <a:cubicBezTo>
                    <a:pt x="58762" y="127248"/>
                    <a:pt x="67220" y="131117"/>
                    <a:pt x="77837" y="131117"/>
                  </a:cubicBezTo>
                  <a:cubicBezTo>
                    <a:pt x="85774" y="131117"/>
                    <a:pt x="92273" y="128860"/>
                    <a:pt x="97333" y="124346"/>
                  </a:cubicBezTo>
                  <a:cubicBezTo>
                    <a:pt x="102393" y="119831"/>
                    <a:pt x="105965" y="112067"/>
                    <a:pt x="108049" y="101054"/>
                  </a:cubicBezTo>
                  <a:lnTo>
                    <a:pt x="149125" y="108049"/>
                  </a:lnTo>
                  <a:cubicBezTo>
                    <a:pt x="144859" y="126901"/>
                    <a:pt x="136673" y="141138"/>
                    <a:pt x="124569" y="150763"/>
                  </a:cubicBezTo>
                  <a:cubicBezTo>
                    <a:pt x="112464" y="160387"/>
                    <a:pt x="96242" y="165199"/>
                    <a:pt x="75902" y="165199"/>
                  </a:cubicBezTo>
                  <a:cubicBezTo>
                    <a:pt x="52784" y="165199"/>
                    <a:pt x="34354" y="157906"/>
                    <a:pt x="20612" y="143321"/>
                  </a:cubicBezTo>
                  <a:cubicBezTo>
                    <a:pt x="6871" y="128736"/>
                    <a:pt x="0" y="108545"/>
                    <a:pt x="0" y="82748"/>
                  </a:cubicBezTo>
                  <a:cubicBezTo>
                    <a:pt x="0" y="56654"/>
                    <a:pt x="6895" y="36339"/>
                    <a:pt x="20687" y="21803"/>
                  </a:cubicBezTo>
                  <a:cubicBezTo>
                    <a:pt x="34478" y="7268"/>
                    <a:pt x="53131" y="0"/>
                    <a:pt x="766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7B7D536-858E-3042-939D-08F6CE80A072}"/>
                </a:ext>
              </a:extLst>
            </p:cNvPr>
            <p:cNvSpPr txBox="1"/>
            <p:nvPr userDrawn="1"/>
          </p:nvSpPr>
          <p:spPr>
            <a:xfrm>
              <a:off x="5517019" y="2294300"/>
              <a:ext cx="144066" cy="161627"/>
            </a:xfrm>
            <a:custGeom>
              <a:avLst/>
              <a:gdLst/>
              <a:ahLst/>
              <a:cxnLst/>
              <a:rect l="l" t="t" r="r" b="b"/>
              <a:pathLst>
                <a:path w="144066" h="161627">
                  <a:moveTo>
                    <a:pt x="90934" y="0"/>
                  </a:moveTo>
                  <a:cubicBezTo>
                    <a:pt x="100162" y="0"/>
                    <a:pt x="108595" y="1662"/>
                    <a:pt x="116235" y="4986"/>
                  </a:cubicBezTo>
                  <a:cubicBezTo>
                    <a:pt x="123875" y="8309"/>
                    <a:pt x="129654" y="12551"/>
                    <a:pt x="133574" y="17710"/>
                  </a:cubicBezTo>
                  <a:cubicBezTo>
                    <a:pt x="137493" y="22870"/>
                    <a:pt x="140221" y="28724"/>
                    <a:pt x="141759" y="35272"/>
                  </a:cubicBezTo>
                  <a:cubicBezTo>
                    <a:pt x="143297" y="41821"/>
                    <a:pt x="144066" y="51197"/>
                    <a:pt x="144066" y="63401"/>
                  </a:cubicBezTo>
                  <a:lnTo>
                    <a:pt x="144066" y="161627"/>
                  </a:lnTo>
                  <a:lnTo>
                    <a:pt x="102245" y="161627"/>
                  </a:lnTo>
                  <a:lnTo>
                    <a:pt x="102245" y="80962"/>
                  </a:lnTo>
                  <a:cubicBezTo>
                    <a:pt x="102245" y="63897"/>
                    <a:pt x="101352" y="52859"/>
                    <a:pt x="99566" y="47848"/>
                  </a:cubicBezTo>
                  <a:cubicBezTo>
                    <a:pt x="97780" y="42837"/>
                    <a:pt x="94878" y="38943"/>
                    <a:pt x="90860" y="36165"/>
                  </a:cubicBezTo>
                  <a:cubicBezTo>
                    <a:pt x="86841" y="33387"/>
                    <a:pt x="82005" y="31998"/>
                    <a:pt x="76349" y="31998"/>
                  </a:cubicBezTo>
                  <a:cubicBezTo>
                    <a:pt x="69106" y="31998"/>
                    <a:pt x="62607" y="33982"/>
                    <a:pt x="56853" y="37951"/>
                  </a:cubicBezTo>
                  <a:cubicBezTo>
                    <a:pt x="51098" y="41920"/>
                    <a:pt x="47154" y="47178"/>
                    <a:pt x="45021" y="53727"/>
                  </a:cubicBezTo>
                  <a:cubicBezTo>
                    <a:pt x="42887" y="60275"/>
                    <a:pt x="41821" y="72380"/>
                    <a:pt x="41821" y="90041"/>
                  </a:cubicBezTo>
                  <a:lnTo>
                    <a:pt x="41821" y="161627"/>
                  </a:lnTo>
                  <a:lnTo>
                    <a:pt x="0" y="161627"/>
                  </a:lnTo>
                  <a:lnTo>
                    <a:pt x="0" y="3572"/>
                  </a:lnTo>
                  <a:lnTo>
                    <a:pt x="38844" y="3572"/>
                  </a:lnTo>
                  <a:lnTo>
                    <a:pt x="38844" y="26789"/>
                  </a:lnTo>
                  <a:cubicBezTo>
                    <a:pt x="52636" y="8929"/>
                    <a:pt x="69999" y="0"/>
                    <a:pt x="909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5FF8F98-788B-C346-AEA6-89E493CA8DEA}"/>
                </a:ext>
              </a:extLst>
            </p:cNvPr>
            <p:cNvSpPr txBox="1"/>
            <p:nvPr userDrawn="1"/>
          </p:nvSpPr>
          <p:spPr>
            <a:xfrm>
              <a:off x="5688618" y="2294300"/>
              <a:ext cx="163116" cy="165199"/>
            </a:xfrm>
            <a:custGeom>
              <a:avLst/>
              <a:gdLst/>
              <a:ahLst/>
              <a:cxnLst/>
              <a:rect l="l" t="t" r="r" b="b"/>
              <a:pathLst>
                <a:path w="163116" h="165199">
                  <a:moveTo>
                    <a:pt x="81409" y="0"/>
                  </a:moveTo>
                  <a:cubicBezTo>
                    <a:pt x="105321" y="0"/>
                    <a:pt x="124916" y="7764"/>
                    <a:pt x="140196" y="23291"/>
                  </a:cubicBezTo>
                  <a:cubicBezTo>
                    <a:pt x="155476" y="38819"/>
                    <a:pt x="163116" y="58440"/>
                    <a:pt x="163116" y="82153"/>
                  </a:cubicBezTo>
                  <a:cubicBezTo>
                    <a:pt x="163116" y="106065"/>
                    <a:pt x="155401" y="125884"/>
                    <a:pt x="139973" y="141610"/>
                  </a:cubicBezTo>
                  <a:cubicBezTo>
                    <a:pt x="124544" y="157336"/>
                    <a:pt x="105122" y="165199"/>
                    <a:pt x="81707" y="165199"/>
                  </a:cubicBezTo>
                  <a:cubicBezTo>
                    <a:pt x="67221" y="165199"/>
                    <a:pt x="53405" y="161925"/>
                    <a:pt x="40258" y="155376"/>
                  </a:cubicBezTo>
                  <a:cubicBezTo>
                    <a:pt x="27112" y="148828"/>
                    <a:pt x="17115" y="139228"/>
                    <a:pt x="10269" y="126578"/>
                  </a:cubicBezTo>
                  <a:cubicBezTo>
                    <a:pt x="3423" y="113928"/>
                    <a:pt x="0" y="98524"/>
                    <a:pt x="0" y="80367"/>
                  </a:cubicBezTo>
                  <a:cubicBezTo>
                    <a:pt x="0" y="66476"/>
                    <a:pt x="3423" y="53032"/>
                    <a:pt x="10269" y="40035"/>
                  </a:cubicBezTo>
                  <a:cubicBezTo>
                    <a:pt x="17115" y="27037"/>
                    <a:pt x="26814" y="17115"/>
                    <a:pt x="39365" y="10269"/>
                  </a:cubicBezTo>
                  <a:cubicBezTo>
                    <a:pt x="51916" y="3423"/>
                    <a:pt x="65931" y="0"/>
                    <a:pt x="81409" y="0"/>
                  </a:cubicBezTo>
                  <a:close/>
                  <a:moveTo>
                    <a:pt x="81558" y="34081"/>
                  </a:moveTo>
                  <a:cubicBezTo>
                    <a:pt x="70644" y="34081"/>
                    <a:pt x="61466" y="38249"/>
                    <a:pt x="54025" y="46583"/>
                  </a:cubicBezTo>
                  <a:cubicBezTo>
                    <a:pt x="46583" y="54917"/>
                    <a:pt x="42863" y="66923"/>
                    <a:pt x="42863" y="82599"/>
                  </a:cubicBezTo>
                  <a:cubicBezTo>
                    <a:pt x="42863" y="98276"/>
                    <a:pt x="46583" y="110281"/>
                    <a:pt x="54025" y="118616"/>
                  </a:cubicBezTo>
                  <a:cubicBezTo>
                    <a:pt x="61466" y="126950"/>
                    <a:pt x="70644" y="131117"/>
                    <a:pt x="81558" y="131117"/>
                  </a:cubicBezTo>
                  <a:cubicBezTo>
                    <a:pt x="92472" y="131117"/>
                    <a:pt x="101625" y="126950"/>
                    <a:pt x="109017" y="118616"/>
                  </a:cubicBezTo>
                  <a:cubicBezTo>
                    <a:pt x="116408" y="110281"/>
                    <a:pt x="120104" y="98177"/>
                    <a:pt x="120104" y="82302"/>
                  </a:cubicBezTo>
                  <a:cubicBezTo>
                    <a:pt x="120104" y="66824"/>
                    <a:pt x="116408" y="54917"/>
                    <a:pt x="109017" y="46583"/>
                  </a:cubicBezTo>
                  <a:cubicBezTo>
                    <a:pt x="101625" y="38249"/>
                    <a:pt x="92472" y="34081"/>
                    <a:pt x="81558" y="34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2960768-09EF-714E-810E-CDE100123881}"/>
                </a:ext>
              </a:extLst>
            </p:cNvPr>
            <p:cNvSpPr txBox="1"/>
            <p:nvPr userDrawn="1"/>
          </p:nvSpPr>
          <p:spPr>
            <a:xfrm>
              <a:off x="5945793" y="2294300"/>
              <a:ext cx="163116" cy="165199"/>
            </a:xfrm>
            <a:custGeom>
              <a:avLst/>
              <a:gdLst/>
              <a:ahLst/>
              <a:cxnLst/>
              <a:rect l="l" t="t" r="r" b="b"/>
              <a:pathLst>
                <a:path w="163116" h="165199">
                  <a:moveTo>
                    <a:pt x="81409" y="0"/>
                  </a:moveTo>
                  <a:cubicBezTo>
                    <a:pt x="105321" y="0"/>
                    <a:pt x="124916" y="7764"/>
                    <a:pt x="140196" y="23291"/>
                  </a:cubicBezTo>
                  <a:cubicBezTo>
                    <a:pt x="155476" y="38819"/>
                    <a:pt x="163116" y="58440"/>
                    <a:pt x="163116" y="82153"/>
                  </a:cubicBezTo>
                  <a:cubicBezTo>
                    <a:pt x="163116" y="106065"/>
                    <a:pt x="155401" y="125884"/>
                    <a:pt x="139973" y="141610"/>
                  </a:cubicBezTo>
                  <a:cubicBezTo>
                    <a:pt x="124544" y="157336"/>
                    <a:pt x="105122" y="165199"/>
                    <a:pt x="81707" y="165199"/>
                  </a:cubicBezTo>
                  <a:cubicBezTo>
                    <a:pt x="67221" y="165199"/>
                    <a:pt x="53405" y="161925"/>
                    <a:pt x="40258" y="155376"/>
                  </a:cubicBezTo>
                  <a:cubicBezTo>
                    <a:pt x="27112" y="148828"/>
                    <a:pt x="17115" y="139228"/>
                    <a:pt x="10269" y="126578"/>
                  </a:cubicBezTo>
                  <a:cubicBezTo>
                    <a:pt x="3423" y="113928"/>
                    <a:pt x="0" y="98524"/>
                    <a:pt x="0" y="80367"/>
                  </a:cubicBezTo>
                  <a:cubicBezTo>
                    <a:pt x="0" y="66476"/>
                    <a:pt x="3423" y="53032"/>
                    <a:pt x="10269" y="40035"/>
                  </a:cubicBezTo>
                  <a:cubicBezTo>
                    <a:pt x="17115" y="27037"/>
                    <a:pt x="26814" y="17115"/>
                    <a:pt x="39365" y="10269"/>
                  </a:cubicBezTo>
                  <a:cubicBezTo>
                    <a:pt x="51916" y="3423"/>
                    <a:pt x="65931" y="0"/>
                    <a:pt x="81409" y="0"/>
                  </a:cubicBezTo>
                  <a:close/>
                  <a:moveTo>
                    <a:pt x="81558" y="34081"/>
                  </a:moveTo>
                  <a:cubicBezTo>
                    <a:pt x="70644" y="34081"/>
                    <a:pt x="61466" y="38249"/>
                    <a:pt x="54025" y="46583"/>
                  </a:cubicBezTo>
                  <a:cubicBezTo>
                    <a:pt x="46583" y="54917"/>
                    <a:pt x="42863" y="66923"/>
                    <a:pt x="42863" y="82599"/>
                  </a:cubicBezTo>
                  <a:cubicBezTo>
                    <a:pt x="42863" y="98276"/>
                    <a:pt x="46583" y="110281"/>
                    <a:pt x="54025" y="118616"/>
                  </a:cubicBezTo>
                  <a:cubicBezTo>
                    <a:pt x="61466" y="126950"/>
                    <a:pt x="70644" y="131117"/>
                    <a:pt x="81558" y="131117"/>
                  </a:cubicBezTo>
                  <a:cubicBezTo>
                    <a:pt x="92472" y="131117"/>
                    <a:pt x="101625" y="126950"/>
                    <a:pt x="109017" y="118616"/>
                  </a:cubicBezTo>
                  <a:cubicBezTo>
                    <a:pt x="116408" y="110281"/>
                    <a:pt x="120104" y="98177"/>
                    <a:pt x="120104" y="82302"/>
                  </a:cubicBezTo>
                  <a:cubicBezTo>
                    <a:pt x="120104" y="66824"/>
                    <a:pt x="116408" y="54917"/>
                    <a:pt x="109017" y="46583"/>
                  </a:cubicBezTo>
                  <a:cubicBezTo>
                    <a:pt x="101625" y="38249"/>
                    <a:pt x="92472" y="34081"/>
                    <a:pt x="81558" y="34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EA93E3B-566E-954B-B276-F34642446AE2}"/>
                </a:ext>
              </a:extLst>
            </p:cNvPr>
            <p:cNvSpPr txBox="1"/>
            <p:nvPr userDrawn="1"/>
          </p:nvSpPr>
          <p:spPr>
            <a:xfrm>
              <a:off x="6127066" y="2294299"/>
              <a:ext cx="154186" cy="225772"/>
            </a:xfrm>
            <a:custGeom>
              <a:avLst/>
              <a:gdLst/>
              <a:ahLst/>
              <a:cxnLst/>
              <a:rect l="l" t="t" r="r" b="b"/>
              <a:pathLst>
                <a:path w="154186" h="225772">
                  <a:moveTo>
                    <a:pt x="66675" y="0"/>
                  </a:moveTo>
                  <a:cubicBezTo>
                    <a:pt x="86221" y="0"/>
                    <a:pt x="102344" y="8582"/>
                    <a:pt x="115044" y="25747"/>
                  </a:cubicBezTo>
                  <a:lnTo>
                    <a:pt x="115044" y="3572"/>
                  </a:lnTo>
                  <a:lnTo>
                    <a:pt x="154186" y="3572"/>
                  </a:lnTo>
                  <a:lnTo>
                    <a:pt x="154186" y="145405"/>
                  </a:lnTo>
                  <a:cubicBezTo>
                    <a:pt x="154186" y="164058"/>
                    <a:pt x="152648" y="177998"/>
                    <a:pt x="149572" y="187226"/>
                  </a:cubicBezTo>
                  <a:cubicBezTo>
                    <a:pt x="146496" y="196453"/>
                    <a:pt x="142180" y="203696"/>
                    <a:pt x="136624" y="208954"/>
                  </a:cubicBezTo>
                  <a:cubicBezTo>
                    <a:pt x="131068" y="214213"/>
                    <a:pt x="123651" y="218331"/>
                    <a:pt x="114374" y="221307"/>
                  </a:cubicBezTo>
                  <a:cubicBezTo>
                    <a:pt x="105097" y="224284"/>
                    <a:pt x="93365" y="225772"/>
                    <a:pt x="79176" y="225772"/>
                  </a:cubicBezTo>
                  <a:cubicBezTo>
                    <a:pt x="52387" y="225772"/>
                    <a:pt x="33387" y="221183"/>
                    <a:pt x="22175" y="212005"/>
                  </a:cubicBezTo>
                  <a:cubicBezTo>
                    <a:pt x="10963" y="202828"/>
                    <a:pt x="5358" y="191194"/>
                    <a:pt x="5358" y="177105"/>
                  </a:cubicBezTo>
                  <a:cubicBezTo>
                    <a:pt x="5358" y="175716"/>
                    <a:pt x="5407" y="174029"/>
                    <a:pt x="5506" y="172045"/>
                  </a:cubicBezTo>
                  <a:lnTo>
                    <a:pt x="53280" y="177849"/>
                  </a:lnTo>
                  <a:cubicBezTo>
                    <a:pt x="54074" y="183406"/>
                    <a:pt x="55909" y="187226"/>
                    <a:pt x="58787" y="189309"/>
                  </a:cubicBezTo>
                  <a:cubicBezTo>
                    <a:pt x="62756" y="192286"/>
                    <a:pt x="69006" y="193774"/>
                    <a:pt x="77539" y="193774"/>
                  </a:cubicBezTo>
                  <a:cubicBezTo>
                    <a:pt x="88453" y="193774"/>
                    <a:pt x="96639" y="192137"/>
                    <a:pt x="102096" y="188863"/>
                  </a:cubicBezTo>
                  <a:cubicBezTo>
                    <a:pt x="105767" y="186680"/>
                    <a:pt x="108545" y="183158"/>
                    <a:pt x="110430" y="178296"/>
                  </a:cubicBezTo>
                  <a:cubicBezTo>
                    <a:pt x="111720" y="174823"/>
                    <a:pt x="112365" y="168424"/>
                    <a:pt x="112365" y="159097"/>
                  </a:cubicBezTo>
                  <a:lnTo>
                    <a:pt x="112365" y="136029"/>
                  </a:lnTo>
                  <a:cubicBezTo>
                    <a:pt x="99863" y="153094"/>
                    <a:pt x="84088" y="161627"/>
                    <a:pt x="65038" y="161627"/>
                  </a:cubicBezTo>
                  <a:cubicBezTo>
                    <a:pt x="43805" y="161627"/>
                    <a:pt x="26987" y="152648"/>
                    <a:pt x="14585" y="134689"/>
                  </a:cubicBezTo>
                  <a:cubicBezTo>
                    <a:pt x="4861" y="120501"/>
                    <a:pt x="0" y="102840"/>
                    <a:pt x="0" y="81706"/>
                  </a:cubicBezTo>
                  <a:cubicBezTo>
                    <a:pt x="0" y="55215"/>
                    <a:pt x="6375" y="34974"/>
                    <a:pt x="19124" y="20985"/>
                  </a:cubicBezTo>
                  <a:cubicBezTo>
                    <a:pt x="31874" y="6995"/>
                    <a:pt x="47724" y="0"/>
                    <a:pt x="66675" y="0"/>
                  </a:cubicBezTo>
                  <a:close/>
                  <a:moveTo>
                    <a:pt x="77390" y="31998"/>
                  </a:moveTo>
                  <a:cubicBezTo>
                    <a:pt x="67369" y="31998"/>
                    <a:pt x="59109" y="35892"/>
                    <a:pt x="52610" y="43681"/>
                  </a:cubicBezTo>
                  <a:cubicBezTo>
                    <a:pt x="46112" y="51470"/>
                    <a:pt x="42862" y="63351"/>
                    <a:pt x="42862" y="79325"/>
                  </a:cubicBezTo>
                  <a:cubicBezTo>
                    <a:pt x="42862" y="96093"/>
                    <a:pt x="46112" y="108371"/>
                    <a:pt x="52610" y="116160"/>
                  </a:cubicBezTo>
                  <a:cubicBezTo>
                    <a:pt x="59109" y="123949"/>
                    <a:pt x="67121" y="127843"/>
                    <a:pt x="76646" y="127843"/>
                  </a:cubicBezTo>
                  <a:cubicBezTo>
                    <a:pt x="86866" y="127843"/>
                    <a:pt x="95498" y="123850"/>
                    <a:pt x="102542" y="115862"/>
                  </a:cubicBezTo>
                  <a:cubicBezTo>
                    <a:pt x="109587" y="107875"/>
                    <a:pt x="113109" y="96044"/>
                    <a:pt x="113109" y="80367"/>
                  </a:cubicBezTo>
                  <a:cubicBezTo>
                    <a:pt x="113109" y="63996"/>
                    <a:pt x="109736" y="51842"/>
                    <a:pt x="102989" y="43904"/>
                  </a:cubicBezTo>
                  <a:cubicBezTo>
                    <a:pt x="96242" y="35967"/>
                    <a:pt x="87709" y="31998"/>
                    <a:pt x="77390" y="319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E3E8253-2CAE-E147-8D81-B5BAA6E050F8}"/>
                </a:ext>
              </a:extLst>
            </p:cNvPr>
            <p:cNvSpPr txBox="1"/>
            <p:nvPr userDrawn="1"/>
          </p:nvSpPr>
          <p:spPr>
            <a:xfrm>
              <a:off x="6297623" y="2297871"/>
              <a:ext cx="162520" cy="222200"/>
            </a:xfrm>
            <a:custGeom>
              <a:avLst/>
              <a:gdLst/>
              <a:ahLst/>
              <a:cxnLst/>
              <a:rect l="l" t="t" r="r" b="b"/>
              <a:pathLst>
                <a:path w="162520" h="222200">
                  <a:moveTo>
                    <a:pt x="0" y="0"/>
                  </a:moveTo>
                  <a:lnTo>
                    <a:pt x="44499" y="0"/>
                  </a:lnTo>
                  <a:lnTo>
                    <a:pt x="82302" y="112216"/>
                  </a:lnTo>
                  <a:lnTo>
                    <a:pt x="119211" y="0"/>
                  </a:lnTo>
                  <a:lnTo>
                    <a:pt x="162520" y="0"/>
                  </a:lnTo>
                  <a:lnTo>
                    <a:pt x="106709" y="152102"/>
                  </a:lnTo>
                  <a:lnTo>
                    <a:pt x="96738" y="179635"/>
                  </a:lnTo>
                  <a:cubicBezTo>
                    <a:pt x="93067" y="188863"/>
                    <a:pt x="89569" y="195907"/>
                    <a:pt x="86246" y="200769"/>
                  </a:cubicBezTo>
                  <a:cubicBezTo>
                    <a:pt x="82922" y="205631"/>
                    <a:pt x="79102" y="209574"/>
                    <a:pt x="74786" y="212601"/>
                  </a:cubicBezTo>
                  <a:cubicBezTo>
                    <a:pt x="70470" y="215627"/>
                    <a:pt x="65162" y="217983"/>
                    <a:pt x="58861" y="219670"/>
                  </a:cubicBezTo>
                  <a:cubicBezTo>
                    <a:pt x="52561" y="221357"/>
                    <a:pt x="45442" y="222200"/>
                    <a:pt x="37504" y="222200"/>
                  </a:cubicBezTo>
                  <a:cubicBezTo>
                    <a:pt x="29468" y="222200"/>
                    <a:pt x="21580" y="221357"/>
                    <a:pt x="13841" y="219670"/>
                  </a:cubicBezTo>
                  <a:lnTo>
                    <a:pt x="10120" y="186928"/>
                  </a:lnTo>
                  <a:cubicBezTo>
                    <a:pt x="16668" y="188218"/>
                    <a:pt x="22572" y="188863"/>
                    <a:pt x="27831" y="188863"/>
                  </a:cubicBezTo>
                  <a:cubicBezTo>
                    <a:pt x="37554" y="188863"/>
                    <a:pt x="44747" y="186010"/>
                    <a:pt x="49411" y="180305"/>
                  </a:cubicBezTo>
                  <a:cubicBezTo>
                    <a:pt x="54074" y="174600"/>
                    <a:pt x="57646" y="167332"/>
                    <a:pt x="60126" y="15850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8186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F815FE-B4CF-6A4A-B94A-CEF58EAFE6A1}"/>
              </a:ext>
            </a:extLst>
          </p:cNvPr>
          <p:cNvSpPr/>
          <p:nvPr userDrawn="1"/>
        </p:nvSpPr>
        <p:spPr>
          <a:xfrm>
            <a:off x="2989692" y="0"/>
            <a:ext cx="9202309" cy="5709424"/>
          </a:xfrm>
          <a:prstGeom prst="rect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2" y="2389188"/>
            <a:ext cx="6080097" cy="735013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200" spc="-68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DFD66A-0FEA-9E43-85A5-272F33EA95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109" y="5808212"/>
            <a:ext cx="2012175" cy="63152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926EC48-BD49-014A-A1EC-F94585FABBA0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11" name="Chevron 10">
              <a:extLst>
                <a:ext uri="{FF2B5EF4-FFF2-40B4-BE49-F238E27FC236}">
                  <a16:creationId xmlns:a16="http://schemas.microsoft.com/office/drawing/2014/main" id="{D574683D-4DBB-5249-AF45-F413E53A063F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2" name="Chevron 11">
              <a:extLst>
                <a:ext uri="{FF2B5EF4-FFF2-40B4-BE49-F238E27FC236}">
                  <a16:creationId xmlns:a16="http://schemas.microsoft.com/office/drawing/2014/main" id="{2A6D0B0A-9FFE-5C41-849B-440463C5C46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3" name="Chevron 12">
              <a:extLst>
                <a:ext uri="{FF2B5EF4-FFF2-40B4-BE49-F238E27FC236}">
                  <a16:creationId xmlns:a16="http://schemas.microsoft.com/office/drawing/2014/main" id="{9432091A-B9E0-5C4A-9F0C-8E699C05493C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6" name="Subtitle 2">
            <a:extLst>
              <a:ext uri="{FF2B5EF4-FFF2-40B4-BE49-F238E27FC236}">
                <a16:creationId xmlns:a16="http://schemas.microsoft.com/office/drawing/2014/main" id="{96A4AACE-0F03-3C4F-B453-5659CF3AE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7018" y="3124205"/>
            <a:ext cx="6059481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8" baseline="0">
                <a:solidFill>
                  <a:schemeClr val="accent3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EC783B4-CAA9-3043-97CE-E88A30110BD7}"/>
              </a:ext>
            </a:extLst>
          </p:cNvPr>
          <p:cNvGrpSpPr/>
          <p:nvPr userDrawn="1"/>
        </p:nvGrpSpPr>
        <p:grpSpPr>
          <a:xfrm>
            <a:off x="5321166" y="6205137"/>
            <a:ext cx="3479121" cy="306732"/>
            <a:chOff x="744483" y="4848998"/>
            <a:chExt cx="2609341" cy="23004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C4A5DB9-461A-E340-AACF-9C2853D86132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26" name="Title 3">
              <a:extLst>
                <a:ext uri="{FF2B5EF4-FFF2-40B4-BE49-F238E27FC236}">
                  <a16:creationId xmlns:a16="http://schemas.microsoft.com/office/drawing/2014/main" id="{1BE5FF10-1BE6-9047-82EE-93D1BC6536C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91D7E35-E8BA-D447-A285-6C09E8673F3D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204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1" y="1371600"/>
            <a:ext cx="10515600" cy="4800600"/>
          </a:xfrm>
        </p:spPr>
        <p:txBody>
          <a:bodyPr>
            <a:noAutofit/>
          </a:bodyPr>
          <a:lstStyle>
            <a:lvl2pPr marL="457177" indent="-203190">
              <a:buFont typeface="Arial" panose="020B0604020202020204" pitchFamily="34" charset="0"/>
              <a:buChar char="-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0000" y="6538882"/>
            <a:ext cx="1422400" cy="167847"/>
          </a:xfrm>
        </p:spPr>
        <p:txBody>
          <a:bodyPr/>
          <a:lstStyle/>
          <a:p>
            <a:fld id="{90F9BDA0-AF0E-4BA8-B742-3B9C92A3E6F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21EAF9A4-A042-254F-8E1D-C5357A291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2" y="295801"/>
            <a:ext cx="7694245" cy="7004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507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8760919" y="996954"/>
            <a:ext cx="3431116" cy="5463116"/>
          </a:xfrm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2" y="1371600"/>
            <a:ext cx="7694245" cy="4800600"/>
          </a:xfrm>
        </p:spPr>
        <p:txBody>
          <a:bodyPr>
            <a:noAutofit/>
          </a:bodyPr>
          <a:lstStyle>
            <a:lvl2pPr marL="457177" indent="-203190">
              <a:buFont typeface="Arial" panose="020B0604020202020204" pitchFamily="34" charset="0"/>
              <a:buChar char="-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BDA0-AF0E-4BA8-B742-3B9C92A3E6F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5E8B961-8F8E-6C40-AE35-177DF2727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2" y="295801"/>
            <a:ext cx="7694245" cy="7004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71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BDA0-AF0E-4BA8-B742-3B9C92A3E6F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9CE6DDEF-F8BD-7042-9C50-A7415299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2" y="295801"/>
            <a:ext cx="7694245" cy="7004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811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6FB6AC-EF27-3A48-8C2A-ECD2232A38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4" t="11915" b="14209"/>
          <a:stretch/>
        </p:blipFill>
        <p:spPr>
          <a:xfrm>
            <a:off x="3332345" y="5"/>
            <a:ext cx="8859657" cy="44739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2" y="4827009"/>
            <a:ext cx="6133108" cy="622532"/>
          </a:xfrm>
        </p:spPr>
        <p:txBody>
          <a:bodyPr anchor="b">
            <a:noAutofit/>
          </a:bodyPr>
          <a:lstStyle>
            <a:lvl1pPr>
              <a:defRPr sz="2933" spc="-68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26F5DBD2-37E9-4C46-9895-67278E0C9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463105"/>
            <a:ext cx="6059481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8" baseline="0">
                <a:solidFill>
                  <a:schemeClr val="accent3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4C1B2AB-BBAD-E74D-900D-B1D6577B4EEF}"/>
              </a:ext>
            </a:extLst>
          </p:cNvPr>
          <p:cNvGrpSpPr/>
          <p:nvPr userDrawn="1"/>
        </p:nvGrpSpPr>
        <p:grpSpPr>
          <a:xfrm>
            <a:off x="5328379" y="6205137"/>
            <a:ext cx="3479121" cy="306732"/>
            <a:chOff x="744483" y="4848998"/>
            <a:chExt cx="2609341" cy="23004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43370BE-5C48-5C43-90D3-FA8018A9022B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21" name="Title 3">
              <a:extLst>
                <a:ext uri="{FF2B5EF4-FFF2-40B4-BE49-F238E27FC236}">
                  <a16:creationId xmlns:a16="http://schemas.microsoft.com/office/drawing/2014/main" id="{EB7D1992-1891-A542-9135-2BA4EF7A2A5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92C6D60-2FE2-0842-BF79-2D19682FEC35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85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AF41E83-83E3-824C-B05A-8A5546B4DF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" t="12318" b="14800"/>
          <a:stretch/>
        </p:blipFill>
        <p:spPr>
          <a:xfrm>
            <a:off x="3231377" y="2"/>
            <a:ext cx="8960624" cy="4480949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F5DD42CD-EE00-1446-8F2A-C82DE4129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2" y="4827009"/>
            <a:ext cx="6133108" cy="622532"/>
          </a:xfrm>
        </p:spPr>
        <p:txBody>
          <a:bodyPr anchor="b">
            <a:noAutofit/>
          </a:bodyPr>
          <a:lstStyle>
            <a:lvl1pPr>
              <a:defRPr sz="2933" spc="-68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EFD8F51-BFFC-3841-A417-4C0A7270D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463105"/>
            <a:ext cx="6059481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8" baseline="0">
                <a:solidFill>
                  <a:schemeClr val="accent3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B8822F6-18DD-0A4E-A8D7-ED719A9B245A}"/>
              </a:ext>
            </a:extLst>
          </p:cNvPr>
          <p:cNvGrpSpPr/>
          <p:nvPr userDrawn="1"/>
        </p:nvGrpSpPr>
        <p:grpSpPr>
          <a:xfrm>
            <a:off x="5328379" y="6205137"/>
            <a:ext cx="3479121" cy="306732"/>
            <a:chOff x="744483" y="4848998"/>
            <a:chExt cx="2609341" cy="23004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34D32D-7C09-EB4A-9EC5-DB5B33369ED0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24" name="Title 3">
              <a:extLst>
                <a:ext uri="{FF2B5EF4-FFF2-40B4-BE49-F238E27FC236}">
                  <a16:creationId xmlns:a16="http://schemas.microsoft.com/office/drawing/2014/main" id="{17BC5B71-5229-E648-A753-F08447F372D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689C5A0-DA9D-4549-947B-FB5584F4750A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993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B74B01-997D-4342-8638-CC9D66A5B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9" b="12293"/>
          <a:stretch/>
        </p:blipFill>
        <p:spPr>
          <a:xfrm>
            <a:off x="2983570" y="0"/>
            <a:ext cx="9208431" cy="4470400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B71D31DB-8BCA-7042-B94D-76954AEA4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2" y="4827009"/>
            <a:ext cx="6133108" cy="622532"/>
          </a:xfrm>
        </p:spPr>
        <p:txBody>
          <a:bodyPr anchor="b">
            <a:noAutofit/>
          </a:bodyPr>
          <a:lstStyle>
            <a:lvl1pPr>
              <a:defRPr sz="2933" spc="-68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E37C1BC-8CB7-5F4C-9252-0CCB40049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463105"/>
            <a:ext cx="6059481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8" baseline="0">
                <a:solidFill>
                  <a:schemeClr val="accent3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9F12B0-5D5F-2145-B861-AF9E8A85FB89}"/>
              </a:ext>
            </a:extLst>
          </p:cNvPr>
          <p:cNvGrpSpPr/>
          <p:nvPr userDrawn="1"/>
        </p:nvGrpSpPr>
        <p:grpSpPr>
          <a:xfrm>
            <a:off x="5328379" y="6205137"/>
            <a:ext cx="3479121" cy="306732"/>
            <a:chOff x="744483" y="4848998"/>
            <a:chExt cx="2609341" cy="23004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4FFD12B-A382-5844-A4D2-92C01109B222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23" name="Title 3">
              <a:extLst>
                <a:ext uri="{FF2B5EF4-FFF2-40B4-BE49-F238E27FC236}">
                  <a16:creationId xmlns:a16="http://schemas.microsoft.com/office/drawing/2014/main" id="{95B75683-1196-5948-9C0B-65AB17405A2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50786FC-F9CF-0340-A9EB-A657DA3E5FF4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5173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5F41C1-ED0A-894A-B3CF-5F7CFFB84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5" t="21323" b="11914"/>
          <a:stretch/>
        </p:blipFill>
        <p:spPr>
          <a:xfrm>
            <a:off x="3290851" y="0"/>
            <a:ext cx="8901151" cy="4460488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95672ECA-8BDB-C24D-A85A-A65E8F046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2" y="4827009"/>
            <a:ext cx="6133108" cy="622532"/>
          </a:xfrm>
        </p:spPr>
        <p:txBody>
          <a:bodyPr anchor="b">
            <a:noAutofit/>
          </a:bodyPr>
          <a:lstStyle>
            <a:lvl1pPr>
              <a:defRPr sz="2933" spc="-68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8999BF5-F786-F14D-B7C2-C2BCC5AE8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463105"/>
            <a:ext cx="6059481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8" baseline="0">
                <a:solidFill>
                  <a:schemeClr val="accent3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53885AB-AADA-2746-98D6-78E2B96B17F2}"/>
              </a:ext>
            </a:extLst>
          </p:cNvPr>
          <p:cNvGrpSpPr/>
          <p:nvPr userDrawn="1"/>
        </p:nvGrpSpPr>
        <p:grpSpPr>
          <a:xfrm>
            <a:off x="5328379" y="6205137"/>
            <a:ext cx="3479121" cy="306732"/>
            <a:chOff x="744483" y="4848998"/>
            <a:chExt cx="2609341" cy="23004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26DD190-D481-8245-8459-30F06A13D612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24" name="Title 3">
              <a:extLst>
                <a:ext uri="{FF2B5EF4-FFF2-40B4-BE49-F238E27FC236}">
                  <a16:creationId xmlns:a16="http://schemas.microsoft.com/office/drawing/2014/main" id="{08253C4F-2669-6C49-8F4E-00818047DE9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A0B4BEC-A07A-3443-957E-21680C8E6C15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805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8902BF-5D3A-9D49-BF43-9A572D0E62E4}"/>
              </a:ext>
            </a:extLst>
          </p:cNvPr>
          <p:cNvSpPr/>
          <p:nvPr userDrawn="1"/>
        </p:nvSpPr>
        <p:spPr>
          <a:xfrm>
            <a:off x="3292442" y="2673"/>
            <a:ext cx="8916063" cy="4490224"/>
          </a:xfrm>
          <a:prstGeom prst="rect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2" y="5079594"/>
            <a:ext cx="6133108" cy="622532"/>
          </a:xfrm>
        </p:spPr>
        <p:txBody>
          <a:bodyPr anchor="b">
            <a:noAutofit/>
          </a:bodyPr>
          <a:lstStyle>
            <a:lvl1pPr>
              <a:defRPr sz="2933" spc="-68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26F5DBD2-37E9-4C46-9895-67278E0C9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715690"/>
            <a:ext cx="6059481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8" baseline="0">
                <a:solidFill>
                  <a:schemeClr val="accent3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9DAAC04-46A3-9B4E-9CC6-921207BBC5C4}"/>
              </a:ext>
            </a:extLst>
          </p:cNvPr>
          <p:cNvGrpSpPr/>
          <p:nvPr userDrawn="1"/>
        </p:nvGrpSpPr>
        <p:grpSpPr>
          <a:xfrm>
            <a:off x="5629224" y="2878492"/>
            <a:ext cx="6493017" cy="499575"/>
            <a:chOff x="4221917" y="2158866"/>
            <a:chExt cx="4869763" cy="374681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AED680D-2C61-9D4B-9565-8D8D2778975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8671" y="2175160"/>
              <a:ext cx="0" cy="358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2F97882-EB61-A348-82F0-BAE1DB338F22}"/>
                </a:ext>
              </a:extLst>
            </p:cNvPr>
            <p:cNvSpPr txBox="1"/>
            <p:nvPr userDrawn="1"/>
          </p:nvSpPr>
          <p:spPr>
            <a:xfrm>
              <a:off x="6708459" y="2158866"/>
              <a:ext cx="2383221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3200" b="1" i="0" spc="-68" baseline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</a:rPr>
                <a:t>Better Together</a:t>
              </a:r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E8895A3-93F5-7944-AEE5-FACB36E109ED}"/>
                </a:ext>
              </a:extLst>
            </p:cNvPr>
            <p:cNvSpPr txBox="1"/>
            <p:nvPr userDrawn="1"/>
          </p:nvSpPr>
          <p:spPr>
            <a:xfrm>
              <a:off x="4633576" y="2234023"/>
              <a:ext cx="190053" cy="225624"/>
            </a:xfrm>
            <a:custGeom>
              <a:avLst/>
              <a:gdLst/>
              <a:ahLst/>
              <a:cxnLst/>
              <a:rect l="l" t="t" r="r" b="b"/>
              <a:pathLst>
                <a:path w="190053" h="225624">
                  <a:moveTo>
                    <a:pt x="102096" y="0"/>
                  </a:moveTo>
                  <a:cubicBezTo>
                    <a:pt x="128785" y="0"/>
                    <a:pt x="150465" y="7888"/>
                    <a:pt x="167134" y="23664"/>
                  </a:cubicBezTo>
                  <a:cubicBezTo>
                    <a:pt x="177055" y="32991"/>
                    <a:pt x="184497" y="46385"/>
                    <a:pt x="189458" y="63848"/>
                  </a:cubicBezTo>
                  <a:lnTo>
                    <a:pt x="145851" y="74266"/>
                  </a:lnTo>
                  <a:cubicBezTo>
                    <a:pt x="143271" y="62955"/>
                    <a:pt x="137889" y="54025"/>
                    <a:pt x="129703" y="47477"/>
                  </a:cubicBezTo>
                  <a:cubicBezTo>
                    <a:pt x="121518" y="40928"/>
                    <a:pt x="111571" y="37654"/>
                    <a:pt x="99863" y="37654"/>
                  </a:cubicBezTo>
                  <a:cubicBezTo>
                    <a:pt x="83691" y="37654"/>
                    <a:pt x="70569" y="43458"/>
                    <a:pt x="60498" y="55067"/>
                  </a:cubicBezTo>
                  <a:cubicBezTo>
                    <a:pt x="50427" y="66675"/>
                    <a:pt x="45392" y="85477"/>
                    <a:pt x="45392" y="111473"/>
                  </a:cubicBezTo>
                  <a:cubicBezTo>
                    <a:pt x="45392" y="139055"/>
                    <a:pt x="50353" y="158701"/>
                    <a:pt x="60275" y="170409"/>
                  </a:cubicBezTo>
                  <a:cubicBezTo>
                    <a:pt x="70197" y="182116"/>
                    <a:pt x="83095" y="187970"/>
                    <a:pt x="98970" y="187970"/>
                  </a:cubicBezTo>
                  <a:cubicBezTo>
                    <a:pt x="110678" y="187970"/>
                    <a:pt x="120749" y="184250"/>
                    <a:pt x="129182" y="176808"/>
                  </a:cubicBezTo>
                  <a:cubicBezTo>
                    <a:pt x="137616" y="169367"/>
                    <a:pt x="143668" y="157659"/>
                    <a:pt x="147339" y="141685"/>
                  </a:cubicBezTo>
                  <a:lnTo>
                    <a:pt x="190053" y="155228"/>
                  </a:lnTo>
                  <a:cubicBezTo>
                    <a:pt x="183505" y="179041"/>
                    <a:pt x="172615" y="196726"/>
                    <a:pt x="157385" y="208285"/>
                  </a:cubicBezTo>
                  <a:cubicBezTo>
                    <a:pt x="142155" y="219844"/>
                    <a:pt x="122832" y="225624"/>
                    <a:pt x="99417" y="225624"/>
                  </a:cubicBezTo>
                  <a:cubicBezTo>
                    <a:pt x="70445" y="225624"/>
                    <a:pt x="46632" y="215727"/>
                    <a:pt x="27979" y="195933"/>
                  </a:cubicBezTo>
                  <a:cubicBezTo>
                    <a:pt x="9326" y="176138"/>
                    <a:pt x="0" y="149077"/>
                    <a:pt x="0" y="114747"/>
                  </a:cubicBezTo>
                  <a:cubicBezTo>
                    <a:pt x="0" y="78433"/>
                    <a:pt x="9376" y="50230"/>
                    <a:pt x="28128" y="30138"/>
                  </a:cubicBezTo>
                  <a:cubicBezTo>
                    <a:pt x="46880" y="10046"/>
                    <a:pt x="71536" y="0"/>
                    <a:pt x="1020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3059CF6-8D1F-9943-898B-158F304BF319}"/>
                </a:ext>
              </a:extLst>
            </p:cNvPr>
            <p:cNvSpPr txBox="1"/>
            <p:nvPr userDrawn="1"/>
          </p:nvSpPr>
          <p:spPr>
            <a:xfrm>
              <a:off x="4221917" y="2237745"/>
              <a:ext cx="173980" cy="221903"/>
            </a:xfrm>
            <a:custGeom>
              <a:avLst/>
              <a:gdLst/>
              <a:ahLst/>
              <a:cxnLst/>
              <a:rect l="l" t="t" r="r" b="b"/>
              <a:pathLst>
                <a:path w="173980" h="221903">
                  <a:moveTo>
                    <a:pt x="0" y="0"/>
                  </a:moveTo>
                  <a:lnTo>
                    <a:pt x="44053" y="0"/>
                  </a:lnTo>
                  <a:lnTo>
                    <a:pt x="44053" y="118170"/>
                  </a:lnTo>
                  <a:cubicBezTo>
                    <a:pt x="44053" y="136922"/>
                    <a:pt x="44599" y="149076"/>
                    <a:pt x="45690" y="154633"/>
                  </a:cubicBezTo>
                  <a:cubicBezTo>
                    <a:pt x="47575" y="163562"/>
                    <a:pt x="52065" y="170731"/>
                    <a:pt x="59159" y="176138"/>
                  </a:cubicBezTo>
                  <a:cubicBezTo>
                    <a:pt x="66253" y="181546"/>
                    <a:pt x="75952" y="184249"/>
                    <a:pt x="88255" y="184249"/>
                  </a:cubicBezTo>
                  <a:cubicBezTo>
                    <a:pt x="100757" y="184249"/>
                    <a:pt x="110182" y="181694"/>
                    <a:pt x="116532" y="176585"/>
                  </a:cubicBezTo>
                  <a:cubicBezTo>
                    <a:pt x="122882" y="171475"/>
                    <a:pt x="126702" y="165199"/>
                    <a:pt x="127992" y="157758"/>
                  </a:cubicBezTo>
                  <a:cubicBezTo>
                    <a:pt x="129282" y="150316"/>
                    <a:pt x="129927" y="137964"/>
                    <a:pt x="129927" y="120700"/>
                  </a:cubicBezTo>
                  <a:lnTo>
                    <a:pt x="129927" y="0"/>
                  </a:lnTo>
                  <a:lnTo>
                    <a:pt x="173980" y="0"/>
                  </a:lnTo>
                  <a:lnTo>
                    <a:pt x="173980" y="114598"/>
                  </a:lnTo>
                  <a:cubicBezTo>
                    <a:pt x="173980" y="140791"/>
                    <a:pt x="172789" y="159296"/>
                    <a:pt x="170408" y="170111"/>
                  </a:cubicBezTo>
                  <a:cubicBezTo>
                    <a:pt x="168027" y="180925"/>
                    <a:pt x="163636" y="190054"/>
                    <a:pt x="157237" y="197495"/>
                  </a:cubicBezTo>
                  <a:cubicBezTo>
                    <a:pt x="150837" y="204936"/>
                    <a:pt x="142280" y="210865"/>
                    <a:pt x="131564" y="215280"/>
                  </a:cubicBezTo>
                  <a:cubicBezTo>
                    <a:pt x="120848" y="219695"/>
                    <a:pt x="106859" y="221903"/>
                    <a:pt x="89595" y="221903"/>
                  </a:cubicBezTo>
                  <a:cubicBezTo>
                    <a:pt x="68759" y="221903"/>
                    <a:pt x="52958" y="219497"/>
                    <a:pt x="42193" y="214685"/>
                  </a:cubicBezTo>
                  <a:cubicBezTo>
                    <a:pt x="31428" y="209873"/>
                    <a:pt x="22920" y="203622"/>
                    <a:pt x="16669" y="195932"/>
                  </a:cubicBezTo>
                  <a:cubicBezTo>
                    <a:pt x="10418" y="188243"/>
                    <a:pt x="6300" y="180181"/>
                    <a:pt x="4316" y="171748"/>
                  </a:cubicBezTo>
                  <a:cubicBezTo>
                    <a:pt x="1439" y="159246"/>
                    <a:pt x="0" y="140791"/>
                    <a:pt x="0" y="1163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5B04F91-35AA-8E4F-AAF0-95F37C9B2FA7}"/>
                </a:ext>
              </a:extLst>
            </p:cNvPr>
            <p:cNvSpPr txBox="1"/>
            <p:nvPr userDrawn="1"/>
          </p:nvSpPr>
          <p:spPr>
            <a:xfrm>
              <a:off x="4431913" y="2237744"/>
              <a:ext cx="174427" cy="218182"/>
            </a:xfrm>
            <a:custGeom>
              <a:avLst/>
              <a:gdLst/>
              <a:ahLst/>
              <a:cxnLst/>
              <a:rect l="l" t="t" r="r" b="b"/>
              <a:pathLst>
                <a:path w="174427" h="218182">
                  <a:moveTo>
                    <a:pt x="0" y="0"/>
                  </a:moveTo>
                  <a:lnTo>
                    <a:pt x="44054" y="0"/>
                  </a:lnTo>
                  <a:lnTo>
                    <a:pt x="44054" y="85874"/>
                  </a:lnTo>
                  <a:lnTo>
                    <a:pt x="130374" y="85874"/>
                  </a:lnTo>
                  <a:lnTo>
                    <a:pt x="130374" y="0"/>
                  </a:lnTo>
                  <a:lnTo>
                    <a:pt x="174427" y="0"/>
                  </a:lnTo>
                  <a:lnTo>
                    <a:pt x="174427" y="218182"/>
                  </a:lnTo>
                  <a:lnTo>
                    <a:pt x="130374" y="218182"/>
                  </a:lnTo>
                  <a:lnTo>
                    <a:pt x="130374" y="122783"/>
                  </a:lnTo>
                  <a:lnTo>
                    <a:pt x="44054" y="122783"/>
                  </a:lnTo>
                  <a:lnTo>
                    <a:pt x="44054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9684C28-7525-724C-9EAB-7DC4FF5A56E0}"/>
                </a:ext>
              </a:extLst>
            </p:cNvPr>
            <p:cNvSpPr txBox="1"/>
            <p:nvPr userDrawn="1"/>
          </p:nvSpPr>
          <p:spPr>
            <a:xfrm>
              <a:off x="4835238" y="2237744"/>
              <a:ext cx="173384" cy="218182"/>
            </a:xfrm>
            <a:custGeom>
              <a:avLst/>
              <a:gdLst/>
              <a:ahLst/>
              <a:cxnLst/>
              <a:rect l="l" t="t" r="r" b="b"/>
              <a:pathLst>
                <a:path w="173384" h="218182">
                  <a:moveTo>
                    <a:pt x="0" y="0"/>
                  </a:moveTo>
                  <a:lnTo>
                    <a:pt x="173384" y="0"/>
                  </a:lnTo>
                  <a:lnTo>
                    <a:pt x="173384" y="36909"/>
                  </a:lnTo>
                  <a:lnTo>
                    <a:pt x="108793" y="36909"/>
                  </a:lnTo>
                  <a:lnTo>
                    <a:pt x="108793" y="218182"/>
                  </a:lnTo>
                  <a:lnTo>
                    <a:pt x="64740" y="218182"/>
                  </a:lnTo>
                  <a:lnTo>
                    <a:pt x="64740" y="36909"/>
                  </a:lnTo>
                  <a:lnTo>
                    <a:pt x="0" y="36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61E7D71-4677-3545-983E-8A7D397B4458}"/>
                </a:ext>
              </a:extLst>
            </p:cNvPr>
            <p:cNvSpPr txBox="1"/>
            <p:nvPr userDrawn="1"/>
          </p:nvSpPr>
          <p:spPr>
            <a:xfrm>
              <a:off x="5336193" y="2237744"/>
              <a:ext cx="143917" cy="218182"/>
            </a:xfrm>
            <a:custGeom>
              <a:avLst/>
              <a:gdLst/>
              <a:ahLst/>
              <a:cxnLst/>
              <a:rect l="l" t="t" r="r" b="b"/>
              <a:pathLst>
                <a:path w="143917" h="218182">
                  <a:moveTo>
                    <a:pt x="0" y="0"/>
                  </a:moveTo>
                  <a:lnTo>
                    <a:pt x="41821" y="0"/>
                  </a:lnTo>
                  <a:lnTo>
                    <a:pt x="41821" y="80218"/>
                  </a:lnTo>
                  <a:cubicBezTo>
                    <a:pt x="55315" y="64443"/>
                    <a:pt x="71438" y="56555"/>
                    <a:pt x="90190" y="56555"/>
                  </a:cubicBezTo>
                  <a:cubicBezTo>
                    <a:pt x="99814" y="56555"/>
                    <a:pt x="108496" y="58341"/>
                    <a:pt x="116235" y="61913"/>
                  </a:cubicBezTo>
                  <a:cubicBezTo>
                    <a:pt x="123974" y="65484"/>
                    <a:pt x="129803" y="70049"/>
                    <a:pt x="133722" y="75605"/>
                  </a:cubicBezTo>
                  <a:cubicBezTo>
                    <a:pt x="137641" y="81161"/>
                    <a:pt x="140320" y="87313"/>
                    <a:pt x="141759" y="94059"/>
                  </a:cubicBezTo>
                  <a:cubicBezTo>
                    <a:pt x="143197" y="100806"/>
                    <a:pt x="143917" y="111274"/>
                    <a:pt x="143917" y="125462"/>
                  </a:cubicBezTo>
                  <a:lnTo>
                    <a:pt x="143917" y="218182"/>
                  </a:lnTo>
                  <a:lnTo>
                    <a:pt x="102096" y="218182"/>
                  </a:lnTo>
                  <a:lnTo>
                    <a:pt x="102096" y="134690"/>
                  </a:lnTo>
                  <a:cubicBezTo>
                    <a:pt x="102096" y="118120"/>
                    <a:pt x="101302" y="107603"/>
                    <a:pt x="99715" y="103138"/>
                  </a:cubicBezTo>
                  <a:cubicBezTo>
                    <a:pt x="98128" y="98673"/>
                    <a:pt x="95325" y="95126"/>
                    <a:pt x="91306" y="92497"/>
                  </a:cubicBezTo>
                  <a:cubicBezTo>
                    <a:pt x="87288" y="89867"/>
                    <a:pt x="82252" y="88553"/>
                    <a:pt x="76200" y="88553"/>
                  </a:cubicBezTo>
                  <a:cubicBezTo>
                    <a:pt x="69255" y="88553"/>
                    <a:pt x="63054" y="90240"/>
                    <a:pt x="57597" y="93613"/>
                  </a:cubicBezTo>
                  <a:cubicBezTo>
                    <a:pt x="52140" y="96986"/>
                    <a:pt x="48146" y="102071"/>
                    <a:pt x="45616" y="108868"/>
                  </a:cubicBezTo>
                  <a:cubicBezTo>
                    <a:pt x="43086" y="115664"/>
                    <a:pt x="41821" y="125710"/>
                    <a:pt x="41821" y="139006"/>
                  </a:cubicBezTo>
                  <a:lnTo>
                    <a:pt x="41821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69B402F-C17E-CF41-85D9-62C73BC68667}"/>
                </a:ext>
              </a:extLst>
            </p:cNvPr>
            <p:cNvSpPr txBox="1"/>
            <p:nvPr userDrawn="1"/>
          </p:nvSpPr>
          <p:spPr>
            <a:xfrm>
              <a:off x="5879267" y="2237744"/>
              <a:ext cx="41821" cy="218182"/>
            </a:xfrm>
            <a:custGeom>
              <a:avLst/>
              <a:gdLst/>
              <a:ahLst/>
              <a:cxnLst/>
              <a:rect l="l" t="t" r="r" b="b"/>
              <a:pathLst>
                <a:path w="41821" h="218182">
                  <a:moveTo>
                    <a:pt x="0" y="0"/>
                  </a:moveTo>
                  <a:lnTo>
                    <a:pt x="41821" y="0"/>
                  </a:lnTo>
                  <a:lnTo>
                    <a:pt x="41821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55E1ECD-3484-6846-B7EF-B0B83FDF788A}"/>
                </a:ext>
              </a:extLst>
            </p:cNvPr>
            <p:cNvSpPr txBox="1"/>
            <p:nvPr userDrawn="1"/>
          </p:nvSpPr>
          <p:spPr>
            <a:xfrm>
              <a:off x="5000288" y="2294300"/>
              <a:ext cx="147675" cy="165199"/>
            </a:xfrm>
            <a:custGeom>
              <a:avLst/>
              <a:gdLst/>
              <a:ahLst/>
              <a:cxnLst/>
              <a:rect l="l" t="t" r="r" b="b"/>
              <a:pathLst>
                <a:path w="147675" h="165199">
                  <a:moveTo>
                    <a:pt x="72479" y="0"/>
                  </a:moveTo>
                  <a:cubicBezTo>
                    <a:pt x="95994" y="0"/>
                    <a:pt x="114548" y="7764"/>
                    <a:pt x="128141" y="23291"/>
                  </a:cubicBezTo>
                  <a:cubicBezTo>
                    <a:pt x="141734" y="38819"/>
                    <a:pt x="148233" y="62607"/>
                    <a:pt x="147638" y="94654"/>
                  </a:cubicBezTo>
                  <a:lnTo>
                    <a:pt x="42863" y="94654"/>
                  </a:lnTo>
                  <a:cubicBezTo>
                    <a:pt x="43160" y="107057"/>
                    <a:pt x="46534" y="116706"/>
                    <a:pt x="52983" y="123602"/>
                  </a:cubicBezTo>
                  <a:cubicBezTo>
                    <a:pt x="59432" y="130497"/>
                    <a:pt x="67469" y="133945"/>
                    <a:pt x="77093" y="133945"/>
                  </a:cubicBezTo>
                  <a:cubicBezTo>
                    <a:pt x="83641" y="133945"/>
                    <a:pt x="89148" y="132159"/>
                    <a:pt x="93613" y="128587"/>
                  </a:cubicBezTo>
                  <a:cubicBezTo>
                    <a:pt x="98078" y="125015"/>
                    <a:pt x="101451" y="119261"/>
                    <a:pt x="103733" y="111323"/>
                  </a:cubicBezTo>
                  <a:lnTo>
                    <a:pt x="145405" y="118318"/>
                  </a:lnTo>
                  <a:cubicBezTo>
                    <a:pt x="140047" y="133598"/>
                    <a:pt x="131589" y="145231"/>
                    <a:pt x="120030" y="153218"/>
                  </a:cubicBezTo>
                  <a:cubicBezTo>
                    <a:pt x="108471" y="161205"/>
                    <a:pt x="94010" y="165199"/>
                    <a:pt x="76647" y="165199"/>
                  </a:cubicBezTo>
                  <a:cubicBezTo>
                    <a:pt x="49163" y="165199"/>
                    <a:pt x="28823" y="156220"/>
                    <a:pt x="15627" y="138261"/>
                  </a:cubicBezTo>
                  <a:cubicBezTo>
                    <a:pt x="5209" y="123874"/>
                    <a:pt x="0" y="105717"/>
                    <a:pt x="0" y="83790"/>
                  </a:cubicBezTo>
                  <a:cubicBezTo>
                    <a:pt x="0" y="57596"/>
                    <a:pt x="6846" y="37083"/>
                    <a:pt x="20538" y="22250"/>
                  </a:cubicBezTo>
                  <a:cubicBezTo>
                    <a:pt x="34231" y="7416"/>
                    <a:pt x="51544" y="0"/>
                    <a:pt x="72479" y="0"/>
                  </a:cubicBezTo>
                  <a:close/>
                  <a:moveTo>
                    <a:pt x="75009" y="31998"/>
                  </a:moveTo>
                  <a:cubicBezTo>
                    <a:pt x="65881" y="31998"/>
                    <a:pt x="58341" y="35322"/>
                    <a:pt x="52388" y="41969"/>
                  </a:cubicBezTo>
                  <a:cubicBezTo>
                    <a:pt x="46434" y="48617"/>
                    <a:pt x="43507" y="57646"/>
                    <a:pt x="43607" y="69056"/>
                  </a:cubicBezTo>
                  <a:lnTo>
                    <a:pt x="106114" y="69056"/>
                  </a:lnTo>
                  <a:cubicBezTo>
                    <a:pt x="105817" y="56951"/>
                    <a:pt x="102691" y="47749"/>
                    <a:pt x="96738" y="41448"/>
                  </a:cubicBezTo>
                  <a:cubicBezTo>
                    <a:pt x="90785" y="35148"/>
                    <a:pt x="83542" y="31998"/>
                    <a:pt x="75009" y="319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A1FAAAC-2C46-7A45-A7DC-8F71137BBF70}"/>
                </a:ext>
              </a:extLst>
            </p:cNvPr>
            <p:cNvSpPr txBox="1"/>
            <p:nvPr userDrawn="1"/>
          </p:nvSpPr>
          <p:spPr>
            <a:xfrm>
              <a:off x="5165190" y="2294300"/>
              <a:ext cx="149125" cy="165199"/>
            </a:xfrm>
            <a:custGeom>
              <a:avLst/>
              <a:gdLst/>
              <a:ahLst/>
              <a:cxnLst/>
              <a:rect l="l" t="t" r="r" b="b"/>
              <a:pathLst>
                <a:path w="149125" h="165199">
                  <a:moveTo>
                    <a:pt x="76646" y="0"/>
                  </a:moveTo>
                  <a:cubicBezTo>
                    <a:pt x="95894" y="0"/>
                    <a:pt x="111199" y="4142"/>
                    <a:pt x="122560" y="12427"/>
                  </a:cubicBezTo>
                  <a:cubicBezTo>
                    <a:pt x="133920" y="20712"/>
                    <a:pt x="142081" y="33337"/>
                    <a:pt x="147042" y="50304"/>
                  </a:cubicBezTo>
                  <a:lnTo>
                    <a:pt x="105816" y="57745"/>
                  </a:lnTo>
                  <a:cubicBezTo>
                    <a:pt x="104427" y="49510"/>
                    <a:pt x="101277" y="43309"/>
                    <a:pt x="96366" y="39142"/>
                  </a:cubicBezTo>
                  <a:cubicBezTo>
                    <a:pt x="91454" y="34974"/>
                    <a:pt x="85080" y="32891"/>
                    <a:pt x="77241" y="32891"/>
                  </a:cubicBezTo>
                  <a:cubicBezTo>
                    <a:pt x="66823" y="32891"/>
                    <a:pt x="58514" y="36487"/>
                    <a:pt x="52313" y="43681"/>
                  </a:cubicBezTo>
                  <a:cubicBezTo>
                    <a:pt x="46112" y="50874"/>
                    <a:pt x="43011" y="62904"/>
                    <a:pt x="43011" y="79772"/>
                  </a:cubicBezTo>
                  <a:cubicBezTo>
                    <a:pt x="43011" y="98524"/>
                    <a:pt x="46161" y="111770"/>
                    <a:pt x="52462" y="119509"/>
                  </a:cubicBezTo>
                  <a:cubicBezTo>
                    <a:pt x="58762" y="127248"/>
                    <a:pt x="67220" y="131117"/>
                    <a:pt x="77837" y="131117"/>
                  </a:cubicBezTo>
                  <a:cubicBezTo>
                    <a:pt x="85774" y="131117"/>
                    <a:pt x="92273" y="128860"/>
                    <a:pt x="97333" y="124346"/>
                  </a:cubicBezTo>
                  <a:cubicBezTo>
                    <a:pt x="102393" y="119831"/>
                    <a:pt x="105965" y="112067"/>
                    <a:pt x="108049" y="101054"/>
                  </a:cubicBezTo>
                  <a:lnTo>
                    <a:pt x="149125" y="108049"/>
                  </a:lnTo>
                  <a:cubicBezTo>
                    <a:pt x="144859" y="126901"/>
                    <a:pt x="136673" y="141138"/>
                    <a:pt x="124569" y="150763"/>
                  </a:cubicBezTo>
                  <a:cubicBezTo>
                    <a:pt x="112464" y="160387"/>
                    <a:pt x="96242" y="165199"/>
                    <a:pt x="75902" y="165199"/>
                  </a:cubicBezTo>
                  <a:cubicBezTo>
                    <a:pt x="52784" y="165199"/>
                    <a:pt x="34354" y="157906"/>
                    <a:pt x="20612" y="143321"/>
                  </a:cubicBezTo>
                  <a:cubicBezTo>
                    <a:pt x="6871" y="128736"/>
                    <a:pt x="0" y="108545"/>
                    <a:pt x="0" y="82748"/>
                  </a:cubicBezTo>
                  <a:cubicBezTo>
                    <a:pt x="0" y="56654"/>
                    <a:pt x="6895" y="36339"/>
                    <a:pt x="20687" y="21803"/>
                  </a:cubicBezTo>
                  <a:cubicBezTo>
                    <a:pt x="34478" y="7268"/>
                    <a:pt x="53131" y="0"/>
                    <a:pt x="766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7C28EED-2DF9-1C4B-B18F-FA6112A46BBA}"/>
                </a:ext>
              </a:extLst>
            </p:cNvPr>
            <p:cNvSpPr txBox="1"/>
            <p:nvPr userDrawn="1"/>
          </p:nvSpPr>
          <p:spPr>
            <a:xfrm>
              <a:off x="5517019" y="2294300"/>
              <a:ext cx="144066" cy="161627"/>
            </a:xfrm>
            <a:custGeom>
              <a:avLst/>
              <a:gdLst/>
              <a:ahLst/>
              <a:cxnLst/>
              <a:rect l="l" t="t" r="r" b="b"/>
              <a:pathLst>
                <a:path w="144066" h="161627">
                  <a:moveTo>
                    <a:pt x="90934" y="0"/>
                  </a:moveTo>
                  <a:cubicBezTo>
                    <a:pt x="100162" y="0"/>
                    <a:pt x="108595" y="1662"/>
                    <a:pt x="116235" y="4986"/>
                  </a:cubicBezTo>
                  <a:cubicBezTo>
                    <a:pt x="123875" y="8309"/>
                    <a:pt x="129654" y="12551"/>
                    <a:pt x="133574" y="17710"/>
                  </a:cubicBezTo>
                  <a:cubicBezTo>
                    <a:pt x="137493" y="22870"/>
                    <a:pt x="140221" y="28724"/>
                    <a:pt x="141759" y="35272"/>
                  </a:cubicBezTo>
                  <a:cubicBezTo>
                    <a:pt x="143297" y="41821"/>
                    <a:pt x="144066" y="51197"/>
                    <a:pt x="144066" y="63401"/>
                  </a:cubicBezTo>
                  <a:lnTo>
                    <a:pt x="144066" y="161627"/>
                  </a:lnTo>
                  <a:lnTo>
                    <a:pt x="102245" y="161627"/>
                  </a:lnTo>
                  <a:lnTo>
                    <a:pt x="102245" y="80962"/>
                  </a:lnTo>
                  <a:cubicBezTo>
                    <a:pt x="102245" y="63897"/>
                    <a:pt x="101352" y="52859"/>
                    <a:pt x="99566" y="47848"/>
                  </a:cubicBezTo>
                  <a:cubicBezTo>
                    <a:pt x="97780" y="42837"/>
                    <a:pt x="94878" y="38943"/>
                    <a:pt x="90860" y="36165"/>
                  </a:cubicBezTo>
                  <a:cubicBezTo>
                    <a:pt x="86841" y="33387"/>
                    <a:pt x="82005" y="31998"/>
                    <a:pt x="76349" y="31998"/>
                  </a:cubicBezTo>
                  <a:cubicBezTo>
                    <a:pt x="69106" y="31998"/>
                    <a:pt x="62607" y="33982"/>
                    <a:pt x="56853" y="37951"/>
                  </a:cubicBezTo>
                  <a:cubicBezTo>
                    <a:pt x="51098" y="41920"/>
                    <a:pt x="47154" y="47178"/>
                    <a:pt x="45021" y="53727"/>
                  </a:cubicBezTo>
                  <a:cubicBezTo>
                    <a:pt x="42887" y="60275"/>
                    <a:pt x="41821" y="72380"/>
                    <a:pt x="41821" y="90041"/>
                  </a:cubicBezTo>
                  <a:lnTo>
                    <a:pt x="41821" y="161627"/>
                  </a:lnTo>
                  <a:lnTo>
                    <a:pt x="0" y="161627"/>
                  </a:lnTo>
                  <a:lnTo>
                    <a:pt x="0" y="3572"/>
                  </a:lnTo>
                  <a:lnTo>
                    <a:pt x="38844" y="3572"/>
                  </a:lnTo>
                  <a:lnTo>
                    <a:pt x="38844" y="26789"/>
                  </a:lnTo>
                  <a:cubicBezTo>
                    <a:pt x="52636" y="8929"/>
                    <a:pt x="69999" y="0"/>
                    <a:pt x="909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2C23FB-3FB0-1F48-9224-183CD40B520C}"/>
                </a:ext>
              </a:extLst>
            </p:cNvPr>
            <p:cNvSpPr txBox="1"/>
            <p:nvPr userDrawn="1"/>
          </p:nvSpPr>
          <p:spPr>
            <a:xfrm>
              <a:off x="5688618" y="2294300"/>
              <a:ext cx="163116" cy="165199"/>
            </a:xfrm>
            <a:custGeom>
              <a:avLst/>
              <a:gdLst/>
              <a:ahLst/>
              <a:cxnLst/>
              <a:rect l="l" t="t" r="r" b="b"/>
              <a:pathLst>
                <a:path w="163116" h="165199">
                  <a:moveTo>
                    <a:pt x="81409" y="0"/>
                  </a:moveTo>
                  <a:cubicBezTo>
                    <a:pt x="105321" y="0"/>
                    <a:pt x="124916" y="7764"/>
                    <a:pt x="140196" y="23291"/>
                  </a:cubicBezTo>
                  <a:cubicBezTo>
                    <a:pt x="155476" y="38819"/>
                    <a:pt x="163116" y="58440"/>
                    <a:pt x="163116" y="82153"/>
                  </a:cubicBezTo>
                  <a:cubicBezTo>
                    <a:pt x="163116" y="106065"/>
                    <a:pt x="155401" y="125884"/>
                    <a:pt x="139973" y="141610"/>
                  </a:cubicBezTo>
                  <a:cubicBezTo>
                    <a:pt x="124544" y="157336"/>
                    <a:pt x="105122" y="165199"/>
                    <a:pt x="81707" y="165199"/>
                  </a:cubicBezTo>
                  <a:cubicBezTo>
                    <a:pt x="67221" y="165199"/>
                    <a:pt x="53405" y="161925"/>
                    <a:pt x="40258" y="155376"/>
                  </a:cubicBezTo>
                  <a:cubicBezTo>
                    <a:pt x="27112" y="148828"/>
                    <a:pt x="17115" y="139228"/>
                    <a:pt x="10269" y="126578"/>
                  </a:cubicBezTo>
                  <a:cubicBezTo>
                    <a:pt x="3423" y="113928"/>
                    <a:pt x="0" y="98524"/>
                    <a:pt x="0" y="80367"/>
                  </a:cubicBezTo>
                  <a:cubicBezTo>
                    <a:pt x="0" y="66476"/>
                    <a:pt x="3423" y="53032"/>
                    <a:pt x="10269" y="40035"/>
                  </a:cubicBezTo>
                  <a:cubicBezTo>
                    <a:pt x="17115" y="27037"/>
                    <a:pt x="26814" y="17115"/>
                    <a:pt x="39365" y="10269"/>
                  </a:cubicBezTo>
                  <a:cubicBezTo>
                    <a:pt x="51916" y="3423"/>
                    <a:pt x="65931" y="0"/>
                    <a:pt x="81409" y="0"/>
                  </a:cubicBezTo>
                  <a:close/>
                  <a:moveTo>
                    <a:pt x="81558" y="34081"/>
                  </a:moveTo>
                  <a:cubicBezTo>
                    <a:pt x="70644" y="34081"/>
                    <a:pt x="61466" y="38249"/>
                    <a:pt x="54025" y="46583"/>
                  </a:cubicBezTo>
                  <a:cubicBezTo>
                    <a:pt x="46583" y="54917"/>
                    <a:pt x="42863" y="66923"/>
                    <a:pt x="42863" y="82599"/>
                  </a:cubicBezTo>
                  <a:cubicBezTo>
                    <a:pt x="42863" y="98276"/>
                    <a:pt x="46583" y="110281"/>
                    <a:pt x="54025" y="118616"/>
                  </a:cubicBezTo>
                  <a:cubicBezTo>
                    <a:pt x="61466" y="126950"/>
                    <a:pt x="70644" y="131117"/>
                    <a:pt x="81558" y="131117"/>
                  </a:cubicBezTo>
                  <a:cubicBezTo>
                    <a:pt x="92472" y="131117"/>
                    <a:pt x="101625" y="126950"/>
                    <a:pt x="109017" y="118616"/>
                  </a:cubicBezTo>
                  <a:cubicBezTo>
                    <a:pt x="116408" y="110281"/>
                    <a:pt x="120104" y="98177"/>
                    <a:pt x="120104" y="82302"/>
                  </a:cubicBezTo>
                  <a:cubicBezTo>
                    <a:pt x="120104" y="66824"/>
                    <a:pt x="116408" y="54917"/>
                    <a:pt x="109017" y="46583"/>
                  </a:cubicBezTo>
                  <a:cubicBezTo>
                    <a:pt x="101625" y="38249"/>
                    <a:pt x="92472" y="34081"/>
                    <a:pt x="81558" y="34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2C33C4-2EED-1B47-AE64-18CE95053628}"/>
                </a:ext>
              </a:extLst>
            </p:cNvPr>
            <p:cNvSpPr txBox="1"/>
            <p:nvPr userDrawn="1"/>
          </p:nvSpPr>
          <p:spPr>
            <a:xfrm>
              <a:off x="5945793" y="2294300"/>
              <a:ext cx="163116" cy="165199"/>
            </a:xfrm>
            <a:custGeom>
              <a:avLst/>
              <a:gdLst/>
              <a:ahLst/>
              <a:cxnLst/>
              <a:rect l="l" t="t" r="r" b="b"/>
              <a:pathLst>
                <a:path w="163116" h="165199">
                  <a:moveTo>
                    <a:pt x="81409" y="0"/>
                  </a:moveTo>
                  <a:cubicBezTo>
                    <a:pt x="105321" y="0"/>
                    <a:pt x="124916" y="7764"/>
                    <a:pt x="140196" y="23291"/>
                  </a:cubicBezTo>
                  <a:cubicBezTo>
                    <a:pt x="155476" y="38819"/>
                    <a:pt x="163116" y="58440"/>
                    <a:pt x="163116" y="82153"/>
                  </a:cubicBezTo>
                  <a:cubicBezTo>
                    <a:pt x="163116" y="106065"/>
                    <a:pt x="155401" y="125884"/>
                    <a:pt x="139973" y="141610"/>
                  </a:cubicBezTo>
                  <a:cubicBezTo>
                    <a:pt x="124544" y="157336"/>
                    <a:pt x="105122" y="165199"/>
                    <a:pt x="81707" y="165199"/>
                  </a:cubicBezTo>
                  <a:cubicBezTo>
                    <a:pt x="67221" y="165199"/>
                    <a:pt x="53405" y="161925"/>
                    <a:pt x="40258" y="155376"/>
                  </a:cubicBezTo>
                  <a:cubicBezTo>
                    <a:pt x="27112" y="148828"/>
                    <a:pt x="17115" y="139228"/>
                    <a:pt x="10269" y="126578"/>
                  </a:cubicBezTo>
                  <a:cubicBezTo>
                    <a:pt x="3423" y="113928"/>
                    <a:pt x="0" y="98524"/>
                    <a:pt x="0" y="80367"/>
                  </a:cubicBezTo>
                  <a:cubicBezTo>
                    <a:pt x="0" y="66476"/>
                    <a:pt x="3423" y="53032"/>
                    <a:pt x="10269" y="40035"/>
                  </a:cubicBezTo>
                  <a:cubicBezTo>
                    <a:pt x="17115" y="27037"/>
                    <a:pt x="26814" y="17115"/>
                    <a:pt x="39365" y="10269"/>
                  </a:cubicBezTo>
                  <a:cubicBezTo>
                    <a:pt x="51916" y="3423"/>
                    <a:pt x="65931" y="0"/>
                    <a:pt x="81409" y="0"/>
                  </a:cubicBezTo>
                  <a:close/>
                  <a:moveTo>
                    <a:pt x="81558" y="34081"/>
                  </a:moveTo>
                  <a:cubicBezTo>
                    <a:pt x="70644" y="34081"/>
                    <a:pt x="61466" y="38249"/>
                    <a:pt x="54025" y="46583"/>
                  </a:cubicBezTo>
                  <a:cubicBezTo>
                    <a:pt x="46583" y="54917"/>
                    <a:pt x="42863" y="66923"/>
                    <a:pt x="42863" y="82599"/>
                  </a:cubicBezTo>
                  <a:cubicBezTo>
                    <a:pt x="42863" y="98276"/>
                    <a:pt x="46583" y="110281"/>
                    <a:pt x="54025" y="118616"/>
                  </a:cubicBezTo>
                  <a:cubicBezTo>
                    <a:pt x="61466" y="126950"/>
                    <a:pt x="70644" y="131117"/>
                    <a:pt x="81558" y="131117"/>
                  </a:cubicBezTo>
                  <a:cubicBezTo>
                    <a:pt x="92472" y="131117"/>
                    <a:pt x="101625" y="126950"/>
                    <a:pt x="109017" y="118616"/>
                  </a:cubicBezTo>
                  <a:cubicBezTo>
                    <a:pt x="116408" y="110281"/>
                    <a:pt x="120104" y="98177"/>
                    <a:pt x="120104" y="82302"/>
                  </a:cubicBezTo>
                  <a:cubicBezTo>
                    <a:pt x="120104" y="66824"/>
                    <a:pt x="116408" y="54917"/>
                    <a:pt x="109017" y="46583"/>
                  </a:cubicBezTo>
                  <a:cubicBezTo>
                    <a:pt x="101625" y="38249"/>
                    <a:pt x="92472" y="34081"/>
                    <a:pt x="81558" y="34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82FEC70-A84A-A843-95D5-2DEE5D0F34FB}"/>
                </a:ext>
              </a:extLst>
            </p:cNvPr>
            <p:cNvSpPr txBox="1"/>
            <p:nvPr userDrawn="1"/>
          </p:nvSpPr>
          <p:spPr>
            <a:xfrm>
              <a:off x="6127066" y="2294299"/>
              <a:ext cx="154186" cy="225772"/>
            </a:xfrm>
            <a:custGeom>
              <a:avLst/>
              <a:gdLst/>
              <a:ahLst/>
              <a:cxnLst/>
              <a:rect l="l" t="t" r="r" b="b"/>
              <a:pathLst>
                <a:path w="154186" h="225772">
                  <a:moveTo>
                    <a:pt x="66675" y="0"/>
                  </a:moveTo>
                  <a:cubicBezTo>
                    <a:pt x="86221" y="0"/>
                    <a:pt x="102344" y="8582"/>
                    <a:pt x="115044" y="25747"/>
                  </a:cubicBezTo>
                  <a:lnTo>
                    <a:pt x="115044" y="3572"/>
                  </a:lnTo>
                  <a:lnTo>
                    <a:pt x="154186" y="3572"/>
                  </a:lnTo>
                  <a:lnTo>
                    <a:pt x="154186" y="145405"/>
                  </a:lnTo>
                  <a:cubicBezTo>
                    <a:pt x="154186" y="164058"/>
                    <a:pt x="152648" y="177998"/>
                    <a:pt x="149572" y="187226"/>
                  </a:cubicBezTo>
                  <a:cubicBezTo>
                    <a:pt x="146496" y="196453"/>
                    <a:pt x="142180" y="203696"/>
                    <a:pt x="136624" y="208954"/>
                  </a:cubicBezTo>
                  <a:cubicBezTo>
                    <a:pt x="131068" y="214213"/>
                    <a:pt x="123651" y="218331"/>
                    <a:pt x="114374" y="221307"/>
                  </a:cubicBezTo>
                  <a:cubicBezTo>
                    <a:pt x="105097" y="224284"/>
                    <a:pt x="93365" y="225772"/>
                    <a:pt x="79176" y="225772"/>
                  </a:cubicBezTo>
                  <a:cubicBezTo>
                    <a:pt x="52387" y="225772"/>
                    <a:pt x="33387" y="221183"/>
                    <a:pt x="22175" y="212005"/>
                  </a:cubicBezTo>
                  <a:cubicBezTo>
                    <a:pt x="10963" y="202828"/>
                    <a:pt x="5358" y="191194"/>
                    <a:pt x="5358" y="177105"/>
                  </a:cubicBezTo>
                  <a:cubicBezTo>
                    <a:pt x="5358" y="175716"/>
                    <a:pt x="5407" y="174029"/>
                    <a:pt x="5506" y="172045"/>
                  </a:cubicBezTo>
                  <a:lnTo>
                    <a:pt x="53280" y="177849"/>
                  </a:lnTo>
                  <a:cubicBezTo>
                    <a:pt x="54074" y="183406"/>
                    <a:pt x="55909" y="187226"/>
                    <a:pt x="58787" y="189309"/>
                  </a:cubicBezTo>
                  <a:cubicBezTo>
                    <a:pt x="62756" y="192286"/>
                    <a:pt x="69006" y="193774"/>
                    <a:pt x="77539" y="193774"/>
                  </a:cubicBezTo>
                  <a:cubicBezTo>
                    <a:pt x="88453" y="193774"/>
                    <a:pt x="96639" y="192137"/>
                    <a:pt x="102096" y="188863"/>
                  </a:cubicBezTo>
                  <a:cubicBezTo>
                    <a:pt x="105767" y="186680"/>
                    <a:pt x="108545" y="183158"/>
                    <a:pt x="110430" y="178296"/>
                  </a:cubicBezTo>
                  <a:cubicBezTo>
                    <a:pt x="111720" y="174823"/>
                    <a:pt x="112365" y="168424"/>
                    <a:pt x="112365" y="159097"/>
                  </a:cubicBezTo>
                  <a:lnTo>
                    <a:pt x="112365" y="136029"/>
                  </a:lnTo>
                  <a:cubicBezTo>
                    <a:pt x="99863" y="153094"/>
                    <a:pt x="84088" y="161627"/>
                    <a:pt x="65038" y="161627"/>
                  </a:cubicBezTo>
                  <a:cubicBezTo>
                    <a:pt x="43805" y="161627"/>
                    <a:pt x="26987" y="152648"/>
                    <a:pt x="14585" y="134689"/>
                  </a:cubicBezTo>
                  <a:cubicBezTo>
                    <a:pt x="4861" y="120501"/>
                    <a:pt x="0" y="102840"/>
                    <a:pt x="0" y="81706"/>
                  </a:cubicBezTo>
                  <a:cubicBezTo>
                    <a:pt x="0" y="55215"/>
                    <a:pt x="6375" y="34974"/>
                    <a:pt x="19124" y="20985"/>
                  </a:cubicBezTo>
                  <a:cubicBezTo>
                    <a:pt x="31874" y="6995"/>
                    <a:pt x="47724" y="0"/>
                    <a:pt x="66675" y="0"/>
                  </a:cubicBezTo>
                  <a:close/>
                  <a:moveTo>
                    <a:pt x="77390" y="31998"/>
                  </a:moveTo>
                  <a:cubicBezTo>
                    <a:pt x="67369" y="31998"/>
                    <a:pt x="59109" y="35892"/>
                    <a:pt x="52610" y="43681"/>
                  </a:cubicBezTo>
                  <a:cubicBezTo>
                    <a:pt x="46112" y="51470"/>
                    <a:pt x="42862" y="63351"/>
                    <a:pt x="42862" y="79325"/>
                  </a:cubicBezTo>
                  <a:cubicBezTo>
                    <a:pt x="42862" y="96093"/>
                    <a:pt x="46112" y="108371"/>
                    <a:pt x="52610" y="116160"/>
                  </a:cubicBezTo>
                  <a:cubicBezTo>
                    <a:pt x="59109" y="123949"/>
                    <a:pt x="67121" y="127843"/>
                    <a:pt x="76646" y="127843"/>
                  </a:cubicBezTo>
                  <a:cubicBezTo>
                    <a:pt x="86866" y="127843"/>
                    <a:pt x="95498" y="123850"/>
                    <a:pt x="102542" y="115862"/>
                  </a:cubicBezTo>
                  <a:cubicBezTo>
                    <a:pt x="109587" y="107875"/>
                    <a:pt x="113109" y="96044"/>
                    <a:pt x="113109" y="80367"/>
                  </a:cubicBezTo>
                  <a:cubicBezTo>
                    <a:pt x="113109" y="63996"/>
                    <a:pt x="109736" y="51842"/>
                    <a:pt x="102989" y="43904"/>
                  </a:cubicBezTo>
                  <a:cubicBezTo>
                    <a:pt x="96242" y="35967"/>
                    <a:pt x="87709" y="31998"/>
                    <a:pt x="77390" y="319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2275691-F2D1-9240-A849-36C54E8F5AE4}"/>
                </a:ext>
              </a:extLst>
            </p:cNvPr>
            <p:cNvSpPr txBox="1"/>
            <p:nvPr userDrawn="1"/>
          </p:nvSpPr>
          <p:spPr>
            <a:xfrm>
              <a:off x="6297623" y="2297871"/>
              <a:ext cx="162520" cy="222200"/>
            </a:xfrm>
            <a:custGeom>
              <a:avLst/>
              <a:gdLst/>
              <a:ahLst/>
              <a:cxnLst/>
              <a:rect l="l" t="t" r="r" b="b"/>
              <a:pathLst>
                <a:path w="162520" h="222200">
                  <a:moveTo>
                    <a:pt x="0" y="0"/>
                  </a:moveTo>
                  <a:lnTo>
                    <a:pt x="44499" y="0"/>
                  </a:lnTo>
                  <a:lnTo>
                    <a:pt x="82302" y="112216"/>
                  </a:lnTo>
                  <a:lnTo>
                    <a:pt x="119211" y="0"/>
                  </a:lnTo>
                  <a:lnTo>
                    <a:pt x="162520" y="0"/>
                  </a:lnTo>
                  <a:lnTo>
                    <a:pt x="106709" y="152102"/>
                  </a:lnTo>
                  <a:lnTo>
                    <a:pt x="96738" y="179635"/>
                  </a:lnTo>
                  <a:cubicBezTo>
                    <a:pt x="93067" y="188863"/>
                    <a:pt x="89569" y="195907"/>
                    <a:pt x="86246" y="200769"/>
                  </a:cubicBezTo>
                  <a:cubicBezTo>
                    <a:pt x="82922" y="205631"/>
                    <a:pt x="79102" y="209574"/>
                    <a:pt x="74786" y="212601"/>
                  </a:cubicBezTo>
                  <a:cubicBezTo>
                    <a:pt x="70470" y="215627"/>
                    <a:pt x="65162" y="217983"/>
                    <a:pt x="58861" y="219670"/>
                  </a:cubicBezTo>
                  <a:cubicBezTo>
                    <a:pt x="52561" y="221357"/>
                    <a:pt x="45442" y="222200"/>
                    <a:pt x="37504" y="222200"/>
                  </a:cubicBezTo>
                  <a:cubicBezTo>
                    <a:pt x="29468" y="222200"/>
                    <a:pt x="21580" y="221357"/>
                    <a:pt x="13841" y="219670"/>
                  </a:cubicBezTo>
                  <a:lnTo>
                    <a:pt x="10120" y="186928"/>
                  </a:lnTo>
                  <a:cubicBezTo>
                    <a:pt x="16668" y="188218"/>
                    <a:pt x="22572" y="188863"/>
                    <a:pt x="27831" y="188863"/>
                  </a:cubicBezTo>
                  <a:cubicBezTo>
                    <a:pt x="37554" y="188863"/>
                    <a:pt x="44747" y="186010"/>
                    <a:pt x="49411" y="180305"/>
                  </a:cubicBezTo>
                  <a:cubicBezTo>
                    <a:pt x="54074" y="174600"/>
                    <a:pt x="57646" y="167332"/>
                    <a:pt x="60126" y="15850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487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160000" y="6528281"/>
            <a:ext cx="1422400" cy="167847"/>
          </a:xfrm>
        </p:spPr>
        <p:txBody>
          <a:bodyPr/>
          <a:lstStyle/>
          <a:p>
            <a:fld id="{90F9BDA0-AF0E-4BA8-B742-3B9C92A3E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9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17234" y="469286"/>
            <a:ext cx="9681295" cy="731520"/>
          </a:xfr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ct val="100000"/>
              </a:lnSpc>
              <a:defRPr lang="en-US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BDA0-AF0E-4BA8-B742-3B9C92A3E6F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6DFF85B-602D-9846-8AE0-BE3B4117F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40472" y="6241565"/>
            <a:ext cx="3273859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7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division name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BCF2EF-1A2E-5644-AD14-82E90D22A6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9873" y="1499616"/>
            <a:ext cx="9681295" cy="4526280"/>
          </a:xfrm>
        </p:spPr>
        <p:txBody>
          <a:bodyPr/>
          <a:lstStyle>
            <a:lvl1pPr marL="152396" indent="-152396">
              <a:spcBef>
                <a:spcPts val="400"/>
              </a:spcBef>
              <a:spcAft>
                <a:spcPts val="800"/>
              </a:spcAft>
              <a:buClr>
                <a:schemeClr val="accent1"/>
              </a:buClr>
              <a:tabLst/>
              <a:defRPr sz="1900"/>
            </a:lvl1pPr>
            <a:lvl2pPr marL="289977" indent="-131230"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tabLst/>
              <a:defRPr sz="1900"/>
            </a:lvl2pPr>
            <a:lvl3pPr marL="419090" indent="-110064"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tabLst/>
              <a:defRPr sz="1600"/>
            </a:lvl3pPr>
            <a:lvl4pPr marL="539737" indent="-120648"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tabLst/>
              <a:defRPr sz="1500"/>
            </a:lvl4pPr>
            <a:lvl5pPr marL="658268" indent="-107948"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098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78C411-CEBA-417C-B33B-6CA61D05E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653C5-1945-4181-A821-8349B30E7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A7E8A-8CA2-43E8-821D-7BDEAAFF2D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9C747-35B1-443E-B8D0-DB8159BC8F7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96A78-202D-4148-A03C-49EA40BF9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B5B3B-4B6D-4099-8738-FF190E9F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1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2" y="295801"/>
            <a:ext cx="7694245" cy="7004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2" y="1371600"/>
            <a:ext cx="7694245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6528281"/>
            <a:ext cx="1422400" cy="167847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90F9BDA0-AF0E-4BA8-B742-3B9C92A3E6F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>
            <a:cxnSpLocks/>
          </p:cNvCxnSpPr>
          <p:nvPr/>
        </p:nvCxnSpPr>
        <p:spPr bwMode="auto">
          <a:xfrm>
            <a:off x="1219201" y="990600"/>
            <a:ext cx="10972816" cy="0"/>
          </a:xfrm>
          <a:prstGeom prst="line">
            <a:avLst/>
          </a:prstGeom>
          <a:solidFill>
            <a:srgbClr val="798387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TextBox 9"/>
          <p:cNvSpPr txBox="1"/>
          <p:nvPr/>
        </p:nvSpPr>
        <p:spPr>
          <a:xfrm>
            <a:off x="4786786" y="6593476"/>
            <a:ext cx="5331909" cy="10265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en-US" sz="667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Proprietary information of UnitedHealth Group. Do not distribute or reproduce without express permission of UnitedHealth Group.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 bwMode="auto">
          <a:xfrm>
            <a:off x="1234953" y="6394556"/>
            <a:ext cx="10957065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rgbClr val="8C95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Rectangle 11"/>
          <p:cNvSpPr/>
          <p:nvPr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BBB795-6B12-8143-BD39-224A5014408A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1845" y="240548"/>
            <a:ext cx="2012175" cy="63152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84591-42A7-CD48-8BF3-E973F9116F26}"/>
              </a:ext>
            </a:extLst>
          </p:cNvPr>
          <p:cNvGrpSpPr/>
          <p:nvPr userDrawn="1"/>
        </p:nvGrpSpPr>
        <p:grpSpPr>
          <a:xfrm>
            <a:off x="440165" y="295804"/>
            <a:ext cx="636975" cy="858841"/>
            <a:chOff x="679539" y="1"/>
            <a:chExt cx="3815548" cy="5144568"/>
          </a:xfrm>
        </p:grpSpPr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6B50E7A6-06FD-7C42-8BA6-11059A2E76FE}"/>
                </a:ext>
              </a:extLst>
            </p:cNvPr>
            <p:cNvSpPr/>
            <p:nvPr userDrawn="1"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6" name="Chevron 15">
              <a:extLst>
                <a:ext uri="{FF2B5EF4-FFF2-40B4-BE49-F238E27FC236}">
                  <a16:creationId xmlns:a16="http://schemas.microsoft.com/office/drawing/2014/main" id="{B505635B-F8A4-0A4D-B76F-B38ACD2EFA0A}"/>
                </a:ext>
              </a:extLst>
            </p:cNvPr>
            <p:cNvSpPr/>
            <p:nvPr userDrawn="1"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45CD8845-FF64-784F-97B0-A9EC406E4027}"/>
                </a:ext>
              </a:extLst>
            </p:cNvPr>
            <p:cNvSpPr/>
            <p:nvPr userDrawn="1"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35946B5-B7F7-3847-880B-D8559EFA6D30}"/>
              </a:ext>
            </a:extLst>
          </p:cNvPr>
          <p:cNvGrpSpPr/>
          <p:nvPr userDrawn="1"/>
        </p:nvGrpSpPr>
        <p:grpSpPr>
          <a:xfrm>
            <a:off x="934929" y="6465328"/>
            <a:ext cx="3479121" cy="306732"/>
            <a:chOff x="744483" y="4848998"/>
            <a:chExt cx="2609341" cy="2300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F7686B8-9398-AB44-9F8B-556F17CC646D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19" name="Title 3">
              <a:extLst>
                <a:ext uri="{FF2B5EF4-FFF2-40B4-BE49-F238E27FC236}">
                  <a16:creationId xmlns:a16="http://schemas.microsoft.com/office/drawing/2014/main" id="{7895A49F-04D5-5E48-88BF-10579EB5E39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8" name="Straight Connector 7"/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7103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1219139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34939" indent="-234939" algn="l" defTabSz="1219139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rgbClr val="4D4D4D"/>
          </a:solidFill>
          <a:latin typeface="+mn-lt"/>
          <a:ea typeface="+mn-ea"/>
          <a:cs typeface="+mn-cs"/>
        </a:defRPr>
      </a:lvl1pPr>
      <a:lvl2pPr marL="457177" indent="-203190" algn="l" defTabSz="1219139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Char char="-"/>
        <a:defRPr sz="2400" kern="1200">
          <a:solidFill>
            <a:srgbClr val="4D4D4D"/>
          </a:solidFill>
          <a:latin typeface="+mn-lt"/>
          <a:ea typeface="+mn-ea"/>
          <a:cs typeface="+mn-cs"/>
        </a:defRPr>
      </a:lvl2pPr>
      <a:lvl3pPr marL="539723" indent="0" algn="l" defTabSz="1219139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None/>
        <a:defRPr sz="2400" kern="1200">
          <a:solidFill>
            <a:srgbClr val="4D4D4D"/>
          </a:solidFill>
          <a:latin typeface="+mn-lt"/>
          <a:ea typeface="+mn-ea"/>
          <a:cs typeface="+mn-cs"/>
        </a:defRPr>
      </a:lvl3pPr>
      <a:lvl4pPr marL="996902" indent="-234939" algn="l" defTabSz="1219139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Char char="–"/>
        <a:defRPr sz="2400" kern="1200">
          <a:solidFill>
            <a:srgbClr val="4D4D4D"/>
          </a:solidFill>
          <a:latin typeface="+mn-lt"/>
          <a:ea typeface="+mn-ea"/>
          <a:cs typeface="+mn-cs"/>
        </a:defRPr>
      </a:lvl4pPr>
      <a:lvl5pPr marL="1301686" indent="-304784" algn="l" defTabSz="1219139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Char char="»"/>
        <a:defRPr sz="2400" kern="1200">
          <a:solidFill>
            <a:srgbClr val="4D4D4D"/>
          </a:solidFill>
          <a:latin typeface="+mn-lt"/>
          <a:ea typeface="+mn-ea"/>
          <a:cs typeface="+mn-cs"/>
        </a:defRPr>
      </a:lvl5pPr>
      <a:lvl6pPr marL="3352632" indent="-304784" algn="l" defTabSz="1219139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rgbClr val="4D4D4D"/>
          </a:solidFill>
          <a:latin typeface="+mn-lt"/>
          <a:ea typeface="+mn-ea"/>
          <a:cs typeface="+mn-cs"/>
        </a:defRPr>
      </a:lvl6pPr>
      <a:lvl7pPr marL="3962202" indent="-304784" algn="l" defTabSz="1219139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rgbClr val="4D4D4D"/>
          </a:solidFill>
          <a:latin typeface="+mn-lt"/>
          <a:ea typeface="+mn-ea"/>
          <a:cs typeface="+mn-cs"/>
        </a:defRPr>
      </a:lvl7pPr>
      <a:lvl8pPr marL="4571771" indent="-304784" algn="l" defTabSz="1219139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rgbClr val="4D4D4D"/>
          </a:solidFill>
          <a:latin typeface="+mn-lt"/>
          <a:ea typeface="+mn-ea"/>
          <a:cs typeface="+mn-cs"/>
        </a:defRPr>
      </a:lvl8pPr>
      <a:lvl9pPr marL="4876557" indent="0" algn="l" defTabSz="1219139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None/>
        <a:defRPr sz="2400" kern="1200" baseline="0">
          <a:solidFill>
            <a:srgbClr val="4D4D4D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6">
          <p15:clr>
            <a:srgbClr val="F26B43"/>
          </p15:clr>
        </p15:guide>
        <p15:guide id="2" pos="504">
          <p15:clr>
            <a:srgbClr val="F26B43"/>
          </p15:clr>
        </p15:guide>
        <p15:guide id="3" pos="576">
          <p15:clr>
            <a:srgbClr val="F26B43"/>
          </p15:clr>
        </p15:guide>
        <p15:guide id="4" orient="horz" pos="1476">
          <p15:clr>
            <a:srgbClr val="F26B43"/>
          </p15:clr>
        </p15:guide>
        <p15:guide id="5" pos="2592">
          <p15:clr>
            <a:srgbClr val="F26B43"/>
          </p15:clr>
        </p15:guide>
        <p15:guide id="6" orient="horz" pos="3156">
          <p15:clr>
            <a:srgbClr val="F26B43"/>
          </p15:clr>
        </p15:guide>
        <p15:guide id="7" pos="2976">
          <p15:clr>
            <a:srgbClr val="F26B43"/>
          </p15:clr>
        </p15:guide>
        <p15:guide id="8" orient="horz" pos="1548">
          <p15:clr>
            <a:srgbClr val="F26B43"/>
          </p15:clr>
        </p15:guide>
        <p15:guide id="9" orient="horz" pos="3036">
          <p15:clr>
            <a:srgbClr val="F26B43"/>
          </p15:clr>
        </p15:guide>
        <p15:guide id="10" pos="26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teams.microsoft.com/l/file/8A21023E-5B33-4371-B0B3-A96C255470AF?tenantId=db05faca-c82a-4b9d-b9c5-0f64b6755421&amp;fileType=xlsx&amp;objectUrl=https%3A%2F%2Fuhgazure.sharepoint.com%2Fteams%2FNavigateNowQuality%2FShared%20Documents%2FGeneral%2FImpacted%20Applications%20and%20Connections.xlsx&amp;baseUrl=https%3A%2F%2Fuhgazure.sharepoint.com%2Fteams%2FNavigateNowQuality&amp;serviceName=teams&amp;threadId=19:9jWdMmxgtasWqpmV5aZO9z0kTvxyco-7NTrjukcv-hE1@thread.tacv2&amp;groupId=8d94d10d-14b1-42c9-b723-af57b1d70295" TargetMode="Externa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390612" y="1957733"/>
            <a:ext cx="6481456" cy="2227660"/>
          </a:xfrm>
        </p:spPr>
        <p:txBody>
          <a:bodyPr/>
          <a:lstStyle/>
          <a:p>
            <a:r>
              <a:rPr lang="en-US" sz="2800"/>
              <a:t>ST19567 (2025)  </a:t>
            </a:r>
            <a:br>
              <a:rPr lang="en-US" sz="2800"/>
            </a:br>
            <a:r>
              <a:rPr lang="en-US" sz="2800"/>
              <a:t>NICE (Newly Integrated Claims Engine) Migration to USP </a:t>
            </a:r>
            <a:br>
              <a:rPr lang="en-US" sz="2800"/>
            </a:br>
            <a:r>
              <a:rPr lang="en-US" sz="2800"/>
              <a:t>New Business Product Ecosystem Testing – Release 2 </a:t>
            </a:r>
            <a:endParaRPr lang="en-US" sz="2800">
              <a:cs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0769600" y="6538386"/>
            <a:ext cx="1422400" cy="169333"/>
          </a:xfrm>
        </p:spPr>
        <p:txBody>
          <a:bodyPr/>
          <a:lstStyle/>
          <a:p>
            <a:pPr defTabSz="1219170"/>
            <a:fld id="{90F9BDA0-AF0E-4BA8-B742-3B9C92A3E6FE}" type="slidenum">
              <a:rPr lang="en-US">
                <a:solidFill>
                  <a:srgbClr val="8C9599"/>
                </a:solidFill>
                <a:latin typeface="Arial"/>
              </a:rPr>
              <a:pPr defTabSz="1219170"/>
              <a:t>1</a:t>
            </a:fld>
            <a:endParaRPr lang="en-US">
              <a:solidFill>
                <a:srgbClr val="8C959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953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9BDF1DDD-FA3F-4C12-9BD5-80A59AE9A6ED}"/>
              </a:ext>
            </a:extLst>
          </p:cNvPr>
          <p:cNvSpPr/>
          <p:nvPr/>
        </p:nvSpPr>
        <p:spPr>
          <a:xfrm>
            <a:off x="9480238" y="6370440"/>
            <a:ext cx="1682387" cy="307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9770C0A-5E04-4A44-9F9A-2F8DD54FB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94" y="786194"/>
            <a:ext cx="9136119" cy="599413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F703E953-5CF5-1543-B0AA-934632977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87" y="363756"/>
            <a:ext cx="9678774" cy="636119"/>
          </a:xfrm>
        </p:spPr>
        <p:txBody>
          <a:bodyPr/>
          <a:lstStyle/>
          <a:p>
            <a:r>
              <a:rPr lang="en-US" sz="2399"/>
              <a:t>E&amp;I Target State Architecture – NICE Migration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C7FEBCF-5306-B440-B30C-227CC0355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9BDA0-AF0E-4BA8-B742-3B9C92A3E6FE}" type="slidenum">
              <a:rPr kumimoji="0" lang="en-US" sz="1067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67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00267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BC4D7D-1176-4AD4-ACA1-397B5681F22F}"/>
              </a:ext>
            </a:extLst>
          </p:cNvPr>
          <p:cNvSpPr txBox="1"/>
          <p:nvPr/>
        </p:nvSpPr>
        <p:spPr>
          <a:xfrm>
            <a:off x="9480238" y="151385"/>
            <a:ext cx="1377337" cy="30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Diagram Key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965266-DBA2-4709-83B8-E14343F1DFA0}"/>
              </a:ext>
            </a:extLst>
          </p:cNvPr>
          <p:cNvSpPr/>
          <p:nvPr/>
        </p:nvSpPr>
        <p:spPr>
          <a:xfrm>
            <a:off x="9612279" y="502361"/>
            <a:ext cx="230206" cy="2180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5721B4-CB29-4879-A18B-F3B6BF39457B}"/>
              </a:ext>
            </a:extLst>
          </p:cNvPr>
          <p:cNvSpPr txBox="1"/>
          <p:nvPr/>
        </p:nvSpPr>
        <p:spPr>
          <a:xfrm>
            <a:off x="9842486" y="447881"/>
            <a:ext cx="22907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 Platform </a:t>
            </a:r>
          </a:p>
          <a:p>
            <a:pPr marL="171399" marR="0" lvl="0" indent="-171399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– unique benefit plan components</a:t>
            </a:r>
          </a:p>
          <a:p>
            <a:pPr marL="171399" marR="0" lvl="0" indent="-171399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Member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–enrollment retro rules, EDI support for  Exchanges and TPAs</a:t>
            </a:r>
          </a:p>
          <a:p>
            <a:pPr marL="171399" marR="0" lvl="0" indent="-171399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Customer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–MMP funding arrangement</a:t>
            </a:r>
          </a:p>
          <a:p>
            <a:pPr marL="171399" marR="0" lvl="0" indent="-171399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Claims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– presentment &amp; payment; new member letters; integration with delegated entity encounters ; unique place of service rules, regulatory rules  </a:t>
            </a:r>
          </a:p>
          <a:p>
            <a:pPr marL="171399" marR="0" lvl="0" indent="-171399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Provider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– unique contract relationship rules, contract integration </a:t>
            </a:r>
          </a:p>
          <a:p>
            <a:pPr marL="171399" marR="0" lvl="0" indent="-171399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Finance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– financial tagging, MMP funding, 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D9698B-7B51-4F26-8447-4248E8D666AD}"/>
              </a:ext>
            </a:extLst>
          </p:cNvPr>
          <p:cNvSpPr/>
          <p:nvPr/>
        </p:nvSpPr>
        <p:spPr>
          <a:xfrm>
            <a:off x="9659778" y="3318404"/>
            <a:ext cx="218017" cy="2180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DC4D74-073F-4E16-B14E-2653CB84B6ED}"/>
              </a:ext>
            </a:extLst>
          </p:cNvPr>
          <p:cNvSpPr txBox="1"/>
          <p:nvPr/>
        </p:nvSpPr>
        <p:spPr>
          <a:xfrm>
            <a:off x="9889983" y="3254995"/>
            <a:ext cx="2169460" cy="70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Reporting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unique reporting needs for products, regulatory reporting, integration with Delegates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595959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0C756F4-0004-4506-A1D4-1F854E5744DA}"/>
              </a:ext>
            </a:extLst>
          </p:cNvPr>
          <p:cNvSpPr/>
          <p:nvPr/>
        </p:nvSpPr>
        <p:spPr>
          <a:xfrm>
            <a:off x="346705" y="1244148"/>
            <a:ext cx="218017" cy="2180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43D7A0-2014-4CD7-9741-A0771B394E49}"/>
              </a:ext>
            </a:extLst>
          </p:cNvPr>
          <p:cNvSpPr/>
          <p:nvPr/>
        </p:nvSpPr>
        <p:spPr>
          <a:xfrm>
            <a:off x="1940334" y="2381086"/>
            <a:ext cx="218017" cy="2180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DD3EAB9-58DF-42EB-BF2A-A5767C964DA7}"/>
              </a:ext>
            </a:extLst>
          </p:cNvPr>
          <p:cNvSpPr/>
          <p:nvPr/>
        </p:nvSpPr>
        <p:spPr>
          <a:xfrm>
            <a:off x="9649573" y="3845250"/>
            <a:ext cx="218017" cy="2180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525A43-B461-48BB-A205-0E6A8ACB643C}"/>
              </a:ext>
            </a:extLst>
          </p:cNvPr>
          <p:cNvSpPr txBox="1"/>
          <p:nvPr/>
        </p:nvSpPr>
        <p:spPr>
          <a:xfrm>
            <a:off x="9879779" y="3781841"/>
            <a:ext cx="2169460" cy="40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B&amp;E Portal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enhancements to support NICE Producers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7A4FC2E-F0A4-49EF-A2ED-A910258DF60F}"/>
              </a:ext>
            </a:extLst>
          </p:cNvPr>
          <p:cNvSpPr/>
          <p:nvPr/>
        </p:nvSpPr>
        <p:spPr>
          <a:xfrm>
            <a:off x="9662721" y="4237591"/>
            <a:ext cx="218017" cy="2180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4C8AC9-7F7E-4CD0-B054-313B3403F3C7}"/>
              </a:ext>
            </a:extLst>
          </p:cNvPr>
          <p:cNvSpPr txBox="1"/>
          <p:nvPr/>
        </p:nvSpPr>
        <p:spPr>
          <a:xfrm>
            <a:off x="9903131" y="4174183"/>
            <a:ext cx="2169460" cy="40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Member Portal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TBD NICE- specific product functionality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D71FCAF-7192-4697-BFE4-DCE2D2869BD3}"/>
              </a:ext>
            </a:extLst>
          </p:cNvPr>
          <p:cNvSpPr/>
          <p:nvPr/>
        </p:nvSpPr>
        <p:spPr>
          <a:xfrm>
            <a:off x="2049342" y="3966041"/>
            <a:ext cx="218017" cy="2180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2B91BAC-3936-4B9A-9179-8C7D53362E8D}"/>
              </a:ext>
            </a:extLst>
          </p:cNvPr>
          <p:cNvSpPr/>
          <p:nvPr/>
        </p:nvSpPr>
        <p:spPr>
          <a:xfrm>
            <a:off x="2049342" y="4406179"/>
            <a:ext cx="218017" cy="2180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F4D0EF3-9E38-4217-9F2F-6224193276C9}"/>
              </a:ext>
            </a:extLst>
          </p:cNvPr>
          <p:cNvSpPr/>
          <p:nvPr/>
        </p:nvSpPr>
        <p:spPr>
          <a:xfrm>
            <a:off x="1032787" y="5659083"/>
            <a:ext cx="218017" cy="2180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0B2355B-623D-4118-9903-65DCC4C01435}"/>
              </a:ext>
            </a:extLst>
          </p:cNvPr>
          <p:cNvSpPr/>
          <p:nvPr/>
        </p:nvSpPr>
        <p:spPr>
          <a:xfrm>
            <a:off x="6886953" y="2399665"/>
            <a:ext cx="218017" cy="2180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FFF4DE0-7CF5-4A49-9FC3-E1DA595ED629}"/>
              </a:ext>
            </a:extLst>
          </p:cNvPr>
          <p:cNvSpPr/>
          <p:nvPr/>
        </p:nvSpPr>
        <p:spPr>
          <a:xfrm>
            <a:off x="7503220" y="3034668"/>
            <a:ext cx="218017" cy="2180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9597C50-B99B-472B-99E4-8FA87BA4D249}"/>
              </a:ext>
            </a:extLst>
          </p:cNvPr>
          <p:cNvSpPr/>
          <p:nvPr/>
        </p:nvSpPr>
        <p:spPr>
          <a:xfrm>
            <a:off x="9649573" y="4627435"/>
            <a:ext cx="218017" cy="2180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6756A4-F976-47DB-BB39-71E325A05D32}"/>
              </a:ext>
            </a:extLst>
          </p:cNvPr>
          <p:cNvSpPr txBox="1"/>
          <p:nvPr/>
        </p:nvSpPr>
        <p:spPr>
          <a:xfrm>
            <a:off x="9889982" y="4564026"/>
            <a:ext cx="23020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Provider Demographic, Contract and Provider Group Roll-Up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integration for NICE Providers in USP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44A5E3B-2119-475A-B79E-B820479D35C0}"/>
              </a:ext>
            </a:extLst>
          </p:cNvPr>
          <p:cNvSpPr/>
          <p:nvPr/>
        </p:nvSpPr>
        <p:spPr>
          <a:xfrm>
            <a:off x="9649573" y="5091826"/>
            <a:ext cx="218017" cy="2180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184092-3D8C-4D8A-8B4D-84421C4C9753}"/>
              </a:ext>
            </a:extLst>
          </p:cNvPr>
          <p:cNvSpPr txBox="1"/>
          <p:nvPr/>
        </p:nvSpPr>
        <p:spPr>
          <a:xfrm>
            <a:off x="9877795" y="5050959"/>
            <a:ext cx="2169460" cy="40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Fulfillment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enhancements to customer and member materials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37BF723-9655-48CB-9F1E-9AEAB2423D88}"/>
              </a:ext>
            </a:extLst>
          </p:cNvPr>
          <p:cNvSpPr/>
          <p:nvPr/>
        </p:nvSpPr>
        <p:spPr>
          <a:xfrm>
            <a:off x="9662721" y="5493344"/>
            <a:ext cx="218017" cy="2180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9A4D85-DDCD-4674-824A-248AE98D3DF8}"/>
              </a:ext>
            </a:extLst>
          </p:cNvPr>
          <p:cNvSpPr txBox="1"/>
          <p:nvPr/>
        </p:nvSpPr>
        <p:spPr>
          <a:xfrm>
            <a:off x="9903131" y="5429936"/>
            <a:ext cx="2169460" cy="553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Sales &amp; Renewal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enhancements to support quote and renewal for NICE-specific products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7ECD4A8-10CA-45C6-B91A-C17EB3EB00C1}"/>
              </a:ext>
            </a:extLst>
          </p:cNvPr>
          <p:cNvSpPr/>
          <p:nvPr/>
        </p:nvSpPr>
        <p:spPr>
          <a:xfrm>
            <a:off x="9649573" y="6043916"/>
            <a:ext cx="218017" cy="2180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3FC1CC-792B-4615-A20F-31792071D19F}"/>
              </a:ext>
            </a:extLst>
          </p:cNvPr>
          <p:cNvSpPr txBox="1"/>
          <p:nvPr/>
        </p:nvSpPr>
        <p:spPr>
          <a:xfrm>
            <a:off x="9889983" y="5980507"/>
            <a:ext cx="2169460" cy="40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Risk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enhancements to foundation capabilities specific to NICE. 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AC23568-F93F-444E-BE41-0554E0E4751E}"/>
              </a:ext>
            </a:extLst>
          </p:cNvPr>
          <p:cNvSpPr/>
          <p:nvPr/>
        </p:nvSpPr>
        <p:spPr>
          <a:xfrm>
            <a:off x="2267217" y="2817560"/>
            <a:ext cx="218017" cy="2180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45F765F-04A1-A7BC-70CB-ACB87F17F7E7}"/>
              </a:ext>
            </a:extLst>
          </p:cNvPr>
          <p:cNvSpPr/>
          <p:nvPr/>
        </p:nvSpPr>
        <p:spPr>
          <a:xfrm>
            <a:off x="2552381" y="1313305"/>
            <a:ext cx="218017" cy="2180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3" name="Star: 4 Points 2">
            <a:hlinkClick r:id="" action="ppaction://noaction"/>
            <a:extLst>
              <a:ext uri="{FF2B5EF4-FFF2-40B4-BE49-F238E27FC236}">
                <a16:creationId xmlns:a16="http://schemas.microsoft.com/office/drawing/2014/main" id="{2E8ABB74-7119-A706-17AA-9A2A469F8E90}"/>
              </a:ext>
            </a:extLst>
          </p:cNvPr>
          <p:cNvSpPr/>
          <p:nvPr/>
        </p:nvSpPr>
        <p:spPr>
          <a:xfrm>
            <a:off x="-76200" y="-27264"/>
            <a:ext cx="914400" cy="914400"/>
          </a:xfrm>
          <a:prstGeom prst="star4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4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72CF5A-3F3F-46A5-A417-936B78F5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75" y="207554"/>
            <a:ext cx="9976206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br>
              <a:rPr lang="en-US" sz="3700">
                <a:solidFill>
                  <a:srgbClr val="FFFFFF"/>
                </a:solidFill>
              </a:rPr>
            </a:br>
            <a:br>
              <a:rPr lang="en-US" sz="3700">
                <a:solidFill>
                  <a:srgbClr val="FFFFFF"/>
                </a:solidFill>
              </a:rPr>
            </a:br>
            <a:r>
              <a:rPr lang="en-US" sz="3600">
                <a:solidFill>
                  <a:srgbClr val="FFFFFF"/>
                </a:solidFill>
              </a:rPr>
              <a:t>Product Ecosystem </a:t>
            </a:r>
            <a:r>
              <a:rPr lang="en-US" sz="3700">
                <a:solidFill>
                  <a:srgbClr val="FFFFFF"/>
                </a:solidFill>
              </a:rPr>
              <a:t>Testing impact</a:t>
            </a:r>
            <a:br>
              <a:rPr lang="en-US" sz="3700">
                <a:solidFill>
                  <a:srgbClr val="FFFFFF"/>
                </a:solidFill>
              </a:rPr>
            </a:br>
            <a:br>
              <a:rPr lang="en-US" sz="3700">
                <a:solidFill>
                  <a:srgbClr val="FFFFFF"/>
                </a:solidFill>
              </a:rPr>
            </a:br>
            <a:endParaRPr lang="en-US" sz="370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54C72-37EE-455C-85E6-713303B6BAC2}"/>
              </a:ext>
            </a:extLst>
          </p:cNvPr>
          <p:cNvSpPr/>
          <p:nvPr/>
        </p:nvSpPr>
        <p:spPr>
          <a:xfrm>
            <a:off x="284075" y="2307365"/>
            <a:ext cx="877586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b="1">
                <a:solidFill>
                  <a:prstClr val="black"/>
                </a:solidFill>
              </a:rPr>
              <a:t>Impacted areas:</a:t>
            </a:r>
          </a:p>
          <a:p>
            <a:pPr lvl="0">
              <a:defRPr/>
            </a:pPr>
            <a:endParaRPr lang="en-US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Product Implementation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Member Group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Provider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OBM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Fulfillment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Vendor Onboarding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Digital/Constituent Services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Claims</a:t>
            </a:r>
          </a:p>
          <a:p>
            <a:pPr lvl="0">
              <a:defRPr/>
            </a:pPr>
            <a:r>
              <a:rPr lang="en-US" b="1">
                <a:solidFill>
                  <a:prstClr val="black"/>
                </a:solidFill>
              </a:rPr>
              <a:t>User Experience:</a:t>
            </a:r>
            <a:endParaRPr lang="en-US">
              <a:solidFill>
                <a:prstClr val="black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Member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Employer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Broker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Provider</a:t>
            </a:r>
          </a:p>
          <a:p>
            <a:pPr lvl="0">
              <a:defRPr/>
            </a:pPr>
            <a:endParaRPr lang="en-US">
              <a:solidFill>
                <a:prstClr val="black"/>
              </a:solidFill>
            </a:endParaRPr>
          </a:p>
          <a:p>
            <a:pPr lvl="0">
              <a:defRPr/>
            </a:pPr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721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326464" y="1362381"/>
            <a:ext cx="11998417" cy="5545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In-Scope-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tabLst>
                <a:tab pos="457200" algn="l"/>
              </a:tabLst>
            </a:pPr>
            <a:r>
              <a:rPr lang="en-US" sz="14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 1- Case Install Ready (Product Ready)</a:t>
            </a:r>
            <a:endParaRPr lang="en-US" sz="14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Install groups and enroll members into NICE Plans for small business  (Medical only/ medical + standalone dental, vision , Life/ STD &amp;LTD) for Fully Insured Large business using OBM, B&amp;E Portal. </a:t>
            </a:r>
            <a:r>
              <a:rPr lang="en-US" sz="14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0" lvl="1" indent="-6858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1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Products- </a:t>
            </a:r>
            <a:r>
              <a:rPr lang="fr-FR" sz="14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SignatureValue</a:t>
            </a:r>
            <a:r>
              <a:rPr lang="fr-FR" sz="1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14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SignatureValue</a:t>
            </a:r>
            <a:r>
              <a:rPr lang="fr-FR" sz="1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Alliance, </a:t>
            </a:r>
            <a:r>
              <a:rPr lang="fr-FR" sz="14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SignatureValue</a:t>
            </a:r>
            <a:r>
              <a:rPr lang="fr-FR" sz="1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Harmony</a:t>
            </a:r>
            <a:r>
              <a:rPr lang="fr-FR" sz="140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err="1"/>
              <a:t>SignatureValue</a:t>
            </a:r>
            <a:r>
              <a:rPr lang="en-US" sz="1400"/>
              <a:t> Advantage</a:t>
            </a:r>
            <a:endParaRPr lang="en-US" sz="14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600200" lvl="2" indent="-6858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HMO – Stand alone</a:t>
            </a:r>
          </a:p>
          <a:p>
            <a:pPr marL="1600200" lvl="2" indent="-6858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HMO and PPO - D</a:t>
            </a:r>
            <a:r>
              <a:rPr lang="en-US" sz="1400"/>
              <a:t>ual-options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Legal Entities in scope are:  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1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UHC of California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400">
                <a:latin typeface="Calibri" panose="020F0502020204030204" pitchFamily="34" charset="0"/>
                <a:cs typeface="Times New Roman" panose="02020603050405020304" pitchFamily="18" charset="0"/>
              </a:rPr>
              <a:t>Line of Business (group size): LG-101 +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400">
                <a:latin typeface="Calibri" panose="020F0502020204030204" pitchFamily="34" charset="0"/>
                <a:cs typeface="Times New Roman" panose="02020603050405020304" pitchFamily="18" charset="0"/>
              </a:rPr>
              <a:t>BOB: UHC West</a:t>
            </a:r>
          </a:p>
          <a:p>
            <a:pPr fontAlgn="ctr"/>
            <a:r>
              <a:rPr lang="en-US" sz="1400" b="1">
                <a:latin typeface="Calibri" panose="020F0502020204030204" pitchFamily="34" charset="0"/>
                <a:cs typeface="Times New Roman" panose="02020603050405020304" pitchFamily="18" charset="0"/>
              </a:rPr>
              <a:t>Note: </a:t>
            </a:r>
            <a:r>
              <a:rPr lang="en-US" sz="1400"/>
              <a:t>For CA HMO Plans, when a customer carves out RX we will need 2 </a:t>
            </a:r>
            <a:r>
              <a:rPr lang="en-US" sz="1400" err="1"/>
              <a:t>rx</a:t>
            </a:r>
            <a:r>
              <a:rPr lang="en-US" sz="1400"/>
              <a:t> plans on the bundle option (1 for carve out plan, and one for ORX Injectables/ICOPP plan)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sz="14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Aft>
                <a:spcPts val="1000"/>
              </a:spcAft>
              <a:tabLst>
                <a:tab pos="685800" algn="l"/>
              </a:tabLst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546249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193579" y="2026140"/>
            <a:ext cx="11998417" cy="5576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tabLst>
                <a:tab pos="685800" algn="l"/>
              </a:tabLst>
            </a:pPr>
            <a:r>
              <a:rPr lang="en-US" sz="14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Case Install Ready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400">
                <a:ea typeface="Calibri"/>
                <a:cs typeface="Times New Roman"/>
              </a:rPr>
              <a:t>Member Enrollment :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M</a:t>
            </a:r>
            <a:r>
              <a:rPr kumimoji="0" lang="en-US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ember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1400">
                <a:latin typeface="Calibri"/>
                <a:ea typeface="Calibri"/>
                <a:cs typeface="Times New Roman"/>
              </a:rPr>
              <a:t>enrollment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via CIP (834 EDI file)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Enrollment via B&amp;E portal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 Enrollment</a:t>
            </a:r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 via OBM</a:t>
            </a:r>
            <a:endParaRPr lang="en-US" sz="1400">
              <a:latin typeface="Calibri"/>
              <a:ea typeface="Calibri"/>
              <a:cs typeface="Times New Roman"/>
            </a:endParaRP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400">
                <a:latin typeface="Calibri"/>
                <a:ea typeface="Calibri"/>
                <a:cs typeface="Times New Roman"/>
              </a:rPr>
              <a:t>Member enrollment Service Area Validation- based on member’s home address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400">
                <a:latin typeface="Calibri"/>
                <a:ea typeface="Calibri"/>
                <a:cs typeface="Times New Roman"/>
              </a:rPr>
              <a:t>Newborn enrollment CA Nice requirements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400">
                <a:latin typeface="Calibri"/>
                <a:ea typeface="Calibri"/>
                <a:cs typeface="Times New Roman"/>
              </a:rPr>
              <a:t>Member enrollment into COBRA:</a:t>
            </a:r>
          </a:p>
          <a:p>
            <a:pPr marL="1200150" lvl="2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400">
                <a:latin typeface="Calibri"/>
                <a:ea typeface="Calibri"/>
                <a:cs typeface="Times New Roman"/>
              </a:rPr>
              <a:t>Cal-COBRA (known as Mini-COBRA in other states) - assigned to a member group when their ATNE &lt; 20 (COBRA premium is billed directly to the member) </a:t>
            </a:r>
          </a:p>
          <a:p>
            <a:pPr marL="1200150" lvl="2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400">
                <a:latin typeface="Calibri"/>
                <a:ea typeface="Calibri"/>
                <a:cs typeface="Times New Roman"/>
              </a:rPr>
              <a:t>AB1401 -continuation option for member after they have exhausted either Federal COBRA or Cal-COBRA benefit (COBRA premium is billed directly to the member) </a:t>
            </a:r>
          </a:p>
          <a:p>
            <a:pPr marL="1200150" lvl="2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400">
                <a:latin typeface="Calibri"/>
                <a:ea typeface="Calibri"/>
                <a:cs typeface="Times New Roman"/>
              </a:rPr>
              <a:t>Test with UBS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400">
                <a:latin typeface="Calibri"/>
                <a:ea typeface="Calibri"/>
                <a:cs typeface="Times New Roman"/>
              </a:rPr>
              <a:t>Member Move</a:t>
            </a:r>
            <a:endParaRPr lang="en-US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i="1">
              <a:solidFill>
                <a:schemeClr val="tx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i="1">
              <a:solidFill>
                <a:schemeClr val="tx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i="1">
              <a:solidFill>
                <a:schemeClr val="tx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95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292652" y="2236304"/>
            <a:ext cx="11998417" cy="5576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500">
                <a:latin typeface="Calibri"/>
                <a:ea typeface="Calibri"/>
                <a:cs typeface="Times New Roman"/>
              </a:rPr>
              <a:t>PCP Assignment-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1400">
                <a:latin typeface="Calibri"/>
                <a:ea typeface="Calibri"/>
                <a:cs typeface="Times New Roman"/>
              </a:rPr>
              <a:t>Individual/Group provider can be selected as member’s PCP upon enrollment via SAMX, B&amp;E Portal &amp; 834 EDI files or PCP can be auto assigned in Cirrus if one is not provided. (General Practice (GP), Family Practice, Internal Medicine, Pediatrics, OBGYNs)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1400">
                <a:latin typeface="Calibri"/>
                <a:ea typeface="Calibri"/>
                <a:cs typeface="Times New Roman"/>
              </a:rPr>
              <a:t>Continuous validation –provider revalidated with every address update 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1400">
                <a:latin typeface="Calibri"/>
                <a:ea typeface="Calibri"/>
                <a:cs typeface="Times New Roman"/>
              </a:rPr>
              <a:t>Member work address can be used for provider assignment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1400">
                <a:latin typeface="Calibri"/>
                <a:ea typeface="Calibri"/>
                <a:cs typeface="Times New Roman"/>
              </a:rPr>
              <a:t>Tracking for successful and failed provider assignments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1400">
                <a:latin typeface="Calibri"/>
                <a:ea typeface="Calibri"/>
                <a:cs typeface="Times New Roman"/>
              </a:rPr>
              <a:t>Staff Model assignment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1400">
                <a:latin typeface="Calibri"/>
                <a:ea typeface="Calibri"/>
                <a:cs typeface="Times New Roman"/>
              </a:rPr>
              <a:t>Retro assignment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1400">
                <a:latin typeface="Calibri"/>
                <a:ea typeface="Calibri"/>
                <a:cs typeface="Times New Roman"/>
              </a:rPr>
              <a:t>Service Area Exceptions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400">
                <a:latin typeface="Calibri"/>
                <a:ea typeface="Calibri"/>
                <a:cs typeface="Times New Roman"/>
              </a:rPr>
              <a:t>Member groups and members maintenance- Add, Term, Change, Cancel, Reinstatement, Retro enrollment , PCP Updates</a:t>
            </a:r>
            <a:endParaRPr lang="en-US">
              <a:latin typeface="Calibri"/>
              <a:ea typeface="Calibri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i="1">
              <a:solidFill>
                <a:schemeClr val="tx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i="1">
              <a:solidFill>
                <a:schemeClr val="tx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i="1">
              <a:solidFill>
                <a:schemeClr val="tx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574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279400" y="1597432"/>
            <a:ext cx="11544299" cy="53899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endParaRPr kumimoji="0" lang="en-US" sz="15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 2-Downstream Extracts/Streaming, ID Card, fulfillment &amp; Billing Ready</a:t>
            </a:r>
            <a:endParaRPr kumimoji="0" lang="en-US" sz="15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Membership  information, including customized plans and rider details, can be sent from Cirrus to downstream applications such as Nimbus, BRMS, BASICS, OptumRx, Optum Bank, Dental, Vision, OnBase,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PHAccent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Boss, and Finance (FTS/FSDB)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 Cards &amp; Fulfillment- </a:t>
            </a:r>
            <a:endParaRPr lang="en-US" sz="15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 Naming value and Legal Entity can be populated on the ID Card</a:t>
            </a:r>
            <a:endParaRPr lang="en-US" sz="15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Member PCP- Individual or Medical group name can appear on the ID card</a:t>
            </a:r>
          </a:p>
          <a:p>
            <a:pPr marL="1143000" lvl="1" indent="-6858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PCP Assignment letter can be generated for members when the PCP is initially assigned or updated</a:t>
            </a:r>
          </a:p>
          <a:p>
            <a:pPr marL="1143000" lvl="1" indent="-6858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COC &amp; SBCs – </a:t>
            </a:r>
            <a:r>
              <a:rPr lang="en-US" sz="1600" dirty="0">
                <a:solidFill>
                  <a:prstClr val="black"/>
                </a:solidFill>
              </a:rPr>
              <a:t>G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enerate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docs in COM360 and archive in DOC360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Letter - </a:t>
            </a:r>
            <a:r>
              <a:rPr lang="en-US" sz="1600" dirty="0"/>
              <a:t>Verify custom NICE letters can be sent upon request,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archived in DOC360 &amp; accessible to members/providers. 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kumimoji="0" lang="en-US" sz="15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Times New Roman" panose="02020603050405020304" pitchFamily="18" charset="0"/>
              </a:rPr>
              <a:t>Benefit language (B360)- to be verified on Portals</a:t>
            </a:r>
            <a:endParaRPr kumimoji="0" lang="en-US" sz="1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Billing &amp; BASICS- Invoices and payments can be processed. Commission statements can be generated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Finance-  Covered by Finance UAT- Financial Tagging/PCMT, Membership Accounting, Claims Tagging (Med &amp; Beh), Paid and Payable claims, Finance reporting, Capitation Finance?? (part of VBR/UCAP testing)</a:t>
            </a:r>
            <a:endParaRPr kumimoji="0" lang="en-US" sz="15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40000"/>
                  <a:lumOff val="6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50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323848" y="1757010"/>
            <a:ext cx="11544299" cy="53899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6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 3- Claim, Clinical &amp; Capitation (Incoordination with Claim UAT Team)</a:t>
            </a:r>
            <a:endParaRPr kumimoji="0" lang="en-US" sz="1600" b="1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 Claims to be tested for successful adjudication</a:t>
            </a: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Provider/Network Contracts</a:t>
            </a: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Tiered/ Premium Designated Providers </a:t>
            </a:r>
            <a:endParaRPr lang="en-US" sz="160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Other Claim scenarios- Unique/customized benefits- OON, State regulation, EOC, COB, Accumulator</a:t>
            </a: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DOFR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 Health Claims- This will be covered by Beh Health UAT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RX Claims- This will be covered by 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OptumRX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team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Accum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Sharing- with Trading Partners via CHWY/ 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Accums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Hub-</a:t>
            </a: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Internal 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Vendors:RX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(Optum RX)DN-Dental (Dental FACETS)VI-Vision (VAS)PH-Physical Health (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PHAccent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BH-(Linx/FACETS)</a:t>
            </a: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External Vendors: Navitus (It’s a special pharmacy for E&amp;I and M&amp;R)Navitus send 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accums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batch files to CHWY and CHWY converts them to the 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accums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eCFI.Southern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California Drug Fund - SoCal (SDFC): External Behavioral Health 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PharmacySDFC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send 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accums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batch files to CHWY and CHWY converts them to the 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accums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eCFI.ESI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Express Scripts 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IncIt's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direct connection - Job CL_2130_BU_01 receive inbound file from ESI to NICE.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Claim Payment (OFIN-Cirrus SIT Team)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EOBs/PRAs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Auth &amp; Referrals from ICUE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Chiro Rider claims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kumimoji="0" lang="en-US" sz="80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2820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353961" y="1779639"/>
            <a:ext cx="11018889" cy="4799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600" b="1">
                <a:latin typeface="Calibri" panose="020F0502020204030204" pitchFamily="34" charset="0"/>
                <a:cs typeface="Times New Roman" panose="02020603050405020304" pitchFamily="18" charset="0"/>
              </a:rPr>
              <a:t>Part 4- Portals and Reporting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600" b="1">
                <a:latin typeface="Calibri" panose="020F0502020204030204" pitchFamily="34" charset="0"/>
                <a:cs typeface="Times New Roman" panose="02020603050405020304" pitchFamily="18" charset="0"/>
              </a:rPr>
              <a:t>ACET-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600" b="1">
                <a:latin typeface="Calibri" panose="020F0502020204030204" pitchFamily="34" charset="0"/>
                <a:cs typeface="Times New Roman" panose="02020603050405020304" pitchFamily="18" charset="0"/>
              </a:rPr>
              <a:t>Member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>
                <a:latin typeface="Calibri "/>
              </a:rPr>
              <a:t>Customer service agents can identify  member's benefits.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>
                <a:latin typeface="Calibri "/>
              </a:rPr>
              <a:t>Customer Service agent can check member eligibility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600">
                <a:latin typeface="Calibri "/>
              </a:rPr>
              <a:t>Member details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600">
                <a:latin typeface="Calibri "/>
              </a:rPr>
              <a:t>Benefit Information</a:t>
            </a:r>
          </a:p>
          <a:p>
            <a:pPr marL="571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600">
                <a:latin typeface="Calibri "/>
              </a:rPr>
              <a:t>Fulfilment Document</a:t>
            </a:r>
          </a:p>
          <a:p>
            <a:pPr marL="571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600">
                <a:latin typeface="Calibri "/>
                <a:cs typeface="Times New Roman" panose="02020603050405020304" pitchFamily="18" charset="0"/>
              </a:rPr>
              <a:t>Members claims and payment details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Case Routing &amp; Assignment:</a:t>
            </a:r>
            <a:b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Cases are routed to appropriate back-office teams based on TTS and RC, with entitlements applied and assigned to users via ACET work queues.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Work Queue Management:</a:t>
            </a:r>
            <a:b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New work queues can be created in ACET, and assigned users can view routed cases in their designated queues.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Agent Access &amp; Information:</a:t>
            </a:r>
            <a:b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Customer service agents can view benefit info, fulfilment documents, and members' claims and payment details.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>
                <a:solidFill>
                  <a:schemeClr val="tx2">
                    <a:lumMod val="50000"/>
                  </a:schemeClr>
                </a:solidFill>
              </a:rPr>
              <a:t>Ability to enable vendor advocate support. Need more detail.: C216934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/>
              <a:t>Member Search returns results for other claim platforms:- IA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endParaRPr lang="en-US" sz="16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600" b="1">
                <a:latin typeface="Calibri" panose="020F0502020204030204" pitchFamily="34" charset="0"/>
                <a:cs typeface="Times New Roman" panose="02020603050405020304" pitchFamily="18" charset="0"/>
              </a:rPr>
              <a:t>Spire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Provider Search and provider details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contract details for a provider (ex: Network id, pricing)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Provider specialty, affiliation and effective date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600">
                <a:solidFill>
                  <a:prstClr val="black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Provider lookup- provider search functionality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60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Provider Interactions - View Materials Stored in Doc360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600" b="1">
                <a:latin typeface="Calibri" panose="020F0502020204030204" pitchFamily="34" charset="0"/>
                <a:cs typeface="Times New Roman" panose="02020603050405020304" pitchFamily="18" charset="0"/>
              </a:rPr>
              <a:t>BEO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Group Contract option version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 plans offered to a group including eff/exp dates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members enrolled in a group through cirrus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endParaRPr lang="en-US" sz="1600" b="1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endParaRPr kumimoji="0" lang="en-US" sz="16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397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F5F00C-7174-545F-6F51-924C32AE6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C3E853B9-9679-6577-E43C-7085B631F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4D46654-8A6B-4713-E866-CE1D2E7A4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988CAE-6B0A-3DF4-9ECA-06B632B1A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83073F5-C6C6-D102-4599-308604A81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0AB6370-6B44-7D9D-CEFC-278CE85EE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5B17D9-8032-ED86-A871-1C4C10DD7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739279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26CCF1-AAE7-5F03-26E0-8D1743A72D87}"/>
              </a:ext>
            </a:extLst>
          </p:cNvPr>
          <p:cNvSpPr/>
          <p:nvPr/>
        </p:nvSpPr>
        <p:spPr>
          <a:xfrm>
            <a:off x="177801" y="2099734"/>
            <a:ext cx="10158417" cy="3699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500" b="1">
                <a:latin typeface="Calibri" panose="020F0502020204030204" pitchFamily="34" charset="0"/>
                <a:cs typeface="Times New Roman" panose="02020603050405020304" pitchFamily="18" charset="0"/>
              </a:rPr>
              <a:t>Part 4- Portals and Reporting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n-US" sz="25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500" b="1" err="1">
                <a:latin typeface="Calibri" panose="020F0502020204030204" pitchFamily="34" charset="0"/>
                <a:cs typeface="Times New Roman" panose="02020603050405020304" pitchFamily="18" charset="0"/>
              </a:rPr>
              <a:t>MyUHC</a:t>
            </a:r>
            <a:endParaRPr lang="en-US" sz="2500" b="1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Member registration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NI" </a:t>
            </a:r>
            <a:r>
              <a:rPr lang="en-US" sz="2500" err="1">
                <a:latin typeface="Calibri" panose="020F0502020204030204" pitchFamily="34" charset="0"/>
                <a:cs typeface="Times New Roman" panose="02020603050405020304" pitchFamily="18" charset="0"/>
              </a:rPr>
              <a:t>BoB</a:t>
            </a:r>
            <a:r>
              <a:rPr 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 should mirror "UH" </a:t>
            </a:r>
            <a:r>
              <a:rPr lang="en-US" sz="2500" err="1">
                <a:latin typeface="Calibri" panose="020F0502020204030204" pitchFamily="34" charset="0"/>
                <a:cs typeface="Times New Roman" panose="02020603050405020304" pitchFamily="18" charset="0"/>
              </a:rPr>
              <a:t>BoB</a:t>
            </a:r>
            <a:r>
              <a:rPr 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 member experience on USP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View benefits and coverage (Coverage &amp; Benefits)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 view/update </a:t>
            </a:r>
            <a:r>
              <a:rPr lang="en-US" sz="2500" err="1">
                <a:latin typeface="Calibri" panose="020F0502020204030204" pitchFamily="34" charset="0"/>
                <a:cs typeface="Times New Roman" panose="02020603050405020304" pitchFamily="18" charset="0"/>
              </a:rPr>
              <a:t>pcp</a:t>
            </a:r>
            <a:r>
              <a:rPr 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 selection(find Care and Cost)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 submit a claim (claim &amp; account)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 Payment details based on service provided (Ex: Total Amount, Plan Paid, Member Responsibility)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 Claim &amp; Account page - explanation of benefits.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Rx Carve-Out Vendor Display: </a:t>
            </a:r>
            <a:r>
              <a:rPr lang="en-US" sz="2500">
                <a:solidFill>
                  <a:schemeClr val="tx2">
                    <a:lumMod val="50000"/>
                  </a:schemeClr>
                </a:solidFill>
              </a:rPr>
              <a:t>C216933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500" b="1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 IA Changes on UI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Update PCP flows (Edit PCP and Change PCP)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Hide Premium Care Physician (blue heart) for E&amp;I NICE members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Replace “Medical Group” with “Network Affiliation” in all screens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Confirmation screen header: Confirm primary care physician or network affiliation change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Facility details page shows Network Affiliations for hospitals only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Suppress labs/imaging centers and Medical Group section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Display “Not available” when data is missing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500">
                <a:latin typeface="Calibri" panose="020F0502020204030204" pitchFamily="34" charset="0"/>
                <a:cs typeface="Times New Roman" panose="02020603050405020304" pitchFamily="18" charset="0"/>
              </a:rPr>
              <a:t>Apply changes across web, mobile responsive, and native app 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en-US" sz="100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endParaRPr lang="en-US" sz="100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endParaRPr lang="en-US" sz="10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en-US" sz="10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endParaRPr lang="en-US" sz="1000" b="1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120902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0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761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353961" y="1779639"/>
            <a:ext cx="10756491" cy="4799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7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Provider Portal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7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an advocate, I should be able to search for Member’s eligibility and benefit information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7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Enhancements to Provider Search request to include HSA indicator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7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7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B&amp;E Portal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7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Subscriber list, member list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7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level coverage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7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Member Add, Term, Change, View Coverages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7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PCP Add/Update</a:t>
            </a:r>
            <a:endParaRPr lang="en-US" sz="17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600"/>
              <a:t>Guest Directory Experience based on sorting and display requirements- Will there be authenticated directory experience as well?</a:t>
            </a:r>
            <a:endParaRPr lang="en-US" sz="17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7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View Invoices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7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View Documents/Forms- COCs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7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View Broker Commission statements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7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UI demographic enhancements</a:t>
            </a:r>
            <a:endParaRPr lang="en-US" sz="17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endParaRPr lang="en-US" sz="17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7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Reporting</a:t>
            </a:r>
            <a:r>
              <a:rPr lang="en-US" sz="17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To be covered by reporting applications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n-US" sz="16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sz="1600" i="1">
              <a:solidFill>
                <a:schemeClr val="tx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776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47551C-EEE2-8B4E-AC34-6536CA9B9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A4D7DAC-4AA5-EC9B-DCC5-B4D86D4BF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99D3DA8-13A2-32BD-6737-DA0000DC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12E0705-CB42-D315-E9F2-DD9FB161B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D83D465-6537-EE46-37BC-E3DD1B2E8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A8EF072-DBE2-6441-0AF9-0E61A818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D88786-40FB-D3C4-CFC3-4DDFEB780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13607E-A833-5769-4FF8-4C1C0B96F5CF}"/>
              </a:ext>
            </a:extLst>
          </p:cNvPr>
          <p:cNvSpPr/>
          <p:nvPr/>
        </p:nvSpPr>
        <p:spPr>
          <a:xfrm>
            <a:off x="353961" y="1779639"/>
            <a:ext cx="10756491" cy="4799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lvl="0"/>
            <a:r>
              <a:rPr lang="en-US" sz="1700" b="1"/>
              <a:t>Carve Out Overview 6/1/2026</a:t>
            </a:r>
          </a:p>
          <a:p>
            <a:pPr lvl="0"/>
            <a:endParaRPr kumimoji="0" lang="en-US" sz="1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600"/>
              <a:t>RX Carve-Out Handling:
- For CA HMO Plans, when a customer carves out RX, two RX plans are required:
  • One for the carve-out plan
  • One for ORX Injectables/ICOPP plan
Impacted Plans:
- </a:t>
            </a:r>
            <a:r>
              <a:rPr lang="en-US" sz="1600" err="1"/>
              <a:t>SignatureValue</a:t>
            </a:r>
            <a:r>
              <a:rPr lang="en-US" sz="1600"/>
              <a:t>
- </a:t>
            </a:r>
            <a:r>
              <a:rPr lang="en-US" sz="1600" err="1"/>
              <a:t>SignatureValue</a:t>
            </a:r>
            <a:r>
              <a:rPr lang="en-US" sz="1600"/>
              <a:t> Alliance
- </a:t>
            </a:r>
            <a:r>
              <a:rPr lang="en-US" sz="1600" err="1"/>
              <a:t>SignatureValue</a:t>
            </a:r>
            <a:r>
              <a:rPr lang="en-US" sz="1600"/>
              <a:t> Harmony
- </a:t>
            </a:r>
            <a:r>
              <a:rPr lang="en-US" sz="1600" err="1"/>
              <a:t>SignatureValue</a:t>
            </a:r>
            <a:r>
              <a:rPr lang="en-US" sz="1600"/>
              <a:t> Advantage
- HMO standalone and HMO/PPO dual-options
Testing Scope:
- Validate RX carve-out configurations during Case Install Ready phase
- Ensure correct bundle assembly with dual RX plans
- Confirm fulfillment and ID card generation reflects carve-out accurately
- Verify accumulator sharing with internal and external vendors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ourier New" panose="02070309020205020404" pitchFamily="49" charset="0"/>
              <a:buChar char="o"/>
              <a:tabLst>
                <a:tab pos="685800" algn="l"/>
              </a:tabLst>
              <a:defRPr/>
            </a:pP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prstClr val="black">
                  <a:lumMod val="40000"/>
                  <a:lumOff val="60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619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8126D2-2BA0-CF9E-7909-AF7FD6746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10E9828-8B61-CFBF-8355-ADDBB6CBC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75CF6E2-1182-91FE-D5BD-CA6165B31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6B55BB1-53C0-EF06-DCBC-3DEC79BE4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D91E988-8D02-AE04-B8CF-E5BB491E6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2E0451B-61F1-6547-4ECB-C6B84C7C4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AC135B-C50D-0F37-E626-D9EFE6D25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13AB35-7F60-7320-C38B-7F1FBE90B9BC}"/>
              </a:ext>
            </a:extLst>
          </p:cNvPr>
          <p:cNvSpPr/>
          <p:nvPr/>
        </p:nvSpPr>
        <p:spPr>
          <a:xfrm>
            <a:off x="353961" y="1779639"/>
            <a:ext cx="10756491" cy="4799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lvl="0"/>
            <a:r>
              <a:rPr lang="en-US" sz="1700" b="1"/>
              <a:t>Rating Population</a:t>
            </a:r>
          </a:p>
          <a:p>
            <a:r>
              <a:rPr lang="en-US" sz="1600"/>
              <a:t>Member-level rating population enables rate variation within a single plan offering based on member attributes. It integrates with Cirrus, EPS, and downstream systems like Nimbus, UDW, OBM.</a:t>
            </a:r>
          </a:p>
          <a:p>
            <a:pPr lvl="0"/>
            <a:endParaRPr lang="en-US" sz="1700" b="1"/>
          </a:p>
          <a:p>
            <a:pPr lvl="0"/>
            <a:r>
              <a:rPr lang="en-US" sz="1700" b="1"/>
              <a:t>Impacted Areas </a:t>
            </a:r>
          </a:p>
          <a:p>
            <a:r>
              <a:rPr lang="en-US" sz="1600"/>
              <a:t>-Member Group</a:t>
            </a:r>
          </a:p>
          <a:p>
            <a:r>
              <a:rPr lang="en-US" sz="1600"/>
              <a:t>- Plan Option Bill Rate</a:t>
            </a:r>
          </a:p>
          <a:p>
            <a:r>
              <a:rPr lang="en-US" sz="1600"/>
              <a:t>- Member Enrollment</a:t>
            </a:r>
          </a:p>
          <a:p>
            <a:r>
              <a:rPr lang="en-US" sz="1600"/>
              <a:t>- EPS Derivation</a:t>
            </a:r>
          </a:p>
          <a:p>
            <a:r>
              <a:rPr lang="en-US" sz="1600"/>
              <a:t>- Cirrus UI</a:t>
            </a:r>
          </a:p>
          <a:p>
            <a:r>
              <a:rPr lang="en-US" sz="1600"/>
              <a:t>- Downstream Systems (Nimbus, UDW, OBM)</a:t>
            </a:r>
          </a:p>
          <a:p>
            <a:r>
              <a:rPr lang="en-US" sz="1600"/>
              <a:t>- Rate Installation Utilities</a:t>
            </a:r>
          </a:p>
          <a:p>
            <a:pPr marL="285750" indent="-285750">
              <a:buFontTx/>
              <a:buChar char="-"/>
            </a:pPr>
            <a:endParaRPr lang="en-US" sz="1600"/>
          </a:p>
          <a:p>
            <a:r>
              <a:rPr lang="en-US" sz="1700" b="1"/>
              <a:t>Testing Scope - Part 1</a:t>
            </a:r>
          </a:p>
          <a:p>
            <a:pPr lvl="0"/>
            <a:endParaRPr lang="en-US" sz="1600"/>
          </a:p>
          <a:p>
            <a:r>
              <a:rPr lang="en-US" sz="1600"/>
              <a:t>- Setup member-level rating population</a:t>
            </a:r>
          </a:p>
          <a:p>
            <a:r>
              <a:rPr lang="en-US" sz="1600"/>
              <a:t>- Validate rate variation by attributes</a:t>
            </a:r>
          </a:p>
          <a:p>
            <a:r>
              <a:rPr lang="en-US" sz="1600"/>
              <a:t>- Enrollment scenarios</a:t>
            </a:r>
          </a:p>
          <a:p>
            <a:r>
              <a:rPr lang="en-US" sz="1600"/>
              <a:t>- EPS derivation and rederivation</a:t>
            </a:r>
          </a:p>
          <a:p>
            <a:r>
              <a:rPr lang="en-US" sz="1600"/>
              <a:t>- Rate upload and installation utilities</a:t>
            </a:r>
            <a:endParaRPr kumimoji="0" lang="en-US" sz="17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668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EE304-83A0-7364-8F2A-424D0FBB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215DED27-87F2-E27F-6D79-24AB52DDA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BF01001-8900-009D-20F0-47D36D90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B10668B-D3DF-D535-7CE3-8E18F3A83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7E29440-D741-D9BA-54DE-7EEAAED9B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B037266-20C6-2F23-1CAB-32F8EE014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FD051-171D-1BD4-ABCD-58C171315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76D01D-FC95-3FFF-0D91-A62E7C4EE34B}"/>
              </a:ext>
            </a:extLst>
          </p:cNvPr>
          <p:cNvSpPr/>
          <p:nvPr/>
        </p:nvSpPr>
        <p:spPr>
          <a:xfrm>
            <a:off x="353961" y="1779639"/>
            <a:ext cx="10756491" cy="4799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z="1700" b="1"/>
              <a:t>Rating Population</a:t>
            </a:r>
          </a:p>
          <a:p>
            <a:pPr lvl="0"/>
            <a:endParaRPr lang="en-US" sz="1700" b="1"/>
          </a:p>
          <a:p>
            <a:pPr lvl="0"/>
            <a:r>
              <a:rPr lang="en-US" sz="1600" b="1"/>
              <a:t>Testing Scope - Part 2</a:t>
            </a:r>
          </a:p>
          <a:p>
            <a:pPr lvl="0"/>
            <a:endParaRPr lang="en-US" sz="1600"/>
          </a:p>
          <a:p>
            <a:r>
              <a:rPr lang="en-US" sz="1600"/>
              <a:t>- Validate data flow to downstream systems</a:t>
            </a:r>
          </a:p>
          <a:p>
            <a:r>
              <a:rPr lang="en-US" sz="1600"/>
              <a:t>- Confirm correct rate assignment</a:t>
            </a:r>
          </a:p>
          <a:p>
            <a:r>
              <a:rPr lang="en-US" sz="1600"/>
              <a:t>- Test use cases: county-based rates, union/non-union, student resources</a:t>
            </a:r>
          </a:p>
          <a:p>
            <a:r>
              <a:rPr lang="en-US" sz="1600"/>
              <a:t>- Negative testing for missing rating population</a:t>
            </a:r>
          </a:p>
          <a:p>
            <a:endParaRPr lang="en-US" sz="1600"/>
          </a:p>
          <a:p>
            <a:r>
              <a:rPr lang="en-US" sz="1600" b="1"/>
              <a:t>Dependencies</a:t>
            </a:r>
          </a:p>
          <a:p>
            <a:r>
              <a:rPr lang="en-US" sz="1600"/>
              <a:t>- Cirrus configuration</a:t>
            </a:r>
          </a:p>
          <a:p>
            <a:r>
              <a:rPr lang="en-US" sz="1600"/>
              <a:t>- EPS rules setup</a:t>
            </a:r>
          </a:p>
          <a:p>
            <a:r>
              <a:rPr lang="en-US" sz="1600"/>
              <a:t>- Rate tables</a:t>
            </a:r>
          </a:p>
          <a:p>
            <a:r>
              <a:rPr lang="en-US" sz="1600"/>
              <a:t>- Member attributes</a:t>
            </a:r>
          </a:p>
          <a:p>
            <a:r>
              <a:rPr lang="en-US" sz="1600"/>
              <a:t>- Downstream system readiness</a:t>
            </a:r>
          </a:p>
          <a:p>
            <a:pPr lvl="0"/>
            <a:endParaRPr lang="en-US" sz="1700" b="1"/>
          </a:p>
          <a:p>
            <a:pPr lvl="0"/>
            <a:endParaRPr lang="en-US" sz="1700" b="1"/>
          </a:p>
        </p:txBody>
      </p:sp>
    </p:spTree>
    <p:extLst>
      <p:ext uri="{BB962C8B-B14F-4D97-AF65-F5344CB8AC3E}">
        <p14:creationId xmlns:p14="http://schemas.microsoft.com/office/powerpoint/2010/main" val="2496487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B8A46B-D2CD-1D45-4B79-75FDADA8A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9C507613-B1F5-BF68-7331-A7DA000DC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69E9B01-7254-535C-365E-786865EF6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0081913-572D-B55B-9F5C-2F96A4279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731F6DC-DD59-8D0D-A02F-A77A94A09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9C7D8C4-441F-3EDD-9604-A4EE01816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4D216F-B202-F2EA-B618-E513641D1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6CE7A9-CACB-C3C1-B683-952B332178E8}"/>
              </a:ext>
            </a:extLst>
          </p:cNvPr>
          <p:cNvSpPr/>
          <p:nvPr/>
        </p:nvSpPr>
        <p:spPr>
          <a:xfrm>
            <a:off x="353961" y="1779639"/>
            <a:ext cx="10756491" cy="4799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endParaRPr lang="en-US" sz="1700" b="1"/>
          </a:p>
          <a:p>
            <a:pPr lvl="0"/>
            <a:endParaRPr lang="en-US" sz="1700" b="1"/>
          </a:p>
          <a:p>
            <a:pPr lvl="0"/>
            <a:r>
              <a:rPr lang="en-US" sz="1700" b="1"/>
              <a:t>Cal Choice:</a:t>
            </a:r>
          </a:p>
          <a:p>
            <a:pPr lvl="0"/>
            <a:r>
              <a:rPr lang="en-US" sz="1400" err="1"/>
              <a:t>Calchoice</a:t>
            </a:r>
            <a:r>
              <a:rPr lang="en-US" sz="1400"/>
              <a:t> is licensed as a TPA(Third party Administrator) for small groups in California. It performs administrative functions such as enrollment, billing, commissions, eligibility tracking and customer service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b="1"/>
              <a:t>Plan Details :</a:t>
            </a:r>
            <a:endParaRPr lang="en-US" sz="1400"/>
          </a:p>
          <a:p>
            <a:pPr lvl="0"/>
            <a:r>
              <a:rPr lang="en-US" sz="1400" b="1"/>
              <a:t>Plan Type:</a:t>
            </a:r>
            <a:r>
              <a:rPr lang="en-US" sz="1400"/>
              <a:t> Cal HMO (Medical only, Small Group)</a:t>
            </a:r>
          </a:p>
          <a:p>
            <a:pPr lvl="0"/>
            <a:r>
              <a:rPr lang="en-US" sz="1400" b="1"/>
              <a:t>Market Segment:</a:t>
            </a:r>
            <a:r>
              <a:rPr lang="en-US" sz="1400"/>
              <a:t> Small Group (SG) for both parent and child groups </a:t>
            </a:r>
          </a:p>
          <a:p>
            <a:pPr lvl="1"/>
            <a:r>
              <a:rPr lang="en-US" sz="1400"/>
              <a:t>Market segment defined at </a:t>
            </a:r>
            <a:r>
              <a:rPr lang="en-US" sz="1400" b="1"/>
              <a:t>child level</a:t>
            </a:r>
          </a:p>
          <a:p>
            <a:pPr lvl="1"/>
            <a:r>
              <a:rPr lang="en-US" sz="1600"/>
              <a:t>
</a:t>
            </a:r>
            <a:r>
              <a:rPr lang="en-US" sz="1600" b="1"/>
              <a:t>Testing Scope:</a:t>
            </a:r>
            <a:r>
              <a:rPr lang="en-US" sz="1600"/>
              <a:t>
- Group Installation : </a:t>
            </a:r>
            <a:r>
              <a:rPr lang="en-US" sz="1600">
                <a:highlight>
                  <a:srgbClr val="FFFF00"/>
                </a:highlight>
              </a:rPr>
              <a:t>Cirrus: Uses DSS to load group data </a:t>
            </a:r>
            <a:r>
              <a:rPr lang="en-US" sz="1600"/>
              <a:t>(OBM and SAMX: Not used)
- Fulfillment: ID Card, SBC
</a:t>
            </a:r>
            <a:r>
              <a:rPr lang="en-US" sz="1600" b="1"/>
              <a:t>-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Billing - </a:t>
            </a:r>
            <a:r>
              <a:rPr lang="en-US" sz="1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Invoices and payments can be processed</a:t>
            </a:r>
            <a:r>
              <a:rPr lang="en-US" sz="1600"/>
              <a:t>
- Portal: MYUHC, ACET</a:t>
            </a:r>
          </a:p>
          <a:p>
            <a:pPr lvl="1"/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prstClr val="black">
                  <a:lumMod val="40000"/>
                  <a:lumOff val="60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lvl="1"/>
            <a:endParaRPr lang="en-US" sz="1600" i="1">
              <a:solidFill>
                <a:prstClr val="black">
                  <a:lumMod val="40000"/>
                  <a:lumOff val="60000"/>
                </a:prst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prstClr val="black">
                  <a:lumMod val="40000"/>
                  <a:lumOff val="60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lvl="1"/>
            <a:endParaRPr lang="en-US" sz="1600" i="1">
              <a:solidFill>
                <a:prstClr val="black">
                  <a:lumMod val="40000"/>
                  <a:lumOff val="60000"/>
                </a:prst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prstClr val="black">
                  <a:lumMod val="40000"/>
                  <a:lumOff val="60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lvl="1"/>
            <a:endParaRPr lang="en-US" sz="1600" i="1">
              <a:solidFill>
                <a:prstClr val="black">
                  <a:lumMod val="40000"/>
                  <a:lumOff val="60000"/>
                </a:prst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prstClr val="black">
                  <a:lumMod val="40000"/>
                  <a:lumOff val="60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lvl="1"/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prstClr val="black">
                  <a:lumMod val="40000"/>
                  <a:lumOff val="60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62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0276B-6250-EE8C-B8AF-C5243CFAD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2BDE8155-1138-DA17-D0D8-955AA0A0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2420F59-F09D-38DC-76AD-11ED853BE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39CEBDA-E45B-852B-3949-2E5CD4213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6F5FC68-6AC8-E128-47CD-EF1E87F7F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3E145D4-B9C1-9CAC-7B7D-E0F1F5248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FFE5C1-5B9D-EE9B-B2D5-5F273C78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39E272-063A-EAD5-05D2-393DE35E37E5}"/>
              </a:ext>
            </a:extLst>
          </p:cNvPr>
          <p:cNvSpPr/>
          <p:nvPr/>
        </p:nvSpPr>
        <p:spPr>
          <a:xfrm>
            <a:off x="279400" y="2307771"/>
            <a:ext cx="10756491" cy="4689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lvl="0"/>
            <a:endParaRPr lang="en-US" sz="1700" b="1"/>
          </a:p>
          <a:p>
            <a:pPr lvl="0"/>
            <a:endParaRPr lang="en-US" sz="1700" b="1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b="1"/>
              <a:t>Integrated Administration (IA)</a:t>
            </a:r>
          </a:p>
          <a:p>
            <a:endParaRPr lang="en-US" b="1"/>
          </a:p>
          <a:p>
            <a:r>
              <a:rPr lang="en-US" b="1"/>
              <a:t>B. Billing</a:t>
            </a:r>
            <a:endParaRPr lang="en-US"/>
          </a:p>
          <a:p>
            <a:r>
              <a:rPr lang="en-US"/>
              <a:t>Validate consolidated invoice showing all products.</a:t>
            </a:r>
          </a:p>
          <a:p>
            <a:r>
              <a:rPr lang="en-US"/>
              <a:t>Test single payment processing across products.</a:t>
            </a:r>
          </a:p>
          <a:p>
            <a:r>
              <a:rPr lang="en-US"/>
              <a:t>Confirm integration with PeopleSoft General Ledger.</a:t>
            </a:r>
          </a:p>
          <a:p>
            <a:r>
              <a:rPr lang="en-US" b="1"/>
              <a:t>C. Broker Commission</a:t>
            </a:r>
            <a:endParaRPr lang="en-US"/>
          </a:p>
          <a:p>
            <a:r>
              <a:rPr lang="en-US"/>
              <a:t>Validate consolidated commission statement and payment.</a:t>
            </a:r>
          </a:p>
          <a:p>
            <a:r>
              <a:rPr lang="en-US"/>
              <a:t>Test broker portal access with single login.</a:t>
            </a:r>
          </a:p>
          <a:p>
            <a:r>
              <a:rPr lang="en-US" b="1"/>
              <a:t>D. Fulfillment</a:t>
            </a:r>
            <a:endParaRPr lang="en-US"/>
          </a:p>
          <a:p>
            <a:r>
              <a:rPr lang="en-US"/>
              <a:t>Verify separate policy documents for each product.</a:t>
            </a:r>
          </a:p>
          <a:p>
            <a:r>
              <a:rPr lang="en-US"/>
              <a:t>Validate ID card generation for HMO members.</a:t>
            </a:r>
          </a:p>
          <a:p>
            <a:r>
              <a:rPr lang="en-US" b="1"/>
              <a:t>E. Reporting</a:t>
            </a:r>
            <a:endParaRPr lang="en-US"/>
          </a:p>
          <a:p>
            <a:r>
              <a:rPr lang="en-US"/>
              <a:t>Validate product-level reporting for claims, membership, and premiums.</a:t>
            </a:r>
          </a:p>
          <a:p>
            <a:r>
              <a:rPr lang="en-US"/>
              <a:t>Ensure LG reporting and underwriting remain split by product.</a:t>
            </a:r>
          </a:p>
          <a:p>
            <a:r>
              <a:rPr lang="en-US" b="1"/>
              <a:t>F. Constituent Service</a:t>
            </a:r>
          </a:p>
          <a:p>
            <a:r>
              <a:rPr lang="it-IT"/>
              <a:t>Ensure member data accessible via ACET.</a:t>
            </a:r>
          </a:p>
          <a:p>
            <a:r>
              <a:rPr lang="en-US"/>
              <a:t>Test PCP selection in B&amp;E portal and </a:t>
            </a:r>
            <a:r>
              <a:rPr lang="en-US" err="1"/>
              <a:t>MyUHC</a:t>
            </a:r>
            <a:r>
              <a:rPr lang="en-US"/>
              <a:t>.</a:t>
            </a:r>
          </a:p>
          <a:p>
            <a:r>
              <a:rPr lang="en-US"/>
              <a:t>Validate consolidated view for employer and broker portals.</a:t>
            </a:r>
          </a:p>
          <a:p>
            <a:r>
              <a:rPr lang="en-US" b="1"/>
              <a:t>G. Dual Platform Integration</a:t>
            </a:r>
            <a:endParaRPr lang="en-US"/>
          </a:p>
          <a:p>
            <a:r>
              <a:rPr lang="en-US"/>
              <a:t>Validate data exchange between USP and ACIS for eligibility, billing, and commission.</a:t>
            </a:r>
            <a:endParaRPr lang="en-US" b="1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prstClr val="black">
                  <a:lumMod val="40000"/>
                  <a:lumOff val="60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lvl="1"/>
            <a:endParaRPr lang="en-US" sz="1600" i="1">
              <a:solidFill>
                <a:prstClr val="black">
                  <a:lumMod val="40000"/>
                  <a:lumOff val="60000"/>
                </a:prst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prstClr val="black">
                  <a:lumMod val="40000"/>
                  <a:lumOff val="60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lvl="1"/>
            <a:endParaRPr lang="en-US" sz="1600" i="1">
              <a:solidFill>
                <a:prstClr val="black">
                  <a:lumMod val="40000"/>
                  <a:lumOff val="60000"/>
                </a:prst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prstClr val="black">
                  <a:lumMod val="40000"/>
                  <a:lumOff val="60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lvl="1"/>
            <a:endParaRPr lang="en-US" sz="1600" i="1">
              <a:solidFill>
                <a:prstClr val="black">
                  <a:lumMod val="40000"/>
                  <a:lumOff val="60000"/>
                </a:prst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prstClr val="black">
                  <a:lumMod val="40000"/>
                  <a:lumOff val="60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lvl="1"/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prstClr val="black">
                  <a:lumMod val="40000"/>
                  <a:lumOff val="60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434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9E747-CEAD-26F1-F2F1-FA3DCA402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D0C46C85-1E0C-CD25-AF29-D252881E3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797DC9D-E108-C40D-951A-A979EDF7A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BAB4DF5-FF20-6009-7122-7BBAD7AC9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C364D3D-06A1-9F36-2C92-5C5689EFD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062BCE2-4A81-8062-5F6A-3666A433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99F040-D03A-4A6D-153C-103BADB34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0FFF17-6E8C-0E05-B48A-0F60C5B614D3}"/>
              </a:ext>
            </a:extLst>
          </p:cNvPr>
          <p:cNvSpPr/>
          <p:nvPr/>
        </p:nvSpPr>
        <p:spPr>
          <a:xfrm>
            <a:off x="279400" y="1597432"/>
            <a:ext cx="11544299" cy="53899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6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Other Testing-</a:t>
            </a: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ourier New" panose="02070309020205020404" pitchFamily="49" charset="0"/>
              <a:buChar char="o"/>
              <a:tabLst>
                <a:tab pos="457200" algn="l"/>
              </a:tabLst>
              <a:defRPr/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Migration PET SIT, E2E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ourier New" panose="02070309020205020404" pitchFamily="49" charset="0"/>
              <a:buChar char="o"/>
              <a:tabLst>
                <a:tab pos="457200" algn="l"/>
              </a:tabLst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Renewals PET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ourier New" panose="02070309020205020404" pitchFamily="49" charset="0"/>
              <a:buChar char="o"/>
              <a:tabLst>
                <a:tab pos="457200" algn="l"/>
              </a:tabLst>
              <a:defRPr/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Feature/user story level QE and SIT testing</a:t>
            </a:r>
            <a:endParaRPr kumimoji="0" lang="en-US" sz="160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tabLst>
                <a:tab pos="457200" algn="l"/>
              </a:tabLst>
              <a:defRPr/>
            </a:pPr>
            <a:r>
              <a:rPr kumimoji="0" lang="en-US" sz="16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 of Scope-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Feature level </a:t>
            </a:r>
            <a:endParaRPr kumimoji="0" lang="en-US" sz="1600" b="1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ourier New" panose="02070309020205020404" pitchFamily="49" charset="0"/>
              <a:buChar char="o"/>
              <a:tabLst>
                <a:tab pos="457200" algn="l"/>
              </a:tabLst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UI Testing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ourier New" panose="02070309020205020404" pitchFamily="49" charset="0"/>
              <a:buChar char="o"/>
              <a:tabLst>
                <a:tab pos="457200" algn="l"/>
              </a:tabLst>
              <a:defRPr/>
            </a:pPr>
            <a:r>
              <a:rPr lang="en-US" sz="1600"/>
              <a:t>Test Automated load of Network contracts within USP </a:t>
            </a:r>
            <a:endParaRPr kumimoji="0" lang="en-US" sz="1600" b="1" i="1" u="none" strike="noStrike" kern="1200" cap="none" spc="0" normalizeH="0" baseline="0" noProof="0">
              <a:ln>
                <a:noFill/>
              </a:ln>
              <a:solidFill>
                <a:schemeClr val="tx1">
                  <a:lumMod val="40000"/>
                  <a:lumOff val="6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ourier New" panose="02070309020205020404" pitchFamily="49" charset="0"/>
              <a:buChar char="o"/>
              <a:tabLst>
                <a:tab pos="457200" algn="l"/>
              </a:tabLst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Any other items which are not listed in scope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schemeClr val="tx1">
                  <a:lumMod val="40000"/>
                  <a:lumOff val="6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4193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400620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Dependencies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459346" y="1834909"/>
            <a:ext cx="11154723" cy="50230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 b="1" u="sng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 Features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Please refer to CA Agile for Features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 b="1" u="sng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Configuration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Benefit Bundles and Benefit Plans have been loaded in Cirrus &amp; SAMX/Stepwise Test Environment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other configuration items have been completed as per configuration critical path project plan</a:t>
            </a: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Networks &amp; Network Schedules</a:t>
            </a: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Service Area</a:t>
            </a: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Bundle Assembly Rules</a:t>
            </a: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Utilization &amp; Service Plans</a:t>
            </a: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 Policy Rules</a:t>
            </a: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Financial Tagging Rules Configuration</a:t>
            </a: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tabLst>
                <a:tab pos="685800" algn="l"/>
              </a:tabLst>
            </a:pPr>
            <a:endParaRPr lang="en-US" sz="1600" i="1">
              <a:solidFill>
                <a:schemeClr val="tx1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025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400620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Dependencies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459345" y="1686296"/>
            <a:ext cx="11154723" cy="5171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Provider</a:t>
            </a: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Provider and Network Contracts have been loaded into the test environment </a:t>
            </a: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Provider Roaster has been loaded </a:t>
            </a:r>
          </a:p>
          <a:p>
            <a:pPr marL="285750" marR="0" lvl="0" indent="-2857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 b="1" u="sng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Toggles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TBC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 b="1" u="sng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Other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Support from Test Only Applications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Access to test regions of the critical applications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 Environment connections</a:t>
            </a:r>
          </a:p>
        </p:txBody>
      </p:sp>
    </p:spTree>
    <p:extLst>
      <p:ext uri="{BB962C8B-B14F-4D97-AF65-F5344CB8AC3E}">
        <p14:creationId xmlns:p14="http://schemas.microsoft.com/office/powerpoint/2010/main" val="1214362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400620"/>
            <a:ext cx="9895951" cy="103366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- Impacted Applications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459346" y="2095682"/>
            <a:ext cx="4278904" cy="46166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OBM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B&amp;E Portals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Cirrus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BRMS/BASICS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Finance- OFIN, FTS, FISL, FDF-UDW, FSDB, PSGL, RPS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OptumRx, Optum Bank, Dental, Vision, </a:t>
            </a:r>
            <a:r>
              <a:rPr lang="en-US" sz="160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PHAccent</a:t>
            </a:r>
            <a:r>
              <a:rPr lang="en-US" sz="16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Solaris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Boss, OHBS, ICUE (Test Only)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Lake (Test Only)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Nimbus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E0935D-F5B6-4023-BE00-1E9A7262F0B1}"/>
              </a:ext>
            </a:extLst>
          </p:cNvPr>
          <p:cNvSpPr txBox="1"/>
          <p:nvPr/>
        </p:nvSpPr>
        <p:spPr>
          <a:xfrm>
            <a:off x="6608987" y="1958823"/>
            <a:ext cx="3883232" cy="4472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C360/HCP EAIP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ACET (Spire, BEO)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Rally Connect/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myUHC</a:t>
            </a: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Provider Portal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OBAPI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HSID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UDW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OIL/Mission Control/FISERV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COM360, DOC360, B360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Claims Highway (</a:t>
            </a:r>
            <a:r>
              <a:rPr lang="en-US" sz="1600" err="1">
                <a:latin typeface="Calibri" panose="020F0502020204030204" pitchFamily="34" charset="0"/>
                <a:cs typeface="Times New Roman" panose="02020603050405020304" pitchFamily="18" charset="0"/>
              </a:rPr>
              <a:t>Accum</a:t>
            </a: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 Hub)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cs typeface="Times New Roman" panose="02020603050405020304" pitchFamily="18" charset="0"/>
              </a:rPr>
              <a:t>Payment Engine, Shutterfly/CDC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5C9338-5451-425F-A37D-AF0356CB04C9}"/>
              </a:ext>
            </a:extLst>
          </p:cNvPr>
          <p:cNvSpPr txBox="1"/>
          <p:nvPr/>
        </p:nvSpPr>
        <p:spPr>
          <a:xfrm>
            <a:off x="413659" y="172635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Applications</a:t>
            </a:r>
            <a:r>
              <a:rPr lang="en-US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534167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400620"/>
            <a:ext cx="9895951" cy="103366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- Constraints; Data; Environment; Tools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459346" y="1641864"/>
            <a:ext cx="10988468" cy="5171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Constraints:</a:t>
            </a: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Environment Constraint- Need to utilize both Alpha and Master due to unavailability of all end to end environments connections to one Cirrus test environment Example- Fulfillment, ORX Kafka Streaming is only available in Master, 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myUHC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only connected to Alpha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Subset of Provider Contracts loaded to test environment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Requirements:</a:t>
            </a: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 Nice providers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Environment:  </a:t>
            </a: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Cirrus- Alpha/Master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Other Applications- refer to the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Tools:</a:t>
            </a: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DSS</a:t>
            </a:r>
          </a:p>
        </p:txBody>
      </p:sp>
    </p:spTree>
    <p:extLst>
      <p:ext uri="{BB962C8B-B14F-4D97-AF65-F5344CB8AC3E}">
        <p14:creationId xmlns:p14="http://schemas.microsoft.com/office/powerpoint/2010/main" val="3743455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400620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Approach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459346" y="1641864"/>
            <a:ext cx="10988468" cy="46065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 Test Cases based on journey map, capabilities/features and solution intent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 Case walkthrough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Create/ Identify Data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Confirm Configuration is complete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Confirm Code Deployment is complete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Execution- Validate all the items listed In Scope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Defect Management- CA Agile and ALM- USP Releases Testing Touchpoint.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 results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 Results</a:t>
            </a:r>
          </a:p>
        </p:txBody>
      </p:sp>
    </p:spTree>
    <p:extLst>
      <p:ext uri="{BB962C8B-B14F-4D97-AF65-F5344CB8AC3E}">
        <p14:creationId xmlns:p14="http://schemas.microsoft.com/office/powerpoint/2010/main" val="1337908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59430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E2E Product Testing Timeline</a:t>
            </a:r>
            <a:endParaRPr lang="en-US" sz="3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459351" y="2269036"/>
            <a:ext cx="11288150" cy="44001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C4DF20-5EB8-934F-172B-A890910DC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485926"/>
              </p:ext>
            </p:extLst>
          </p:nvPr>
        </p:nvGraphicFramePr>
        <p:xfrm>
          <a:off x="643466" y="2180003"/>
          <a:ext cx="10905068" cy="38241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40132">
                  <a:extLst>
                    <a:ext uri="{9D8B030D-6E8A-4147-A177-3AD203B41FA5}">
                      <a16:colId xmlns:a16="http://schemas.microsoft.com/office/drawing/2014/main" val="1980313826"/>
                    </a:ext>
                  </a:extLst>
                </a:gridCol>
                <a:gridCol w="2260430">
                  <a:extLst>
                    <a:ext uri="{9D8B030D-6E8A-4147-A177-3AD203B41FA5}">
                      <a16:colId xmlns:a16="http://schemas.microsoft.com/office/drawing/2014/main" val="140508339"/>
                    </a:ext>
                  </a:extLst>
                </a:gridCol>
                <a:gridCol w="2142232">
                  <a:extLst>
                    <a:ext uri="{9D8B030D-6E8A-4147-A177-3AD203B41FA5}">
                      <a16:colId xmlns:a16="http://schemas.microsoft.com/office/drawing/2014/main" val="2443089587"/>
                    </a:ext>
                  </a:extLst>
                </a:gridCol>
                <a:gridCol w="2062274">
                  <a:extLst>
                    <a:ext uri="{9D8B030D-6E8A-4147-A177-3AD203B41FA5}">
                      <a16:colId xmlns:a16="http://schemas.microsoft.com/office/drawing/2014/main" val="297983302"/>
                    </a:ext>
                  </a:extLst>
                </a:gridCol>
              </a:tblGrid>
              <a:tr h="4138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Component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Prod Milestone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NB PET From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NB PET Thru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extLst>
                  <a:ext uri="{0D108BD9-81ED-4DB2-BD59-A6C34878D82A}">
                    <a16:rowId xmlns:a16="http://schemas.microsoft.com/office/drawing/2014/main" val="2842191183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Quote Ready/Case Install Ready (incl. PCP assignment, Serv Area Val)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1/1/26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11/5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12/12</a:t>
                      </a:r>
                    </a:p>
                  </a:txBody>
                  <a:tcPr marL="100852" marR="100852" marT="0" marB="0" anchor="b"/>
                </a:tc>
                <a:extLst>
                  <a:ext uri="{0D108BD9-81ED-4DB2-BD59-A6C34878D82A}">
                    <a16:rowId xmlns:a16="http://schemas.microsoft.com/office/drawing/2014/main" val="2266250675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Downstream Extracts/Streaming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1/1/26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12/1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1/9</a:t>
                      </a:r>
                    </a:p>
                  </a:txBody>
                  <a:tcPr marL="100852" marR="100852" marT="0" marB="0" anchor="b"/>
                </a:tc>
                <a:extLst>
                  <a:ext uri="{0D108BD9-81ED-4DB2-BD59-A6C34878D82A}">
                    <a16:rowId xmlns:a16="http://schemas.microsoft.com/office/drawing/2014/main" val="1686636570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ID Cards/Fulfillment Ready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3/15/26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1/12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2/20</a:t>
                      </a:r>
                    </a:p>
                  </a:txBody>
                  <a:tcPr marL="100852" marR="100852" marT="0" marB="0" anchor="b"/>
                </a:tc>
                <a:extLst>
                  <a:ext uri="{0D108BD9-81ED-4DB2-BD59-A6C34878D82A}">
                    <a16:rowId xmlns:a16="http://schemas.microsoft.com/office/drawing/2014/main" val="1974041773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Billing Ready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3/6/26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12/15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1/16</a:t>
                      </a:r>
                    </a:p>
                  </a:txBody>
                  <a:tcPr marL="100852" marR="100852" marT="0" marB="0" anchor="b"/>
                </a:tc>
                <a:extLst>
                  <a:ext uri="{0D108BD9-81ED-4DB2-BD59-A6C34878D82A}">
                    <a16:rowId xmlns:a16="http://schemas.microsoft.com/office/drawing/2014/main" val="4234428561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Member Maintenance (incl. B&amp;E Portal)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4/1/26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12/15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1/30</a:t>
                      </a:r>
                    </a:p>
                  </a:txBody>
                  <a:tcPr marL="100852" marR="100852" marT="0" marB="0" anchor="b"/>
                </a:tc>
                <a:extLst>
                  <a:ext uri="{0D108BD9-81ED-4DB2-BD59-A6C34878D82A}">
                    <a16:rowId xmlns:a16="http://schemas.microsoft.com/office/drawing/2014/main" val="2723057729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Constituent Service Ready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3/1/26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1/12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2/20</a:t>
                      </a:r>
                    </a:p>
                  </a:txBody>
                  <a:tcPr marL="100852" marR="100852" marT="0" marB="0" anchor="b"/>
                </a:tc>
                <a:extLst>
                  <a:ext uri="{0D108BD9-81ED-4DB2-BD59-A6C34878D82A}">
                    <a16:rowId xmlns:a16="http://schemas.microsoft.com/office/drawing/2014/main" val="1602186803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Claim &amp; Clinical Ready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4/1/26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1/12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2/27</a:t>
                      </a:r>
                    </a:p>
                  </a:txBody>
                  <a:tcPr marL="100852" marR="100852" marT="0" marB="0" anchor="b"/>
                </a:tc>
                <a:extLst>
                  <a:ext uri="{0D108BD9-81ED-4DB2-BD59-A6C34878D82A}">
                    <a16:rowId xmlns:a16="http://schemas.microsoft.com/office/drawing/2014/main" val="155990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791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459351" y="2318196"/>
            <a:ext cx="11288150" cy="44001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5680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nitedHealthcare">
  <a:themeElements>
    <a:clrScheme name="UnitedHealthcare_AllColors_3.0">
      <a:dk1>
        <a:srgbClr val="8C9599"/>
      </a:dk1>
      <a:lt1>
        <a:srgbClr val="FFFFFF"/>
      </a:lt1>
      <a:dk2>
        <a:srgbClr val="122377"/>
      </a:dk2>
      <a:lt2>
        <a:srgbClr val="C0E9FF"/>
      </a:lt2>
      <a:accent1>
        <a:srgbClr val="003DA1"/>
      </a:accent1>
      <a:accent2>
        <a:srgbClr val="FF5F0E"/>
      </a:accent2>
      <a:accent3>
        <a:srgbClr val="00A8F7"/>
      </a:accent3>
      <a:accent4>
        <a:srgbClr val="9521AD"/>
      </a:accent4>
      <a:accent5>
        <a:srgbClr val="21B01E"/>
      </a:accent5>
      <a:accent6>
        <a:srgbClr val="E91B18"/>
      </a:accent6>
      <a:hlink>
        <a:srgbClr val="003DA1"/>
      </a:hlink>
      <a:folHlink>
        <a:srgbClr val="00A8F7"/>
      </a:folHlink>
    </a:clrScheme>
    <a:fontScheme name="UnitedHealthca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A8F7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A8F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171450" indent="-171450">
          <a:spcAft>
            <a:spcPts val="400"/>
          </a:spcAft>
          <a:buClr>
            <a:schemeClr val="accent3"/>
          </a:buClr>
          <a:buFont typeface="Arial" panose="020B0604020202020204" pitchFamily="34" charset="0"/>
          <a:buChar char="•"/>
          <a:defRPr dirty="0" smtClean="0">
            <a:solidFill>
              <a:srgbClr val="4D4D4D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HCTechnology_Template_v2" id="{DBA7EF4D-AD6C-3B4E-B2E7-DFFBAC215C54}" vid="{5685A221-050E-574F-842A-A51F198A0CB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29DF41DE54444382374BD281E09C34" ma:contentTypeVersion="15" ma:contentTypeDescription="Create a new document." ma:contentTypeScope="" ma:versionID="cf8efec92b9483a54b6a4b1d311499e5">
  <xsd:schema xmlns:xsd="http://www.w3.org/2001/XMLSchema" xmlns:xs="http://www.w3.org/2001/XMLSchema" xmlns:p="http://schemas.microsoft.com/office/2006/metadata/properties" xmlns:ns2="8c2787b0-6c1e-4283-ad02-40c3b8fc0e51" xmlns:ns3="36716fb1-4a12-4469-8a07-f1cc905dfa80" targetNamespace="http://schemas.microsoft.com/office/2006/metadata/properties" ma:root="true" ma:fieldsID="a457f0b42269427881e3866e94fc4493" ns2:_="" ns3:_="">
    <xsd:import namespace="8c2787b0-6c1e-4283-ad02-40c3b8fc0e51"/>
    <xsd:import namespace="36716fb1-4a12-4469-8a07-f1cc905dfa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2787b0-6c1e-4283-ad02-40c3b8fc0e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2a6b2b66-40d8-4e06-8a39-adc3ecd451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716fb1-4a12-4469-8a07-f1cc905dfa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5b1bb424-d6bc-4d2c-a540-2efb4e3bade6}" ma:internalName="TaxCatchAll" ma:showField="CatchAllData" ma:web="36716fb1-4a12-4469-8a07-f1cc905dfa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2787b0-6c1e-4283-ad02-40c3b8fc0e51">
      <Terms xmlns="http://schemas.microsoft.com/office/infopath/2007/PartnerControls"/>
    </lcf76f155ced4ddcb4097134ff3c332f>
    <TaxCatchAll xmlns="36716fb1-4a12-4469-8a07-f1cc905dfa80" xsi:nil="true"/>
    <SharedWithUsers xmlns="36716fb1-4a12-4469-8a07-f1cc905dfa80">
      <UserInfo>
        <DisplayName/>
        <AccountId xsi:nil="true"/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63AE19-7078-4C32-AFC2-0D34B8FB138E}"/>
</file>

<file path=customXml/itemProps2.xml><?xml version="1.0" encoding="utf-8"?>
<ds:datastoreItem xmlns:ds="http://schemas.openxmlformats.org/officeDocument/2006/customXml" ds:itemID="{38342EBA-305B-41DB-BBF7-5EEA503D9FAC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36716fb1-4a12-4469-8a07-f1cc905dfa80"/>
    <ds:schemaRef ds:uri="http://schemas.openxmlformats.org/package/2006/metadata/core-properties"/>
    <ds:schemaRef ds:uri="8c2787b0-6c1e-4283-ad02-40c3b8fc0e51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E48D396-64D9-43A2-A132-3F0F4CE8DD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2540</Words>
  <Application>Microsoft Office PowerPoint</Application>
  <PresentationFormat>Widescreen</PresentationFormat>
  <Paragraphs>398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Calibri </vt:lpstr>
      <vt:lpstr>Calibri Light</vt:lpstr>
      <vt:lpstr>Courier New</vt:lpstr>
      <vt:lpstr>Symbol</vt:lpstr>
      <vt:lpstr>Wingdings</vt:lpstr>
      <vt:lpstr>Office Theme</vt:lpstr>
      <vt:lpstr>UnitedHealthcare</vt:lpstr>
      <vt:lpstr>ST19567 (2025)   NICE (Newly Integrated Claims Engine) Migration to USP  New Business Product Ecosystem Testing – Release 2 </vt:lpstr>
      <vt:lpstr>E&amp;I Target State Architecture – NICE Migration</vt:lpstr>
      <vt:lpstr>  Product Ecosystem Testing impact  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Dependencies</vt:lpstr>
      <vt:lpstr>Product Ecosystem Testing Dependencies</vt:lpstr>
      <vt:lpstr>Product Ecosystem Testing - Impacted Applications</vt:lpstr>
      <vt:lpstr>Product Ecosystem Testing - Constraints; Data; Environment; Tools</vt:lpstr>
      <vt:lpstr>Product Ecosystem Testing Approach</vt:lpstr>
      <vt:lpstr>E2E Product Testing Timeline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E2E Testing Approach</dc:title>
  <dc:creator>Sharma, Vandana</dc:creator>
  <cp:lastModifiedBy>Mohite, Sakshi M</cp:lastModifiedBy>
  <cp:revision>1</cp:revision>
  <dcterms:created xsi:type="dcterms:W3CDTF">2021-05-24T14:39:22Z</dcterms:created>
  <dcterms:modified xsi:type="dcterms:W3CDTF">2026-06-22T15:21:50Z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0x0101008C29DF41DE54444382374BD281E09C34</vt:lpwstr>
  </property>
  <property fmtid="{D5CDD505-2E9C-101B-9397-08002B2CF9AE}" pid="3" name="MSIP_Label_a8a73c85-e524-44a6-bd58-7df7ef87be8f_Enabled">
    <vt:lpwstr>true</vt:lpwstr>
  </property>
  <property fmtid="{D5CDD505-2E9C-101B-9397-08002B2CF9AE}" pid="4" name="MSIP_Label_a8a73c85-e524-44a6-bd58-7df7ef87be8f_SetDate">
    <vt:lpwstr>2023-02-28T20:57:46Z</vt:lpwstr>
  </property>
  <property fmtid="{D5CDD505-2E9C-101B-9397-08002B2CF9AE}" pid="5" name="MSIP_Label_a8a73c85-e524-44a6-bd58-7df7ef87be8f_Method">
    <vt:lpwstr>Standard</vt:lpwstr>
  </property>
  <property fmtid="{D5CDD505-2E9C-101B-9397-08002B2CF9AE}" pid="6" name="MSIP_Label_a8a73c85-e524-44a6-bd58-7df7ef87be8f_Name">
    <vt:lpwstr>Internal Label</vt:lpwstr>
  </property>
  <property fmtid="{D5CDD505-2E9C-101B-9397-08002B2CF9AE}" pid="7" name="MSIP_Label_a8a73c85-e524-44a6-bd58-7df7ef87be8f_SiteId">
    <vt:lpwstr>db05faca-c82a-4b9d-b9c5-0f64b6755421</vt:lpwstr>
  </property>
  <property fmtid="{D5CDD505-2E9C-101B-9397-08002B2CF9AE}" pid="8" name="MSIP_Label_a8a73c85-e524-44a6-bd58-7df7ef87be8f_ActionId">
    <vt:lpwstr>cc132c11-cabb-458a-a746-cb5736286303</vt:lpwstr>
  </property>
  <property fmtid="{D5CDD505-2E9C-101B-9397-08002B2CF9AE}" pid="9" name="MSIP_Label_a8a73c85-e524-44a6-bd58-7df7ef87be8f_ContentBits">
    <vt:lpwstr>0</vt:lpwstr>
  </property>
  <property fmtid="{D5CDD505-2E9C-101B-9397-08002B2CF9AE}" pid="10" name="MediaServiceImageTags">
    <vt:lpwstr/>
  </property>
  <property fmtid="{D5CDD505-2E9C-101B-9397-08002B2CF9AE}" pid="11" name="Order">
    <vt:r8>30200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ComplianceAssetId">
    <vt:lpwstr/>
  </property>
  <property fmtid="{D5CDD505-2E9C-101B-9397-08002B2CF9AE}" pid="15" name="TemplateUrl">
    <vt:lpwstr/>
  </property>
  <property fmtid="{D5CDD505-2E9C-101B-9397-08002B2CF9AE}" pid="16" name="_ExtendedDescription">
    <vt:lpwstr/>
  </property>
  <property fmtid="{D5CDD505-2E9C-101B-9397-08002B2CF9AE}" pid="17" name="TriggerFlowInfo">
    <vt:lpwstr/>
  </property>
</Properties>
</file>