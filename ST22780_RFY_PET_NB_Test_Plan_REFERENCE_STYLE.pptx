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&lt;File&gt;USPPIGNP-I-212-New Rewards Offering for Surest ASO Cross-Carrier Clients Playbook.xlsx&lt;/File&gt;.</a:t>
            </a:r>
          </a:p>
          <a:p>
            <a:r>
              <a:t>- &lt;File&gt;USPPIGNP-I-212 New Rewards Offering for Surest ASO Cross-Carrier Clients Project Kick Off.pptx&lt;/File&gt;.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&lt;File&gt;USPPIGNP-I-212-New Rewards Offering for Surest ASO Cross-Carrier Clients Playbook.xlsx&lt;/File&gt;, RFY Product Details.</a:t>
            </a:r>
          </a:p>
          <a:p>
            <a:r>
              <a:t>- &lt;File&gt;USPPIGNP-I-212 New Rewards Offering for Surest ASO Cross-Carrier Clients Project Kick Off.pptx&lt;/File&gt;, Project Charter and Scope.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&lt;File&gt;USPPIGNP-I-212-New Rewards Offering for Surest ASO Cross-Carrier Clients Playbook.xlsx&lt;/File&gt;, Aha Impacts and Scope of Work by Application.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&lt;File&gt;USPPIGNP-I-212-New Rewards Offering for Surest ASO Cross-Carrier Clients Playbook.xlsx&lt;/File&gt;, Aha Impacts.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&lt;File&gt;NB PET Status for Surest ASO.pptx&lt;/File&gt;.</a:t>
            </a:r>
          </a:p>
          <a:p>
            <a:r>
              <a:t>- &lt;File&gt;USPPIGNP-I-212-New Rewards Offering for Surest ASO Cross-Carrier Clients Playbook.xlsx&lt;/File&gt;.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&lt;File&gt;USPPIGNP-I-212-New Rewards Offering for Surest ASO Cross-Carrier Clients Playbook.xlsx&lt;/File&gt;, Aha Impacts and Milestones.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&lt;File&gt;USPPIGNP-I-212-New Rewards Offering for Surest ASO Cross-Carrier Clients Playbook.xlsx&lt;/File&gt;, Aha Impacts and NA Client Services open questions.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&lt;File&gt;USPPIGNP-I-212-New Rewards Offering for Surest ASO Cross-Carrier Clients Playbook.xlsx&lt;/File&gt;, DRA-Nimbus, DRA-UDW, Stratus, and CARS impacts.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&lt;File&gt;USPPIGNP-I-212-New Rewards Offering for Surest ASO Cross-Carrier Clients Playbook.xlsx&lt;/File&gt;, COM360 and Cirrus QIB impacts.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&lt;File&gt;USPPIGNP-I-212 New Rewards Offering for Surest ASO Cross-Carrier Clients Project Kick Off.pptx&lt;/File&gt;, Scope.</a:t>
            </a:r>
          </a:p>
          <a:p>
            <a:r>
              <a:t>- &lt;File&gt;9/14 - USPPIGNP-I-212 New Rewards offering for Surest ASO cross carrier clients&lt;/File&gt;.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No external sources.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DDEBF7"/>
                </a:solidFill>
                <a:latin typeface="Calibri"/>
              </a:rPr>
              <a:t>Product Ecosystem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5B91"/>
                </a:solidFill>
                <a:latin typeface="Calibri"/>
              </a:rPr>
              <a:t>ST22780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48840"/>
            <a:ext cx="813816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0">
                <a:solidFill>
                  <a:srgbClr val="0E2D4E"/>
                </a:solidFill>
                <a:latin typeface="Calibri"/>
              </a:rPr>
              <a:t>Rewards For You (RFY)
PET New Business Test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822191"/>
            <a:ext cx="7132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46464"/>
                </a:solidFill>
                <a:latin typeface="Calibri"/>
              </a:rPr>
              <a:t>Aha: USPPIGNP-I-212   |   Go Live: January 1,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236208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6464"/>
                </a:solidFill>
                <a:latin typeface="Calibri"/>
              </a:rPr>
              <a:t>Product Ecosystem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95560" y="0"/>
            <a:ext cx="1996135" cy="1115568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4640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Project Overview and Business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2D4E"/>
                </a:solidFill>
                <a:latin typeface="Calibri"/>
              </a:rPr>
              <a:t>Business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01952"/>
            <a:ext cx="5212080" cy="2926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Replace the legacy Optum Engage offering with Rewards For You for the confirmed Surest ASO client scope.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Enable three configurable RFY buy-up tiers for Key and National Account clients.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Support member eligibility, billing, extracts / streaming, member maintenance, and approved digital experiences.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50876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2D4E"/>
                </a:solidFill>
                <a:latin typeface="Calibri"/>
              </a:rPr>
              <a:t>Product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01952"/>
            <a:ext cx="5074920" cy="3108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RFY supports the confirmed Surest ASO client scope.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RFY is an add-on / buy-up offering.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The three approved RFY tiers are included in PET New Business scope.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• UHC ASO Rewards population support is out of scope for the January 1, 2027 launch.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473952"/>
            <a:ext cx="2148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UHC Technology  |  Better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47395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95560" y="0"/>
            <a:ext cx="1996135" cy="1115568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4640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PET New Business Testing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E2D4E"/>
                </a:solidFill>
                <a:latin typeface="Calibri"/>
              </a:rPr>
              <a:t>PIM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67712"/>
            <a:ext cx="1417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2D2D2D"/>
                </a:solidFill>
                <a:latin typeface="Calibri"/>
              </a:rPr>
              <a:t>Products + 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7088" y="2057400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1F5B91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74519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E2D4E"/>
                </a:solidFill>
                <a:latin typeface="Calibri"/>
              </a:rPr>
              <a:t>OBM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267712"/>
            <a:ext cx="1417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2D2D2D"/>
                </a:solidFill>
                <a:latin typeface="Calibri"/>
              </a:rPr>
              <a:t>Manual setup + publish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057400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1F5B91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874519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E2D4E"/>
                </a:solidFill>
                <a:latin typeface="Calibri"/>
              </a:rPr>
              <a:t>Cirrus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267712"/>
            <a:ext cx="1417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2D2D2D"/>
                </a:solidFill>
                <a:latin typeface="Calibri"/>
              </a:rPr>
              <a:t>Bill item + plan 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2057400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1F5B91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874519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E2D4E"/>
                </a:solidFill>
                <a:latin typeface="Calibri"/>
              </a:rPr>
              <a:t>CDB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267712"/>
            <a:ext cx="1417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2D2D2D"/>
                </a:solidFill>
                <a:latin typeface="Calibri"/>
              </a:rPr>
              <a:t>Eligibility 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057400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1F5B91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874519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E2D4E"/>
                </a:solidFill>
                <a:latin typeface="Calibri"/>
              </a:rPr>
              <a:t>BRMS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67712"/>
            <a:ext cx="1417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2D2D2D"/>
                </a:solidFill>
                <a:latin typeface="Calibri"/>
              </a:rPr>
              <a:t>Billing calculation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057400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1F5B91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1874519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E2D4E"/>
                </a:solidFill>
                <a:latin typeface="Calibri"/>
              </a:rPr>
              <a:t>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267712"/>
            <a:ext cx="1417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2D2D2D"/>
                </a:solidFill>
                <a:latin typeface="Calibri"/>
              </a:rPr>
              <a:t>FTS / PCMT / UDW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6688" y="2057400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1F5B91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1874519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E2D4E"/>
                </a:solidFill>
                <a:latin typeface="Calibri"/>
              </a:rPr>
              <a:t>Extracts / 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267712"/>
            <a:ext cx="1417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2D2D2D"/>
                </a:solidFill>
                <a:latin typeface="Calibri"/>
              </a:rPr>
              <a:t>OptumRx / BOSS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703320"/>
            <a:ext cx="1083564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>
                <a:solidFill>
                  <a:srgbClr val="2D2D2D"/>
                </a:solidFill>
                <a:latin typeface="Calibri"/>
              </a:rPr>
              <a:t>E2E objective: validate RFY configuration and identifiers from product setup through eligibility, billing, financial processing, reporting, and member visibility.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6473952"/>
            <a:ext cx="2148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UHC Technology  |  Better Together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03152" y="647395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95560" y="0"/>
            <a:ext cx="1996135" cy="1115568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4640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Impacted Applications and Validation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49377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2D4E"/>
                </a:solidFill>
                <a:latin typeface="Calibri"/>
              </a:rPr>
              <a:t>Confirmed PET NB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81328"/>
            <a:ext cx="49377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2D4E"/>
                </a:solidFill>
                <a:latin typeface="Calibri"/>
              </a:rPr>
              <a:t>Additional Integrated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212080" cy="4160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Case Install / Enrollment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OBM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Surest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Member enrollment through CIP/DSS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CDB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Digital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ACET Member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ACET BEO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SPIRE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myUHC / Surest member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5166360" cy="4160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Billing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BRMS and BASICS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New bill item type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New billing schedules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Case-rate billing for approved non-UHG populations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Member-level eligibility for billing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Extracts / Streaming — OptumRx and BOSS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Member Maintenance — B&amp;E Portals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473952"/>
            <a:ext cx="2148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UHC Technology  |  Better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47395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95560" y="0"/>
            <a:ext cx="1996135" cy="1115568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4640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PET New Business Testing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2D4E"/>
                </a:solidFill>
                <a:latin typeface="Calibri"/>
              </a:rPr>
              <a:t>Part 1 – New Business Case Install Readiness and E2E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44200" cy="4206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Confirm OBM, Surest, SAMX-NA, CIP, CDB, and required downstream applications are test-ready.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Validate the three approved RFY tiers and identifiers.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Validate the newly added RFY bill item type in Cirrus, BRMS, and BASICS.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Validate the associated billing schedules, rates, effective dates, and expiration dates.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Validate case-rate billing for the approved non-UHG population.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Validate member-level eligibility used to determine the billable population.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Validate member enrollment through CIP and CDB.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Validate Digital, Extracts/Streaming, and Member Maintenance scope.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Capture evidence, log defects, coordinate retesting, and confirm PET NB sign-off.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6473952"/>
            <a:ext cx="2148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UHC Technology  |  Better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3152" y="647395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95560" y="0"/>
            <a:ext cx="1996135" cy="1115568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4640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PET New Business Testing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804672"/>
            <a:ext cx="9418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DDEBF7"/>
                </a:solidFill>
                <a:latin typeface="Calibri"/>
              </a:rPr>
              <a:t>Part 2 – Group Install and Plan-Option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2D4E"/>
                </a:solidFill>
                <a:latin typeface="Calibri"/>
              </a:rPr>
              <a:t>Positive Group Install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536192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2D4E"/>
                </a:solidFill>
                <a:latin typeface="Calibri"/>
              </a:rPr>
              <a:t>Negative and Multi-Plan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5257800" cy="4251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420">
                <a:solidFill>
                  <a:srgbClr val="2D2D2D"/>
                </a:solidFill>
                <a:latin typeface="Calibri"/>
              </a:defRPr>
            </a:pPr>
            <a:r>
              <a:t>• Validate RFY Custom, RFY Client Fulfilled Custom, and RFY Client Fulfilled Survey.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420">
                <a:solidFill>
                  <a:srgbClr val="2D2D2D"/>
                </a:solidFill>
                <a:latin typeface="Calibri"/>
              </a:defRPr>
            </a:pPr>
            <a:r>
              <a:t>• Validate Case Install through OBM, Surest.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420">
                <a:solidFill>
                  <a:srgbClr val="2D2D2D"/>
                </a:solidFill>
                <a:latin typeface="Calibri"/>
              </a:defRPr>
            </a:pPr>
            <a:r>
              <a:t>• Validate that member eligibility is received through CIP and correctly processed in CDB.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420">
                <a:solidFill>
                  <a:srgbClr val="2D2D2D"/>
                </a:solidFill>
                <a:latin typeface="Calibri"/>
              </a:defRPr>
            </a:pPr>
            <a:r>
              <a:t>• Validate ACET Member, ACET BEO, SPIRE, and myUHC / Surest member portal.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420">
                <a:solidFill>
                  <a:srgbClr val="2D2D2D"/>
                </a:solidFill>
                <a:latin typeface="Calibri"/>
              </a:defRPr>
            </a:pPr>
            <a:r>
              <a:t>• Validate new bill items, billing schedules, case-rate billing, member-level eligibility, OptumRx, BOSS, and B&amp;E Portal 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01952"/>
            <a:ext cx="5074920" cy="4251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420">
                <a:solidFill>
                  <a:srgbClr val="2D2D2D"/>
                </a:solidFill>
                <a:latin typeface="Calibri"/>
              </a:defRPr>
            </a:pPr>
            <a:r>
              <a:t>• Verify RFY is not attached when the New Business group did not purchase the offering.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420">
                <a:solidFill>
                  <a:srgbClr val="2D2D2D"/>
                </a:solidFill>
                <a:latin typeface="Calibri"/>
              </a:defRPr>
            </a:pPr>
            <a:r>
              <a:t>• Verify RFY cannot be configured for a non-ASO group.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420">
                <a:solidFill>
                  <a:srgbClr val="2D2D2D"/>
                </a:solidFill>
                <a:latin typeface="Calibri"/>
              </a:defRPr>
            </a:pPr>
            <a:r>
              <a:t>• Verify installation is rejected or held when required RFY product, identifier, rate, date, or billing data is missing.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420">
                <a:solidFill>
                  <a:srgbClr val="2D2D2D"/>
                </a:solidFill>
                <a:latin typeface="Calibri"/>
              </a:defRPr>
            </a:pPr>
            <a:r>
              <a:t>• For a group with multiple medical plan options, verify RFY attaches only to the approved plan option.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420">
                <a:solidFill>
                  <a:srgbClr val="2D2D2D"/>
                </a:solidFill>
                <a:latin typeface="Calibri"/>
              </a:defRPr>
            </a:pPr>
            <a:r>
              <a:t>• Verify a non-eligible member or population does not receive RFY eligibility.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473952"/>
            <a:ext cx="2148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UHC Technology  |  Better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3152" y="647395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95560" y="0"/>
            <a:ext cx="1996135" cy="1115568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4640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PET New Business Scope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2D4E"/>
                </a:solidFill>
                <a:latin typeface="Calibri"/>
              </a:rPr>
              <a:t>Outside PET NB Scope / Separate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508760"/>
            <a:ext cx="51206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2D4E"/>
                </a:solidFill>
                <a:latin typeface="Calibri"/>
              </a:rPr>
              <a:t>PET NB Included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5257800" cy="4114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Optum Engage migration and renewal testing are not included in this PET NB plan unless separately assigned.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Claims adjudication, provider, and clinical testing are excluded.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RFY-specific ID-card changes and new fulfillment functionality are excluded.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Reward algorithms and detailed vendor integrations are excluded unless separately approved.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Separate owners must confirm any additional migration, renewal, clinical, or claims coverage.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01952"/>
            <a:ext cx="4983480" cy="4114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Future-effective New Business RFY setup.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Member maintenance, including B&amp;E Portal validation.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RFY rate, effective-date, or expiration-date correction before go-live, if supported.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Verify downstream systems do not create duplicate billing or RFY associations.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473952"/>
            <a:ext cx="2148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UHC Technology  |  Better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47395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95560" y="0"/>
            <a:ext cx="1996135" cy="1115568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4640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PET New Business Testing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2D4E"/>
                </a:solidFill>
                <a:latin typeface="Calibri"/>
              </a:rPr>
              <a:t>Billing and Eligibility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10744200" cy="3474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Validate the newly added RFY bill item type in BRMS and BASICS.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Validate new billing schedules and approved schedule fields.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Validate case-rate billing for the approved non-UHG population.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Validate member-level eligibility used to determine the billable population.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Validate bill item amount, effective and expiration dates, proration codes, and assignment-use type.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Confirm BRMS and BASICS billing results match approved expected results.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• Validate applicable B&amp;E Portal billing visibility, if included.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40680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46464"/>
                </a:solidFill>
                <a:latin typeface="Calibri"/>
              </a:rPr>
              <a:t>Current expected OBM/Cirrus mapping: Billing Schedule Type 02 | Calculation Method 08 (Per Unit) | Enrollment Proration 01 | Termination Proration 01 | Assignment Use Type 03 | Rate Guarantee false. Subject to approved requirements.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6473952"/>
            <a:ext cx="2148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UHC Technology  |  Better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3152" y="647395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95560" y="0"/>
            <a:ext cx="1996135" cy="1115568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4640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PET New Business Testing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2D4E"/>
                </a:solidFill>
                <a:latin typeface="Calibri"/>
              </a:rPr>
              <a:t>ACET Member / ACET BEO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01952"/>
            <a:ext cx="3246120" cy="39776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• Validate approved RFY eligibility and utilization-plan information.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• Validate eligible and non-eligible member controls.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• Validate approved group, plan, and member information.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• Detailed fields and expected results: TBD.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508760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2D4E"/>
                </a:solidFill>
                <a:latin typeface="Calibri"/>
              </a:rPr>
              <a:t>SPIRE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901952"/>
            <a:ext cx="3246120" cy="39776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• Validate approved RFY information in SPIRE.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• Confirm member and eligibility results display correctly.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• Confirm non-eligible members do not display RFY incorrectly.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• Environment, access, fields, and expected results: TBD.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508760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2D4E"/>
                </a:solidFill>
                <a:latin typeface="Calibri"/>
              </a:rPr>
              <a:t>myUHC / Surest Member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01952"/>
            <a:ext cx="3246120" cy="39776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• Validate approved portal scope for eligible RFY members.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• Confirm RFY program visibility and access.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• Validate applicable member-maintenance impacts.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• Environment, credentials, ownership, and expected results: TBD.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6473952"/>
            <a:ext cx="2148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UHC Technology  |  Better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3152" y="647395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95560" y="0"/>
            <a:ext cx="1996135" cy="1115568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4640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PET New Business Testing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2D4E"/>
                </a:solidFill>
                <a:latin typeface="Calibri"/>
              </a:rPr>
              <a:t>BOSS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01952"/>
            <a:ext cx="10515600" cy="3291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• Validate the approved RFY values are received and processed in BOSS.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• Validate the applicable RFY identifiers and effective dates.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• Confirm RFY data is associated with the correct group or population based on approved requirements.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• Validate expected BOSS results using application-team evidence.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• Support defect triage if the expected RFY data does not reach BOSS.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6473952"/>
            <a:ext cx="2148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UHC Technology  |  Better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3152" y="647395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95560" y="0"/>
            <a:ext cx="1996135" cy="1115568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4640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PET New Business Testing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2D4E"/>
                </a:solidFill>
                <a:latin typeface="Calibri"/>
              </a:rPr>
              <a:t>ID Cards – Regression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508760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2D4E"/>
                </a:solidFill>
                <a:latin typeface="Calibri"/>
              </a:rPr>
              <a:t>Fulfillment – No Impact /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5166360" cy="4023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No RFY-specific ID-card design or content requirement is confirmed.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Validate standard card generation only if the application team requests regression coverage.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Confirm RFY setup does not suppress or fail existing card generation.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RFY-specific wording, logo, and benefit content are out of scope unless requirements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01952"/>
            <a:ext cx="5074920" cy="4023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COM360 and QIB/member fulfillment are identified as no impact.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Validate existing document or portal pass-through only if requested.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No new RFY fields or fulfillment documents are currently confirmed.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1450">
                <a:solidFill>
                  <a:srgbClr val="2D2D2D"/>
                </a:solidFill>
                <a:latin typeface="Calibri"/>
              </a:defRPr>
            </a:pPr>
            <a:r>
              <a:t>• Document types, archival validation, and test access: TBD.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473952"/>
            <a:ext cx="2148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UHC Technology  |  Better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47395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95560" y="0"/>
            <a:ext cx="1996135" cy="1115568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4640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In Scope, Out of Scope, and Separate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2D4E"/>
                </a:solidFill>
                <a:latin typeface="Calibri"/>
              </a:rPr>
              <a:t>In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337560" cy="4160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Case Install: OBM, Surest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Eligibility processing: CIP and CDB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Digital: ACET Member, ACET BEO, SPIRE, myUHC/Surest Member Portal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Billing: Cirrus, BRMS, BASICS, new bill items and billing schedules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Extracts/Streaming: BOSS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Member Maintenance, including B&amp;E Portals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444752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2D4E"/>
                </a:solidFill>
                <a:latin typeface="Calibri"/>
              </a:rPr>
              <a:t>Out of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3337560" cy="4160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UHC ASO Rewards population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Claims and provider testing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Clinical testing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RFY-specific ID-card changes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New fulfillment functionality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Detailed application-component testing unless specifically assigned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444752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E2D4E"/>
                </a:solidFill>
                <a:latin typeface="Calibri"/>
              </a:rPr>
              <a:t>TBD / Separate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828800"/>
            <a:ext cx="3337560" cy="4160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OptumRx impact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Renewal or migration testing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Final case-rate billing rules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Final member-level billing eligibility rules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Application access and expected results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defRPr sz="1340">
                <a:solidFill>
                  <a:srgbClr val="2D2D2D"/>
                </a:solidFill>
                <a:latin typeface="Calibri"/>
              </a:defRPr>
            </a:pPr>
            <a:r>
              <a:t>• Detailed portal and extract validation 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6473952"/>
            <a:ext cx="2148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UHC Technology  |  Better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3152" y="647395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95560" y="0"/>
            <a:ext cx="1996135" cy="1115568"/>
          </a:xfrm>
          <a:prstGeom prst="rect">
            <a:avLst/>
          </a:prstGeom>
          <a:solidFill>
            <a:srgbClr val="1F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1078992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800" b="0">
                <a:solidFill>
                  <a:srgbClr val="0E2D4E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3246120"/>
            <a:ext cx="7818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>
                <a:solidFill>
                  <a:srgbClr val="646464"/>
                </a:solidFill>
                <a:latin typeface="Calibri"/>
              </a:rPr>
              <a:t>Questions and scope confirmations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6473952"/>
            <a:ext cx="2148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UHC Technology  |  Better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03152" y="647395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4646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