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27"/>
  </p:notesMasterIdLst>
  <p:sldIdLst>
    <p:sldId id="371" r:id="rId6"/>
    <p:sldId id="2147470055" r:id="rId7"/>
    <p:sldId id="269" r:id="rId8"/>
    <p:sldId id="2147470057" r:id="rId9"/>
    <p:sldId id="2147470058" r:id="rId10"/>
    <p:sldId id="2147470059" r:id="rId11"/>
    <p:sldId id="462" r:id="rId12"/>
    <p:sldId id="469" r:id="rId13"/>
    <p:sldId id="457" r:id="rId14"/>
    <p:sldId id="459" r:id="rId15"/>
    <p:sldId id="464" r:id="rId16"/>
    <p:sldId id="470" r:id="rId17"/>
    <p:sldId id="466" r:id="rId18"/>
    <p:sldId id="2147470048" r:id="rId19"/>
    <p:sldId id="284" r:id="rId20"/>
    <p:sldId id="468" r:id="rId21"/>
    <p:sldId id="2147470056" r:id="rId22"/>
    <p:sldId id="285" r:id="rId23"/>
    <p:sldId id="286" r:id="rId24"/>
    <p:sldId id="287" r:id="rId25"/>
    <p:sldId id="28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410347-7EA9-49E0-928D-59AFF6E4F9FE}" v="17" dt="2026-07-20T18:57:01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320E32-8704-457F-9C78-AD649C441A1C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6099F-0704-4375-9700-2C3E6C3E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3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10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72CA7-7D4E-2B8B-D260-52F154F65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EAC50-DD18-B7BD-5FDE-923B14532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4E6F1-42CC-BCF3-86AB-A91CC826E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A4A6C-35CF-52D1-D9AF-12CB0C0F6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90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904E6-5233-3243-6A7E-FAB4DA38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BBD1B-814C-AF1B-84FB-15689F96B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E1637-5EFD-DA5C-3A46-DEA89F71C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FF495-3B29-331A-0A19-9FD200F73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49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FDC1B-1BEE-2879-BF28-442C2CDFC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79E8B-9B4C-C34F-B1F9-C2A4D6703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58461-FA09-F290-B525-B6B64E6AE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CBCD2-2F33-56D9-1AB6-C45C4067C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50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53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66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00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46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45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5C99A-34FD-0D90-3CB5-B9AB72A81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50648-8E69-EDAF-03B2-0A4725FCE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68D18-46CB-3EB9-9759-77E574380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1B125-475F-7F35-FE14-8B7C46BC0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72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85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287D1-1B6A-2702-01DB-6FE2199C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10C6F-BF66-443D-808E-0CA60FE63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238C5-0E7C-D50E-A9B5-EBD20FC72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40850-F1F0-DC20-CF97-A8DBA3C3F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72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715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6892-1744-438A-9B62-65E8F896A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17A10-18E3-4C5A-8C97-68FD6F1B1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E10EE-BAED-48D6-A4CB-F7F51DDC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F85E6-8A8B-4CD7-BA56-F31CDD68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0A4C4-30E7-4C79-BBA4-B039F5256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17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B30E0-A7E0-4B71-A37F-45B5CD53C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81882-95AC-49DA-B875-0FDF4F336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7666D-19BA-46D2-A50B-E4B1A9D22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D43D0-12B0-43A2-A058-E448D1EF0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52658-0478-40EB-B583-CF32F47DB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8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AE47-9381-4984-952D-C7C1F35A0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BCC12-DDB9-4660-88D6-A2011F9EA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08E0D-C11D-4533-9B50-5C33577EA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325C9-12C5-416F-804B-3A5B9B5D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8328E-62A8-4C4A-96AD-7C10B1D2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6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F1CA6-86DD-44D8-9885-1774C8762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42DDF-8BE1-4108-90A3-6DD4DC441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CD360-5482-4C95-A79E-C341BF400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69E8A-AEC9-4524-831C-D577F7B6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AC211-231E-4FE5-A664-A6064877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34781-2CF2-4211-969C-8C3F0BAB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82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4C25-2508-44AE-A8ED-4C8E6FA81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296EA-E051-4C46-B970-F48BAC6D2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5475F-909A-4CE9-94D8-1F2D67235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AC902D-6328-4010-91F8-74BC7B279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7A112-B8EA-4993-9EF9-FA705AFB5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147D22-74E9-4A09-9227-688D78A3A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DD43D5-DB00-4E8A-B6B2-CE5636909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A7C05-6CA7-4239-A757-C14C6E05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25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A6E5-3EB4-439D-894F-5A1FB8F3F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1E0AF0-0619-43B5-BBC6-8BFBC4BE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11DC0-C58F-4703-B9E5-FA4D865F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E21A07-E8C9-4C70-BA0D-DD7497E5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5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FF3C8-25FF-4599-9435-E01ABCE1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0F05A-9518-4BDB-A9B8-7C98B988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3504E-7EF4-4F44-8943-9ACA828A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BF872-17A4-4E0A-A20A-930887CB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BC2DC-3A25-43AE-BE7F-4F128DBF7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F01AD-EFD4-48FF-B49B-602063809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7B698-23F2-4685-949F-792C736F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4CBBE-B618-4DAE-BEF7-5D912678D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E50A8-FCF9-4AEC-9929-F4AADA0C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7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BCAAC-E648-4F2E-B0EA-6CCAB422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626F6A-5E30-4DBD-96CF-22D07F465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3F760-CF2A-4300-A134-AC51BC88F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461B4-D3CA-42B7-8B65-739864C1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93F64-E738-4359-8E89-09322D2B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CEF44-2898-493E-BACC-71892708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6E17C-7CAF-4A4D-829A-A8A2C783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2B4A4-821F-4D98-8C49-8BF850568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EF114-216B-4335-921D-D1164228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22846-EFF6-4172-80FD-6D4D807EB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94A4E-7C9D-4539-BBAA-0C4118E8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04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CE57C9-1BEA-4AF2-AF31-D5B0BE628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7C8A4-861F-4238-8ACB-5E88347A0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FAB8A-0551-47D1-8EDF-A33EF6DD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9CD88-CAD4-485C-A01C-02E343409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5AC1F-22F8-444A-8AB9-4F02A28D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4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78325" y="2378752"/>
            <a:ext cx="6349391" cy="1470025"/>
          </a:xfrm>
        </p:spPr>
        <p:txBody>
          <a:bodyPr anchor="ctr">
            <a:noAutofit/>
          </a:bodyPr>
          <a:lstStyle>
            <a:lvl1pPr>
              <a:defRPr sz="4267" spc="-68"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C1CE73-A306-824E-AF5D-DFABDA223E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109" y="5808212"/>
            <a:ext cx="2012175" cy="63152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6962A78-5F90-E849-926E-E27C20197959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14" name="Chevron 13">
              <a:extLst>
                <a:ext uri="{FF2B5EF4-FFF2-40B4-BE49-F238E27FC236}">
                  <a16:creationId xmlns:a16="http://schemas.microsoft.com/office/drawing/2014/main" id="{673B59A0-63BC-0F46-8B19-44FD67D42D94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8DDFA2FC-9DC8-3D4B-8217-398D230F5C57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C54180A5-7756-E048-A966-59067574F7BA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27F661-382B-BC47-B53A-37C814026FC3}"/>
              </a:ext>
            </a:extLst>
          </p:cNvPr>
          <p:cNvGrpSpPr/>
          <p:nvPr userDrawn="1"/>
        </p:nvGrpSpPr>
        <p:grpSpPr>
          <a:xfrm>
            <a:off x="5335596" y="6205137"/>
            <a:ext cx="3479121" cy="306732"/>
            <a:chOff x="744483" y="4848998"/>
            <a:chExt cx="2609341" cy="2300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24A353D-2250-8848-B6A0-16BF03C42779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19" name="Title 3">
              <a:extLst>
                <a:ext uri="{FF2B5EF4-FFF2-40B4-BE49-F238E27FC236}">
                  <a16:creationId xmlns:a16="http://schemas.microsoft.com/office/drawing/2014/main" id="{64EB3198-E83E-A24B-AA77-090BB5B1A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37B8663-024F-8F4F-82F1-488E09622219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935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C1CE73-A306-824E-AF5D-DFABDA223E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109" y="5808212"/>
            <a:ext cx="2012175" cy="63152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6962A78-5F90-E849-926E-E27C20197959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14" name="Chevron 13">
              <a:extLst>
                <a:ext uri="{FF2B5EF4-FFF2-40B4-BE49-F238E27FC236}">
                  <a16:creationId xmlns:a16="http://schemas.microsoft.com/office/drawing/2014/main" id="{673B59A0-63BC-0F46-8B19-44FD67D42D94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8DDFA2FC-9DC8-3D4B-8217-398D230F5C57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C54180A5-7756-E048-A966-59067574F7BA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DDBE942-5C20-1049-963F-D9BDD4B704AD}"/>
              </a:ext>
            </a:extLst>
          </p:cNvPr>
          <p:cNvGrpSpPr/>
          <p:nvPr userDrawn="1"/>
        </p:nvGrpSpPr>
        <p:grpSpPr>
          <a:xfrm>
            <a:off x="5629224" y="2878492"/>
            <a:ext cx="6493017" cy="499575"/>
            <a:chOff x="4221917" y="2158866"/>
            <a:chExt cx="4869763" cy="37468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4ABAC76-EE16-9C4A-A031-E26084E221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8671" y="2175160"/>
              <a:ext cx="0" cy="358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E8C3CA4-D98A-0649-BB27-B61F761535E4}"/>
                </a:ext>
              </a:extLst>
            </p:cNvPr>
            <p:cNvSpPr txBox="1"/>
            <p:nvPr userDrawn="1"/>
          </p:nvSpPr>
          <p:spPr>
            <a:xfrm>
              <a:off x="6708459" y="2158866"/>
              <a:ext cx="2383221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3200" b="1" i="0" spc="-68" baseline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</a:rPr>
                <a:t>Better Together</a:t>
              </a:r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B7303F-E15F-E84C-8DB3-E150AE7EF477}"/>
                </a:ext>
              </a:extLst>
            </p:cNvPr>
            <p:cNvSpPr txBox="1"/>
            <p:nvPr userDrawn="1"/>
          </p:nvSpPr>
          <p:spPr>
            <a:xfrm>
              <a:off x="4633576" y="2234023"/>
              <a:ext cx="190053" cy="225624"/>
            </a:xfrm>
            <a:custGeom>
              <a:avLst/>
              <a:gdLst/>
              <a:ahLst/>
              <a:cxnLst/>
              <a:rect l="l" t="t" r="r" b="b"/>
              <a:pathLst>
                <a:path w="190053" h="225624">
                  <a:moveTo>
                    <a:pt x="102096" y="0"/>
                  </a:moveTo>
                  <a:cubicBezTo>
                    <a:pt x="128785" y="0"/>
                    <a:pt x="150465" y="7888"/>
                    <a:pt x="167134" y="23664"/>
                  </a:cubicBezTo>
                  <a:cubicBezTo>
                    <a:pt x="177055" y="32991"/>
                    <a:pt x="184497" y="46385"/>
                    <a:pt x="189458" y="63848"/>
                  </a:cubicBezTo>
                  <a:lnTo>
                    <a:pt x="145851" y="74266"/>
                  </a:lnTo>
                  <a:cubicBezTo>
                    <a:pt x="143271" y="62955"/>
                    <a:pt x="137889" y="54025"/>
                    <a:pt x="129703" y="47477"/>
                  </a:cubicBezTo>
                  <a:cubicBezTo>
                    <a:pt x="121518" y="40928"/>
                    <a:pt x="111571" y="37654"/>
                    <a:pt x="99863" y="37654"/>
                  </a:cubicBezTo>
                  <a:cubicBezTo>
                    <a:pt x="83691" y="37654"/>
                    <a:pt x="70569" y="43458"/>
                    <a:pt x="60498" y="55067"/>
                  </a:cubicBezTo>
                  <a:cubicBezTo>
                    <a:pt x="50427" y="66675"/>
                    <a:pt x="45392" y="85477"/>
                    <a:pt x="45392" y="111473"/>
                  </a:cubicBezTo>
                  <a:cubicBezTo>
                    <a:pt x="45392" y="139055"/>
                    <a:pt x="50353" y="158701"/>
                    <a:pt x="60275" y="170409"/>
                  </a:cubicBezTo>
                  <a:cubicBezTo>
                    <a:pt x="70197" y="182116"/>
                    <a:pt x="83095" y="187970"/>
                    <a:pt x="98970" y="187970"/>
                  </a:cubicBezTo>
                  <a:cubicBezTo>
                    <a:pt x="110678" y="187970"/>
                    <a:pt x="120749" y="184250"/>
                    <a:pt x="129182" y="176808"/>
                  </a:cubicBezTo>
                  <a:cubicBezTo>
                    <a:pt x="137616" y="169367"/>
                    <a:pt x="143668" y="157659"/>
                    <a:pt x="147339" y="141685"/>
                  </a:cubicBezTo>
                  <a:lnTo>
                    <a:pt x="190053" y="155228"/>
                  </a:lnTo>
                  <a:cubicBezTo>
                    <a:pt x="183505" y="179041"/>
                    <a:pt x="172615" y="196726"/>
                    <a:pt x="157385" y="208285"/>
                  </a:cubicBezTo>
                  <a:cubicBezTo>
                    <a:pt x="142155" y="219844"/>
                    <a:pt x="122832" y="225624"/>
                    <a:pt x="99417" y="225624"/>
                  </a:cubicBezTo>
                  <a:cubicBezTo>
                    <a:pt x="70445" y="225624"/>
                    <a:pt x="46632" y="215727"/>
                    <a:pt x="27979" y="195933"/>
                  </a:cubicBezTo>
                  <a:cubicBezTo>
                    <a:pt x="9326" y="176138"/>
                    <a:pt x="0" y="149077"/>
                    <a:pt x="0" y="114747"/>
                  </a:cubicBezTo>
                  <a:cubicBezTo>
                    <a:pt x="0" y="78433"/>
                    <a:pt x="9376" y="50230"/>
                    <a:pt x="28128" y="30138"/>
                  </a:cubicBezTo>
                  <a:cubicBezTo>
                    <a:pt x="46880" y="10046"/>
                    <a:pt x="71536" y="0"/>
                    <a:pt x="1020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85B8ADC-EA55-6544-906B-071EFDD2ADDC}"/>
                </a:ext>
              </a:extLst>
            </p:cNvPr>
            <p:cNvSpPr txBox="1"/>
            <p:nvPr userDrawn="1"/>
          </p:nvSpPr>
          <p:spPr>
            <a:xfrm>
              <a:off x="4221917" y="2237745"/>
              <a:ext cx="173980" cy="221903"/>
            </a:xfrm>
            <a:custGeom>
              <a:avLst/>
              <a:gdLst/>
              <a:ahLst/>
              <a:cxnLst/>
              <a:rect l="l" t="t" r="r" b="b"/>
              <a:pathLst>
                <a:path w="173980" h="221903">
                  <a:moveTo>
                    <a:pt x="0" y="0"/>
                  </a:moveTo>
                  <a:lnTo>
                    <a:pt x="44053" y="0"/>
                  </a:lnTo>
                  <a:lnTo>
                    <a:pt x="44053" y="118170"/>
                  </a:lnTo>
                  <a:cubicBezTo>
                    <a:pt x="44053" y="136922"/>
                    <a:pt x="44599" y="149076"/>
                    <a:pt x="45690" y="154633"/>
                  </a:cubicBezTo>
                  <a:cubicBezTo>
                    <a:pt x="47575" y="163562"/>
                    <a:pt x="52065" y="170731"/>
                    <a:pt x="59159" y="176138"/>
                  </a:cubicBezTo>
                  <a:cubicBezTo>
                    <a:pt x="66253" y="181546"/>
                    <a:pt x="75952" y="184249"/>
                    <a:pt x="88255" y="184249"/>
                  </a:cubicBezTo>
                  <a:cubicBezTo>
                    <a:pt x="100757" y="184249"/>
                    <a:pt x="110182" y="181694"/>
                    <a:pt x="116532" y="176585"/>
                  </a:cubicBezTo>
                  <a:cubicBezTo>
                    <a:pt x="122882" y="171475"/>
                    <a:pt x="126702" y="165199"/>
                    <a:pt x="127992" y="157758"/>
                  </a:cubicBezTo>
                  <a:cubicBezTo>
                    <a:pt x="129282" y="150316"/>
                    <a:pt x="129927" y="137964"/>
                    <a:pt x="129927" y="120700"/>
                  </a:cubicBezTo>
                  <a:lnTo>
                    <a:pt x="129927" y="0"/>
                  </a:lnTo>
                  <a:lnTo>
                    <a:pt x="173980" y="0"/>
                  </a:lnTo>
                  <a:lnTo>
                    <a:pt x="173980" y="114598"/>
                  </a:lnTo>
                  <a:cubicBezTo>
                    <a:pt x="173980" y="140791"/>
                    <a:pt x="172789" y="159296"/>
                    <a:pt x="170408" y="170111"/>
                  </a:cubicBezTo>
                  <a:cubicBezTo>
                    <a:pt x="168027" y="180925"/>
                    <a:pt x="163636" y="190054"/>
                    <a:pt x="157237" y="197495"/>
                  </a:cubicBezTo>
                  <a:cubicBezTo>
                    <a:pt x="150837" y="204936"/>
                    <a:pt x="142280" y="210865"/>
                    <a:pt x="131564" y="215280"/>
                  </a:cubicBezTo>
                  <a:cubicBezTo>
                    <a:pt x="120848" y="219695"/>
                    <a:pt x="106859" y="221903"/>
                    <a:pt x="89595" y="221903"/>
                  </a:cubicBezTo>
                  <a:cubicBezTo>
                    <a:pt x="68759" y="221903"/>
                    <a:pt x="52958" y="219497"/>
                    <a:pt x="42193" y="214685"/>
                  </a:cubicBezTo>
                  <a:cubicBezTo>
                    <a:pt x="31428" y="209873"/>
                    <a:pt x="22920" y="203622"/>
                    <a:pt x="16669" y="195932"/>
                  </a:cubicBezTo>
                  <a:cubicBezTo>
                    <a:pt x="10418" y="188243"/>
                    <a:pt x="6300" y="180181"/>
                    <a:pt x="4316" y="171748"/>
                  </a:cubicBezTo>
                  <a:cubicBezTo>
                    <a:pt x="1439" y="159246"/>
                    <a:pt x="0" y="140791"/>
                    <a:pt x="0" y="1163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FC94635-322A-2C4E-94AC-588E33D0DB81}"/>
                </a:ext>
              </a:extLst>
            </p:cNvPr>
            <p:cNvSpPr txBox="1"/>
            <p:nvPr userDrawn="1"/>
          </p:nvSpPr>
          <p:spPr>
            <a:xfrm>
              <a:off x="4431913" y="2237744"/>
              <a:ext cx="174427" cy="218182"/>
            </a:xfrm>
            <a:custGeom>
              <a:avLst/>
              <a:gdLst/>
              <a:ahLst/>
              <a:cxnLst/>
              <a:rect l="l" t="t" r="r" b="b"/>
              <a:pathLst>
                <a:path w="174427" h="218182">
                  <a:moveTo>
                    <a:pt x="0" y="0"/>
                  </a:moveTo>
                  <a:lnTo>
                    <a:pt x="44054" y="0"/>
                  </a:lnTo>
                  <a:lnTo>
                    <a:pt x="44054" y="85874"/>
                  </a:lnTo>
                  <a:lnTo>
                    <a:pt x="130374" y="85874"/>
                  </a:lnTo>
                  <a:lnTo>
                    <a:pt x="130374" y="0"/>
                  </a:lnTo>
                  <a:lnTo>
                    <a:pt x="174427" y="0"/>
                  </a:lnTo>
                  <a:lnTo>
                    <a:pt x="174427" y="218182"/>
                  </a:lnTo>
                  <a:lnTo>
                    <a:pt x="130374" y="218182"/>
                  </a:lnTo>
                  <a:lnTo>
                    <a:pt x="130374" y="122783"/>
                  </a:lnTo>
                  <a:lnTo>
                    <a:pt x="44054" y="122783"/>
                  </a:lnTo>
                  <a:lnTo>
                    <a:pt x="44054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6891785-D783-D04D-B092-61D9C04EA8EC}"/>
                </a:ext>
              </a:extLst>
            </p:cNvPr>
            <p:cNvSpPr txBox="1"/>
            <p:nvPr userDrawn="1"/>
          </p:nvSpPr>
          <p:spPr>
            <a:xfrm>
              <a:off x="4835238" y="2237744"/>
              <a:ext cx="173384" cy="218182"/>
            </a:xfrm>
            <a:custGeom>
              <a:avLst/>
              <a:gdLst/>
              <a:ahLst/>
              <a:cxnLst/>
              <a:rect l="l" t="t" r="r" b="b"/>
              <a:pathLst>
                <a:path w="173384" h="218182">
                  <a:moveTo>
                    <a:pt x="0" y="0"/>
                  </a:moveTo>
                  <a:lnTo>
                    <a:pt x="173384" y="0"/>
                  </a:lnTo>
                  <a:lnTo>
                    <a:pt x="173384" y="36909"/>
                  </a:lnTo>
                  <a:lnTo>
                    <a:pt x="108793" y="36909"/>
                  </a:lnTo>
                  <a:lnTo>
                    <a:pt x="108793" y="218182"/>
                  </a:lnTo>
                  <a:lnTo>
                    <a:pt x="64740" y="218182"/>
                  </a:lnTo>
                  <a:lnTo>
                    <a:pt x="64740" y="36909"/>
                  </a:lnTo>
                  <a:lnTo>
                    <a:pt x="0" y="36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651B17-76E2-854A-9AE8-173330B26C25}"/>
                </a:ext>
              </a:extLst>
            </p:cNvPr>
            <p:cNvSpPr txBox="1"/>
            <p:nvPr userDrawn="1"/>
          </p:nvSpPr>
          <p:spPr>
            <a:xfrm>
              <a:off x="5336193" y="2237744"/>
              <a:ext cx="143917" cy="218182"/>
            </a:xfrm>
            <a:custGeom>
              <a:avLst/>
              <a:gdLst/>
              <a:ahLst/>
              <a:cxnLst/>
              <a:rect l="l" t="t" r="r" b="b"/>
              <a:pathLst>
                <a:path w="143917" h="218182">
                  <a:moveTo>
                    <a:pt x="0" y="0"/>
                  </a:moveTo>
                  <a:lnTo>
                    <a:pt x="41821" y="0"/>
                  </a:lnTo>
                  <a:lnTo>
                    <a:pt x="41821" y="80218"/>
                  </a:lnTo>
                  <a:cubicBezTo>
                    <a:pt x="55315" y="64443"/>
                    <a:pt x="71438" y="56555"/>
                    <a:pt x="90190" y="56555"/>
                  </a:cubicBezTo>
                  <a:cubicBezTo>
                    <a:pt x="99814" y="56555"/>
                    <a:pt x="108496" y="58341"/>
                    <a:pt x="116235" y="61913"/>
                  </a:cubicBezTo>
                  <a:cubicBezTo>
                    <a:pt x="123974" y="65484"/>
                    <a:pt x="129803" y="70049"/>
                    <a:pt x="133722" y="75605"/>
                  </a:cubicBezTo>
                  <a:cubicBezTo>
                    <a:pt x="137641" y="81161"/>
                    <a:pt x="140320" y="87313"/>
                    <a:pt x="141759" y="94059"/>
                  </a:cubicBezTo>
                  <a:cubicBezTo>
                    <a:pt x="143197" y="100806"/>
                    <a:pt x="143917" y="111274"/>
                    <a:pt x="143917" y="125462"/>
                  </a:cubicBezTo>
                  <a:lnTo>
                    <a:pt x="143917" y="218182"/>
                  </a:lnTo>
                  <a:lnTo>
                    <a:pt x="102096" y="218182"/>
                  </a:lnTo>
                  <a:lnTo>
                    <a:pt x="102096" y="134690"/>
                  </a:lnTo>
                  <a:cubicBezTo>
                    <a:pt x="102096" y="118120"/>
                    <a:pt x="101302" y="107603"/>
                    <a:pt x="99715" y="103138"/>
                  </a:cubicBezTo>
                  <a:cubicBezTo>
                    <a:pt x="98128" y="98673"/>
                    <a:pt x="95325" y="95126"/>
                    <a:pt x="91306" y="92497"/>
                  </a:cubicBezTo>
                  <a:cubicBezTo>
                    <a:pt x="87288" y="89867"/>
                    <a:pt x="82252" y="88553"/>
                    <a:pt x="76200" y="88553"/>
                  </a:cubicBezTo>
                  <a:cubicBezTo>
                    <a:pt x="69255" y="88553"/>
                    <a:pt x="63054" y="90240"/>
                    <a:pt x="57597" y="93613"/>
                  </a:cubicBezTo>
                  <a:cubicBezTo>
                    <a:pt x="52140" y="96986"/>
                    <a:pt x="48146" y="102071"/>
                    <a:pt x="45616" y="108868"/>
                  </a:cubicBezTo>
                  <a:cubicBezTo>
                    <a:pt x="43086" y="115664"/>
                    <a:pt x="41821" y="125710"/>
                    <a:pt x="41821" y="139006"/>
                  </a:cubicBez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B56E0-DBB7-1140-91A3-4BFC37341F76}"/>
                </a:ext>
              </a:extLst>
            </p:cNvPr>
            <p:cNvSpPr txBox="1"/>
            <p:nvPr userDrawn="1"/>
          </p:nvSpPr>
          <p:spPr>
            <a:xfrm>
              <a:off x="5879267" y="2237744"/>
              <a:ext cx="41821" cy="218182"/>
            </a:xfrm>
            <a:custGeom>
              <a:avLst/>
              <a:gdLst/>
              <a:ahLst/>
              <a:cxnLst/>
              <a:rect l="l" t="t" r="r" b="b"/>
              <a:pathLst>
                <a:path w="41821" h="218182">
                  <a:moveTo>
                    <a:pt x="0" y="0"/>
                  </a:moveTo>
                  <a:lnTo>
                    <a:pt x="41821" y="0"/>
                  </a:ln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1686D8C-3165-114E-97BD-E8628EC7F395}"/>
                </a:ext>
              </a:extLst>
            </p:cNvPr>
            <p:cNvSpPr txBox="1"/>
            <p:nvPr userDrawn="1"/>
          </p:nvSpPr>
          <p:spPr>
            <a:xfrm>
              <a:off x="5000288" y="2294300"/>
              <a:ext cx="147675" cy="165199"/>
            </a:xfrm>
            <a:custGeom>
              <a:avLst/>
              <a:gdLst/>
              <a:ahLst/>
              <a:cxnLst/>
              <a:rect l="l" t="t" r="r" b="b"/>
              <a:pathLst>
                <a:path w="147675" h="165199">
                  <a:moveTo>
                    <a:pt x="72479" y="0"/>
                  </a:moveTo>
                  <a:cubicBezTo>
                    <a:pt x="95994" y="0"/>
                    <a:pt x="114548" y="7764"/>
                    <a:pt x="128141" y="23291"/>
                  </a:cubicBezTo>
                  <a:cubicBezTo>
                    <a:pt x="141734" y="38819"/>
                    <a:pt x="148233" y="62607"/>
                    <a:pt x="147638" y="94654"/>
                  </a:cubicBezTo>
                  <a:lnTo>
                    <a:pt x="42863" y="94654"/>
                  </a:lnTo>
                  <a:cubicBezTo>
                    <a:pt x="43160" y="107057"/>
                    <a:pt x="46534" y="116706"/>
                    <a:pt x="52983" y="123602"/>
                  </a:cubicBezTo>
                  <a:cubicBezTo>
                    <a:pt x="59432" y="130497"/>
                    <a:pt x="67469" y="133945"/>
                    <a:pt x="77093" y="133945"/>
                  </a:cubicBezTo>
                  <a:cubicBezTo>
                    <a:pt x="83641" y="133945"/>
                    <a:pt x="89148" y="132159"/>
                    <a:pt x="93613" y="128587"/>
                  </a:cubicBezTo>
                  <a:cubicBezTo>
                    <a:pt x="98078" y="125015"/>
                    <a:pt x="101451" y="119261"/>
                    <a:pt x="103733" y="111323"/>
                  </a:cubicBezTo>
                  <a:lnTo>
                    <a:pt x="145405" y="118318"/>
                  </a:lnTo>
                  <a:cubicBezTo>
                    <a:pt x="140047" y="133598"/>
                    <a:pt x="131589" y="145231"/>
                    <a:pt x="120030" y="153218"/>
                  </a:cubicBezTo>
                  <a:cubicBezTo>
                    <a:pt x="108471" y="161205"/>
                    <a:pt x="94010" y="165199"/>
                    <a:pt x="76647" y="165199"/>
                  </a:cubicBezTo>
                  <a:cubicBezTo>
                    <a:pt x="49163" y="165199"/>
                    <a:pt x="28823" y="156220"/>
                    <a:pt x="15627" y="138261"/>
                  </a:cubicBezTo>
                  <a:cubicBezTo>
                    <a:pt x="5209" y="123874"/>
                    <a:pt x="0" y="105717"/>
                    <a:pt x="0" y="83790"/>
                  </a:cubicBezTo>
                  <a:cubicBezTo>
                    <a:pt x="0" y="57596"/>
                    <a:pt x="6846" y="37083"/>
                    <a:pt x="20538" y="22250"/>
                  </a:cubicBezTo>
                  <a:cubicBezTo>
                    <a:pt x="34231" y="7416"/>
                    <a:pt x="51544" y="0"/>
                    <a:pt x="72479" y="0"/>
                  </a:cubicBezTo>
                  <a:close/>
                  <a:moveTo>
                    <a:pt x="75009" y="31998"/>
                  </a:moveTo>
                  <a:cubicBezTo>
                    <a:pt x="65881" y="31998"/>
                    <a:pt x="58341" y="35322"/>
                    <a:pt x="52388" y="41969"/>
                  </a:cubicBezTo>
                  <a:cubicBezTo>
                    <a:pt x="46434" y="48617"/>
                    <a:pt x="43507" y="57646"/>
                    <a:pt x="43607" y="69056"/>
                  </a:cubicBezTo>
                  <a:lnTo>
                    <a:pt x="106114" y="69056"/>
                  </a:lnTo>
                  <a:cubicBezTo>
                    <a:pt x="105817" y="56951"/>
                    <a:pt x="102691" y="47749"/>
                    <a:pt x="96738" y="41448"/>
                  </a:cubicBezTo>
                  <a:cubicBezTo>
                    <a:pt x="90785" y="35148"/>
                    <a:pt x="83542" y="31998"/>
                    <a:pt x="75009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285349C-A7B3-7645-B904-34B35CE09072}"/>
                </a:ext>
              </a:extLst>
            </p:cNvPr>
            <p:cNvSpPr txBox="1"/>
            <p:nvPr userDrawn="1"/>
          </p:nvSpPr>
          <p:spPr>
            <a:xfrm>
              <a:off x="5165190" y="2294300"/>
              <a:ext cx="149125" cy="165199"/>
            </a:xfrm>
            <a:custGeom>
              <a:avLst/>
              <a:gdLst/>
              <a:ahLst/>
              <a:cxnLst/>
              <a:rect l="l" t="t" r="r" b="b"/>
              <a:pathLst>
                <a:path w="149125" h="165199">
                  <a:moveTo>
                    <a:pt x="76646" y="0"/>
                  </a:moveTo>
                  <a:cubicBezTo>
                    <a:pt x="95894" y="0"/>
                    <a:pt x="111199" y="4142"/>
                    <a:pt x="122560" y="12427"/>
                  </a:cubicBezTo>
                  <a:cubicBezTo>
                    <a:pt x="133920" y="20712"/>
                    <a:pt x="142081" y="33337"/>
                    <a:pt x="147042" y="50304"/>
                  </a:cubicBezTo>
                  <a:lnTo>
                    <a:pt x="105816" y="57745"/>
                  </a:lnTo>
                  <a:cubicBezTo>
                    <a:pt x="104427" y="49510"/>
                    <a:pt x="101277" y="43309"/>
                    <a:pt x="96366" y="39142"/>
                  </a:cubicBezTo>
                  <a:cubicBezTo>
                    <a:pt x="91454" y="34974"/>
                    <a:pt x="85080" y="32891"/>
                    <a:pt x="77241" y="32891"/>
                  </a:cubicBezTo>
                  <a:cubicBezTo>
                    <a:pt x="66823" y="32891"/>
                    <a:pt x="58514" y="36487"/>
                    <a:pt x="52313" y="43681"/>
                  </a:cubicBezTo>
                  <a:cubicBezTo>
                    <a:pt x="46112" y="50874"/>
                    <a:pt x="43011" y="62904"/>
                    <a:pt x="43011" y="79772"/>
                  </a:cubicBezTo>
                  <a:cubicBezTo>
                    <a:pt x="43011" y="98524"/>
                    <a:pt x="46161" y="111770"/>
                    <a:pt x="52462" y="119509"/>
                  </a:cubicBezTo>
                  <a:cubicBezTo>
                    <a:pt x="58762" y="127248"/>
                    <a:pt x="67220" y="131117"/>
                    <a:pt x="77837" y="131117"/>
                  </a:cubicBezTo>
                  <a:cubicBezTo>
                    <a:pt x="85774" y="131117"/>
                    <a:pt x="92273" y="128860"/>
                    <a:pt x="97333" y="124346"/>
                  </a:cubicBezTo>
                  <a:cubicBezTo>
                    <a:pt x="102393" y="119831"/>
                    <a:pt x="105965" y="112067"/>
                    <a:pt x="108049" y="101054"/>
                  </a:cubicBezTo>
                  <a:lnTo>
                    <a:pt x="149125" y="108049"/>
                  </a:lnTo>
                  <a:cubicBezTo>
                    <a:pt x="144859" y="126901"/>
                    <a:pt x="136673" y="141138"/>
                    <a:pt x="124569" y="150763"/>
                  </a:cubicBezTo>
                  <a:cubicBezTo>
                    <a:pt x="112464" y="160387"/>
                    <a:pt x="96242" y="165199"/>
                    <a:pt x="75902" y="165199"/>
                  </a:cubicBezTo>
                  <a:cubicBezTo>
                    <a:pt x="52784" y="165199"/>
                    <a:pt x="34354" y="157906"/>
                    <a:pt x="20612" y="143321"/>
                  </a:cubicBezTo>
                  <a:cubicBezTo>
                    <a:pt x="6871" y="128736"/>
                    <a:pt x="0" y="108545"/>
                    <a:pt x="0" y="82748"/>
                  </a:cubicBezTo>
                  <a:cubicBezTo>
                    <a:pt x="0" y="56654"/>
                    <a:pt x="6895" y="36339"/>
                    <a:pt x="20687" y="21803"/>
                  </a:cubicBezTo>
                  <a:cubicBezTo>
                    <a:pt x="34478" y="7268"/>
                    <a:pt x="53131" y="0"/>
                    <a:pt x="766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7B7D536-858E-3042-939D-08F6CE80A072}"/>
                </a:ext>
              </a:extLst>
            </p:cNvPr>
            <p:cNvSpPr txBox="1"/>
            <p:nvPr userDrawn="1"/>
          </p:nvSpPr>
          <p:spPr>
            <a:xfrm>
              <a:off x="5517019" y="2294300"/>
              <a:ext cx="144066" cy="161627"/>
            </a:xfrm>
            <a:custGeom>
              <a:avLst/>
              <a:gdLst/>
              <a:ahLst/>
              <a:cxnLst/>
              <a:rect l="l" t="t" r="r" b="b"/>
              <a:pathLst>
                <a:path w="144066" h="161627">
                  <a:moveTo>
                    <a:pt x="90934" y="0"/>
                  </a:moveTo>
                  <a:cubicBezTo>
                    <a:pt x="100162" y="0"/>
                    <a:pt x="108595" y="1662"/>
                    <a:pt x="116235" y="4986"/>
                  </a:cubicBezTo>
                  <a:cubicBezTo>
                    <a:pt x="123875" y="8309"/>
                    <a:pt x="129654" y="12551"/>
                    <a:pt x="133574" y="17710"/>
                  </a:cubicBezTo>
                  <a:cubicBezTo>
                    <a:pt x="137493" y="22870"/>
                    <a:pt x="140221" y="28724"/>
                    <a:pt x="141759" y="35272"/>
                  </a:cubicBezTo>
                  <a:cubicBezTo>
                    <a:pt x="143297" y="41821"/>
                    <a:pt x="144066" y="51197"/>
                    <a:pt x="144066" y="63401"/>
                  </a:cubicBezTo>
                  <a:lnTo>
                    <a:pt x="144066" y="161627"/>
                  </a:lnTo>
                  <a:lnTo>
                    <a:pt x="102245" y="161627"/>
                  </a:lnTo>
                  <a:lnTo>
                    <a:pt x="102245" y="80962"/>
                  </a:lnTo>
                  <a:cubicBezTo>
                    <a:pt x="102245" y="63897"/>
                    <a:pt x="101352" y="52859"/>
                    <a:pt x="99566" y="47848"/>
                  </a:cubicBezTo>
                  <a:cubicBezTo>
                    <a:pt x="97780" y="42837"/>
                    <a:pt x="94878" y="38943"/>
                    <a:pt x="90860" y="36165"/>
                  </a:cubicBezTo>
                  <a:cubicBezTo>
                    <a:pt x="86841" y="33387"/>
                    <a:pt x="82005" y="31998"/>
                    <a:pt x="76349" y="31998"/>
                  </a:cubicBezTo>
                  <a:cubicBezTo>
                    <a:pt x="69106" y="31998"/>
                    <a:pt x="62607" y="33982"/>
                    <a:pt x="56853" y="37951"/>
                  </a:cubicBezTo>
                  <a:cubicBezTo>
                    <a:pt x="51098" y="41920"/>
                    <a:pt x="47154" y="47178"/>
                    <a:pt x="45021" y="53727"/>
                  </a:cubicBezTo>
                  <a:cubicBezTo>
                    <a:pt x="42887" y="60275"/>
                    <a:pt x="41821" y="72380"/>
                    <a:pt x="41821" y="90041"/>
                  </a:cubicBezTo>
                  <a:lnTo>
                    <a:pt x="41821" y="161627"/>
                  </a:lnTo>
                  <a:lnTo>
                    <a:pt x="0" y="161627"/>
                  </a:lnTo>
                  <a:lnTo>
                    <a:pt x="0" y="3572"/>
                  </a:lnTo>
                  <a:lnTo>
                    <a:pt x="38844" y="3572"/>
                  </a:lnTo>
                  <a:lnTo>
                    <a:pt x="38844" y="26789"/>
                  </a:lnTo>
                  <a:cubicBezTo>
                    <a:pt x="52636" y="8929"/>
                    <a:pt x="69999" y="0"/>
                    <a:pt x="909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5FF8F98-788B-C346-AEA6-89E493CA8DEA}"/>
                </a:ext>
              </a:extLst>
            </p:cNvPr>
            <p:cNvSpPr txBox="1"/>
            <p:nvPr userDrawn="1"/>
          </p:nvSpPr>
          <p:spPr>
            <a:xfrm>
              <a:off x="5688618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2960768-09EF-714E-810E-CDE100123881}"/>
                </a:ext>
              </a:extLst>
            </p:cNvPr>
            <p:cNvSpPr txBox="1"/>
            <p:nvPr userDrawn="1"/>
          </p:nvSpPr>
          <p:spPr>
            <a:xfrm>
              <a:off x="5945793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EA93E3B-566E-954B-B276-F34642446AE2}"/>
                </a:ext>
              </a:extLst>
            </p:cNvPr>
            <p:cNvSpPr txBox="1"/>
            <p:nvPr userDrawn="1"/>
          </p:nvSpPr>
          <p:spPr>
            <a:xfrm>
              <a:off x="6127066" y="2294299"/>
              <a:ext cx="154186" cy="225772"/>
            </a:xfrm>
            <a:custGeom>
              <a:avLst/>
              <a:gdLst/>
              <a:ahLst/>
              <a:cxnLst/>
              <a:rect l="l" t="t" r="r" b="b"/>
              <a:pathLst>
                <a:path w="154186" h="225772">
                  <a:moveTo>
                    <a:pt x="66675" y="0"/>
                  </a:moveTo>
                  <a:cubicBezTo>
                    <a:pt x="86221" y="0"/>
                    <a:pt x="102344" y="8582"/>
                    <a:pt x="115044" y="25747"/>
                  </a:cubicBezTo>
                  <a:lnTo>
                    <a:pt x="115044" y="3572"/>
                  </a:lnTo>
                  <a:lnTo>
                    <a:pt x="154186" y="3572"/>
                  </a:lnTo>
                  <a:lnTo>
                    <a:pt x="154186" y="145405"/>
                  </a:lnTo>
                  <a:cubicBezTo>
                    <a:pt x="154186" y="164058"/>
                    <a:pt x="152648" y="177998"/>
                    <a:pt x="149572" y="187226"/>
                  </a:cubicBezTo>
                  <a:cubicBezTo>
                    <a:pt x="146496" y="196453"/>
                    <a:pt x="142180" y="203696"/>
                    <a:pt x="136624" y="208954"/>
                  </a:cubicBezTo>
                  <a:cubicBezTo>
                    <a:pt x="131068" y="214213"/>
                    <a:pt x="123651" y="218331"/>
                    <a:pt x="114374" y="221307"/>
                  </a:cubicBezTo>
                  <a:cubicBezTo>
                    <a:pt x="105097" y="224284"/>
                    <a:pt x="93365" y="225772"/>
                    <a:pt x="79176" y="225772"/>
                  </a:cubicBezTo>
                  <a:cubicBezTo>
                    <a:pt x="52387" y="225772"/>
                    <a:pt x="33387" y="221183"/>
                    <a:pt x="22175" y="212005"/>
                  </a:cubicBezTo>
                  <a:cubicBezTo>
                    <a:pt x="10963" y="202828"/>
                    <a:pt x="5358" y="191194"/>
                    <a:pt x="5358" y="177105"/>
                  </a:cubicBezTo>
                  <a:cubicBezTo>
                    <a:pt x="5358" y="175716"/>
                    <a:pt x="5407" y="174029"/>
                    <a:pt x="5506" y="172045"/>
                  </a:cubicBezTo>
                  <a:lnTo>
                    <a:pt x="53280" y="177849"/>
                  </a:lnTo>
                  <a:cubicBezTo>
                    <a:pt x="54074" y="183406"/>
                    <a:pt x="55909" y="187226"/>
                    <a:pt x="58787" y="189309"/>
                  </a:cubicBezTo>
                  <a:cubicBezTo>
                    <a:pt x="62756" y="192286"/>
                    <a:pt x="69006" y="193774"/>
                    <a:pt x="77539" y="193774"/>
                  </a:cubicBezTo>
                  <a:cubicBezTo>
                    <a:pt x="88453" y="193774"/>
                    <a:pt x="96639" y="192137"/>
                    <a:pt x="102096" y="188863"/>
                  </a:cubicBezTo>
                  <a:cubicBezTo>
                    <a:pt x="105767" y="186680"/>
                    <a:pt x="108545" y="183158"/>
                    <a:pt x="110430" y="178296"/>
                  </a:cubicBezTo>
                  <a:cubicBezTo>
                    <a:pt x="111720" y="174823"/>
                    <a:pt x="112365" y="168424"/>
                    <a:pt x="112365" y="159097"/>
                  </a:cubicBezTo>
                  <a:lnTo>
                    <a:pt x="112365" y="136029"/>
                  </a:lnTo>
                  <a:cubicBezTo>
                    <a:pt x="99863" y="153094"/>
                    <a:pt x="84088" y="161627"/>
                    <a:pt x="65038" y="161627"/>
                  </a:cubicBezTo>
                  <a:cubicBezTo>
                    <a:pt x="43805" y="161627"/>
                    <a:pt x="26987" y="152648"/>
                    <a:pt x="14585" y="134689"/>
                  </a:cubicBezTo>
                  <a:cubicBezTo>
                    <a:pt x="4861" y="120501"/>
                    <a:pt x="0" y="102840"/>
                    <a:pt x="0" y="81706"/>
                  </a:cubicBezTo>
                  <a:cubicBezTo>
                    <a:pt x="0" y="55215"/>
                    <a:pt x="6375" y="34974"/>
                    <a:pt x="19124" y="20985"/>
                  </a:cubicBezTo>
                  <a:cubicBezTo>
                    <a:pt x="31874" y="6995"/>
                    <a:pt x="47724" y="0"/>
                    <a:pt x="66675" y="0"/>
                  </a:cubicBezTo>
                  <a:close/>
                  <a:moveTo>
                    <a:pt x="77390" y="31998"/>
                  </a:moveTo>
                  <a:cubicBezTo>
                    <a:pt x="67369" y="31998"/>
                    <a:pt x="59109" y="35892"/>
                    <a:pt x="52610" y="43681"/>
                  </a:cubicBezTo>
                  <a:cubicBezTo>
                    <a:pt x="46112" y="51470"/>
                    <a:pt x="42862" y="63351"/>
                    <a:pt x="42862" y="79325"/>
                  </a:cubicBezTo>
                  <a:cubicBezTo>
                    <a:pt x="42862" y="96093"/>
                    <a:pt x="46112" y="108371"/>
                    <a:pt x="52610" y="116160"/>
                  </a:cubicBezTo>
                  <a:cubicBezTo>
                    <a:pt x="59109" y="123949"/>
                    <a:pt x="67121" y="127843"/>
                    <a:pt x="76646" y="127843"/>
                  </a:cubicBezTo>
                  <a:cubicBezTo>
                    <a:pt x="86866" y="127843"/>
                    <a:pt x="95498" y="123850"/>
                    <a:pt x="102542" y="115862"/>
                  </a:cubicBezTo>
                  <a:cubicBezTo>
                    <a:pt x="109587" y="107875"/>
                    <a:pt x="113109" y="96044"/>
                    <a:pt x="113109" y="80367"/>
                  </a:cubicBezTo>
                  <a:cubicBezTo>
                    <a:pt x="113109" y="63996"/>
                    <a:pt x="109736" y="51842"/>
                    <a:pt x="102989" y="43904"/>
                  </a:cubicBezTo>
                  <a:cubicBezTo>
                    <a:pt x="96242" y="35967"/>
                    <a:pt x="87709" y="31998"/>
                    <a:pt x="77390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E3E8253-2CAE-E147-8D81-B5BAA6E050F8}"/>
                </a:ext>
              </a:extLst>
            </p:cNvPr>
            <p:cNvSpPr txBox="1"/>
            <p:nvPr userDrawn="1"/>
          </p:nvSpPr>
          <p:spPr>
            <a:xfrm>
              <a:off x="6297623" y="2297871"/>
              <a:ext cx="162520" cy="222200"/>
            </a:xfrm>
            <a:custGeom>
              <a:avLst/>
              <a:gdLst/>
              <a:ahLst/>
              <a:cxnLst/>
              <a:rect l="l" t="t" r="r" b="b"/>
              <a:pathLst>
                <a:path w="162520" h="222200">
                  <a:moveTo>
                    <a:pt x="0" y="0"/>
                  </a:moveTo>
                  <a:lnTo>
                    <a:pt x="44499" y="0"/>
                  </a:lnTo>
                  <a:lnTo>
                    <a:pt x="82302" y="112216"/>
                  </a:lnTo>
                  <a:lnTo>
                    <a:pt x="119211" y="0"/>
                  </a:lnTo>
                  <a:lnTo>
                    <a:pt x="162520" y="0"/>
                  </a:lnTo>
                  <a:lnTo>
                    <a:pt x="106709" y="152102"/>
                  </a:lnTo>
                  <a:lnTo>
                    <a:pt x="96738" y="179635"/>
                  </a:lnTo>
                  <a:cubicBezTo>
                    <a:pt x="93067" y="188863"/>
                    <a:pt x="89569" y="195907"/>
                    <a:pt x="86246" y="200769"/>
                  </a:cubicBezTo>
                  <a:cubicBezTo>
                    <a:pt x="82922" y="205631"/>
                    <a:pt x="79102" y="209574"/>
                    <a:pt x="74786" y="212601"/>
                  </a:cubicBezTo>
                  <a:cubicBezTo>
                    <a:pt x="70470" y="215627"/>
                    <a:pt x="65162" y="217983"/>
                    <a:pt x="58861" y="219670"/>
                  </a:cubicBezTo>
                  <a:cubicBezTo>
                    <a:pt x="52561" y="221357"/>
                    <a:pt x="45442" y="222200"/>
                    <a:pt x="37504" y="222200"/>
                  </a:cubicBezTo>
                  <a:cubicBezTo>
                    <a:pt x="29468" y="222200"/>
                    <a:pt x="21580" y="221357"/>
                    <a:pt x="13841" y="219670"/>
                  </a:cubicBezTo>
                  <a:lnTo>
                    <a:pt x="10120" y="186928"/>
                  </a:lnTo>
                  <a:cubicBezTo>
                    <a:pt x="16668" y="188218"/>
                    <a:pt x="22572" y="188863"/>
                    <a:pt x="27831" y="188863"/>
                  </a:cubicBezTo>
                  <a:cubicBezTo>
                    <a:pt x="37554" y="188863"/>
                    <a:pt x="44747" y="186010"/>
                    <a:pt x="49411" y="180305"/>
                  </a:cubicBezTo>
                  <a:cubicBezTo>
                    <a:pt x="54074" y="174600"/>
                    <a:pt x="57646" y="167332"/>
                    <a:pt x="60126" y="15850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8186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F815FE-B4CF-6A4A-B94A-CEF58EAFE6A1}"/>
              </a:ext>
            </a:extLst>
          </p:cNvPr>
          <p:cNvSpPr/>
          <p:nvPr userDrawn="1"/>
        </p:nvSpPr>
        <p:spPr>
          <a:xfrm>
            <a:off x="2989692" y="0"/>
            <a:ext cx="9202309" cy="5709424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2" y="2389188"/>
            <a:ext cx="6080097" cy="73501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200" spc="-68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DFD66A-0FEA-9E43-85A5-272F33EA95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109" y="5808212"/>
            <a:ext cx="2012175" cy="63152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926EC48-BD49-014A-A1EC-F94585FABBA0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D574683D-4DBB-5249-AF45-F413E53A063F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2" name="Chevron 11">
              <a:extLst>
                <a:ext uri="{FF2B5EF4-FFF2-40B4-BE49-F238E27FC236}">
                  <a16:creationId xmlns:a16="http://schemas.microsoft.com/office/drawing/2014/main" id="{2A6D0B0A-9FFE-5C41-849B-440463C5C46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3" name="Chevron 12">
              <a:extLst>
                <a:ext uri="{FF2B5EF4-FFF2-40B4-BE49-F238E27FC236}">
                  <a16:creationId xmlns:a16="http://schemas.microsoft.com/office/drawing/2014/main" id="{9432091A-B9E0-5C4A-9F0C-8E699C05493C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6" name="Subtitle 2">
            <a:extLst>
              <a:ext uri="{FF2B5EF4-FFF2-40B4-BE49-F238E27FC236}">
                <a16:creationId xmlns:a16="http://schemas.microsoft.com/office/drawing/2014/main" id="{96A4AACE-0F03-3C4F-B453-5659CF3AE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7018" y="31242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C783B4-CAA9-3043-97CE-E88A30110BD7}"/>
              </a:ext>
            </a:extLst>
          </p:cNvPr>
          <p:cNvGrpSpPr/>
          <p:nvPr userDrawn="1"/>
        </p:nvGrpSpPr>
        <p:grpSpPr>
          <a:xfrm>
            <a:off x="5321166" y="6205137"/>
            <a:ext cx="3479121" cy="306732"/>
            <a:chOff x="744483" y="4848998"/>
            <a:chExt cx="2609341" cy="23004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C4A5DB9-461A-E340-AACF-9C2853D86132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6" name="Title 3">
              <a:extLst>
                <a:ext uri="{FF2B5EF4-FFF2-40B4-BE49-F238E27FC236}">
                  <a16:creationId xmlns:a16="http://schemas.microsoft.com/office/drawing/2014/main" id="{1BE5FF10-1BE6-9047-82EE-93D1BC6536C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91D7E35-E8BA-D447-A285-6C09E8673F3D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204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1" y="1371600"/>
            <a:ext cx="10515600" cy="4800600"/>
          </a:xfrm>
        </p:spPr>
        <p:txBody>
          <a:bodyPr>
            <a:noAutofit/>
          </a:bodyPr>
          <a:lstStyle>
            <a:lvl2pPr marL="457177" indent="-203190">
              <a:buFont typeface="Arial" panose="020B0604020202020204" pitchFamily="34" charset="0"/>
              <a:buChar char="-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0000" y="6538882"/>
            <a:ext cx="1422400" cy="167847"/>
          </a:xfrm>
        </p:spPr>
        <p:txBody>
          <a:bodyPr/>
          <a:lstStyle/>
          <a:p>
            <a:fld id="{90F9BDA0-AF0E-4BA8-B742-3B9C92A3E6F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21EAF9A4-A042-254F-8E1D-C5357A291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2" y="295801"/>
            <a:ext cx="7694245" cy="700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507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8760919" y="996954"/>
            <a:ext cx="3431116" cy="5463116"/>
          </a:xfr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2" y="1371600"/>
            <a:ext cx="7694245" cy="4800600"/>
          </a:xfrm>
        </p:spPr>
        <p:txBody>
          <a:bodyPr>
            <a:noAutofit/>
          </a:bodyPr>
          <a:lstStyle>
            <a:lvl2pPr marL="457177" indent="-203190">
              <a:buFont typeface="Arial" panose="020B0604020202020204" pitchFamily="34" charset="0"/>
              <a:buChar char="-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BDA0-AF0E-4BA8-B742-3B9C92A3E6F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5E8B961-8F8E-6C40-AE35-177DF2727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2" y="295801"/>
            <a:ext cx="7694245" cy="700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71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BDA0-AF0E-4BA8-B742-3B9C92A3E6F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CE6DDEF-F8BD-7042-9C50-A7415299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2" y="295801"/>
            <a:ext cx="7694245" cy="700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811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6FB6AC-EF27-3A48-8C2A-ECD2232A38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4" t="11915" b="14209"/>
          <a:stretch/>
        </p:blipFill>
        <p:spPr>
          <a:xfrm>
            <a:off x="3332345" y="5"/>
            <a:ext cx="8859657" cy="44739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2" y="4827009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26F5DBD2-37E9-4C46-9895-67278E0C9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C1B2AB-BBAD-E74D-900D-B1D6577B4EEF}"/>
              </a:ext>
            </a:extLst>
          </p:cNvPr>
          <p:cNvGrpSpPr/>
          <p:nvPr userDrawn="1"/>
        </p:nvGrpSpPr>
        <p:grpSpPr>
          <a:xfrm>
            <a:off x="5328379" y="6205137"/>
            <a:ext cx="3479121" cy="306732"/>
            <a:chOff x="744483" y="4848998"/>
            <a:chExt cx="2609341" cy="23004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43370BE-5C48-5C43-90D3-FA8018A9022B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1" name="Title 3">
              <a:extLst>
                <a:ext uri="{FF2B5EF4-FFF2-40B4-BE49-F238E27FC236}">
                  <a16:creationId xmlns:a16="http://schemas.microsoft.com/office/drawing/2014/main" id="{EB7D1992-1891-A542-9135-2BA4EF7A2A5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92C6D60-2FE2-0842-BF79-2D19682FEC35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85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AF41E83-83E3-824C-B05A-8A5546B4D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" t="12318" b="14800"/>
          <a:stretch/>
        </p:blipFill>
        <p:spPr>
          <a:xfrm>
            <a:off x="3231377" y="2"/>
            <a:ext cx="8960624" cy="4480949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F5DD42CD-EE00-1446-8F2A-C82DE4129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2" y="4827009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EFD8F51-BFFC-3841-A417-4C0A7270D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B8822F6-18DD-0A4E-A8D7-ED719A9B245A}"/>
              </a:ext>
            </a:extLst>
          </p:cNvPr>
          <p:cNvGrpSpPr/>
          <p:nvPr userDrawn="1"/>
        </p:nvGrpSpPr>
        <p:grpSpPr>
          <a:xfrm>
            <a:off x="5328379" y="6205137"/>
            <a:ext cx="3479121" cy="306732"/>
            <a:chOff x="744483" y="4848998"/>
            <a:chExt cx="2609341" cy="23004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34D32D-7C09-EB4A-9EC5-DB5B33369ED0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4" name="Title 3">
              <a:extLst>
                <a:ext uri="{FF2B5EF4-FFF2-40B4-BE49-F238E27FC236}">
                  <a16:creationId xmlns:a16="http://schemas.microsoft.com/office/drawing/2014/main" id="{17BC5B71-5229-E648-A753-F08447F372D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689C5A0-DA9D-4549-947B-FB5584F4750A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993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B74B01-997D-4342-8638-CC9D66A5B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9" b="12293"/>
          <a:stretch/>
        </p:blipFill>
        <p:spPr>
          <a:xfrm>
            <a:off x="2983570" y="0"/>
            <a:ext cx="9208431" cy="447040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B71D31DB-8BCA-7042-B94D-76954AEA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2" y="4827009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E37C1BC-8CB7-5F4C-9252-0CCB40049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9F12B0-5D5F-2145-B861-AF9E8A85FB89}"/>
              </a:ext>
            </a:extLst>
          </p:cNvPr>
          <p:cNvGrpSpPr/>
          <p:nvPr userDrawn="1"/>
        </p:nvGrpSpPr>
        <p:grpSpPr>
          <a:xfrm>
            <a:off x="5328379" y="6205137"/>
            <a:ext cx="3479121" cy="306732"/>
            <a:chOff x="744483" y="4848998"/>
            <a:chExt cx="2609341" cy="23004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4FFD12B-A382-5844-A4D2-92C01109B222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3" name="Title 3">
              <a:extLst>
                <a:ext uri="{FF2B5EF4-FFF2-40B4-BE49-F238E27FC236}">
                  <a16:creationId xmlns:a16="http://schemas.microsoft.com/office/drawing/2014/main" id="{95B75683-1196-5948-9C0B-65AB17405A2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50786FC-F9CF-0340-A9EB-A657DA3E5FF4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5173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5F41C1-ED0A-894A-B3CF-5F7CFFB84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5" t="21323" b="11914"/>
          <a:stretch/>
        </p:blipFill>
        <p:spPr>
          <a:xfrm>
            <a:off x="3290851" y="0"/>
            <a:ext cx="8901151" cy="4460488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95672ECA-8BDB-C24D-A85A-A65E8F046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2" y="4827009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8999BF5-F786-F14D-B7C2-C2BCC5AE8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53885AB-AADA-2746-98D6-78E2B96B17F2}"/>
              </a:ext>
            </a:extLst>
          </p:cNvPr>
          <p:cNvGrpSpPr/>
          <p:nvPr userDrawn="1"/>
        </p:nvGrpSpPr>
        <p:grpSpPr>
          <a:xfrm>
            <a:off x="5328379" y="6205137"/>
            <a:ext cx="3479121" cy="306732"/>
            <a:chOff x="744483" y="4848998"/>
            <a:chExt cx="2609341" cy="23004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6DD190-D481-8245-8459-30F06A13D612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4" name="Title 3">
              <a:extLst>
                <a:ext uri="{FF2B5EF4-FFF2-40B4-BE49-F238E27FC236}">
                  <a16:creationId xmlns:a16="http://schemas.microsoft.com/office/drawing/2014/main" id="{08253C4F-2669-6C49-8F4E-00818047DE9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A0B4BEC-A07A-3443-957E-21680C8E6C15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805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8902BF-5D3A-9D49-BF43-9A572D0E62E4}"/>
              </a:ext>
            </a:extLst>
          </p:cNvPr>
          <p:cNvSpPr/>
          <p:nvPr userDrawn="1"/>
        </p:nvSpPr>
        <p:spPr>
          <a:xfrm>
            <a:off x="3292442" y="2673"/>
            <a:ext cx="8916063" cy="4490224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2" y="5079594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26F5DBD2-37E9-4C46-9895-67278E0C9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715690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9DAAC04-46A3-9B4E-9CC6-921207BBC5C4}"/>
              </a:ext>
            </a:extLst>
          </p:cNvPr>
          <p:cNvGrpSpPr/>
          <p:nvPr userDrawn="1"/>
        </p:nvGrpSpPr>
        <p:grpSpPr>
          <a:xfrm>
            <a:off x="5629224" y="2878492"/>
            <a:ext cx="6493017" cy="499575"/>
            <a:chOff x="4221917" y="2158866"/>
            <a:chExt cx="4869763" cy="374681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AED680D-2C61-9D4B-9565-8D8D2778975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8671" y="2175160"/>
              <a:ext cx="0" cy="358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2F97882-EB61-A348-82F0-BAE1DB338F22}"/>
                </a:ext>
              </a:extLst>
            </p:cNvPr>
            <p:cNvSpPr txBox="1"/>
            <p:nvPr userDrawn="1"/>
          </p:nvSpPr>
          <p:spPr>
            <a:xfrm>
              <a:off x="6708459" y="2158866"/>
              <a:ext cx="2383221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3200" b="1" i="0" spc="-68" baseline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</a:rPr>
                <a:t>Better Together</a:t>
              </a:r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E8895A3-93F5-7944-AEE5-FACB36E109ED}"/>
                </a:ext>
              </a:extLst>
            </p:cNvPr>
            <p:cNvSpPr txBox="1"/>
            <p:nvPr userDrawn="1"/>
          </p:nvSpPr>
          <p:spPr>
            <a:xfrm>
              <a:off x="4633576" y="2234023"/>
              <a:ext cx="190053" cy="225624"/>
            </a:xfrm>
            <a:custGeom>
              <a:avLst/>
              <a:gdLst/>
              <a:ahLst/>
              <a:cxnLst/>
              <a:rect l="l" t="t" r="r" b="b"/>
              <a:pathLst>
                <a:path w="190053" h="225624">
                  <a:moveTo>
                    <a:pt x="102096" y="0"/>
                  </a:moveTo>
                  <a:cubicBezTo>
                    <a:pt x="128785" y="0"/>
                    <a:pt x="150465" y="7888"/>
                    <a:pt x="167134" y="23664"/>
                  </a:cubicBezTo>
                  <a:cubicBezTo>
                    <a:pt x="177055" y="32991"/>
                    <a:pt x="184497" y="46385"/>
                    <a:pt x="189458" y="63848"/>
                  </a:cubicBezTo>
                  <a:lnTo>
                    <a:pt x="145851" y="74266"/>
                  </a:lnTo>
                  <a:cubicBezTo>
                    <a:pt x="143271" y="62955"/>
                    <a:pt x="137889" y="54025"/>
                    <a:pt x="129703" y="47477"/>
                  </a:cubicBezTo>
                  <a:cubicBezTo>
                    <a:pt x="121518" y="40928"/>
                    <a:pt x="111571" y="37654"/>
                    <a:pt x="99863" y="37654"/>
                  </a:cubicBezTo>
                  <a:cubicBezTo>
                    <a:pt x="83691" y="37654"/>
                    <a:pt x="70569" y="43458"/>
                    <a:pt x="60498" y="55067"/>
                  </a:cubicBezTo>
                  <a:cubicBezTo>
                    <a:pt x="50427" y="66675"/>
                    <a:pt x="45392" y="85477"/>
                    <a:pt x="45392" y="111473"/>
                  </a:cubicBezTo>
                  <a:cubicBezTo>
                    <a:pt x="45392" y="139055"/>
                    <a:pt x="50353" y="158701"/>
                    <a:pt x="60275" y="170409"/>
                  </a:cubicBezTo>
                  <a:cubicBezTo>
                    <a:pt x="70197" y="182116"/>
                    <a:pt x="83095" y="187970"/>
                    <a:pt x="98970" y="187970"/>
                  </a:cubicBezTo>
                  <a:cubicBezTo>
                    <a:pt x="110678" y="187970"/>
                    <a:pt x="120749" y="184250"/>
                    <a:pt x="129182" y="176808"/>
                  </a:cubicBezTo>
                  <a:cubicBezTo>
                    <a:pt x="137616" y="169367"/>
                    <a:pt x="143668" y="157659"/>
                    <a:pt x="147339" y="141685"/>
                  </a:cubicBezTo>
                  <a:lnTo>
                    <a:pt x="190053" y="155228"/>
                  </a:lnTo>
                  <a:cubicBezTo>
                    <a:pt x="183505" y="179041"/>
                    <a:pt x="172615" y="196726"/>
                    <a:pt x="157385" y="208285"/>
                  </a:cubicBezTo>
                  <a:cubicBezTo>
                    <a:pt x="142155" y="219844"/>
                    <a:pt x="122832" y="225624"/>
                    <a:pt x="99417" y="225624"/>
                  </a:cubicBezTo>
                  <a:cubicBezTo>
                    <a:pt x="70445" y="225624"/>
                    <a:pt x="46632" y="215727"/>
                    <a:pt x="27979" y="195933"/>
                  </a:cubicBezTo>
                  <a:cubicBezTo>
                    <a:pt x="9326" y="176138"/>
                    <a:pt x="0" y="149077"/>
                    <a:pt x="0" y="114747"/>
                  </a:cubicBezTo>
                  <a:cubicBezTo>
                    <a:pt x="0" y="78433"/>
                    <a:pt x="9376" y="50230"/>
                    <a:pt x="28128" y="30138"/>
                  </a:cubicBezTo>
                  <a:cubicBezTo>
                    <a:pt x="46880" y="10046"/>
                    <a:pt x="71536" y="0"/>
                    <a:pt x="1020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3059CF6-8D1F-9943-898B-158F304BF319}"/>
                </a:ext>
              </a:extLst>
            </p:cNvPr>
            <p:cNvSpPr txBox="1"/>
            <p:nvPr userDrawn="1"/>
          </p:nvSpPr>
          <p:spPr>
            <a:xfrm>
              <a:off x="4221917" y="2237745"/>
              <a:ext cx="173980" cy="221903"/>
            </a:xfrm>
            <a:custGeom>
              <a:avLst/>
              <a:gdLst/>
              <a:ahLst/>
              <a:cxnLst/>
              <a:rect l="l" t="t" r="r" b="b"/>
              <a:pathLst>
                <a:path w="173980" h="221903">
                  <a:moveTo>
                    <a:pt x="0" y="0"/>
                  </a:moveTo>
                  <a:lnTo>
                    <a:pt x="44053" y="0"/>
                  </a:lnTo>
                  <a:lnTo>
                    <a:pt x="44053" y="118170"/>
                  </a:lnTo>
                  <a:cubicBezTo>
                    <a:pt x="44053" y="136922"/>
                    <a:pt x="44599" y="149076"/>
                    <a:pt x="45690" y="154633"/>
                  </a:cubicBezTo>
                  <a:cubicBezTo>
                    <a:pt x="47575" y="163562"/>
                    <a:pt x="52065" y="170731"/>
                    <a:pt x="59159" y="176138"/>
                  </a:cubicBezTo>
                  <a:cubicBezTo>
                    <a:pt x="66253" y="181546"/>
                    <a:pt x="75952" y="184249"/>
                    <a:pt x="88255" y="184249"/>
                  </a:cubicBezTo>
                  <a:cubicBezTo>
                    <a:pt x="100757" y="184249"/>
                    <a:pt x="110182" y="181694"/>
                    <a:pt x="116532" y="176585"/>
                  </a:cubicBezTo>
                  <a:cubicBezTo>
                    <a:pt x="122882" y="171475"/>
                    <a:pt x="126702" y="165199"/>
                    <a:pt x="127992" y="157758"/>
                  </a:cubicBezTo>
                  <a:cubicBezTo>
                    <a:pt x="129282" y="150316"/>
                    <a:pt x="129927" y="137964"/>
                    <a:pt x="129927" y="120700"/>
                  </a:cubicBezTo>
                  <a:lnTo>
                    <a:pt x="129927" y="0"/>
                  </a:lnTo>
                  <a:lnTo>
                    <a:pt x="173980" y="0"/>
                  </a:lnTo>
                  <a:lnTo>
                    <a:pt x="173980" y="114598"/>
                  </a:lnTo>
                  <a:cubicBezTo>
                    <a:pt x="173980" y="140791"/>
                    <a:pt x="172789" y="159296"/>
                    <a:pt x="170408" y="170111"/>
                  </a:cubicBezTo>
                  <a:cubicBezTo>
                    <a:pt x="168027" y="180925"/>
                    <a:pt x="163636" y="190054"/>
                    <a:pt x="157237" y="197495"/>
                  </a:cubicBezTo>
                  <a:cubicBezTo>
                    <a:pt x="150837" y="204936"/>
                    <a:pt x="142280" y="210865"/>
                    <a:pt x="131564" y="215280"/>
                  </a:cubicBezTo>
                  <a:cubicBezTo>
                    <a:pt x="120848" y="219695"/>
                    <a:pt x="106859" y="221903"/>
                    <a:pt x="89595" y="221903"/>
                  </a:cubicBezTo>
                  <a:cubicBezTo>
                    <a:pt x="68759" y="221903"/>
                    <a:pt x="52958" y="219497"/>
                    <a:pt x="42193" y="214685"/>
                  </a:cubicBezTo>
                  <a:cubicBezTo>
                    <a:pt x="31428" y="209873"/>
                    <a:pt x="22920" y="203622"/>
                    <a:pt x="16669" y="195932"/>
                  </a:cubicBezTo>
                  <a:cubicBezTo>
                    <a:pt x="10418" y="188243"/>
                    <a:pt x="6300" y="180181"/>
                    <a:pt x="4316" y="171748"/>
                  </a:cubicBezTo>
                  <a:cubicBezTo>
                    <a:pt x="1439" y="159246"/>
                    <a:pt x="0" y="140791"/>
                    <a:pt x="0" y="1163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B04F91-35AA-8E4F-AAF0-95F37C9B2FA7}"/>
                </a:ext>
              </a:extLst>
            </p:cNvPr>
            <p:cNvSpPr txBox="1"/>
            <p:nvPr userDrawn="1"/>
          </p:nvSpPr>
          <p:spPr>
            <a:xfrm>
              <a:off x="4431913" y="2237744"/>
              <a:ext cx="174427" cy="218182"/>
            </a:xfrm>
            <a:custGeom>
              <a:avLst/>
              <a:gdLst/>
              <a:ahLst/>
              <a:cxnLst/>
              <a:rect l="l" t="t" r="r" b="b"/>
              <a:pathLst>
                <a:path w="174427" h="218182">
                  <a:moveTo>
                    <a:pt x="0" y="0"/>
                  </a:moveTo>
                  <a:lnTo>
                    <a:pt x="44054" y="0"/>
                  </a:lnTo>
                  <a:lnTo>
                    <a:pt x="44054" y="85874"/>
                  </a:lnTo>
                  <a:lnTo>
                    <a:pt x="130374" y="85874"/>
                  </a:lnTo>
                  <a:lnTo>
                    <a:pt x="130374" y="0"/>
                  </a:lnTo>
                  <a:lnTo>
                    <a:pt x="174427" y="0"/>
                  </a:lnTo>
                  <a:lnTo>
                    <a:pt x="174427" y="218182"/>
                  </a:lnTo>
                  <a:lnTo>
                    <a:pt x="130374" y="218182"/>
                  </a:lnTo>
                  <a:lnTo>
                    <a:pt x="130374" y="122783"/>
                  </a:lnTo>
                  <a:lnTo>
                    <a:pt x="44054" y="122783"/>
                  </a:lnTo>
                  <a:lnTo>
                    <a:pt x="44054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9684C28-7525-724C-9EAB-7DC4FF5A56E0}"/>
                </a:ext>
              </a:extLst>
            </p:cNvPr>
            <p:cNvSpPr txBox="1"/>
            <p:nvPr userDrawn="1"/>
          </p:nvSpPr>
          <p:spPr>
            <a:xfrm>
              <a:off x="4835238" y="2237744"/>
              <a:ext cx="173384" cy="218182"/>
            </a:xfrm>
            <a:custGeom>
              <a:avLst/>
              <a:gdLst/>
              <a:ahLst/>
              <a:cxnLst/>
              <a:rect l="l" t="t" r="r" b="b"/>
              <a:pathLst>
                <a:path w="173384" h="218182">
                  <a:moveTo>
                    <a:pt x="0" y="0"/>
                  </a:moveTo>
                  <a:lnTo>
                    <a:pt x="173384" y="0"/>
                  </a:lnTo>
                  <a:lnTo>
                    <a:pt x="173384" y="36909"/>
                  </a:lnTo>
                  <a:lnTo>
                    <a:pt x="108793" y="36909"/>
                  </a:lnTo>
                  <a:lnTo>
                    <a:pt x="108793" y="218182"/>
                  </a:lnTo>
                  <a:lnTo>
                    <a:pt x="64740" y="218182"/>
                  </a:lnTo>
                  <a:lnTo>
                    <a:pt x="64740" y="36909"/>
                  </a:lnTo>
                  <a:lnTo>
                    <a:pt x="0" y="36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61E7D71-4677-3545-983E-8A7D397B4458}"/>
                </a:ext>
              </a:extLst>
            </p:cNvPr>
            <p:cNvSpPr txBox="1"/>
            <p:nvPr userDrawn="1"/>
          </p:nvSpPr>
          <p:spPr>
            <a:xfrm>
              <a:off x="5336193" y="2237744"/>
              <a:ext cx="143917" cy="218182"/>
            </a:xfrm>
            <a:custGeom>
              <a:avLst/>
              <a:gdLst/>
              <a:ahLst/>
              <a:cxnLst/>
              <a:rect l="l" t="t" r="r" b="b"/>
              <a:pathLst>
                <a:path w="143917" h="218182">
                  <a:moveTo>
                    <a:pt x="0" y="0"/>
                  </a:moveTo>
                  <a:lnTo>
                    <a:pt x="41821" y="0"/>
                  </a:lnTo>
                  <a:lnTo>
                    <a:pt x="41821" y="80218"/>
                  </a:lnTo>
                  <a:cubicBezTo>
                    <a:pt x="55315" y="64443"/>
                    <a:pt x="71438" y="56555"/>
                    <a:pt x="90190" y="56555"/>
                  </a:cubicBezTo>
                  <a:cubicBezTo>
                    <a:pt x="99814" y="56555"/>
                    <a:pt x="108496" y="58341"/>
                    <a:pt x="116235" y="61913"/>
                  </a:cubicBezTo>
                  <a:cubicBezTo>
                    <a:pt x="123974" y="65484"/>
                    <a:pt x="129803" y="70049"/>
                    <a:pt x="133722" y="75605"/>
                  </a:cubicBezTo>
                  <a:cubicBezTo>
                    <a:pt x="137641" y="81161"/>
                    <a:pt x="140320" y="87313"/>
                    <a:pt x="141759" y="94059"/>
                  </a:cubicBezTo>
                  <a:cubicBezTo>
                    <a:pt x="143197" y="100806"/>
                    <a:pt x="143917" y="111274"/>
                    <a:pt x="143917" y="125462"/>
                  </a:cubicBezTo>
                  <a:lnTo>
                    <a:pt x="143917" y="218182"/>
                  </a:lnTo>
                  <a:lnTo>
                    <a:pt x="102096" y="218182"/>
                  </a:lnTo>
                  <a:lnTo>
                    <a:pt x="102096" y="134690"/>
                  </a:lnTo>
                  <a:cubicBezTo>
                    <a:pt x="102096" y="118120"/>
                    <a:pt x="101302" y="107603"/>
                    <a:pt x="99715" y="103138"/>
                  </a:cubicBezTo>
                  <a:cubicBezTo>
                    <a:pt x="98128" y="98673"/>
                    <a:pt x="95325" y="95126"/>
                    <a:pt x="91306" y="92497"/>
                  </a:cubicBezTo>
                  <a:cubicBezTo>
                    <a:pt x="87288" y="89867"/>
                    <a:pt x="82252" y="88553"/>
                    <a:pt x="76200" y="88553"/>
                  </a:cubicBezTo>
                  <a:cubicBezTo>
                    <a:pt x="69255" y="88553"/>
                    <a:pt x="63054" y="90240"/>
                    <a:pt x="57597" y="93613"/>
                  </a:cubicBezTo>
                  <a:cubicBezTo>
                    <a:pt x="52140" y="96986"/>
                    <a:pt x="48146" y="102071"/>
                    <a:pt x="45616" y="108868"/>
                  </a:cubicBezTo>
                  <a:cubicBezTo>
                    <a:pt x="43086" y="115664"/>
                    <a:pt x="41821" y="125710"/>
                    <a:pt x="41821" y="139006"/>
                  </a:cubicBez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69B402F-C17E-CF41-85D9-62C73BC68667}"/>
                </a:ext>
              </a:extLst>
            </p:cNvPr>
            <p:cNvSpPr txBox="1"/>
            <p:nvPr userDrawn="1"/>
          </p:nvSpPr>
          <p:spPr>
            <a:xfrm>
              <a:off x="5879267" y="2237744"/>
              <a:ext cx="41821" cy="218182"/>
            </a:xfrm>
            <a:custGeom>
              <a:avLst/>
              <a:gdLst/>
              <a:ahLst/>
              <a:cxnLst/>
              <a:rect l="l" t="t" r="r" b="b"/>
              <a:pathLst>
                <a:path w="41821" h="218182">
                  <a:moveTo>
                    <a:pt x="0" y="0"/>
                  </a:moveTo>
                  <a:lnTo>
                    <a:pt x="41821" y="0"/>
                  </a:ln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55E1ECD-3484-6846-B7EF-B0B83FDF788A}"/>
                </a:ext>
              </a:extLst>
            </p:cNvPr>
            <p:cNvSpPr txBox="1"/>
            <p:nvPr userDrawn="1"/>
          </p:nvSpPr>
          <p:spPr>
            <a:xfrm>
              <a:off x="5000288" y="2294300"/>
              <a:ext cx="147675" cy="165199"/>
            </a:xfrm>
            <a:custGeom>
              <a:avLst/>
              <a:gdLst/>
              <a:ahLst/>
              <a:cxnLst/>
              <a:rect l="l" t="t" r="r" b="b"/>
              <a:pathLst>
                <a:path w="147675" h="165199">
                  <a:moveTo>
                    <a:pt x="72479" y="0"/>
                  </a:moveTo>
                  <a:cubicBezTo>
                    <a:pt x="95994" y="0"/>
                    <a:pt x="114548" y="7764"/>
                    <a:pt x="128141" y="23291"/>
                  </a:cubicBezTo>
                  <a:cubicBezTo>
                    <a:pt x="141734" y="38819"/>
                    <a:pt x="148233" y="62607"/>
                    <a:pt x="147638" y="94654"/>
                  </a:cubicBezTo>
                  <a:lnTo>
                    <a:pt x="42863" y="94654"/>
                  </a:lnTo>
                  <a:cubicBezTo>
                    <a:pt x="43160" y="107057"/>
                    <a:pt x="46534" y="116706"/>
                    <a:pt x="52983" y="123602"/>
                  </a:cubicBezTo>
                  <a:cubicBezTo>
                    <a:pt x="59432" y="130497"/>
                    <a:pt x="67469" y="133945"/>
                    <a:pt x="77093" y="133945"/>
                  </a:cubicBezTo>
                  <a:cubicBezTo>
                    <a:pt x="83641" y="133945"/>
                    <a:pt x="89148" y="132159"/>
                    <a:pt x="93613" y="128587"/>
                  </a:cubicBezTo>
                  <a:cubicBezTo>
                    <a:pt x="98078" y="125015"/>
                    <a:pt x="101451" y="119261"/>
                    <a:pt x="103733" y="111323"/>
                  </a:cubicBezTo>
                  <a:lnTo>
                    <a:pt x="145405" y="118318"/>
                  </a:lnTo>
                  <a:cubicBezTo>
                    <a:pt x="140047" y="133598"/>
                    <a:pt x="131589" y="145231"/>
                    <a:pt x="120030" y="153218"/>
                  </a:cubicBezTo>
                  <a:cubicBezTo>
                    <a:pt x="108471" y="161205"/>
                    <a:pt x="94010" y="165199"/>
                    <a:pt x="76647" y="165199"/>
                  </a:cubicBezTo>
                  <a:cubicBezTo>
                    <a:pt x="49163" y="165199"/>
                    <a:pt x="28823" y="156220"/>
                    <a:pt x="15627" y="138261"/>
                  </a:cubicBezTo>
                  <a:cubicBezTo>
                    <a:pt x="5209" y="123874"/>
                    <a:pt x="0" y="105717"/>
                    <a:pt x="0" y="83790"/>
                  </a:cubicBezTo>
                  <a:cubicBezTo>
                    <a:pt x="0" y="57596"/>
                    <a:pt x="6846" y="37083"/>
                    <a:pt x="20538" y="22250"/>
                  </a:cubicBezTo>
                  <a:cubicBezTo>
                    <a:pt x="34231" y="7416"/>
                    <a:pt x="51544" y="0"/>
                    <a:pt x="72479" y="0"/>
                  </a:cubicBezTo>
                  <a:close/>
                  <a:moveTo>
                    <a:pt x="75009" y="31998"/>
                  </a:moveTo>
                  <a:cubicBezTo>
                    <a:pt x="65881" y="31998"/>
                    <a:pt x="58341" y="35322"/>
                    <a:pt x="52388" y="41969"/>
                  </a:cubicBezTo>
                  <a:cubicBezTo>
                    <a:pt x="46434" y="48617"/>
                    <a:pt x="43507" y="57646"/>
                    <a:pt x="43607" y="69056"/>
                  </a:cubicBezTo>
                  <a:lnTo>
                    <a:pt x="106114" y="69056"/>
                  </a:lnTo>
                  <a:cubicBezTo>
                    <a:pt x="105817" y="56951"/>
                    <a:pt x="102691" y="47749"/>
                    <a:pt x="96738" y="41448"/>
                  </a:cubicBezTo>
                  <a:cubicBezTo>
                    <a:pt x="90785" y="35148"/>
                    <a:pt x="83542" y="31998"/>
                    <a:pt x="75009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A1FAAAC-2C46-7A45-A7DC-8F71137BBF70}"/>
                </a:ext>
              </a:extLst>
            </p:cNvPr>
            <p:cNvSpPr txBox="1"/>
            <p:nvPr userDrawn="1"/>
          </p:nvSpPr>
          <p:spPr>
            <a:xfrm>
              <a:off x="5165190" y="2294300"/>
              <a:ext cx="149125" cy="165199"/>
            </a:xfrm>
            <a:custGeom>
              <a:avLst/>
              <a:gdLst/>
              <a:ahLst/>
              <a:cxnLst/>
              <a:rect l="l" t="t" r="r" b="b"/>
              <a:pathLst>
                <a:path w="149125" h="165199">
                  <a:moveTo>
                    <a:pt x="76646" y="0"/>
                  </a:moveTo>
                  <a:cubicBezTo>
                    <a:pt x="95894" y="0"/>
                    <a:pt x="111199" y="4142"/>
                    <a:pt x="122560" y="12427"/>
                  </a:cubicBezTo>
                  <a:cubicBezTo>
                    <a:pt x="133920" y="20712"/>
                    <a:pt x="142081" y="33337"/>
                    <a:pt x="147042" y="50304"/>
                  </a:cubicBezTo>
                  <a:lnTo>
                    <a:pt x="105816" y="57745"/>
                  </a:lnTo>
                  <a:cubicBezTo>
                    <a:pt x="104427" y="49510"/>
                    <a:pt x="101277" y="43309"/>
                    <a:pt x="96366" y="39142"/>
                  </a:cubicBezTo>
                  <a:cubicBezTo>
                    <a:pt x="91454" y="34974"/>
                    <a:pt x="85080" y="32891"/>
                    <a:pt x="77241" y="32891"/>
                  </a:cubicBezTo>
                  <a:cubicBezTo>
                    <a:pt x="66823" y="32891"/>
                    <a:pt x="58514" y="36487"/>
                    <a:pt x="52313" y="43681"/>
                  </a:cubicBezTo>
                  <a:cubicBezTo>
                    <a:pt x="46112" y="50874"/>
                    <a:pt x="43011" y="62904"/>
                    <a:pt x="43011" y="79772"/>
                  </a:cubicBezTo>
                  <a:cubicBezTo>
                    <a:pt x="43011" y="98524"/>
                    <a:pt x="46161" y="111770"/>
                    <a:pt x="52462" y="119509"/>
                  </a:cubicBezTo>
                  <a:cubicBezTo>
                    <a:pt x="58762" y="127248"/>
                    <a:pt x="67220" y="131117"/>
                    <a:pt x="77837" y="131117"/>
                  </a:cubicBezTo>
                  <a:cubicBezTo>
                    <a:pt x="85774" y="131117"/>
                    <a:pt x="92273" y="128860"/>
                    <a:pt x="97333" y="124346"/>
                  </a:cubicBezTo>
                  <a:cubicBezTo>
                    <a:pt x="102393" y="119831"/>
                    <a:pt x="105965" y="112067"/>
                    <a:pt x="108049" y="101054"/>
                  </a:cubicBezTo>
                  <a:lnTo>
                    <a:pt x="149125" y="108049"/>
                  </a:lnTo>
                  <a:cubicBezTo>
                    <a:pt x="144859" y="126901"/>
                    <a:pt x="136673" y="141138"/>
                    <a:pt x="124569" y="150763"/>
                  </a:cubicBezTo>
                  <a:cubicBezTo>
                    <a:pt x="112464" y="160387"/>
                    <a:pt x="96242" y="165199"/>
                    <a:pt x="75902" y="165199"/>
                  </a:cubicBezTo>
                  <a:cubicBezTo>
                    <a:pt x="52784" y="165199"/>
                    <a:pt x="34354" y="157906"/>
                    <a:pt x="20612" y="143321"/>
                  </a:cubicBezTo>
                  <a:cubicBezTo>
                    <a:pt x="6871" y="128736"/>
                    <a:pt x="0" y="108545"/>
                    <a:pt x="0" y="82748"/>
                  </a:cubicBezTo>
                  <a:cubicBezTo>
                    <a:pt x="0" y="56654"/>
                    <a:pt x="6895" y="36339"/>
                    <a:pt x="20687" y="21803"/>
                  </a:cubicBezTo>
                  <a:cubicBezTo>
                    <a:pt x="34478" y="7268"/>
                    <a:pt x="53131" y="0"/>
                    <a:pt x="766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7C28EED-2DF9-1C4B-B18F-FA6112A46BBA}"/>
                </a:ext>
              </a:extLst>
            </p:cNvPr>
            <p:cNvSpPr txBox="1"/>
            <p:nvPr userDrawn="1"/>
          </p:nvSpPr>
          <p:spPr>
            <a:xfrm>
              <a:off x="5517019" y="2294300"/>
              <a:ext cx="144066" cy="161627"/>
            </a:xfrm>
            <a:custGeom>
              <a:avLst/>
              <a:gdLst/>
              <a:ahLst/>
              <a:cxnLst/>
              <a:rect l="l" t="t" r="r" b="b"/>
              <a:pathLst>
                <a:path w="144066" h="161627">
                  <a:moveTo>
                    <a:pt x="90934" y="0"/>
                  </a:moveTo>
                  <a:cubicBezTo>
                    <a:pt x="100162" y="0"/>
                    <a:pt x="108595" y="1662"/>
                    <a:pt x="116235" y="4986"/>
                  </a:cubicBezTo>
                  <a:cubicBezTo>
                    <a:pt x="123875" y="8309"/>
                    <a:pt x="129654" y="12551"/>
                    <a:pt x="133574" y="17710"/>
                  </a:cubicBezTo>
                  <a:cubicBezTo>
                    <a:pt x="137493" y="22870"/>
                    <a:pt x="140221" y="28724"/>
                    <a:pt x="141759" y="35272"/>
                  </a:cubicBezTo>
                  <a:cubicBezTo>
                    <a:pt x="143297" y="41821"/>
                    <a:pt x="144066" y="51197"/>
                    <a:pt x="144066" y="63401"/>
                  </a:cubicBezTo>
                  <a:lnTo>
                    <a:pt x="144066" y="161627"/>
                  </a:lnTo>
                  <a:lnTo>
                    <a:pt x="102245" y="161627"/>
                  </a:lnTo>
                  <a:lnTo>
                    <a:pt x="102245" y="80962"/>
                  </a:lnTo>
                  <a:cubicBezTo>
                    <a:pt x="102245" y="63897"/>
                    <a:pt x="101352" y="52859"/>
                    <a:pt x="99566" y="47848"/>
                  </a:cubicBezTo>
                  <a:cubicBezTo>
                    <a:pt x="97780" y="42837"/>
                    <a:pt x="94878" y="38943"/>
                    <a:pt x="90860" y="36165"/>
                  </a:cubicBezTo>
                  <a:cubicBezTo>
                    <a:pt x="86841" y="33387"/>
                    <a:pt x="82005" y="31998"/>
                    <a:pt x="76349" y="31998"/>
                  </a:cubicBezTo>
                  <a:cubicBezTo>
                    <a:pt x="69106" y="31998"/>
                    <a:pt x="62607" y="33982"/>
                    <a:pt x="56853" y="37951"/>
                  </a:cubicBezTo>
                  <a:cubicBezTo>
                    <a:pt x="51098" y="41920"/>
                    <a:pt x="47154" y="47178"/>
                    <a:pt x="45021" y="53727"/>
                  </a:cubicBezTo>
                  <a:cubicBezTo>
                    <a:pt x="42887" y="60275"/>
                    <a:pt x="41821" y="72380"/>
                    <a:pt x="41821" y="90041"/>
                  </a:cubicBezTo>
                  <a:lnTo>
                    <a:pt x="41821" y="161627"/>
                  </a:lnTo>
                  <a:lnTo>
                    <a:pt x="0" y="161627"/>
                  </a:lnTo>
                  <a:lnTo>
                    <a:pt x="0" y="3572"/>
                  </a:lnTo>
                  <a:lnTo>
                    <a:pt x="38844" y="3572"/>
                  </a:lnTo>
                  <a:lnTo>
                    <a:pt x="38844" y="26789"/>
                  </a:lnTo>
                  <a:cubicBezTo>
                    <a:pt x="52636" y="8929"/>
                    <a:pt x="69999" y="0"/>
                    <a:pt x="909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2C23FB-3FB0-1F48-9224-183CD40B520C}"/>
                </a:ext>
              </a:extLst>
            </p:cNvPr>
            <p:cNvSpPr txBox="1"/>
            <p:nvPr userDrawn="1"/>
          </p:nvSpPr>
          <p:spPr>
            <a:xfrm>
              <a:off x="5688618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2C33C4-2EED-1B47-AE64-18CE95053628}"/>
                </a:ext>
              </a:extLst>
            </p:cNvPr>
            <p:cNvSpPr txBox="1"/>
            <p:nvPr userDrawn="1"/>
          </p:nvSpPr>
          <p:spPr>
            <a:xfrm>
              <a:off x="5945793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82FEC70-A84A-A843-95D5-2DEE5D0F34FB}"/>
                </a:ext>
              </a:extLst>
            </p:cNvPr>
            <p:cNvSpPr txBox="1"/>
            <p:nvPr userDrawn="1"/>
          </p:nvSpPr>
          <p:spPr>
            <a:xfrm>
              <a:off x="6127066" y="2294299"/>
              <a:ext cx="154186" cy="225772"/>
            </a:xfrm>
            <a:custGeom>
              <a:avLst/>
              <a:gdLst/>
              <a:ahLst/>
              <a:cxnLst/>
              <a:rect l="l" t="t" r="r" b="b"/>
              <a:pathLst>
                <a:path w="154186" h="225772">
                  <a:moveTo>
                    <a:pt x="66675" y="0"/>
                  </a:moveTo>
                  <a:cubicBezTo>
                    <a:pt x="86221" y="0"/>
                    <a:pt x="102344" y="8582"/>
                    <a:pt x="115044" y="25747"/>
                  </a:cubicBezTo>
                  <a:lnTo>
                    <a:pt x="115044" y="3572"/>
                  </a:lnTo>
                  <a:lnTo>
                    <a:pt x="154186" y="3572"/>
                  </a:lnTo>
                  <a:lnTo>
                    <a:pt x="154186" y="145405"/>
                  </a:lnTo>
                  <a:cubicBezTo>
                    <a:pt x="154186" y="164058"/>
                    <a:pt x="152648" y="177998"/>
                    <a:pt x="149572" y="187226"/>
                  </a:cubicBezTo>
                  <a:cubicBezTo>
                    <a:pt x="146496" y="196453"/>
                    <a:pt x="142180" y="203696"/>
                    <a:pt x="136624" y="208954"/>
                  </a:cubicBezTo>
                  <a:cubicBezTo>
                    <a:pt x="131068" y="214213"/>
                    <a:pt x="123651" y="218331"/>
                    <a:pt x="114374" y="221307"/>
                  </a:cubicBezTo>
                  <a:cubicBezTo>
                    <a:pt x="105097" y="224284"/>
                    <a:pt x="93365" y="225772"/>
                    <a:pt x="79176" y="225772"/>
                  </a:cubicBezTo>
                  <a:cubicBezTo>
                    <a:pt x="52387" y="225772"/>
                    <a:pt x="33387" y="221183"/>
                    <a:pt x="22175" y="212005"/>
                  </a:cubicBezTo>
                  <a:cubicBezTo>
                    <a:pt x="10963" y="202828"/>
                    <a:pt x="5358" y="191194"/>
                    <a:pt x="5358" y="177105"/>
                  </a:cubicBezTo>
                  <a:cubicBezTo>
                    <a:pt x="5358" y="175716"/>
                    <a:pt x="5407" y="174029"/>
                    <a:pt x="5506" y="172045"/>
                  </a:cubicBezTo>
                  <a:lnTo>
                    <a:pt x="53280" y="177849"/>
                  </a:lnTo>
                  <a:cubicBezTo>
                    <a:pt x="54074" y="183406"/>
                    <a:pt x="55909" y="187226"/>
                    <a:pt x="58787" y="189309"/>
                  </a:cubicBezTo>
                  <a:cubicBezTo>
                    <a:pt x="62756" y="192286"/>
                    <a:pt x="69006" y="193774"/>
                    <a:pt x="77539" y="193774"/>
                  </a:cubicBezTo>
                  <a:cubicBezTo>
                    <a:pt x="88453" y="193774"/>
                    <a:pt x="96639" y="192137"/>
                    <a:pt x="102096" y="188863"/>
                  </a:cubicBezTo>
                  <a:cubicBezTo>
                    <a:pt x="105767" y="186680"/>
                    <a:pt x="108545" y="183158"/>
                    <a:pt x="110430" y="178296"/>
                  </a:cubicBezTo>
                  <a:cubicBezTo>
                    <a:pt x="111720" y="174823"/>
                    <a:pt x="112365" y="168424"/>
                    <a:pt x="112365" y="159097"/>
                  </a:cubicBezTo>
                  <a:lnTo>
                    <a:pt x="112365" y="136029"/>
                  </a:lnTo>
                  <a:cubicBezTo>
                    <a:pt x="99863" y="153094"/>
                    <a:pt x="84088" y="161627"/>
                    <a:pt x="65038" y="161627"/>
                  </a:cubicBezTo>
                  <a:cubicBezTo>
                    <a:pt x="43805" y="161627"/>
                    <a:pt x="26987" y="152648"/>
                    <a:pt x="14585" y="134689"/>
                  </a:cubicBezTo>
                  <a:cubicBezTo>
                    <a:pt x="4861" y="120501"/>
                    <a:pt x="0" y="102840"/>
                    <a:pt x="0" y="81706"/>
                  </a:cubicBezTo>
                  <a:cubicBezTo>
                    <a:pt x="0" y="55215"/>
                    <a:pt x="6375" y="34974"/>
                    <a:pt x="19124" y="20985"/>
                  </a:cubicBezTo>
                  <a:cubicBezTo>
                    <a:pt x="31874" y="6995"/>
                    <a:pt x="47724" y="0"/>
                    <a:pt x="66675" y="0"/>
                  </a:cubicBezTo>
                  <a:close/>
                  <a:moveTo>
                    <a:pt x="77390" y="31998"/>
                  </a:moveTo>
                  <a:cubicBezTo>
                    <a:pt x="67369" y="31998"/>
                    <a:pt x="59109" y="35892"/>
                    <a:pt x="52610" y="43681"/>
                  </a:cubicBezTo>
                  <a:cubicBezTo>
                    <a:pt x="46112" y="51470"/>
                    <a:pt x="42862" y="63351"/>
                    <a:pt x="42862" y="79325"/>
                  </a:cubicBezTo>
                  <a:cubicBezTo>
                    <a:pt x="42862" y="96093"/>
                    <a:pt x="46112" y="108371"/>
                    <a:pt x="52610" y="116160"/>
                  </a:cubicBezTo>
                  <a:cubicBezTo>
                    <a:pt x="59109" y="123949"/>
                    <a:pt x="67121" y="127843"/>
                    <a:pt x="76646" y="127843"/>
                  </a:cubicBezTo>
                  <a:cubicBezTo>
                    <a:pt x="86866" y="127843"/>
                    <a:pt x="95498" y="123850"/>
                    <a:pt x="102542" y="115862"/>
                  </a:cubicBezTo>
                  <a:cubicBezTo>
                    <a:pt x="109587" y="107875"/>
                    <a:pt x="113109" y="96044"/>
                    <a:pt x="113109" y="80367"/>
                  </a:cubicBezTo>
                  <a:cubicBezTo>
                    <a:pt x="113109" y="63996"/>
                    <a:pt x="109736" y="51842"/>
                    <a:pt x="102989" y="43904"/>
                  </a:cubicBezTo>
                  <a:cubicBezTo>
                    <a:pt x="96242" y="35967"/>
                    <a:pt x="87709" y="31998"/>
                    <a:pt x="77390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2275691-F2D1-9240-A849-36C54E8F5AE4}"/>
                </a:ext>
              </a:extLst>
            </p:cNvPr>
            <p:cNvSpPr txBox="1"/>
            <p:nvPr userDrawn="1"/>
          </p:nvSpPr>
          <p:spPr>
            <a:xfrm>
              <a:off x="6297623" y="2297871"/>
              <a:ext cx="162520" cy="222200"/>
            </a:xfrm>
            <a:custGeom>
              <a:avLst/>
              <a:gdLst/>
              <a:ahLst/>
              <a:cxnLst/>
              <a:rect l="l" t="t" r="r" b="b"/>
              <a:pathLst>
                <a:path w="162520" h="222200">
                  <a:moveTo>
                    <a:pt x="0" y="0"/>
                  </a:moveTo>
                  <a:lnTo>
                    <a:pt x="44499" y="0"/>
                  </a:lnTo>
                  <a:lnTo>
                    <a:pt x="82302" y="112216"/>
                  </a:lnTo>
                  <a:lnTo>
                    <a:pt x="119211" y="0"/>
                  </a:lnTo>
                  <a:lnTo>
                    <a:pt x="162520" y="0"/>
                  </a:lnTo>
                  <a:lnTo>
                    <a:pt x="106709" y="152102"/>
                  </a:lnTo>
                  <a:lnTo>
                    <a:pt x="96738" y="179635"/>
                  </a:lnTo>
                  <a:cubicBezTo>
                    <a:pt x="93067" y="188863"/>
                    <a:pt x="89569" y="195907"/>
                    <a:pt x="86246" y="200769"/>
                  </a:cubicBezTo>
                  <a:cubicBezTo>
                    <a:pt x="82922" y="205631"/>
                    <a:pt x="79102" y="209574"/>
                    <a:pt x="74786" y="212601"/>
                  </a:cubicBezTo>
                  <a:cubicBezTo>
                    <a:pt x="70470" y="215627"/>
                    <a:pt x="65162" y="217983"/>
                    <a:pt x="58861" y="219670"/>
                  </a:cubicBezTo>
                  <a:cubicBezTo>
                    <a:pt x="52561" y="221357"/>
                    <a:pt x="45442" y="222200"/>
                    <a:pt x="37504" y="222200"/>
                  </a:cubicBezTo>
                  <a:cubicBezTo>
                    <a:pt x="29468" y="222200"/>
                    <a:pt x="21580" y="221357"/>
                    <a:pt x="13841" y="219670"/>
                  </a:cubicBezTo>
                  <a:lnTo>
                    <a:pt x="10120" y="186928"/>
                  </a:lnTo>
                  <a:cubicBezTo>
                    <a:pt x="16668" y="188218"/>
                    <a:pt x="22572" y="188863"/>
                    <a:pt x="27831" y="188863"/>
                  </a:cubicBezTo>
                  <a:cubicBezTo>
                    <a:pt x="37554" y="188863"/>
                    <a:pt x="44747" y="186010"/>
                    <a:pt x="49411" y="180305"/>
                  </a:cubicBezTo>
                  <a:cubicBezTo>
                    <a:pt x="54074" y="174600"/>
                    <a:pt x="57646" y="167332"/>
                    <a:pt x="60126" y="15850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487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160000" y="6528281"/>
            <a:ext cx="1422400" cy="167847"/>
          </a:xfrm>
        </p:spPr>
        <p:txBody>
          <a:bodyPr/>
          <a:lstStyle/>
          <a:p>
            <a:fld id="{90F9BDA0-AF0E-4BA8-B742-3B9C92A3E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9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8C411-CEBA-417C-B33B-6CA61D05E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653C5-1945-4181-A821-8349B30E7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A7E8A-8CA2-43E8-821D-7BDEAAFF2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96A78-202D-4148-A03C-49EA40BF9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B5B3B-4B6D-4099-8738-FF190E9F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1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2" y="295801"/>
            <a:ext cx="7694245" cy="700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2" y="1371600"/>
            <a:ext cx="7694245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6528281"/>
            <a:ext cx="1422400" cy="167847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90F9BDA0-AF0E-4BA8-B742-3B9C92A3E6F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 bwMode="auto">
          <a:xfrm>
            <a:off x="1219201" y="990600"/>
            <a:ext cx="10972816" cy="0"/>
          </a:xfrm>
          <a:prstGeom prst="line">
            <a:avLst/>
          </a:prstGeom>
          <a:solidFill>
            <a:srgbClr val="798387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Box 9"/>
          <p:cNvSpPr txBox="1"/>
          <p:nvPr/>
        </p:nvSpPr>
        <p:spPr>
          <a:xfrm>
            <a:off x="4786786" y="6593476"/>
            <a:ext cx="5331909" cy="10265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en-US" sz="667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Proprietary information of UnitedHealth Group. Do not distribute or reproduce without express permission of UnitedHealth Group.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 bwMode="auto">
          <a:xfrm>
            <a:off x="1234953" y="6394556"/>
            <a:ext cx="10957065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rgbClr val="8C95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Rectangle 11"/>
          <p:cNvSpPr/>
          <p:nvPr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BBB795-6B12-8143-BD39-224A5014408A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1845" y="240548"/>
            <a:ext cx="2012175" cy="63152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84591-42A7-CD48-8BF3-E973F9116F26}"/>
              </a:ext>
            </a:extLst>
          </p:cNvPr>
          <p:cNvGrpSpPr/>
          <p:nvPr userDrawn="1"/>
        </p:nvGrpSpPr>
        <p:grpSpPr>
          <a:xfrm>
            <a:off x="440165" y="295804"/>
            <a:ext cx="636975" cy="858841"/>
            <a:chOff x="679539" y="1"/>
            <a:chExt cx="3815548" cy="5144568"/>
          </a:xfrm>
        </p:grpSpPr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6B50E7A6-06FD-7C42-8BA6-11059A2E76FE}"/>
                </a:ext>
              </a:extLst>
            </p:cNvPr>
            <p:cNvSpPr/>
            <p:nvPr userDrawn="1"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B505635B-F8A4-0A4D-B76F-B38ACD2EFA0A}"/>
                </a:ext>
              </a:extLst>
            </p:cNvPr>
            <p:cNvSpPr/>
            <p:nvPr userDrawn="1"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45CD8845-FF64-784F-97B0-A9EC406E4027}"/>
                </a:ext>
              </a:extLst>
            </p:cNvPr>
            <p:cNvSpPr/>
            <p:nvPr userDrawn="1"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35946B5-B7F7-3847-880B-D8559EFA6D30}"/>
              </a:ext>
            </a:extLst>
          </p:cNvPr>
          <p:cNvGrpSpPr/>
          <p:nvPr userDrawn="1"/>
        </p:nvGrpSpPr>
        <p:grpSpPr>
          <a:xfrm>
            <a:off x="934929" y="6465328"/>
            <a:ext cx="3479121" cy="306732"/>
            <a:chOff x="744483" y="4848998"/>
            <a:chExt cx="2609341" cy="2300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F7686B8-9398-AB44-9F8B-556F17CC646D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19" name="Title 3">
              <a:extLst>
                <a:ext uri="{FF2B5EF4-FFF2-40B4-BE49-F238E27FC236}">
                  <a16:creationId xmlns:a16="http://schemas.microsoft.com/office/drawing/2014/main" id="{7895A49F-04D5-5E48-88BF-10579EB5E39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8" name="Straight Connector 7"/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710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1219139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34939" indent="-234939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1pPr>
      <a:lvl2pPr marL="457177" indent="-203190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-"/>
        <a:defRPr sz="2400" kern="1200">
          <a:solidFill>
            <a:srgbClr val="4D4D4D"/>
          </a:solidFill>
          <a:latin typeface="+mn-lt"/>
          <a:ea typeface="+mn-ea"/>
          <a:cs typeface="+mn-cs"/>
        </a:defRPr>
      </a:lvl2pPr>
      <a:lvl3pPr marL="539723" indent="0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None/>
        <a:defRPr sz="2400" kern="1200">
          <a:solidFill>
            <a:srgbClr val="4D4D4D"/>
          </a:solidFill>
          <a:latin typeface="+mn-lt"/>
          <a:ea typeface="+mn-ea"/>
          <a:cs typeface="+mn-cs"/>
        </a:defRPr>
      </a:lvl3pPr>
      <a:lvl4pPr marL="996902" indent="-234939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–"/>
        <a:defRPr sz="2400" kern="1200">
          <a:solidFill>
            <a:srgbClr val="4D4D4D"/>
          </a:solidFill>
          <a:latin typeface="+mn-lt"/>
          <a:ea typeface="+mn-ea"/>
          <a:cs typeface="+mn-cs"/>
        </a:defRPr>
      </a:lvl4pPr>
      <a:lvl5pPr marL="1301686" indent="-304784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»"/>
        <a:defRPr sz="2400" kern="1200">
          <a:solidFill>
            <a:srgbClr val="4D4D4D"/>
          </a:solidFill>
          <a:latin typeface="+mn-lt"/>
          <a:ea typeface="+mn-ea"/>
          <a:cs typeface="+mn-cs"/>
        </a:defRPr>
      </a:lvl5pPr>
      <a:lvl6pPr marL="3352632" indent="-304784" algn="l" defTabSz="1219139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6pPr>
      <a:lvl7pPr marL="3962202" indent="-304784" algn="l" defTabSz="1219139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7pPr>
      <a:lvl8pPr marL="4571771" indent="-304784" algn="l" defTabSz="1219139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8pPr>
      <a:lvl9pPr marL="4876557" indent="0" algn="l" defTabSz="1219139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None/>
        <a:defRPr sz="2400" kern="1200" baseline="0">
          <a:solidFill>
            <a:srgbClr val="4D4D4D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6">
          <p15:clr>
            <a:srgbClr val="F26B43"/>
          </p15:clr>
        </p15:guide>
        <p15:guide id="2" pos="504">
          <p15:clr>
            <a:srgbClr val="F26B43"/>
          </p15:clr>
        </p15:guide>
        <p15:guide id="3" pos="576">
          <p15:clr>
            <a:srgbClr val="F26B43"/>
          </p15:clr>
        </p15:guide>
        <p15:guide id="4" orient="horz" pos="1476">
          <p15:clr>
            <a:srgbClr val="F26B43"/>
          </p15:clr>
        </p15:guide>
        <p15:guide id="5" pos="2592">
          <p15:clr>
            <a:srgbClr val="F26B43"/>
          </p15:clr>
        </p15:guide>
        <p15:guide id="6" orient="horz" pos="3156">
          <p15:clr>
            <a:srgbClr val="F26B43"/>
          </p15:clr>
        </p15:guide>
        <p15:guide id="7" pos="2976">
          <p15:clr>
            <a:srgbClr val="F26B43"/>
          </p15:clr>
        </p15:guide>
        <p15:guide id="8" orient="horz" pos="1548">
          <p15:clr>
            <a:srgbClr val="F26B43"/>
          </p15:clr>
        </p15:guide>
        <p15:guide id="9" orient="horz" pos="3036">
          <p15:clr>
            <a:srgbClr val="F26B43"/>
          </p15:clr>
        </p15:guide>
        <p15:guide id="10" pos="26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90612" y="1957733"/>
            <a:ext cx="6481456" cy="222766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2600">
                <a:solidFill>
                  <a:srgbClr val="192D5A"/>
                </a:solidFill>
                <a:latin typeface="Arial"/>
              </a:rPr>
              <a:t>Benefit Ally – FI 51–99</a:t>
            </a:r>
            <a:endParaRPr lang="en-US" sz="1400">
              <a:cs typeface="Arial"/>
            </a:endParaRPr>
          </a:p>
          <a:p>
            <a:pPr>
              <a:spcAft>
                <a:spcPts val="400"/>
              </a:spcAft>
            </a:pPr>
            <a:r>
              <a:rPr sz="2600">
                <a:solidFill>
                  <a:srgbClr val="192D5A"/>
                </a:solidFill>
                <a:latin typeface="Arial"/>
              </a:rPr>
              <a:t>New Business</a:t>
            </a:r>
          </a:p>
          <a:p>
            <a:pPr>
              <a:spcAft>
                <a:spcPts val="400"/>
              </a:spcAft>
            </a:pPr>
            <a:r>
              <a:rPr sz="2600">
                <a:solidFill>
                  <a:srgbClr val="192D5A"/>
                </a:solidFill>
                <a:latin typeface="Arial"/>
              </a:rPr>
              <a:t>Product Ecosystem Testing Plan</a:t>
            </a:r>
          </a:p>
          <a:p>
            <a:pPr>
              <a:spcAft>
                <a:spcPts val="400"/>
              </a:spcAft>
            </a:pPr>
            <a:r>
              <a:rPr sz="2600">
                <a:solidFill>
                  <a:srgbClr val="192D5A"/>
                </a:solidFill>
                <a:latin typeface="Arial"/>
              </a:rPr>
              <a:t>Phase 2 – Release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0769600" y="6538386"/>
            <a:ext cx="1422400" cy="169333"/>
          </a:xfrm>
        </p:spPr>
        <p:txBody>
          <a:bodyPr/>
          <a:lstStyle/>
          <a:p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9953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37C6A-3B42-ACC2-F678-AC3DA4903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31CA2826-B2C5-C332-FA32-1824F2F04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1E718559-67F1-B7B2-D2D6-FBF4A74AE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1AA6E53F-25FC-EBBC-778E-ADDD1D0A2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92AE7F7D-46AF-200D-3047-7EB110CF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D246F1-EF18-8AD2-9172-FCF308068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75" y="207554"/>
            <a:ext cx="9976206" cy="1159200"/>
          </a:xfrm>
        </p:spPr>
        <p:txBody>
          <a:bodyPr vert="horz" lIns="91440" tIns="45720" rIns="91440" bIns="45720" rtlCol="0" anchor="ctr" wrap="square">
            <a:normAutofit fontScale="90000"/>
          </a:bodyPr>
          <a:lstStyle/>
          <a:p>
            <a:pPr>
              <a:spcAft>
                <a:spcPts val="300"/>
              </a:spcAft>
            </a:pPr>
            <a:r>
              <a:rPr sz="2600">
                <a:solidFill>
                  <a:srgbClr val="192D5A"/>
                </a:solidFill>
                <a:latin typeface="Arial"/>
              </a:rPr>
              <a:t>Product Ecosystem Testing Impact</a:t>
            </a: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BC8F3F-BFD6-BEFF-E0ED-E3DE1E94A7CE}"/>
              </a:ext>
            </a:extLst>
          </p:cNvPr>
          <p:cNvSpPr/>
          <p:nvPr/>
        </p:nvSpPr>
        <p:spPr>
          <a:xfrm>
            <a:off x="284075" y="2307365"/>
            <a:ext cx="877586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sz="1900">
                <a:solidFill>
                  <a:srgbClr val="192D5A"/>
                </a:solidFill>
                <a:latin typeface="Arial"/>
              </a:rPr>
              <a:t>Product Ecosystem Testing Impact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92D5A"/>
                </a:solidFill>
                <a:latin typeface="Arial"/>
              </a:rPr>
              <a:t>Impacted business capabilities: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92D5A"/>
                </a:solidFill>
                <a:latin typeface="Arial"/>
              </a:rPr>
              <a:t>• Case Installation &amp; Implementation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92D5A"/>
                </a:solidFill>
                <a:latin typeface="Arial"/>
              </a:rPr>
              <a:t>• Billing, consolidated invoicing and premium revenue booking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92D5A"/>
                </a:solidFill>
                <a:latin typeface="Arial"/>
              </a:rPr>
              <a:t>• Broker commissions, bonus and sales compensation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92D5A"/>
                </a:solidFill>
                <a:latin typeface="Arial"/>
              </a:rPr>
              <a:t>• Supplemental Health Finance and tax setup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92D5A"/>
                </a:solidFill>
                <a:latin typeface="Arial"/>
              </a:rPr>
              <a:t>• Supplemental Health implementation and administration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92D5A"/>
                </a:solidFill>
                <a:latin typeface="Arial"/>
              </a:rPr>
              <a:t>• Contracts, fulfillment and member benefit documents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92D5A"/>
                </a:solidFill>
                <a:latin typeface="Arial"/>
              </a:rPr>
              <a:t>• Member, broker and employer access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92D5A"/>
                </a:solidFill>
                <a:latin typeface="Arial"/>
              </a:rPr>
              <a:t>• Customer service, reporting and downstream data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92D5A"/>
                </a:solidFill>
                <a:latin typeface="Arial"/>
              </a:rPr>
              <a:t>User experience: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92D5A"/>
                </a:solidFill>
                <a:latin typeface="Arial"/>
              </a:rPr>
              <a:t>• Member  • Employer  • Broker  • Customer Service</a:t>
            </a:r>
          </a:p>
        </p:txBody>
      </p:sp>
    </p:spTree>
    <p:extLst>
      <p:ext uri="{BB962C8B-B14F-4D97-AF65-F5344CB8AC3E}">
        <p14:creationId xmlns:p14="http://schemas.microsoft.com/office/powerpoint/2010/main" val="2943655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326464" y="1362381"/>
            <a:ext cx="11998417" cy="5545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sz="14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Aft>
                <a:spcPts val="1000"/>
              </a:spcAft>
              <a:tabLst>
                <a:tab pos="685800" algn="l"/>
              </a:tabLst>
            </a:pPr>
            <a:endParaRPr lang="en-US" sz="14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D57C02-5264-8033-A581-D88F23A83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4027"/>
              </p:ext>
            </p:extLst>
          </p:nvPr>
        </p:nvGraphicFramePr>
        <p:xfrm>
          <a:off x="279400" y="1647609"/>
          <a:ext cx="10924933" cy="4838700"/>
        </p:xfrm>
        <a:graphic>
          <a:graphicData uri="http://schemas.openxmlformats.org/drawingml/2006/table">
            <a:tbl>
              <a:tblPr/>
              <a:tblGrid>
                <a:gridCol w="10924933">
                  <a:extLst>
                    <a:ext uri="{9D8B030D-6E8A-4147-A177-3AD203B41FA5}">
                      <a16:colId xmlns:a16="http://schemas.microsoft.com/office/drawing/2014/main" val="2875457092"/>
                    </a:ext>
                  </a:extLst>
                </a:gridCol>
              </a:tblGrid>
              <a:tr h="42194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Benefit Ally FI 51–99 – New Business (Phase 2, Release 1)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Part 1 – Case Install Ready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Install Benefit Ally on USP for UHC and Oxford Fully Insured groups with 51–99 members.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Validate sold-case flow from Solaris / SORT through OBM and Newton2, including digital UAF creation and data passed to Cirrus.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Confirm group situs state and legal entity are captured and used downstream.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Validate taxation setup is completed before policy activation.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Markets: all in-scope states; exclusions are CA, CT, NM, NY and VT. Oxford market scope is NJ.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Launch: 4/1/2027; quote-ready target: 7/1/2027.</a:t>
                      </a: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2343"/>
                  </a:ext>
                </a:extLst>
              </a:tr>
              <a:tr h="36513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Scope basis: Benefit Ally FI 51–99 Solution Intent, Phase 2 – Release 1. Items requiring confirmation are identified in this plan.</a:t>
                      </a:r>
                    </a:p>
                  </a:txBody>
                  <a:tcPr marL="54864" marR="54864" marT="27432" marB="27432"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3526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49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6A39D-8503-F6E7-2605-DAC0402AE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D169A733-6441-7914-121B-084285AF8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6FDBDFB-5B49-F658-A486-2D5074D3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3DDA900-6668-E02E-F2A5-82500FF56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F90561A-F45C-902E-C1F6-BDC0A562F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EF22B57-4775-C04C-C29E-5D4F563C9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87DC0-8090-BB88-8044-BD5AB22A0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67A120-9273-33D4-6596-EE98C49244A9}"/>
              </a:ext>
            </a:extLst>
          </p:cNvPr>
          <p:cNvSpPr/>
          <p:nvPr/>
        </p:nvSpPr>
        <p:spPr>
          <a:xfrm>
            <a:off x="326464" y="1362381"/>
            <a:ext cx="11998417" cy="5545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sz="14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Aft>
                <a:spcPts val="1000"/>
              </a:spcAft>
              <a:tabLst>
                <a:tab pos="685800" algn="l"/>
              </a:tabLst>
            </a:pPr>
            <a:endParaRPr lang="en-US" sz="14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E0CCD6-3DFE-9CC8-B523-58753A7F9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03367"/>
              </p:ext>
            </p:extLst>
          </p:nvPr>
        </p:nvGraphicFramePr>
        <p:xfrm>
          <a:off x="279400" y="1647609"/>
          <a:ext cx="10924933" cy="4585230"/>
        </p:xfrm>
        <a:graphic>
          <a:graphicData uri="http://schemas.openxmlformats.org/drawingml/2006/table">
            <a:tbl>
              <a:tblPr/>
              <a:tblGrid>
                <a:gridCol w="10924933">
                  <a:extLst>
                    <a:ext uri="{9D8B030D-6E8A-4147-A177-3AD203B41FA5}">
                      <a16:colId xmlns:a16="http://schemas.microsoft.com/office/drawing/2014/main" val="2875457092"/>
                    </a:ext>
                  </a:extLst>
                </a:gridCol>
              </a:tblGrid>
              <a:tr h="42194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Benefit Ally – Billing and Premium Revenue (Phase 2)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Part 1 – Billing Ready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Validate medical and supplemental health premiums can be combined into one monthly billed rate.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Validate client-requested breakout of Benefit Ally premiums from medical premiums.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Validate revenue booking across multiple licenses where medical and supplemental licenses differ.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Verify Critical Illness, Accident and Hospital Indemnity bill item types and financial activity codes.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Verify Value and Enhanced plan options, legal entities and financial tagging flow.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Validate invoice plan-name/disclaimer content and exclusion of BA revenue from medical premium reporting.</a:t>
                      </a: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2343"/>
                  </a:ext>
                </a:extLst>
              </a:tr>
              <a:tr h="36513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Scope basis: Benefit Ally FI 51–99 Solution Intent, Phase 2 – Release 1. Items requiring confirmation are identified in this plan.</a:t>
                      </a:r>
                    </a:p>
                  </a:txBody>
                  <a:tcPr marL="54864" marR="54864" marT="27432" marB="27432"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3526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87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0734D-0797-7A67-0F44-C8A085C0D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CB168DA5-87F8-F92F-68E2-303B3A525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980D186-6424-3CA2-4519-4D4196EC5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559B9-65B5-76E7-4556-40740FADF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4A0D570-E0B6-29B1-5CD9-A5E71166E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504F1A2-5BB2-162F-38AB-A76D034A5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A03B8A-8345-E854-E91F-1B2CF997D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DB9DF1-83E3-4B87-CA34-49E34DC8D5D0}"/>
              </a:ext>
            </a:extLst>
          </p:cNvPr>
          <p:cNvSpPr/>
          <p:nvPr/>
        </p:nvSpPr>
        <p:spPr>
          <a:xfrm>
            <a:off x="326464" y="1362381"/>
            <a:ext cx="11998417" cy="5545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sz="14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Aft>
                <a:spcPts val="1000"/>
              </a:spcAft>
              <a:tabLst>
                <a:tab pos="685800" algn="l"/>
              </a:tabLst>
            </a:pPr>
            <a:endParaRPr lang="en-US" sz="14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56CE1B-7F5A-8454-3809-B5C1D24BE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366013"/>
              </p:ext>
            </p:extLst>
          </p:nvPr>
        </p:nvGraphicFramePr>
        <p:xfrm>
          <a:off x="279400" y="1647609"/>
          <a:ext cx="10924933" cy="4585230"/>
        </p:xfrm>
        <a:graphic>
          <a:graphicData uri="http://schemas.openxmlformats.org/drawingml/2006/table">
            <a:tbl>
              <a:tblPr/>
              <a:tblGrid>
                <a:gridCol w="10924933">
                  <a:extLst>
                    <a:ext uri="{9D8B030D-6E8A-4147-A177-3AD203B41FA5}">
                      <a16:colId xmlns:a16="http://schemas.microsoft.com/office/drawing/2014/main" val="2875457092"/>
                    </a:ext>
                  </a:extLst>
                </a:gridCol>
              </a:tblGrid>
              <a:tr h="42194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Benefit Ally – Commissions, Bonus and Sales Compensation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Part 1 – Compensation Ready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Validate variable Benefit Ally broker commission rates from 0–25% for in-scope states, with 10% default.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Verify state-specific maximum commission limits and that NY is excluded from this 51–99 scope.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Confirm OBM state/legal-entity logic and commission override data flow to BASICS.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Validate Cirrus financial tagging and BA information flow to BRMS, Cirrus PCMT, FTS and BASICS.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Verify compensation calculations, statements and reporting for UHC and Oxford FI 51–99 new business.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Confirm data required by Finance is accessible for sales compensation booking.</a:t>
                      </a: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2343"/>
                  </a:ext>
                </a:extLst>
              </a:tr>
              <a:tr h="36513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Scope basis: Benefit Ally FI 51–99 Solution Intent, Phase 2 – Release 1. Items requiring confirmation are identified in this plan.</a:t>
                      </a:r>
                    </a:p>
                  </a:txBody>
                  <a:tcPr marL="54864" marR="54864" marT="27432" marB="27432"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3526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139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18BE8-97D0-7F6B-B28F-C9B514BAD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70319DD8-651B-11DC-1E5A-D79F24F54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9BC8CFD-9113-6B9B-9242-BB8856F94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6A9FBFB-F8FC-AA92-2D20-2AEF299A4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589983A-24AA-2B91-42B0-9E59F9545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303BE3D-4785-0E5C-922E-9D6A89342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4F6974-3742-2483-26E3-82C7350D5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7EDC5C-F8B3-C1C7-5EAE-161323B7F35A}"/>
              </a:ext>
            </a:extLst>
          </p:cNvPr>
          <p:cNvSpPr/>
          <p:nvPr/>
        </p:nvSpPr>
        <p:spPr>
          <a:xfrm>
            <a:off x="326464" y="1362381"/>
            <a:ext cx="11998417" cy="5545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sz="14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Aft>
                <a:spcPts val="1000"/>
              </a:spcAft>
              <a:tabLst>
                <a:tab pos="685800" algn="l"/>
              </a:tabLst>
            </a:pPr>
            <a:endParaRPr lang="en-US" sz="14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F9E9B1-1364-EBF3-4515-2540C1D64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646266"/>
              </p:ext>
            </p:extLst>
          </p:nvPr>
        </p:nvGraphicFramePr>
        <p:xfrm>
          <a:off x="-3" y="1647609"/>
          <a:ext cx="11762916" cy="5219700"/>
        </p:xfrm>
        <a:graphic>
          <a:graphicData uri="http://schemas.openxmlformats.org/drawingml/2006/table">
            <a:tbl>
              <a:tblPr/>
              <a:tblGrid>
                <a:gridCol w="11762916">
                  <a:extLst>
                    <a:ext uri="{9D8B030D-6E8A-4147-A177-3AD203B41FA5}">
                      <a16:colId xmlns:a16="http://schemas.microsoft.com/office/drawing/2014/main" val="2875457092"/>
                    </a:ext>
                  </a:extLst>
                </a:gridCol>
              </a:tblGrid>
              <a:tr h="472421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Benefit Ally – Supplemental Health Operations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Part 1 – Policy, Claims, Fulfillment and Reporting Ready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Validate ARA claims and eligibility data flow to OnBase and policy setup.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Confirm tax setup is a prerequisite; stop-gap prevents data flow to OnBase before taxation is configured.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Validate OnBase market coding, claims processing, EOBs and buck slips, including applicable state and license nuances.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Validate automated COC generation and availability through Doc360, subject to RRT confirmation.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Validate member access to Benefit Ally benefit summaries and broker/employer access to COCs and invoices.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92D5A"/>
                          </a:solidFill>
                          <a:latin typeface="Arial"/>
                        </a:rPr>
                        <a:t>• Validate reporting by market, client and product component: CIPP, HIPP and APP.</a:t>
                      </a: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2343"/>
                  </a:ext>
                </a:extLst>
              </a:tr>
              <a:tr h="344735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Scope basis: Benefit Ally FI 51–99 Solution Intent, Phase 2 – Release 1. Items requiring confirmation are identified in this plan.</a:t>
                      </a:r>
                    </a:p>
                  </a:txBody>
                  <a:tcPr marL="54864" marR="54864" marT="27432" marB="27432"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3526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124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2400">
                <a:solidFill>
                  <a:srgbClr val="192D5A"/>
                </a:solidFill>
                <a:latin typeface="Arial"/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201168" y="1764792"/>
            <a:ext cx="11323797" cy="4814673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tabLst>
                <a:tab pos="685800" algn="l"/>
              </a:tabLst>
            </a:pPr>
            <a:r>
              <a:rPr sz="1600">
                <a:solidFill>
                  <a:srgbClr val="192D5A"/>
                </a:solidFill>
                <a:latin typeface="Arial"/>
              </a:rPr>
              <a:t>Case Install Ready – New Business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Sold-case flow: Solaris CRM ↔ Newton2; SORT task triggers “Send to OBM”.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OBM retrieves Opportunity/UAF information, applies Benefit Ally mapping and sends sold-case data to Cirrus through HW API.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digital UAF fields for Benefit Ally and correct mapping for UHC and Oxford FI 51–99.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group situs state, legal entity and state-specific commission logic.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Confirm tax task is established and taxation setup is complete before policy activation.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add coverage, change plan, terminate plan and related member/group maintenance flows.</a:t>
            </a:r>
          </a:p>
        </p:txBody>
      </p:sp>
    </p:spTree>
    <p:extLst>
      <p:ext uri="{BB962C8B-B14F-4D97-AF65-F5344CB8AC3E}">
        <p14:creationId xmlns:p14="http://schemas.microsoft.com/office/powerpoint/2010/main" val="28729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2400">
                <a:solidFill>
                  <a:srgbClr val="192D5A"/>
                </a:solidFill>
                <a:latin typeface="Arial"/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176189" y="1801051"/>
            <a:ext cx="11345251" cy="4636325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sz="1600">
                <a:solidFill>
                  <a:srgbClr val="192D5A"/>
                </a:solidFill>
                <a:latin typeface="Arial"/>
              </a:rPr>
              <a:t>Member / Group Maintenance and Enrollment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BA plan and member setup for eligible UHC and Oxford FI 51–99 groups.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Benefit Ally plan options: Value and Enhanced.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Verify coverage add, plan change and termination through the relevant Cirrus / CCV3 / HW API flows.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BA group termination handling and member termination notification/pop-up behavior where applicable.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Verify retroactive BA add and plan-design change scenarios identified in the solution intent.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Enrollment / eligibility interfaces should retain correct group, member, plan and effective-date information.</a:t>
            </a:r>
          </a:p>
        </p:txBody>
      </p:sp>
    </p:spTree>
    <p:extLst>
      <p:ext uri="{BB962C8B-B14F-4D97-AF65-F5344CB8AC3E}">
        <p14:creationId xmlns:p14="http://schemas.microsoft.com/office/powerpoint/2010/main" val="486574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2400">
                <a:solidFill>
                  <a:srgbClr val="192D5A"/>
                </a:solidFill>
                <a:latin typeface="Arial"/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279400" y="1597432"/>
            <a:ext cx="11269473" cy="4860393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sz="1600">
                <a:solidFill>
                  <a:srgbClr val="192D5A"/>
                </a:solidFill>
                <a:latin typeface="Arial"/>
              </a:rPr>
              <a:t>Part 2 – Downstream Extracts, Streaming, ID Cards, Fulfillment and Billing</a:t>
            </a:r>
            <a:endParaRPr kumimoji="0" lang="en-US" sz="15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Cirrus Nimbus streaming sends BA component and rate data downstream (HIPP, CIPP and APP).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financial tagging flows to BRMS, Cirrus PCMT, FTS and BASICS.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Confirm bill item types, financial activity codes and consolidated billing preference are recognized.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combined medical + BA invoice and separate BA premium presentation when requested.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Verify BA plan name (Value / Enhanced), invoice disclaimer and premium reporting behavior.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COC / benefit summary generation and document access through Doc360, myUHC and B&amp;E portal as applicable.</a:t>
            </a:r>
          </a:p>
        </p:txBody>
      </p:sp>
    </p:spTree>
    <p:extLst>
      <p:ext uri="{BB962C8B-B14F-4D97-AF65-F5344CB8AC3E}">
        <p14:creationId xmlns:p14="http://schemas.microsoft.com/office/powerpoint/2010/main" val="4067509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2400">
                <a:solidFill>
                  <a:srgbClr val="192D5A"/>
                </a:solidFill>
                <a:latin typeface="Arial"/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140969" y="1627071"/>
            <a:ext cx="11499344" cy="495239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sz="1600">
                <a:solidFill>
                  <a:srgbClr val="192D5A"/>
                </a:solidFill>
                <a:latin typeface="Arial"/>
              </a:rPr>
              <a:t>Part 3 – Claims, Clinical and Supplemental Health Administration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ARA claims and eligibility data reaches OnBase for policy setup and claims administration.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Confirm taxation setup gate prevents premature data flow to OnBase.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claims processing for eligible supplemental components: Accident, Critical Illness and Hospital Indemnity.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EOB and buck-slip content for plan branding, license and relevant state nuances.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applicable API scenarios: add coverage, change plan, terminate plan and group termination.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Medical claims behavior is not expected to change; validate only where required by the approved PET scope.</a:t>
            </a:r>
          </a:p>
        </p:txBody>
      </p:sp>
    </p:spTree>
    <p:extLst>
      <p:ext uri="{BB962C8B-B14F-4D97-AF65-F5344CB8AC3E}">
        <p14:creationId xmlns:p14="http://schemas.microsoft.com/office/powerpoint/2010/main" val="1672820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2400">
                <a:solidFill>
                  <a:srgbClr val="192D5A"/>
                </a:solidFill>
                <a:latin typeface="Arial"/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353961" y="1779639"/>
            <a:ext cx="11018889" cy="479982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  <a:defRPr/>
            </a:pPr>
            <a:r>
              <a:rPr sz="1600">
                <a:solidFill>
                  <a:srgbClr val="192D5A"/>
                </a:solidFill>
                <a:latin typeface="Arial"/>
              </a:rPr>
              <a:t>Part 4 – Portals and Reporting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ACET / Customer Service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BA plan, coverage and benefit summary display for customer service representatives.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Member / myUHC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Benefit Ally benefit summary / document is available after required UA process.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plan and coverage information for the installed BA Value / Enhanced option.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Broker &amp; Employer (B&amp;E)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COCs and invoices are accessible for UHC and Oxford FI 51–99 groups.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group, plan and Benefit Ally information is displayed accurately.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Reporting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reporting by market, client and component (CIPP / HIPP / APP), including BA premium exclusion from medical premium reports.</a:t>
            </a:r>
          </a:p>
        </p:txBody>
      </p:sp>
    </p:spTree>
    <p:extLst>
      <p:ext uri="{BB962C8B-B14F-4D97-AF65-F5344CB8AC3E}">
        <p14:creationId xmlns:p14="http://schemas.microsoft.com/office/powerpoint/2010/main" val="202397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5F00C-7174-545F-6F51-924C32AE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C3E853B9-9679-6577-E43C-7085B631F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4D46654-8A6B-4713-E866-CE1D2E7A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988CAE-6B0A-3DF4-9ECA-06B632B1A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83073F5-C6C6-D102-4599-308604A8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0AB6370-6B44-7D9D-CEFC-278CE85EE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5B17D9-8032-ED86-A871-1C4C10DD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739279"/>
            <a:ext cx="9895951" cy="1033669"/>
          </a:xfrm>
        </p:spPr>
        <p:txBody>
          <a:bodyPr vert="horz" lIns="91440" tIns="45720" rIns="91440" bIns="45720" rtlCol="0" anchor="ctr"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2400">
                <a:solidFill>
                  <a:srgbClr val="192D5A"/>
                </a:solidFill>
                <a:latin typeface="Arial"/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26CCF1-AAE7-5F03-26E0-8D1743A72D87}"/>
              </a:ext>
            </a:extLst>
          </p:cNvPr>
          <p:cNvSpPr/>
          <p:nvPr/>
        </p:nvSpPr>
        <p:spPr>
          <a:xfrm>
            <a:off x="177801" y="2099734"/>
            <a:ext cx="10158417" cy="3699933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  <a:defRPr/>
            </a:pPr>
            <a:r>
              <a:rPr sz="1600">
                <a:solidFill>
                  <a:srgbClr val="192D5A"/>
                </a:solidFill>
                <a:latin typeface="Arial"/>
              </a:rPr>
              <a:t>Member Access – Benefit Ally Information</a:t>
            </a:r>
            <a:endParaRPr lang="en-US" sz="2500" b="1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Benefit Ally benefit summary documents are accessible through myUHC when published through the required UA process.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Confirm plan details and Value / Enhanced content match the installed plan.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document availability and archival/linkage behavior through the configured document services.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Verify member-facing content respects applicable product, license and market rules.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Negative validation: document should not be visible before the approved publishing workflow completes.</a:t>
            </a:r>
          </a:p>
        </p:txBody>
      </p:sp>
    </p:spTree>
    <p:extLst>
      <p:ext uri="{BB962C8B-B14F-4D97-AF65-F5344CB8AC3E}">
        <p14:creationId xmlns:p14="http://schemas.microsoft.com/office/powerpoint/2010/main" val="2392761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2400">
                <a:solidFill>
                  <a:srgbClr val="192D5A"/>
                </a:solidFill>
                <a:latin typeface="Arial"/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353961" y="1779639"/>
            <a:ext cx="10756491" cy="479982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>
              <a:spcBef>
                <a:spcPts val="0"/>
              </a:spcBef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Broker and Employer Access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B&amp;E portal access to Benefit Ally COCs and invoices for eligible UHC and Oxford FI 51–99 groups.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Verify displayed group, plan, legal entity and Benefit Ally option details.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Confirm invoice presentation supports combined billing and separate BA premium breakout when requested.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Validate document links and access for authorized broker/employer users.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Confirm excluded markets and unsupported plan types are not incorrectly enabled.</a:t>
            </a:r>
          </a:p>
        </p:txBody>
      </p:sp>
    </p:spTree>
    <p:extLst>
      <p:ext uri="{BB962C8B-B14F-4D97-AF65-F5344CB8AC3E}">
        <p14:creationId xmlns:p14="http://schemas.microsoft.com/office/powerpoint/2010/main" val="3404776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9E747-CEAD-26F1-F2F1-FA3DCA402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D0C46C85-1E0C-CD25-AF29-D252881E3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797DC9D-E108-C40D-951A-A979EDF7A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BAB4DF5-FF20-6009-7122-7BBAD7AC9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C364D3D-06A1-9F36-2C92-5C5689EFD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062BCE2-4A81-8062-5F6A-3666A433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9F040-D03A-4A6D-153C-103BADB34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2400">
                <a:solidFill>
                  <a:srgbClr val="192D5A"/>
                </a:solidFill>
                <a:latin typeface="Arial"/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0FFF17-6E8C-0E05-B48A-0F60C5B614D3}"/>
              </a:ext>
            </a:extLst>
          </p:cNvPr>
          <p:cNvSpPr/>
          <p:nvPr/>
        </p:nvSpPr>
        <p:spPr>
          <a:xfrm>
            <a:off x="279400" y="1597432"/>
            <a:ext cx="11544299" cy="538994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sz="1600">
                <a:solidFill>
                  <a:srgbClr val="192D5A"/>
                </a:solidFill>
                <a:latin typeface="Arial"/>
              </a:rPr>
              <a:t>Other Testing and Scope Boundaries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In Scope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End-to-end integration validation across case installation, billing, commissions, finance, OnBase, fulfillment, portals and reporting.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Regression validation of capabilities previously delivered for Oxford FI 100+ where reused for FI 51–99.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API and maintenance scenarios documented in the Benefit Ally solution intent.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Out of Scope / Not explicitly defined for PET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Feature-level UI testing unless separately agreed.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Changes not listed in the Benefit Ally FI 51–99 Phase 2 solution intent.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Excluded markets: CA, CT, NM, NY and VT; Oxford scope is NJ.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92D5A"/>
                </a:solidFill>
                <a:latin typeface="Arial"/>
              </a:rPr>
              <a:t>• Excluded plan types include NICE, Level Funded, Sierra, UMR, Grandfathered, Transitional Groups and Surest.</a:t>
            </a:r>
          </a:p>
        </p:txBody>
      </p:sp>
    </p:spTree>
    <p:extLst>
      <p:ext uri="{BB962C8B-B14F-4D97-AF65-F5344CB8AC3E}">
        <p14:creationId xmlns:p14="http://schemas.microsoft.com/office/powerpoint/2010/main" val="904193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2400">
                <a:solidFill>
                  <a:srgbClr val="192D5A"/>
                </a:solidFill>
                <a:latin typeface="Arial"/>
              </a:rPr>
              <a:t>Product Ecosystem Testing Dependencies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249034" y="2436697"/>
            <a:ext cx="11154723" cy="4421303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sz="1500">
                <a:solidFill>
                  <a:srgbClr val="192D5A"/>
                </a:solidFill>
                <a:latin typeface="Arial"/>
              </a:rPr>
              <a:t>Development / Business Dependencies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Phase 2 Release 1 implementation for Benefit Ally FI 51–99 on USP.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Quote-ready target: 7/1/2027; launch date: 4/1/2027 (as stated in solution intent).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Confirm relevant feature/story readiness and deployment dates with delivery teams.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Confirm UHC and Oxford digital UAF fields and Newton2 / OBM mapping changes.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Confirm Cirrus HW API and CCV3 API readiness for BA new-business scenarios.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Confirm RRT alignment for automated COC generation and Doc360 publication workflow.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Confirm market and product eligibility rules are configured consistently.</a:t>
            </a:r>
          </a:p>
        </p:txBody>
      </p:sp>
    </p:spTree>
    <p:extLst>
      <p:ext uri="{BB962C8B-B14F-4D97-AF65-F5344CB8AC3E}">
        <p14:creationId xmlns:p14="http://schemas.microsoft.com/office/powerpoint/2010/main" val="2344025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2400">
                <a:solidFill>
                  <a:srgbClr val="192D5A"/>
                </a:solidFill>
                <a:latin typeface="Arial"/>
              </a:rPr>
              <a:t>Product Ecosystem Testing Dependencies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45" y="1686296"/>
            <a:ext cx="11154723" cy="517170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sz="1500">
                <a:solidFill>
                  <a:srgbClr val="192D5A"/>
                </a:solidFill>
                <a:latin typeface="Arial"/>
              </a:rPr>
              <a:t>Configuration and Test Data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Benefit Ally Value and Enhanced plans available for UHC and Oxford FI 51–99.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In-scope state, group situs state, legal entity and market configuration available.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Critical Illness, Accident and Hospital Indemnity components configured.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Bill item types, financial activity codes, commission rates and state maximums configured.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Taxation task and policy tax setup available for end-to-end validation.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Test groups and members with qualifying BA coverage, including add / change / terminate cases.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Sample invoice, COC, benefit summary, EOB and buck-slip data available.</a:t>
            </a:r>
          </a:p>
        </p:txBody>
      </p:sp>
    </p:spTree>
    <p:extLst>
      <p:ext uri="{BB962C8B-B14F-4D97-AF65-F5344CB8AC3E}">
        <p14:creationId xmlns:p14="http://schemas.microsoft.com/office/powerpoint/2010/main" val="1214362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CD74C-8C21-5144-53FB-EFA3519AB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0532B92-216E-3852-7274-77C2DD4F4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FC73CF5-72C4-0D54-0796-86B271718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0AEDFB6-D037-B9E0-6760-011CD2218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A6FA91A-144B-CF77-3290-65F11DDA4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BFE999F-8A0B-42C4-C7AB-3F0F1F411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079E5-1780-A4FE-7A07-89526A58F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2400">
                <a:solidFill>
                  <a:srgbClr val="192D5A"/>
                </a:solidFill>
                <a:latin typeface="Arial"/>
              </a:rPr>
              <a:t>Product Ecosystem Testing Dependencies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871712-85D6-CB38-DE9C-769BEFEEA263}"/>
              </a:ext>
            </a:extLst>
          </p:cNvPr>
          <p:cNvSpPr/>
          <p:nvPr/>
        </p:nvSpPr>
        <p:spPr>
          <a:xfrm>
            <a:off x="459345" y="1686296"/>
            <a:ext cx="11126103" cy="489738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tabLst>
                <a:tab pos="685800" algn="l"/>
              </a:tabLst>
            </a:pPr>
            <a:r>
              <a:rPr sz="1500">
                <a:solidFill>
                  <a:srgbClr val="192D5A"/>
                </a:solidFill>
                <a:latin typeface="Arial"/>
              </a:rPr>
              <a:t>Applications – Primary / Impacted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Solaris CRM, SORT, Newton2, OBM and Cirrus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Cirrus HW API / CCV3 API and Nimbus streaming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BRMS, BASICS, Cirrus PCMT and FTS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ARA, OnBase and taxation setup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Doc360 / COM360 and myUHC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B&amp;E portal and ACET / customer service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PRO / Tableau and downstream finance / reporting feeds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Regression / Downstream Validation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Validate all applicable data hand-offs and availability in connected test environments.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Confirm access, endpoints and required test-only application support before execution.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6359FE-00F1-6645-6400-6D37408C25E4}"/>
              </a:ext>
            </a:extLst>
          </p:cNvPr>
          <p:cNvSpPr txBox="1"/>
          <p:nvPr/>
        </p:nvSpPr>
        <p:spPr>
          <a:xfrm>
            <a:off x="4519422" y="2642743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Regression / Downstream Validation:</a:t>
            </a:r>
          </a:p>
          <a:p>
            <a:r>
              <a:rPr lang="en-US" dirty="0"/>
              <a:t>➢ B&amp;E Portals</a:t>
            </a:r>
          </a:p>
          <a:p>
            <a:r>
              <a:rPr lang="en-US" dirty="0"/>
              <a:t>➢ ACET (Spire, BEO)</a:t>
            </a:r>
          </a:p>
          <a:p>
            <a:r>
              <a:rPr lang="en-US" dirty="0"/>
              <a:t>➢ Rally Connect / </a:t>
            </a:r>
            <a:r>
              <a:rPr lang="en-US" dirty="0" err="1"/>
              <a:t>myUHC</a:t>
            </a:r>
            <a:endParaRPr lang="en-US" dirty="0"/>
          </a:p>
          <a:p>
            <a:r>
              <a:rPr lang="en-US" dirty="0"/>
              <a:t>➢ C360 / HCP EAIP</a:t>
            </a:r>
          </a:p>
          <a:p>
            <a:r>
              <a:rPr lang="en-US" dirty="0"/>
              <a:t>➢ </a:t>
            </a:r>
            <a:r>
              <a:rPr lang="en-US" dirty="0" err="1"/>
              <a:t>SamX</a:t>
            </a:r>
            <a:endParaRPr lang="en-US" dirty="0"/>
          </a:p>
          <a:p>
            <a:r>
              <a:rPr lang="en-US" dirty="0"/>
              <a:t>➢ OBAPI</a:t>
            </a:r>
          </a:p>
          <a:p>
            <a:r>
              <a:rPr lang="en-US" dirty="0"/>
              <a:t>➢ HSID</a:t>
            </a:r>
          </a:p>
          <a:p>
            <a:r>
              <a:rPr lang="en-US" dirty="0"/>
              <a:t>➢ Data Lake (Test Only)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433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 wrap="square">
            <a:normAutofit fontScale="90000"/>
          </a:bodyPr>
          <a:lstStyle/>
          <a:p>
            <a:pPr>
              <a:spcAft>
                <a:spcPts val="300"/>
              </a:spcAft>
            </a:pPr>
            <a:r>
              <a:rPr sz="2400">
                <a:solidFill>
                  <a:srgbClr val="192D5A"/>
                </a:solidFill>
                <a:latin typeface="Arial"/>
              </a:rPr>
              <a:t>Product Ecosystem Testing - Constraints; Data; Environment; Tools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46" y="1641864"/>
            <a:ext cx="10988468" cy="517170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sz="1500">
                <a:solidFill>
                  <a:srgbClr val="192D5A"/>
                </a:solidFill>
                <a:latin typeface="Arial"/>
              </a:rPr>
              <a:t>Constraints</a:t>
            </a:r>
            <a:endParaRPr lang="en-US" sz="1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Alpha / Master connectivity and end-to-end availability may differ by application.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Some COC automation requirements are subject to RRT confirmation.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Taxation must be configured before policy activation and OnBase data flow.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Data Requirements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UHC and Oxford FI 51–99 sold-case test groups and members.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Value and Enhanced BA plan scenarios; in-scope state and legal entity variations.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Commission values including default 10%, variable rate and state maximum scenarios.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Combined invoice and separate BA premium breakout cases.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Claims / eligibility, COC, benefit summary, EOB and buck-slip examples.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Environment / Tools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USP-connected environments and application endpoints as agreed by the delivery teams.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• Confirm environment access and test data availability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3743455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2400">
                <a:solidFill>
                  <a:srgbClr val="192D5A"/>
                </a:solidFill>
                <a:latin typeface="Arial"/>
              </a:rPr>
              <a:t>Product Ecosystem Testing Approach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46" y="1641864"/>
            <a:ext cx="10988468" cy="4606536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sz="1500">
                <a:solidFill>
                  <a:srgbClr val="192D5A"/>
                </a:solidFill>
                <a:latin typeface="Arial"/>
              </a:rPr>
              <a:t>1. Review the Benefit Ally solution intent and map requirements to end-to-end test scenarios.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2. Conduct test case walkthroughs with Case Install, Billing, Finance, Supplemental Health, Portals and Reporting teams.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3. Create / identify test groups, members, plan options, state and legal-entity data.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4. Confirm configuration, taxation setup, code deployment and interface availability.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5. Execute end-to-end scenarios and validate system hand-offs, data mapping, invoice, documents and reporting.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6. Log and track defects in the agreed delivery tools; retest fixes and perform regression.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7. Capture evidence, document results, and demonstrate end-to-end outcomes.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92D5A"/>
                </a:solidFill>
                <a:latin typeface="Arial"/>
              </a:rPr>
              <a:t>Focus: end-to-end flow validation with targeted content validation based on approved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337908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594307"/>
            <a:ext cx="11210925" cy="744836"/>
          </a:xfrm>
        </p:spPr>
        <p:txBody>
          <a:bodyPr vert="horz" lIns="91440" tIns="45720" rIns="91440" bIns="45720" rtlCol="0" wrap="square">
            <a:normAutofit/>
          </a:bodyPr>
          <a:lstStyle/>
          <a:p>
            <a:pPr algn="ctr">
              <a:spcAft>
                <a:spcPts val="400"/>
              </a:spcAft>
            </a:pPr>
            <a:r>
              <a:rPr sz="2500">
                <a:solidFill>
                  <a:srgbClr val="192D5A"/>
                </a:solidFill>
                <a:latin typeface="Arial"/>
              </a:rPr>
              <a:t>Benefit Ally FI 51–99 – E2E Product Testing Timeline</a:t>
            </a:r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51" y="2269036"/>
            <a:ext cx="11288150" cy="44001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C4DF20-5EB8-934F-172B-A890910DC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022417"/>
              </p:ext>
            </p:extLst>
          </p:nvPr>
        </p:nvGraphicFramePr>
        <p:xfrm>
          <a:off x="643466" y="2180003"/>
          <a:ext cx="10905406" cy="42895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40132">
                  <a:extLst>
                    <a:ext uri="{9D8B030D-6E8A-4147-A177-3AD203B41FA5}">
                      <a16:colId xmlns:a16="http://schemas.microsoft.com/office/drawing/2014/main" val="1980313826"/>
                    </a:ext>
                  </a:extLst>
                </a:gridCol>
                <a:gridCol w="2260430">
                  <a:extLst>
                    <a:ext uri="{9D8B030D-6E8A-4147-A177-3AD203B41FA5}">
                      <a16:colId xmlns:a16="http://schemas.microsoft.com/office/drawing/2014/main" val="140508339"/>
                    </a:ext>
                  </a:extLst>
                </a:gridCol>
                <a:gridCol w="2142232">
                  <a:extLst>
                    <a:ext uri="{9D8B030D-6E8A-4147-A177-3AD203B41FA5}">
                      <a16:colId xmlns:a16="http://schemas.microsoft.com/office/drawing/2014/main" val="2443089587"/>
                    </a:ext>
                  </a:extLst>
                </a:gridCol>
                <a:gridCol w="2062612">
                  <a:extLst>
                    <a:ext uri="{9D8B030D-6E8A-4147-A177-3AD203B41FA5}">
                      <a16:colId xmlns:a16="http://schemas.microsoft.com/office/drawing/2014/main" val="297983302"/>
                    </a:ext>
                  </a:extLst>
                </a:gridCol>
              </a:tblGrid>
              <a:tr h="41383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192D5A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192D5A"/>
                          </a:solidFill>
                          <a:latin typeface="Arial"/>
                        </a:rPr>
                        <a:t>Business Milestone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192D5A"/>
                          </a:solidFill>
                          <a:latin typeface="Arial"/>
                        </a:rPr>
                        <a:t>NB PET From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192D5A"/>
                          </a:solidFill>
                          <a:latin typeface="Arial"/>
                        </a:rPr>
                        <a:t>NB PET Thru</a:t>
                      </a:r>
                    </a:p>
                  </a:txBody>
                  <a:tcPr marL="54864" marR="54864" marT="27432" marB="27432" anchor="b"/>
                </a:tc>
                <a:extLst>
                  <a:ext uri="{0D108BD9-81ED-4DB2-BD59-A6C34878D82A}">
                    <a16:rowId xmlns:a16="http://schemas.microsoft.com/office/drawing/2014/main" val="2842191183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Quote / UAF / Case Install Ready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Quote ready 7/1/2027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54864" marR="54864" marT="27432" marB="27432" anchor="b"/>
                </a:tc>
                <a:extLst>
                  <a:ext uri="{0D108BD9-81ED-4DB2-BD59-A6C34878D82A}">
                    <a16:rowId xmlns:a16="http://schemas.microsoft.com/office/drawing/2014/main" val="2266250675"/>
                  </a:ext>
                </a:extLst>
              </a:tr>
              <a:tr h="36577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OBM → Cirrus sold-case integration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Before launch 4/1/2027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54864" marR="54864" marT="27432" marB="27432" anchor="b"/>
                </a:tc>
                <a:extLst>
                  <a:ext uri="{0D108BD9-81ED-4DB2-BD59-A6C34878D82A}">
                    <a16:rowId xmlns:a16="http://schemas.microsoft.com/office/drawing/2014/main" val="1686636570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Billing / Consolidated Invoice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Before launch 4/1/2027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54864" marR="54864" marT="27432" marB="27432" anchor="b"/>
                </a:tc>
                <a:extLst>
                  <a:ext uri="{0D108BD9-81ED-4DB2-BD59-A6C34878D82A}">
                    <a16:rowId xmlns:a16="http://schemas.microsoft.com/office/drawing/2014/main" val="1974041773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Commissions / BASICS / Finance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Before launch 4/1/2027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54864" marR="54864" marT="27432" marB="27432" anchor="b"/>
                </a:tc>
                <a:extLst>
                  <a:ext uri="{0D108BD9-81ED-4DB2-BD59-A6C34878D82A}">
                    <a16:rowId xmlns:a16="http://schemas.microsoft.com/office/drawing/2014/main" val="4234428561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Tax setup / OnBase eligibility &amp; claims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Before policy activation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54864" marR="54864" marT="27432" marB="27432" anchor="b"/>
                </a:tc>
                <a:extLst>
                  <a:ext uri="{0D108BD9-81ED-4DB2-BD59-A6C34878D82A}">
                    <a16:rowId xmlns:a16="http://schemas.microsoft.com/office/drawing/2014/main" val="2723057729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COC / Benefit Summary / Portals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Before launch 4/1/2027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54864" marR="54864" marT="27432" marB="27432" anchor="b"/>
                </a:tc>
                <a:extLst>
                  <a:ext uri="{0D108BD9-81ED-4DB2-BD59-A6C34878D82A}">
                    <a16:rowId xmlns:a16="http://schemas.microsoft.com/office/drawing/2014/main" val="1602186803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Reporting / downstream validation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Before launch 4/1/2027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54864" marR="54864" marT="27432" marB="27432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192D5A"/>
                          </a:solidFill>
                          <a:latin typeface="Arial"/>
                        </a:rPr>
                        <a:t>TBC</a:t>
                      </a:r>
                    </a:p>
                  </a:txBody>
                  <a:tcPr marL="54864" marR="54864" marT="27432" marB="27432" anchor="b"/>
                </a:tc>
                <a:extLst>
                  <a:ext uri="{0D108BD9-81ED-4DB2-BD59-A6C34878D82A}">
                    <a16:rowId xmlns:a16="http://schemas.microsoft.com/office/drawing/2014/main" val="155990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791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 wrap="square">
            <a:normAutofit/>
          </a:bodyPr>
          <a:lstStyle/>
          <a:p>
            <a:pPr algn="ctr">
              <a:spcAft>
                <a:spcPts val="400"/>
              </a:spcAft>
            </a:pPr>
            <a:r>
              <a:rPr sz="2800">
                <a:solidFill>
                  <a:srgbClr val="192D5A"/>
                </a:solidFill>
                <a:latin typeface="Arial"/>
              </a:rPr>
              <a:t>Thank You</a:t>
            </a:r>
          </a:p>
          <a:p>
            <a:pPr>
              <a:spcAft>
                <a:spcPts val="400"/>
              </a:spcAft>
            </a:pPr>
            <a:r>
              <a:rPr sz="2800">
                <a:solidFill>
                  <a:srgbClr val="192D5A"/>
                </a:solidFill>
                <a:latin typeface="Arial"/>
              </a:rPr>
              <a:t>Benefit Ally FI 51–99 | New Business PET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51" y="2318196"/>
            <a:ext cx="11288150" cy="44001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5680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nitedHealthcare">
  <a:themeElements>
    <a:clrScheme name="UnitedHealthcare_AllColors_3.0">
      <a:dk1>
        <a:srgbClr val="8C9599"/>
      </a:dk1>
      <a:lt1>
        <a:srgbClr val="FFFFFF"/>
      </a:lt1>
      <a:dk2>
        <a:srgbClr val="122377"/>
      </a:dk2>
      <a:lt2>
        <a:srgbClr val="C0E9FF"/>
      </a:lt2>
      <a:accent1>
        <a:srgbClr val="003DA1"/>
      </a:accent1>
      <a:accent2>
        <a:srgbClr val="FF5F0E"/>
      </a:accent2>
      <a:accent3>
        <a:srgbClr val="00A8F7"/>
      </a:accent3>
      <a:accent4>
        <a:srgbClr val="9521AD"/>
      </a:accent4>
      <a:accent5>
        <a:srgbClr val="21B01E"/>
      </a:accent5>
      <a:accent6>
        <a:srgbClr val="E91B18"/>
      </a:accent6>
      <a:hlink>
        <a:srgbClr val="003DA1"/>
      </a:hlink>
      <a:folHlink>
        <a:srgbClr val="00A8F7"/>
      </a:folHlink>
    </a:clrScheme>
    <a:fontScheme name="UnitedHealthca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A8F7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A8F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71450" indent="-171450">
          <a:spcAft>
            <a:spcPts val="400"/>
          </a:spcAft>
          <a:buClr>
            <a:schemeClr val="accent3"/>
          </a:buClr>
          <a:buFont typeface="Arial" panose="020B0604020202020204" pitchFamily="34" charset="0"/>
          <a:buChar char="•"/>
          <a:defRPr dirty="0" smtClean="0">
            <a:solidFill>
              <a:srgbClr val="4D4D4D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HCTechnology_Template_v2" id="{DBA7EF4D-AD6C-3B4E-B2E7-DFFBAC215C54}" vid="{5685A221-050E-574F-842A-A51F198A0CB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2787b0-6c1e-4283-ad02-40c3b8fc0e51">
      <Terms xmlns="http://schemas.microsoft.com/office/infopath/2007/PartnerControls"/>
    </lcf76f155ced4ddcb4097134ff3c332f>
    <TaxCatchAll xmlns="36716fb1-4a12-4469-8a07-f1cc905dfa80" xsi:nil="true"/>
    <SharedWithUsers xmlns="36716fb1-4a12-4469-8a07-f1cc905dfa80">
      <UserInfo>
        <DisplayName/>
        <AccountId xsi:nil="true"/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29DF41DE54444382374BD281E09C34" ma:contentTypeVersion="15" ma:contentTypeDescription="Create a new document." ma:contentTypeScope="" ma:versionID="cf8efec92b9483a54b6a4b1d311499e5">
  <xsd:schema xmlns:xsd="http://www.w3.org/2001/XMLSchema" xmlns:xs="http://www.w3.org/2001/XMLSchema" xmlns:p="http://schemas.microsoft.com/office/2006/metadata/properties" xmlns:ns2="8c2787b0-6c1e-4283-ad02-40c3b8fc0e51" xmlns:ns3="36716fb1-4a12-4469-8a07-f1cc905dfa80" targetNamespace="http://schemas.microsoft.com/office/2006/metadata/properties" ma:root="true" ma:fieldsID="a457f0b42269427881e3866e94fc4493" ns2:_="" ns3:_="">
    <xsd:import namespace="8c2787b0-6c1e-4283-ad02-40c3b8fc0e51"/>
    <xsd:import namespace="36716fb1-4a12-4469-8a07-f1cc905dfa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2787b0-6c1e-4283-ad02-40c3b8fc0e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2a6b2b66-40d8-4e06-8a39-adc3ecd451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716fb1-4a12-4469-8a07-f1cc905dfa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5b1bb424-d6bc-4d2c-a540-2efb4e3bade6}" ma:internalName="TaxCatchAll" ma:showField="CatchAllData" ma:web="36716fb1-4a12-4469-8a07-f1cc905dfa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48D396-64D9-43A2-A132-3F0F4CE8DD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342EBA-305B-41DB-BBF7-5EEA503D9FAC}">
  <ds:schemaRefs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dcmitype/"/>
    <ds:schemaRef ds:uri="8c2787b0-6c1e-4283-ad02-40c3b8fc0e51"/>
    <ds:schemaRef ds:uri="http://purl.org/dc/elements/1.1/"/>
    <ds:schemaRef ds:uri="http://schemas.microsoft.com/office/2006/metadata/properties"/>
    <ds:schemaRef ds:uri="36716fb1-4a12-4469-8a07-f1cc905dfa8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B4F020F-0479-4B6D-BB75-B04E21941AF5}">
  <ds:schemaRefs>
    <ds:schemaRef ds:uri="36716fb1-4a12-4469-8a07-f1cc905dfa80"/>
    <ds:schemaRef ds:uri="8c2787b0-6c1e-4283-ad02-40c3b8fc0e5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1755</Words>
  <Application>Microsoft Office PowerPoint</Application>
  <PresentationFormat>Widescreen</PresentationFormat>
  <Paragraphs>309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Calibri </vt:lpstr>
      <vt:lpstr>Calibri Light</vt:lpstr>
      <vt:lpstr>Courier New</vt:lpstr>
      <vt:lpstr>Symbol</vt:lpstr>
      <vt:lpstr>Times New Roman</vt:lpstr>
      <vt:lpstr>Wingdings</vt:lpstr>
      <vt:lpstr>Office Theme</vt:lpstr>
      <vt:lpstr>UnitedHealthcare</vt:lpstr>
      <vt:lpstr>LF – NB Product Ecosystem Testing  ST21799 – Case Management   ST21796 – National Benefits   ST21797 – Infertility Coverage   ST21955 – Assured Value Program (AVP)</vt:lpstr>
      <vt:lpstr>  Product Ecosystem Testing impact  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Dependencies</vt:lpstr>
      <vt:lpstr>Product Ecosystem Testing Dependencies</vt:lpstr>
      <vt:lpstr>Product Ecosystem Testing Dependencies</vt:lpstr>
      <vt:lpstr>Product Ecosystem Testing - Constraints; Data; Environment; Tools</vt:lpstr>
      <vt:lpstr>Product Ecosystem Testing Approach</vt:lpstr>
      <vt:lpstr>E2E Product Testing Timeline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E2E Testing Approach</dc:title>
  <dc:creator>Sharma, Vandana</dc:creator>
  <cp:lastModifiedBy>Jacques, Sandia</cp:lastModifiedBy>
  <cp:revision>2</cp:revision>
  <dcterms:created xsi:type="dcterms:W3CDTF">2021-05-24T14:39:22Z</dcterms:created>
  <dcterms:modified xsi:type="dcterms:W3CDTF">2026-07-20T19:00:28Z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0x0101008C29DF41DE54444382374BD281E09C34</vt:lpwstr>
  </property>
  <property fmtid="{D5CDD505-2E9C-101B-9397-08002B2CF9AE}" pid="3" name="MSIP_Label_a8a73c85-e524-44a6-bd58-7df7ef87be8f_Enabled">
    <vt:lpwstr>true</vt:lpwstr>
  </property>
  <property fmtid="{D5CDD505-2E9C-101B-9397-08002B2CF9AE}" pid="4" name="MSIP_Label_a8a73c85-e524-44a6-bd58-7df7ef87be8f_SetDate">
    <vt:lpwstr>2023-02-28T20:57:46Z</vt:lpwstr>
  </property>
  <property fmtid="{D5CDD505-2E9C-101B-9397-08002B2CF9AE}" pid="5" name="MSIP_Label_a8a73c85-e524-44a6-bd58-7df7ef87be8f_Method">
    <vt:lpwstr>Standard</vt:lpwstr>
  </property>
  <property fmtid="{D5CDD505-2E9C-101B-9397-08002B2CF9AE}" pid="6" name="MSIP_Label_a8a73c85-e524-44a6-bd58-7df7ef87be8f_Name">
    <vt:lpwstr>Internal Label</vt:lpwstr>
  </property>
  <property fmtid="{D5CDD505-2E9C-101B-9397-08002B2CF9AE}" pid="7" name="MSIP_Label_a8a73c85-e524-44a6-bd58-7df7ef87be8f_SiteId">
    <vt:lpwstr>db05faca-c82a-4b9d-b9c5-0f64b6755421</vt:lpwstr>
  </property>
  <property fmtid="{D5CDD505-2E9C-101B-9397-08002B2CF9AE}" pid="8" name="MSIP_Label_a8a73c85-e524-44a6-bd58-7df7ef87be8f_ActionId">
    <vt:lpwstr>cc132c11-cabb-458a-a746-cb5736286303</vt:lpwstr>
  </property>
  <property fmtid="{D5CDD505-2E9C-101B-9397-08002B2CF9AE}" pid="9" name="MSIP_Label_a8a73c85-e524-44a6-bd58-7df7ef87be8f_ContentBits">
    <vt:lpwstr>0</vt:lpwstr>
  </property>
  <property fmtid="{D5CDD505-2E9C-101B-9397-08002B2CF9AE}" pid="10" name="MediaServiceImageTags">
    <vt:lpwstr/>
  </property>
  <property fmtid="{D5CDD505-2E9C-101B-9397-08002B2CF9AE}" pid="11" name="Order">
    <vt:r8>30200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ComplianceAssetId">
    <vt:lpwstr/>
  </property>
  <property fmtid="{D5CDD505-2E9C-101B-9397-08002B2CF9AE}" pid="15" name="TemplateUrl">
    <vt:lpwstr/>
  </property>
  <property fmtid="{D5CDD505-2E9C-101B-9397-08002B2CF9AE}" pid="16" name="_ExtendedDescription">
    <vt:lpwstr/>
  </property>
  <property fmtid="{D5CDD505-2E9C-101B-9397-08002B2CF9AE}" pid="17" name="TriggerFlowInfo">
    <vt:lpwstr/>
  </property>
</Properties>
</file>