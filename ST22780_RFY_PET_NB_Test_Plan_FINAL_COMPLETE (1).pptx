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1" r:id="rId6"/>
    <p:sldId id="276" r:id="rId7"/>
    <p:sldId id="277" r:id="rId8"/>
    <p:sldId id="262" r:id="rId9"/>
    <p:sldId id="263" r:id="rId10"/>
    <p:sldId id="264" r:id="rId11"/>
    <p:sldId id="265" r:id="rId12"/>
    <p:sldId id="266" r:id="rId13"/>
    <p:sldId id="275" r:id="rId14"/>
  </p:sldIdLst>
  <p:sldSz cx="9144000" cy="6858000" type="screen4x3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6231422-434E-489C-9F3A-6C6ABB6D4412}" v="14" dt="2026-10-06T18:24:15.243"/>
    <p1510:client id="{D863D173-8505-4C10-9E8A-7DA8575644E4}" v="99" dt="2026-10-07T14:58:19.09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17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10/7/2026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
- &lt;File&gt;USPPIGNP-I-212-New Rewards Offering for Surest ASO Cross-Carrier Clients Playbook.xlsx&lt;/File&gt;.
- &lt;File&gt;USPPIGNP-I-212 New Rewards Offering for Surest ASO Cross-Carrier Clients Project Kick Off.pptx&lt;/File&gt;.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
- &lt;File&gt;USPPIGNP-I-212-New Rewards Offering for Surest ASO Cross-Carrier Clients Playbook.xlsx&lt;/File&gt;, RFY Product Details.
- &lt;File&gt;USPPIGNP-I-212 New Rewards Offering for Surest ASO Cross-Carrier Clients Project Kick Off.pptx&lt;/File&gt;, Project Charter and Scope.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
- &lt;File&gt;USPPIGNP-I-212-New Rewards Offering for Surest ASO Cross-Carrier Clients Playbook.xlsx&lt;/File&gt;, Aha Impacts and Scope of Work by Application.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
- &lt;File&gt;USPPIGNP-I-212-New Rewards Offering for Surest ASO Cross-Carrier Clients Playbook.xlsx&lt;/File&gt;, Aha Impacts.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&lt;File&gt;NB PET Status for Surest ASO.pptx&lt;/File&gt;.</a:t>
            </a:r>
          </a:p>
          <a:p>
            <a:r>
              <a:t>- &lt;File&gt;USPPIGNP-I-212-New Rewards Offering for Surest ASO Cross-Carrier Clients Playbook.xlsx&lt;/File&gt;.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
- &lt;File&gt;USPPIGNP-I-212-New Rewards Offering for Surest ASO Cross-Carrier Clients Playbook.xlsx&lt;/File&gt;, Aha Impacts and Milestones.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
- &lt;File&gt;USPPIGNP-I-212-New Rewards Offering for Surest ASO Cross-Carrier Clients Playbook.xlsx&lt;/File&gt;, Aha Impacts and NA Client Services open questions.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
- &lt;File&gt;USPPIGNP-I-212-New Rewards Offering for Surest ASO Cross-Carrier Clients Playbook.xlsx&lt;/File&gt;, DRA-Nimbus, DRA-UDW, Stratus, and CARS impacts.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
- &lt;File&gt;USPPIGNP-I-212-New Rewards Offering for Surest ASO Cross-Carrier Clients Playbook.xlsx&lt;/File&gt;, COM360 and Cirrus QIB impacts.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
- &lt;File&gt;USPPIGNP-I-212 New Rewards Offering for Surest ASO Cross-Carrier Clients Project Kick Off.pptx&lt;/File&gt;, Scope.
- &lt;File&gt;9/14 - USPPIGNP-I-212 New Rewards offering for Surest ASO cross carrier clients&lt;/File&gt;.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
- No external sources.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086600" y="0"/>
            <a:ext cx="2057400" cy="1143000"/>
          </a:xfrm>
          <a:prstGeom prst="rect">
            <a:avLst/>
          </a:prstGeom>
          <a:solidFill>
            <a:srgbClr val="245A96"/>
          </a:solidFill>
          <a:ln w="12700">
            <a:solidFill>
              <a:srgbClr val="245A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D9EAF7"/>
                </a:solidFill>
              </a:rPr>
              <a:t>Product Ecosystem Testing</a:t>
            </a:r>
            <a:endParaRPr lang="en-US" sz="1000"/>
          </a:p>
        </p:txBody>
      </p:sp>
      <p:sp>
        <p:nvSpPr>
          <p:cNvPr id="5" name="Text 3"/>
          <p:cNvSpPr/>
          <p:nvPr/>
        </p:nvSpPr>
        <p:spPr>
          <a:xfrm>
            <a:off x="6400800" y="6565392"/>
            <a:ext cx="2377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50">
                <a:solidFill>
                  <a:srgbClr val="607080"/>
                </a:solidFill>
              </a:rPr>
              <a:t>UHC Technology  |  Better Together</a:t>
            </a:r>
            <a:endParaRPr lang="en-US" sz="55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82396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550">
                <a:solidFill>
                  <a:srgbClr val="6070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82396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550">
                <a:solidFill>
                  <a:srgbClr val="6070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365760" y="914400"/>
            <a:ext cx="2834640" cy="1097280"/>
          </a:xfrm>
          <a:prstGeom prst="chevron">
            <a:avLst/>
          </a:prstGeom>
          <a:solidFill>
            <a:srgbClr val="F36C21"/>
          </a:solidFill>
          <a:ln w="12700">
            <a:solidFill>
              <a:srgbClr val="F36C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94360" y="1737360"/>
            <a:ext cx="2926080" cy="1280160"/>
          </a:xfrm>
          <a:prstGeom prst="chevron">
            <a:avLst/>
          </a:prstGeom>
          <a:solidFill>
            <a:srgbClr val="16A6D8"/>
          </a:solidFill>
          <a:ln w="12700">
            <a:solidFill>
              <a:srgbClr val="16A6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28600" y="2651760"/>
            <a:ext cx="3337560" cy="2331720"/>
          </a:xfrm>
          <a:prstGeom prst="chevron">
            <a:avLst/>
          </a:prstGeom>
          <a:solidFill>
            <a:srgbClr val="1C2C72"/>
          </a:solidFill>
          <a:ln w="12700">
            <a:solidFill>
              <a:srgbClr val="1C2C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886200" y="193852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29333D"/>
                </a:solidFill>
              </a:rPr>
              <a:t>ST22780</a:t>
            </a:r>
            <a:endParaRPr lang="en-US" sz="1900"/>
          </a:p>
        </p:txBody>
      </p:sp>
      <p:sp>
        <p:nvSpPr>
          <p:cNvPr id="6" name="Text 4"/>
          <p:cNvSpPr/>
          <p:nvPr/>
        </p:nvSpPr>
        <p:spPr>
          <a:xfrm>
            <a:off x="3886200" y="2304288"/>
            <a:ext cx="46634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1800" b="0">
                <a:solidFill>
                  <a:srgbClr val="29333D"/>
                </a:solidFill>
                <a:latin typeface="Arial"/>
              </a:rPr>
              <a:t>Rewards For You (RFY)</a:t>
            </a:r>
          </a:p>
          <a:p>
            <a:r>
              <a:rPr sz="1800" b="0">
                <a:solidFill>
                  <a:srgbClr val="29333D"/>
                </a:solidFill>
                <a:latin typeface="Arial"/>
              </a:rPr>
              <a:t>PET New Business Test Plan</a:t>
            </a:r>
          </a:p>
        </p:txBody>
      </p:sp>
      <p:sp>
        <p:nvSpPr>
          <p:cNvPr id="7" name="Text 5"/>
          <p:cNvSpPr/>
          <p:nvPr/>
        </p:nvSpPr>
        <p:spPr>
          <a:xfrm>
            <a:off x="3886200" y="3931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5A6772"/>
                </a:solidFill>
              </a:rPr>
              <a:t>Aha: USPPIGNP-I-212  |  Go Live: January 1, 2027</a:t>
            </a:r>
            <a:endParaRPr lang="en-US" sz="105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256032" y="393192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>
                <a:solidFill>
                  <a:srgbClr val="FFFFFF"/>
                </a:solidFill>
              </a:rPr>
              <a:t>Project Overview and Business Purpose</a:t>
            </a:r>
            <a:endParaRPr lang="en-US" sz="2100"/>
          </a:p>
        </p:txBody>
      </p:sp>
      <p:sp>
        <p:nvSpPr>
          <p:cNvPr id="3" name="Shape 1"/>
          <p:cNvSpPr/>
          <p:nvPr/>
        </p:nvSpPr>
        <p:spPr>
          <a:xfrm>
            <a:off x="457200" y="1417320"/>
            <a:ext cx="3977640" cy="3364992"/>
          </a:xfrm>
          <a:prstGeom prst="roundRect">
            <a:avLst/>
          </a:prstGeom>
          <a:solidFill>
            <a:srgbClr val="F4F8FB"/>
          </a:solidFill>
          <a:ln w="12700">
            <a:solidFill>
              <a:srgbClr val="B9CA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977640" cy="34747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66928" y="1481328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</a:rPr>
              <a:t>Business Purpose</a:t>
            </a:r>
            <a:endParaRPr lang="en-US" sz="1200"/>
          </a:p>
        </p:txBody>
      </p:sp>
      <p:sp>
        <p:nvSpPr>
          <p:cNvPr id="6" name="Text 4"/>
          <p:cNvSpPr/>
          <p:nvPr/>
        </p:nvSpPr>
        <p:spPr>
          <a:xfrm>
            <a:off x="585216" y="1892808"/>
            <a:ext cx="3721608" cy="2724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sz="1600" b="0" dirty="0">
                <a:solidFill>
                  <a:srgbClr val="29333D"/>
                </a:solidFill>
              </a:rPr>
              <a:t>Replace the legacy Optum Engage offering with Rewards For You for the confirmed Surest ASO client scope.</a:t>
            </a:r>
          </a:p>
          <a:p>
            <a:r>
              <a:rPr sz="1600" b="0" dirty="0">
                <a:solidFill>
                  <a:srgbClr val="29333D"/>
                </a:solidFill>
              </a:rPr>
              <a:t>Enable three configurable RFY buy-up tiers for Key and National Account clients.</a:t>
            </a:r>
          </a:p>
          <a:p>
            <a:r>
              <a:rPr sz="1600" b="0" dirty="0">
                <a:solidFill>
                  <a:srgbClr val="29333D"/>
                </a:solidFill>
              </a:rPr>
              <a:t>Support member eligibility, billing, extracts / streaming, member maintenance, and approved digital experiences.</a:t>
            </a:r>
          </a:p>
        </p:txBody>
      </p:sp>
      <p:sp>
        <p:nvSpPr>
          <p:cNvPr id="7" name="Shape 5"/>
          <p:cNvSpPr/>
          <p:nvPr/>
        </p:nvSpPr>
        <p:spPr>
          <a:xfrm>
            <a:off x="4709160" y="1417320"/>
            <a:ext cx="3977640" cy="3364992"/>
          </a:xfrm>
          <a:prstGeom prst="roundRect">
            <a:avLst/>
          </a:prstGeom>
          <a:solidFill>
            <a:srgbClr val="F4F8FB"/>
          </a:solidFill>
          <a:ln w="12700">
            <a:solidFill>
              <a:srgbClr val="B9CA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709160" y="1417320"/>
            <a:ext cx="3977640" cy="34747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818888" y="1481328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</a:rPr>
              <a:t>Product Positioning</a:t>
            </a:r>
            <a:endParaRPr lang="en-US" sz="1200"/>
          </a:p>
        </p:txBody>
      </p:sp>
      <p:sp>
        <p:nvSpPr>
          <p:cNvPr id="10" name="Text 8"/>
          <p:cNvSpPr/>
          <p:nvPr/>
        </p:nvSpPr>
        <p:spPr>
          <a:xfrm>
            <a:off x="4837176" y="1892808"/>
            <a:ext cx="3721608" cy="2615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sz="1600" b="0" dirty="0">
                <a:solidFill>
                  <a:srgbClr val="29333D"/>
                </a:solidFill>
              </a:rPr>
              <a:t>RFY supports the confirmed Surest ASO client scope.</a:t>
            </a:r>
          </a:p>
          <a:p>
            <a:r>
              <a:rPr sz="1600" b="0" dirty="0">
                <a:solidFill>
                  <a:srgbClr val="29333D"/>
                </a:solidFill>
              </a:rPr>
              <a:t>RFY is an add-on / buy-up offering.</a:t>
            </a:r>
          </a:p>
          <a:p>
            <a:r>
              <a:rPr sz="1600" b="0" dirty="0">
                <a:solidFill>
                  <a:srgbClr val="29333D"/>
                </a:solidFill>
              </a:rPr>
              <a:t>The three approved RFY tiers are included in PET New Business scope.</a:t>
            </a:r>
          </a:p>
          <a:p>
            <a:r>
              <a:rPr sz="1600" b="0" dirty="0">
                <a:solidFill>
                  <a:srgbClr val="29333D"/>
                </a:solidFill>
              </a:rPr>
              <a:t>UHC ASO Rewards population support is out of scope for the January 1, 2027 launch.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82396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550">
                <a:solidFill>
                  <a:srgbClr val="6070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256032" y="393192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>
                <a:solidFill>
                  <a:srgbClr val="FFFFFF"/>
                </a:solidFill>
              </a:rPr>
              <a:t>PET New Business Testing Impact</a:t>
            </a:r>
            <a:endParaRPr lang="en-US" sz="2100"/>
          </a:p>
        </p:txBody>
      </p:sp>
      <p:sp>
        <p:nvSpPr>
          <p:cNvPr id="3" name="Shape 1"/>
          <p:cNvSpPr/>
          <p:nvPr/>
        </p:nvSpPr>
        <p:spPr>
          <a:xfrm>
            <a:off x="228600" y="1965960"/>
            <a:ext cx="1051560" cy="777240"/>
          </a:xfrm>
          <a:prstGeom prst="roundRect">
            <a:avLst/>
          </a:prstGeom>
          <a:solidFill>
            <a:srgbClr val="1F4E7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2084832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</a:rPr>
              <a:t>PIM</a:t>
            </a:r>
            <a:endParaRPr lang="en-US" sz="1100"/>
          </a:p>
        </p:txBody>
      </p:sp>
      <p:sp>
        <p:nvSpPr>
          <p:cNvPr id="5" name="Text 3"/>
          <p:cNvSpPr/>
          <p:nvPr/>
        </p:nvSpPr>
        <p:spPr>
          <a:xfrm>
            <a:off x="274320" y="2331720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>
                <a:solidFill>
                  <a:srgbClr val="EAF4FB"/>
                </a:solidFill>
              </a:rPr>
              <a:t>Products + IDs</a:t>
            </a:r>
            <a:endParaRPr lang="en-US" sz="750"/>
          </a:p>
        </p:txBody>
      </p:sp>
      <p:sp>
        <p:nvSpPr>
          <p:cNvPr id="6" name="Shape 4"/>
          <p:cNvSpPr/>
          <p:nvPr/>
        </p:nvSpPr>
        <p:spPr>
          <a:xfrm>
            <a:off x="1298448" y="2212848"/>
            <a:ext cx="164592" cy="256032"/>
          </a:xfrm>
          <a:prstGeom prst="chevron">
            <a:avLst/>
          </a:prstGeom>
          <a:solidFill>
            <a:srgbClr val="16A6D8"/>
          </a:solidFill>
          <a:ln w="12700">
            <a:solidFill>
              <a:srgbClr val="16A6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490472" y="1965960"/>
            <a:ext cx="1051560" cy="777240"/>
          </a:xfrm>
          <a:prstGeom prst="roundRect">
            <a:avLst/>
          </a:prstGeom>
          <a:solidFill>
            <a:srgbClr val="1F4E7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536192" y="2084832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</a:rPr>
              <a:t>OBM</a:t>
            </a:r>
            <a:endParaRPr lang="en-US" sz="1100"/>
          </a:p>
        </p:txBody>
      </p:sp>
      <p:sp>
        <p:nvSpPr>
          <p:cNvPr id="9" name="Text 7"/>
          <p:cNvSpPr/>
          <p:nvPr/>
        </p:nvSpPr>
        <p:spPr>
          <a:xfrm>
            <a:off x="1536192" y="2331720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750">
                <a:solidFill>
                  <a:srgbClr val="EAF4FB"/>
                </a:solidFill>
              </a:rPr>
              <a:t>Manual setup + publish</a:t>
            </a:r>
            <a:endParaRPr lang="en-US" sz="750"/>
          </a:p>
        </p:txBody>
      </p:sp>
      <p:sp>
        <p:nvSpPr>
          <p:cNvPr id="10" name="Shape 8"/>
          <p:cNvSpPr/>
          <p:nvPr/>
        </p:nvSpPr>
        <p:spPr>
          <a:xfrm>
            <a:off x="2560320" y="2212848"/>
            <a:ext cx="164592" cy="256032"/>
          </a:xfrm>
          <a:prstGeom prst="chevron">
            <a:avLst/>
          </a:prstGeom>
          <a:solidFill>
            <a:srgbClr val="16A6D8"/>
          </a:solidFill>
          <a:ln w="12700">
            <a:solidFill>
              <a:srgbClr val="16A6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752344" y="1965960"/>
            <a:ext cx="1051560" cy="777240"/>
          </a:xfrm>
          <a:prstGeom prst="roundRect">
            <a:avLst/>
          </a:prstGeom>
          <a:solidFill>
            <a:srgbClr val="1F4E7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798064" y="2084832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</a:rPr>
              <a:t>Cirrus</a:t>
            </a:r>
            <a:endParaRPr lang="en-US" sz="1100"/>
          </a:p>
        </p:txBody>
      </p:sp>
      <p:sp>
        <p:nvSpPr>
          <p:cNvPr id="13" name="Text 11"/>
          <p:cNvSpPr/>
          <p:nvPr/>
        </p:nvSpPr>
        <p:spPr>
          <a:xfrm>
            <a:off x="2798064" y="2331720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>
                <a:solidFill>
                  <a:srgbClr val="EAF4FB"/>
                </a:solidFill>
              </a:rPr>
              <a:t>Bill item + plan option</a:t>
            </a:r>
            <a:endParaRPr lang="en-US" sz="750"/>
          </a:p>
        </p:txBody>
      </p:sp>
      <p:sp>
        <p:nvSpPr>
          <p:cNvPr id="14" name="Shape 12"/>
          <p:cNvSpPr/>
          <p:nvPr/>
        </p:nvSpPr>
        <p:spPr>
          <a:xfrm>
            <a:off x="3822192" y="2212848"/>
            <a:ext cx="164592" cy="256032"/>
          </a:xfrm>
          <a:prstGeom prst="chevron">
            <a:avLst/>
          </a:prstGeom>
          <a:solidFill>
            <a:srgbClr val="16A6D8"/>
          </a:solidFill>
          <a:ln w="12700">
            <a:solidFill>
              <a:srgbClr val="16A6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014216" y="1965960"/>
            <a:ext cx="1051560" cy="777240"/>
          </a:xfrm>
          <a:prstGeom prst="roundRect">
            <a:avLst/>
          </a:prstGeom>
          <a:solidFill>
            <a:srgbClr val="1F4E7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059936" y="2084832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</a:rPr>
              <a:t>CDB</a:t>
            </a:r>
            <a:endParaRPr lang="en-US" sz="1100"/>
          </a:p>
        </p:txBody>
      </p:sp>
      <p:sp>
        <p:nvSpPr>
          <p:cNvPr id="17" name="Text 15"/>
          <p:cNvSpPr/>
          <p:nvPr/>
        </p:nvSpPr>
        <p:spPr>
          <a:xfrm>
            <a:off x="4059936" y="2331720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>
                <a:solidFill>
                  <a:srgbClr val="EAF4FB"/>
                </a:solidFill>
              </a:rPr>
              <a:t>Eligibility counts</a:t>
            </a:r>
            <a:endParaRPr lang="en-US" sz="750"/>
          </a:p>
        </p:txBody>
      </p:sp>
      <p:sp>
        <p:nvSpPr>
          <p:cNvPr id="18" name="Shape 16"/>
          <p:cNvSpPr/>
          <p:nvPr/>
        </p:nvSpPr>
        <p:spPr>
          <a:xfrm>
            <a:off x="5084064" y="2212848"/>
            <a:ext cx="164592" cy="256032"/>
          </a:xfrm>
          <a:prstGeom prst="chevron">
            <a:avLst/>
          </a:prstGeom>
          <a:solidFill>
            <a:srgbClr val="16A6D8"/>
          </a:solidFill>
          <a:ln w="12700">
            <a:solidFill>
              <a:srgbClr val="16A6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276088" y="1965960"/>
            <a:ext cx="1051560" cy="777240"/>
          </a:xfrm>
          <a:prstGeom prst="roundRect">
            <a:avLst/>
          </a:prstGeom>
          <a:solidFill>
            <a:srgbClr val="F36C21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321808" y="2084832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</a:rPr>
              <a:t>BRMS</a:t>
            </a:r>
            <a:endParaRPr lang="en-US" sz="1100"/>
          </a:p>
        </p:txBody>
      </p:sp>
      <p:sp>
        <p:nvSpPr>
          <p:cNvPr id="21" name="Text 19"/>
          <p:cNvSpPr/>
          <p:nvPr/>
        </p:nvSpPr>
        <p:spPr>
          <a:xfrm>
            <a:off x="5321808" y="2331720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>
                <a:solidFill>
                  <a:srgbClr val="EAF4FB"/>
                </a:solidFill>
              </a:rPr>
              <a:t>Billing calculation</a:t>
            </a:r>
            <a:endParaRPr lang="en-US" sz="750"/>
          </a:p>
        </p:txBody>
      </p:sp>
      <p:sp>
        <p:nvSpPr>
          <p:cNvPr id="22" name="Shape 20"/>
          <p:cNvSpPr/>
          <p:nvPr/>
        </p:nvSpPr>
        <p:spPr>
          <a:xfrm>
            <a:off x="6345936" y="2212848"/>
            <a:ext cx="164592" cy="256032"/>
          </a:xfrm>
          <a:prstGeom prst="chevron">
            <a:avLst/>
          </a:prstGeom>
          <a:solidFill>
            <a:srgbClr val="16A6D8"/>
          </a:solidFill>
          <a:ln w="12700">
            <a:solidFill>
              <a:srgbClr val="16A6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537960" y="1965960"/>
            <a:ext cx="1051560" cy="777240"/>
          </a:xfrm>
          <a:prstGeom prst="roundRect">
            <a:avLst/>
          </a:prstGeom>
          <a:solidFill>
            <a:srgbClr val="1F4E7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583680" y="2084832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</a:rPr>
              <a:t>Finance</a:t>
            </a:r>
            <a:endParaRPr lang="en-US" sz="1100"/>
          </a:p>
        </p:txBody>
      </p:sp>
      <p:sp>
        <p:nvSpPr>
          <p:cNvPr id="25" name="Text 23"/>
          <p:cNvSpPr/>
          <p:nvPr/>
        </p:nvSpPr>
        <p:spPr>
          <a:xfrm>
            <a:off x="6583680" y="2331720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>
                <a:solidFill>
                  <a:srgbClr val="EAF4FB"/>
                </a:solidFill>
              </a:rPr>
              <a:t>FTS / PCMT / UDW</a:t>
            </a:r>
            <a:endParaRPr lang="en-US" sz="750"/>
          </a:p>
        </p:txBody>
      </p:sp>
      <p:sp>
        <p:nvSpPr>
          <p:cNvPr id="26" name="Shape 24"/>
          <p:cNvSpPr/>
          <p:nvPr/>
        </p:nvSpPr>
        <p:spPr>
          <a:xfrm>
            <a:off x="7607808" y="2212848"/>
            <a:ext cx="164592" cy="256032"/>
          </a:xfrm>
          <a:prstGeom prst="chevron">
            <a:avLst/>
          </a:prstGeom>
          <a:solidFill>
            <a:srgbClr val="16A6D8"/>
          </a:solidFill>
          <a:ln w="12700">
            <a:solidFill>
              <a:srgbClr val="16A6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7799832" y="1965960"/>
            <a:ext cx="1051560" cy="777240"/>
          </a:xfrm>
          <a:prstGeom prst="roundRect">
            <a:avLst/>
          </a:prstGeom>
          <a:solidFill>
            <a:srgbClr val="2E7D3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845552" y="2084832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850" b="0">
                <a:solidFill>
                  <a:srgbClr val="29333D"/>
                </a:solidFill>
                <a:latin typeface="Arial"/>
              </a:rPr>
              <a:t>Extracts / Streaming</a:t>
            </a:r>
          </a:p>
        </p:txBody>
      </p:sp>
      <p:sp>
        <p:nvSpPr>
          <p:cNvPr id="29" name="Text 27"/>
          <p:cNvSpPr/>
          <p:nvPr/>
        </p:nvSpPr>
        <p:spPr>
          <a:xfrm>
            <a:off x="7845552" y="2331720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700" b="0">
                <a:solidFill>
                  <a:srgbClr val="29333D"/>
                </a:solidFill>
                <a:latin typeface="Arial"/>
              </a:rPr>
              <a:t>OptumRx / BOSS</a:t>
            </a:r>
          </a:p>
        </p:txBody>
      </p:sp>
      <p:sp>
        <p:nvSpPr>
          <p:cNvPr id="30" name="Text 28"/>
          <p:cNvSpPr/>
          <p:nvPr/>
        </p:nvSpPr>
        <p:spPr>
          <a:xfrm>
            <a:off x="685800" y="388620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9333D"/>
                </a:solidFill>
              </a:rPr>
              <a:t>E2E objective: validate RFY configuration and identifiers from product setup through eligibility, billing, financial processing, reporting, and member visibility.</a:t>
            </a:r>
            <a:endParaRPr lang="en-US" sz="16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82396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550">
                <a:solidFill>
                  <a:srgbClr val="6070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256032" y="393192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>
                <a:solidFill>
                  <a:srgbClr val="FFFFFF"/>
                </a:solidFill>
              </a:rPr>
              <a:t>Impacted Applications and Validation Classification</a:t>
            </a:r>
            <a:endParaRPr lang="en-US" sz="2100"/>
          </a:p>
        </p:txBody>
      </p:sp>
      <p:sp>
        <p:nvSpPr>
          <p:cNvPr id="3" name="Shape 1"/>
          <p:cNvSpPr/>
          <p:nvPr/>
        </p:nvSpPr>
        <p:spPr>
          <a:xfrm>
            <a:off x="502920" y="1325880"/>
            <a:ext cx="3886200" cy="4526280"/>
          </a:xfrm>
          <a:prstGeom prst="roundRect">
            <a:avLst/>
          </a:prstGeom>
          <a:solidFill>
            <a:srgbClr val="F4F8FB"/>
          </a:solidFill>
          <a:ln w="12700">
            <a:solidFill>
              <a:srgbClr val="B9CA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3886200" cy="34747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389888"/>
            <a:ext cx="3886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100" b="0">
                <a:solidFill>
                  <a:srgbClr val="29333D"/>
                </a:solidFill>
                <a:latin typeface="Arial"/>
              </a:rPr>
              <a:t>Confirmed PET NB Scope</a:t>
            </a:r>
          </a:p>
        </p:txBody>
      </p:sp>
      <p:sp>
        <p:nvSpPr>
          <p:cNvPr id="6" name="Text 4"/>
          <p:cNvSpPr/>
          <p:nvPr/>
        </p:nvSpPr>
        <p:spPr>
          <a:xfrm>
            <a:off x="502920" y="1801368"/>
            <a:ext cx="3886200" cy="3959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sz="930" b="0" dirty="0">
                <a:solidFill>
                  <a:srgbClr val="29333D"/>
                </a:solidFill>
                <a:latin typeface="Arial"/>
              </a:rPr>
              <a:t>Case Install / Enrollment</a:t>
            </a:r>
          </a:p>
          <a:p>
            <a:r>
              <a:rPr sz="930" b="0" dirty="0">
                <a:solidFill>
                  <a:srgbClr val="29333D"/>
                </a:solidFill>
                <a:latin typeface="Arial"/>
              </a:rPr>
              <a:t>• OBM</a:t>
            </a:r>
          </a:p>
          <a:p>
            <a:r>
              <a:rPr sz="930" b="0" dirty="0">
                <a:solidFill>
                  <a:srgbClr val="29333D"/>
                </a:solidFill>
                <a:latin typeface="Arial"/>
              </a:rPr>
              <a:t>• Surest</a:t>
            </a:r>
          </a:p>
          <a:p>
            <a:r>
              <a:rPr sz="930" b="0" dirty="0">
                <a:solidFill>
                  <a:srgbClr val="29333D"/>
                </a:solidFill>
                <a:latin typeface="Arial"/>
              </a:rPr>
              <a:t>• Member enrollment through CIP</a:t>
            </a:r>
            <a:r>
              <a:rPr lang="en-US" sz="930" b="0" dirty="0">
                <a:solidFill>
                  <a:srgbClr val="29333D"/>
                </a:solidFill>
                <a:latin typeface="Arial"/>
              </a:rPr>
              <a:t>/DSS</a:t>
            </a:r>
            <a:endParaRPr sz="930" b="0" dirty="0">
              <a:solidFill>
                <a:srgbClr val="29333D"/>
              </a:solidFill>
              <a:latin typeface="Arial"/>
            </a:endParaRPr>
          </a:p>
          <a:p>
            <a:r>
              <a:rPr sz="930" b="0" dirty="0">
                <a:solidFill>
                  <a:srgbClr val="29333D"/>
                </a:solidFill>
                <a:latin typeface="Arial"/>
              </a:rPr>
              <a:t>• CDB</a:t>
            </a:r>
          </a:p>
          <a:p>
            <a:endParaRPr sz="930" b="0" dirty="0">
              <a:solidFill>
                <a:srgbClr val="29333D"/>
              </a:solidFill>
              <a:latin typeface="Arial"/>
            </a:endParaRPr>
          </a:p>
          <a:p>
            <a:r>
              <a:rPr sz="930" b="0" dirty="0">
                <a:solidFill>
                  <a:srgbClr val="29333D"/>
                </a:solidFill>
                <a:latin typeface="Arial"/>
              </a:rPr>
              <a:t>Digital</a:t>
            </a:r>
          </a:p>
          <a:p>
            <a:r>
              <a:rPr sz="930" b="0" dirty="0">
                <a:solidFill>
                  <a:srgbClr val="29333D"/>
                </a:solidFill>
                <a:latin typeface="Arial"/>
              </a:rPr>
              <a:t>• ACET Member</a:t>
            </a:r>
          </a:p>
          <a:p>
            <a:r>
              <a:rPr sz="930" b="0" dirty="0">
                <a:solidFill>
                  <a:srgbClr val="29333D"/>
                </a:solidFill>
                <a:latin typeface="Arial"/>
              </a:rPr>
              <a:t>• ACET BEO</a:t>
            </a:r>
          </a:p>
          <a:p>
            <a:r>
              <a:rPr sz="930" b="0" dirty="0">
                <a:solidFill>
                  <a:srgbClr val="29333D"/>
                </a:solidFill>
                <a:latin typeface="Arial"/>
              </a:rPr>
              <a:t>• SPIRE</a:t>
            </a:r>
          </a:p>
          <a:p>
            <a:r>
              <a:rPr sz="930" b="0" dirty="0">
                <a:solidFill>
                  <a:srgbClr val="29333D"/>
                </a:solidFill>
                <a:latin typeface="Arial"/>
              </a:rPr>
              <a:t>• </a:t>
            </a:r>
            <a:r>
              <a:rPr sz="930" b="0" dirty="0" err="1">
                <a:solidFill>
                  <a:srgbClr val="29333D"/>
                </a:solidFill>
                <a:latin typeface="Arial"/>
              </a:rPr>
              <a:t>myUHC</a:t>
            </a:r>
            <a:r>
              <a:rPr sz="930" b="0" dirty="0">
                <a:solidFill>
                  <a:srgbClr val="29333D"/>
                </a:solidFill>
                <a:latin typeface="Arial"/>
              </a:rPr>
              <a:t> / Surest member portal</a:t>
            </a:r>
          </a:p>
        </p:txBody>
      </p:sp>
      <p:sp>
        <p:nvSpPr>
          <p:cNvPr id="11" name="Shape 9"/>
          <p:cNvSpPr/>
          <p:nvPr/>
        </p:nvSpPr>
        <p:spPr>
          <a:xfrm>
            <a:off x="4754880" y="1325880"/>
            <a:ext cx="3886200" cy="4526280"/>
          </a:xfrm>
          <a:prstGeom prst="roundRect">
            <a:avLst/>
          </a:prstGeom>
          <a:solidFill>
            <a:srgbClr val="F4F8FB"/>
          </a:solidFill>
          <a:ln w="12700">
            <a:solidFill>
              <a:srgbClr val="B9CA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754880" y="1325880"/>
            <a:ext cx="3886200" cy="3474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54880" y="1389888"/>
            <a:ext cx="3886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100" b="0">
                <a:solidFill>
                  <a:srgbClr val="29333D"/>
                </a:solidFill>
                <a:latin typeface="Arial"/>
              </a:rPr>
              <a:t>Additional Integrated Scope</a:t>
            </a:r>
          </a:p>
        </p:txBody>
      </p:sp>
      <p:sp>
        <p:nvSpPr>
          <p:cNvPr id="14" name="Text 12"/>
          <p:cNvSpPr/>
          <p:nvPr/>
        </p:nvSpPr>
        <p:spPr>
          <a:xfrm>
            <a:off x="4754880" y="1801368"/>
            <a:ext cx="3886200" cy="3959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sz="880" b="0">
                <a:solidFill>
                  <a:srgbClr val="29333D"/>
                </a:solidFill>
                <a:latin typeface="Arial"/>
              </a:rPr>
              <a:t>Billing</a:t>
            </a:r>
          </a:p>
          <a:p>
            <a:r>
              <a:rPr sz="880" b="0">
                <a:solidFill>
                  <a:srgbClr val="29333D"/>
                </a:solidFill>
                <a:latin typeface="Arial"/>
              </a:rPr>
              <a:t>• BRMS and BASICS</a:t>
            </a:r>
          </a:p>
          <a:p>
            <a:r>
              <a:rPr sz="880" b="0">
                <a:solidFill>
                  <a:srgbClr val="29333D"/>
                </a:solidFill>
                <a:latin typeface="Arial"/>
              </a:rPr>
              <a:t>• New bill item type</a:t>
            </a:r>
          </a:p>
          <a:p>
            <a:r>
              <a:rPr sz="880" b="0">
                <a:solidFill>
                  <a:srgbClr val="29333D"/>
                </a:solidFill>
                <a:latin typeface="Arial"/>
              </a:rPr>
              <a:t>• New billing schedules</a:t>
            </a:r>
          </a:p>
          <a:p>
            <a:r>
              <a:rPr sz="880" b="0">
                <a:solidFill>
                  <a:srgbClr val="29333D"/>
                </a:solidFill>
                <a:latin typeface="Arial"/>
              </a:rPr>
              <a:t>• Case-rate billing for approved non-UHG populations</a:t>
            </a:r>
          </a:p>
          <a:p>
            <a:r>
              <a:rPr sz="880" b="0">
                <a:solidFill>
                  <a:srgbClr val="29333D"/>
                </a:solidFill>
                <a:latin typeface="Arial"/>
              </a:rPr>
              <a:t>• Member-level eligibility for billing</a:t>
            </a:r>
          </a:p>
          <a:p>
            <a:endParaRPr sz="880" b="0">
              <a:solidFill>
                <a:srgbClr val="29333D"/>
              </a:solidFill>
              <a:latin typeface="Arial"/>
            </a:endParaRPr>
          </a:p>
          <a:p>
            <a:r>
              <a:rPr sz="880" b="0">
                <a:solidFill>
                  <a:srgbClr val="29333D"/>
                </a:solidFill>
                <a:latin typeface="Arial"/>
              </a:rPr>
              <a:t>Extracts / Streaming</a:t>
            </a:r>
          </a:p>
          <a:p>
            <a:r>
              <a:rPr sz="880" b="0">
                <a:solidFill>
                  <a:srgbClr val="29333D"/>
                </a:solidFill>
                <a:latin typeface="Arial"/>
              </a:rPr>
              <a:t>• OptumRx and BOSS</a:t>
            </a:r>
          </a:p>
          <a:p>
            <a:endParaRPr sz="880" b="0">
              <a:solidFill>
                <a:srgbClr val="29333D"/>
              </a:solidFill>
              <a:latin typeface="Arial"/>
            </a:endParaRPr>
          </a:p>
          <a:p>
            <a:r>
              <a:rPr sz="880" b="0">
                <a:solidFill>
                  <a:srgbClr val="29333D"/>
                </a:solidFill>
                <a:latin typeface="Arial"/>
              </a:rPr>
              <a:t>Member Maintenance</a:t>
            </a:r>
          </a:p>
          <a:p>
            <a:r>
              <a:rPr sz="880" b="0">
                <a:solidFill>
                  <a:srgbClr val="29333D"/>
                </a:solidFill>
                <a:latin typeface="Arial"/>
              </a:rPr>
              <a:t>• B&amp;E Portals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754880" y="6565392"/>
            <a:ext cx="38862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550">
                <a:solidFill>
                  <a:srgbClr val="6070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256032" y="393192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dirty="0">
                <a:solidFill>
                  <a:schemeClr val="bg1"/>
                </a:solidFill>
                <a:latin typeface="Arial"/>
              </a:rPr>
              <a:t>PET New Business Testing Scope</a:t>
            </a:r>
          </a:p>
        </p:txBody>
      </p:sp>
      <p:sp>
        <p:nvSpPr>
          <p:cNvPr id="3" name="Text 1"/>
          <p:cNvSpPr/>
          <p:nvPr/>
        </p:nvSpPr>
        <p:spPr>
          <a:xfrm>
            <a:off x="438912" y="13533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600" b="1">
                <a:solidFill>
                  <a:srgbClr val="29333D"/>
                </a:solidFill>
                <a:latin typeface="Arial"/>
              </a:rPr>
              <a:t>Part 1 – New Business Case Install Readiness and E2E Validation</a:t>
            </a:r>
          </a:p>
        </p:txBody>
      </p:sp>
      <p:sp>
        <p:nvSpPr>
          <p:cNvPr id="4" name="Text 2"/>
          <p:cNvSpPr/>
          <p:nvPr/>
        </p:nvSpPr>
        <p:spPr>
          <a:xfrm>
            <a:off x="530352" y="1801368"/>
            <a:ext cx="8092440" cy="4434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/>
              <a:t>Confirm </a:t>
            </a:r>
            <a:r>
              <a:rPr lang="en-US" b="1" dirty="0"/>
              <a:t>OBM, Surest, SAMX-NA, CIP, CDB</a:t>
            </a:r>
            <a:r>
              <a:rPr lang="en-US" dirty="0"/>
              <a:t>, and required downstream applications are test-ready.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/>
              <a:t>Validate the three approved </a:t>
            </a:r>
            <a:r>
              <a:rPr lang="en-US" b="1" dirty="0"/>
              <a:t>RFY tiers and identifiers</a:t>
            </a:r>
            <a:r>
              <a:rPr lang="en-US" dirty="0"/>
              <a:t>.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/>
              <a:t>Validate the newly added </a:t>
            </a:r>
            <a:r>
              <a:rPr lang="en-US" b="1" dirty="0"/>
              <a:t>RFY bill item type in Cirrus, BRMS, and BASICS</a:t>
            </a:r>
            <a:r>
              <a:rPr lang="en-US" dirty="0"/>
              <a:t>.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/>
              <a:t>Validate the associated </a:t>
            </a:r>
            <a:r>
              <a:rPr lang="en-US" b="1" dirty="0"/>
              <a:t>billing schedules, rates, effective dates, and expiration dates</a:t>
            </a:r>
            <a:r>
              <a:rPr lang="en-US" dirty="0"/>
              <a:t>.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/>
              <a:t>Validate </a:t>
            </a:r>
            <a:r>
              <a:rPr lang="en-US" b="1" dirty="0"/>
              <a:t>case-rate billing</a:t>
            </a:r>
            <a:r>
              <a:rPr lang="en-US" dirty="0"/>
              <a:t> for the approved non-UHG population.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/>
              <a:t>Validate </a:t>
            </a:r>
            <a:r>
              <a:rPr lang="en-US" b="1" dirty="0"/>
              <a:t>member-level eligibility</a:t>
            </a:r>
            <a:r>
              <a:rPr lang="en-US" dirty="0"/>
              <a:t> used to determine the billable population.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/>
              <a:t>Validate member enrollment through </a:t>
            </a:r>
            <a:r>
              <a:rPr lang="en-US" b="1" dirty="0"/>
              <a:t>CIP and CDB</a:t>
            </a:r>
            <a:r>
              <a:rPr lang="en-US" dirty="0"/>
              <a:t>.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/>
              <a:t>Validate </a:t>
            </a:r>
            <a:r>
              <a:rPr lang="en-US" b="1" dirty="0"/>
              <a:t>Digital, Extracts/Streaming, and Member Maintenance</a:t>
            </a:r>
            <a:r>
              <a:rPr lang="en-US" dirty="0"/>
              <a:t> scope.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/>
              <a:t>Capture evidence, log defects, coordinate retesting, and confirm </a:t>
            </a:r>
            <a:r>
              <a:rPr lang="en-US" b="1" dirty="0"/>
              <a:t>PET NB sign-off</a:t>
            </a:r>
            <a:r>
              <a:rPr lang="en-US" dirty="0"/>
              <a:t>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82396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550">
                <a:solidFill>
                  <a:srgbClr val="6070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17365D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086600" y="0"/>
            <a:ext cx="2057400" cy="1143000"/>
          </a:xfrm>
          <a:prstGeom prst="rect">
            <a:avLst/>
          </a:prstGeom>
          <a:solidFill>
            <a:srgbClr val="245A96"/>
          </a:solidFill>
          <a:ln>
            <a:solidFill>
              <a:srgbClr val="245A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56032" y="164592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D9EAF7"/>
                </a:solidFill>
                <a:latin typeface="Arial"/>
              </a:defRPr>
            </a:pPr>
            <a:r>
              <a:rPr sz="1050">
                <a:solidFill>
                  <a:srgbClr val="29333D"/>
                </a:solidFill>
                <a:latin typeface="Arial"/>
              </a:rPr>
              <a:t>PET New Business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" y="393192"/>
            <a:ext cx="84124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FFFFFF"/>
                </a:solidFill>
                <a:latin typeface="Arial"/>
              </a:defRPr>
            </a:pPr>
            <a:r>
              <a:rPr sz="1050">
                <a:solidFill>
                  <a:srgbClr val="29333D"/>
                </a:solidFill>
                <a:latin typeface="Arial"/>
              </a:rPr>
              <a:t>PET New Business Testing 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353312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9333D"/>
                </a:solidFill>
                <a:latin typeface="Arial"/>
              </a:defRPr>
            </a:pPr>
            <a:r>
              <a:rPr sz="1050">
                <a:solidFill>
                  <a:srgbClr val="29333D"/>
                </a:solidFill>
                <a:latin typeface="Arial"/>
              </a:rPr>
              <a:t>Part 2 – Group Install and Plan-Option Validation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6565392"/>
            <a:ext cx="2377440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550">
                <a:solidFill>
                  <a:srgbClr val="607080"/>
                </a:solidFill>
                <a:latin typeface="Arial"/>
              </a:defRPr>
            </a:pPr>
            <a:r>
              <a:rPr sz="1050">
                <a:solidFill>
                  <a:srgbClr val="29333D"/>
                </a:solidFill>
                <a:latin typeface="Arial"/>
              </a:rPr>
              <a:t>UHC Technology  |  Better Together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828800"/>
            <a:ext cx="3977639" cy="4160520"/>
          </a:xfrm>
          <a:prstGeom prst="roundRect">
            <a:avLst/>
          </a:prstGeom>
          <a:solidFill>
            <a:srgbClr val="F4F8FB"/>
          </a:solidFill>
          <a:ln>
            <a:solidFill>
              <a:srgbClr val="B9C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11480" y="1828800"/>
            <a:ext cx="3977639" cy="347472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21208" y="1892807"/>
            <a:ext cx="2246128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Arial"/>
              </a:defRPr>
            </a:pPr>
            <a:r>
              <a:rPr sz="1050" dirty="0">
                <a:solidFill>
                  <a:schemeClr val="bg1"/>
                </a:solidFill>
                <a:latin typeface="Arial"/>
              </a:rPr>
              <a:t>Positive Group Install Scenarios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" y="2304288"/>
            <a:ext cx="3721607" cy="133882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900" b="0" dirty="0">
                <a:solidFill>
                  <a:srgbClr val="29333D"/>
                </a:solidFill>
                <a:latin typeface="+mj-lt"/>
              </a:rPr>
              <a:t>• Validate RFY Custom, RFY Client Fulfilled Custom, and RFY Client Fulfilled Survey.</a:t>
            </a:r>
          </a:p>
          <a:p>
            <a:r>
              <a:rPr sz="900" b="0" dirty="0">
                <a:solidFill>
                  <a:srgbClr val="29333D"/>
                </a:solidFill>
                <a:latin typeface="+mj-lt"/>
              </a:rPr>
              <a:t>• Validate Case Install through OBM, Surest</a:t>
            </a:r>
          </a:p>
          <a:p>
            <a:pPr fontAlgn="t">
              <a:lnSpc>
                <a:spcPct val="100000"/>
              </a:lnSpc>
              <a:buNone/>
            </a:pPr>
            <a:r>
              <a:rPr sz="900" b="0" dirty="0">
                <a:solidFill>
                  <a:srgbClr val="29333D"/>
                </a:solidFill>
                <a:latin typeface="+mj-lt"/>
              </a:rPr>
              <a:t>• </a:t>
            </a:r>
            <a:r>
              <a:rPr lang="en-US" sz="900" dirty="0">
                <a:latin typeface="+mj-lt"/>
              </a:rPr>
              <a:t>Validate that member eligibility is received through CIP and correctly processed in CDB.</a:t>
            </a:r>
          </a:p>
          <a:p>
            <a:r>
              <a:rPr sz="900" b="0" dirty="0">
                <a:solidFill>
                  <a:srgbClr val="29333D"/>
                </a:solidFill>
                <a:latin typeface="+mj-lt"/>
              </a:rPr>
              <a:t>• Validate ACET Member, ACET BEO, SPIRE, and </a:t>
            </a:r>
            <a:r>
              <a:rPr sz="900" b="0" dirty="0" err="1">
                <a:solidFill>
                  <a:srgbClr val="29333D"/>
                </a:solidFill>
                <a:latin typeface="+mj-lt"/>
              </a:rPr>
              <a:t>myUHC</a:t>
            </a:r>
            <a:r>
              <a:rPr sz="900" b="0" dirty="0">
                <a:solidFill>
                  <a:srgbClr val="29333D"/>
                </a:solidFill>
                <a:latin typeface="+mj-lt"/>
              </a:rPr>
              <a:t> / Surest member portal.</a:t>
            </a:r>
          </a:p>
          <a:p>
            <a:r>
              <a:rPr sz="900" b="0" dirty="0">
                <a:solidFill>
                  <a:srgbClr val="29333D"/>
                </a:solidFill>
                <a:latin typeface="+mj-lt"/>
              </a:rPr>
              <a:t>• Validate new bill items, billing schedules, case-rate billing, member-level eligibility, OptumRx, BOSS, and B&amp;E Portal integration.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09160" y="1828800"/>
            <a:ext cx="3977639" cy="4160520"/>
          </a:xfrm>
          <a:prstGeom prst="roundRect">
            <a:avLst/>
          </a:prstGeom>
          <a:solidFill>
            <a:srgbClr val="F4F8FB"/>
          </a:solidFill>
          <a:ln>
            <a:solidFill>
              <a:srgbClr val="B9C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709160" y="1828800"/>
            <a:ext cx="3977639" cy="347472"/>
          </a:xfrm>
          <a:prstGeom prst="rect">
            <a:avLst/>
          </a:prstGeom>
          <a:solidFill>
            <a:srgbClr val="F36C21"/>
          </a:solidFill>
          <a:ln>
            <a:solidFill>
              <a:srgbClr val="F36C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818888" y="1892807"/>
            <a:ext cx="3758183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Arial"/>
              </a:defRPr>
            </a:pPr>
            <a:r>
              <a:rPr sz="1050">
                <a:solidFill>
                  <a:srgbClr val="29333D"/>
                </a:solidFill>
                <a:latin typeface="Arial"/>
              </a:rPr>
              <a:t>Negative and Multi-Plan Scenarios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37176" y="2304288"/>
            <a:ext cx="3721607" cy="3566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050">
                <a:solidFill>
                  <a:srgbClr val="29333D"/>
                </a:solidFill>
                <a:latin typeface="Arial"/>
              </a:rPr>
              <a:t>• Verify RFY is not attached when the New Business group did not purchase the offering.</a:t>
            </a:r>
          </a:p>
          <a:p>
            <a:r>
              <a:rPr sz="1050">
                <a:solidFill>
                  <a:srgbClr val="29333D"/>
                </a:solidFill>
                <a:latin typeface="Arial"/>
              </a:rPr>
              <a:t>• Verify RFY cannot be configured for a non-ASO group.</a:t>
            </a:r>
          </a:p>
          <a:p>
            <a:r>
              <a:rPr sz="1050">
                <a:solidFill>
                  <a:srgbClr val="29333D"/>
                </a:solidFill>
                <a:latin typeface="Arial"/>
              </a:rPr>
              <a:t>• Verify installation is rejected or held when required RFY product, identifier, rate, date, or billing data is missing.</a:t>
            </a:r>
          </a:p>
          <a:p>
            <a:r>
              <a:rPr sz="1050">
                <a:solidFill>
                  <a:srgbClr val="29333D"/>
                </a:solidFill>
                <a:latin typeface="Arial"/>
              </a:rPr>
              <a:t>• For a group with multiple medical plan options, verify RFY attaches only to the approved plan option.</a:t>
            </a:r>
          </a:p>
          <a:p>
            <a:r>
              <a:rPr sz="1050">
                <a:solidFill>
                  <a:srgbClr val="29333D"/>
                </a:solidFill>
                <a:latin typeface="Arial"/>
              </a:rPr>
              <a:t>• Verify a non-eligible member or population does not receive RFY eligibility.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17365D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086600" y="0"/>
            <a:ext cx="2057400" cy="1143000"/>
          </a:xfrm>
          <a:prstGeom prst="rect">
            <a:avLst/>
          </a:prstGeom>
          <a:solidFill>
            <a:srgbClr val="245A96"/>
          </a:solidFill>
          <a:ln>
            <a:solidFill>
              <a:srgbClr val="245A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56032" y="164592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D9EAF7"/>
                </a:solidFill>
                <a:latin typeface="Arial"/>
              </a:defRPr>
            </a:pPr>
            <a:r>
              <a:rPr sz="1050">
                <a:solidFill>
                  <a:srgbClr val="29333D"/>
                </a:solidFill>
                <a:latin typeface="Arial"/>
              </a:rPr>
              <a:t>PET New Business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" y="393192"/>
            <a:ext cx="84124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FFFFFF"/>
                </a:solidFill>
                <a:latin typeface="Arial"/>
              </a:defRPr>
            </a:pPr>
            <a:r>
              <a:rPr sz="1050">
                <a:solidFill>
                  <a:srgbClr val="29333D"/>
                </a:solidFill>
                <a:latin typeface="Arial"/>
              </a:rPr>
              <a:t>PET New Business Testing 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353312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29333D"/>
                </a:solidFill>
                <a:latin typeface="Arial"/>
              </a:rPr>
              <a:t>Part 3 – PET New Business Scope Boundary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6565392"/>
            <a:ext cx="2377440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550">
                <a:solidFill>
                  <a:srgbClr val="607080"/>
                </a:solidFill>
                <a:latin typeface="Arial"/>
              </a:defRPr>
            </a:pPr>
            <a:r>
              <a:rPr sz="1050">
                <a:solidFill>
                  <a:srgbClr val="29333D"/>
                </a:solidFill>
                <a:latin typeface="Arial"/>
              </a:rPr>
              <a:t>UHC Technology  |  Better Together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828800"/>
            <a:ext cx="3977639" cy="4160520"/>
          </a:xfrm>
          <a:prstGeom prst="roundRect">
            <a:avLst/>
          </a:prstGeom>
          <a:solidFill>
            <a:srgbClr val="F4F8FB"/>
          </a:solidFill>
          <a:ln>
            <a:solidFill>
              <a:srgbClr val="B9C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11480" y="1828800"/>
            <a:ext cx="3977639" cy="347472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21208" y="1892807"/>
            <a:ext cx="3758183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29333D"/>
                </a:solidFill>
                <a:latin typeface="Arial"/>
              </a:rPr>
              <a:t>Outside PET NB Scope / Separate Ownership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" y="2304288"/>
            <a:ext cx="3721607" cy="3566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050" dirty="0">
                <a:solidFill>
                  <a:srgbClr val="29333D"/>
                </a:solidFill>
                <a:latin typeface="Arial"/>
              </a:rPr>
              <a:t>• Optum Engage migration and renewal testing are not included in this PET NB plan unless separately assigned.</a:t>
            </a:r>
          </a:p>
          <a:p>
            <a:r>
              <a:rPr sz="1050" dirty="0">
                <a:solidFill>
                  <a:srgbClr val="29333D"/>
                </a:solidFill>
                <a:latin typeface="Arial"/>
              </a:rPr>
              <a:t>• Claims adjudication, provider, and clinical testing are excluded.</a:t>
            </a:r>
          </a:p>
          <a:p>
            <a:r>
              <a:rPr sz="1050" dirty="0">
                <a:solidFill>
                  <a:srgbClr val="29333D"/>
                </a:solidFill>
                <a:latin typeface="Arial"/>
              </a:rPr>
              <a:t>• RFY-specific ID-card changes and new fulfillment functionality are excluded.</a:t>
            </a:r>
          </a:p>
          <a:p>
            <a:r>
              <a:rPr sz="1050" dirty="0">
                <a:solidFill>
                  <a:srgbClr val="29333D"/>
                </a:solidFill>
                <a:latin typeface="Arial"/>
              </a:rPr>
              <a:t>• Reward algorithms and detailed vendor integrations are excluded unless separately approved.</a:t>
            </a:r>
          </a:p>
          <a:p>
            <a:r>
              <a:rPr sz="1050" dirty="0">
                <a:solidFill>
                  <a:srgbClr val="29333D"/>
                </a:solidFill>
                <a:latin typeface="Arial"/>
              </a:rPr>
              <a:t>• Separate owners must confirm any additional migration, renewal, clinical, or claims coverage.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09160" y="1828800"/>
            <a:ext cx="3977639" cy="4160520"/>
          </a:xfrm>
          <a:prstGeom prst="roundRect">
            <a:avLst/>
          </a:prstGeom>
          <a:solidFill>
            <a:srgbClr val="F4F8FB"/>
          </a:solidFill>
          <a:ln>
            <a:solidFill>
              <a:srgbClr val="B9C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709160" y="1828800"/>
            <a:ext cx="3977639" cy="347472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818888" y="1892807"/>
            <a:ext cx="2029723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dirty="0">
                <a:solidFill>
                  <a:schemeClr val="bg1"/>
                </a:solidFill>
                <a:latin typeface="Arial"/>
              </a:rPr>
              <a:t>PET NB Included Maintenance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37176" y="2304288"/>
            <a:ext cx="3721607" cy="3566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969" b="0">
                <a:solidFill>
                  <a:srgbClr val="29333D"/>
                </a:solidFill>
                <a:latin typeface="Arial"/>
              </a:rPr>
              <a:t>• Future-effective New Business RFY setup.</a:t>
            </a:r>
          </a:p>
          <a:p>
            <a:r>
              <a:rPr sz="969" b="0">
                <a:solidFill>
                  <a:srgbClr val="29333D"/>
                </a:solidFill>
                <a:latin typeface="Arial"/>
              </a:rPr>
              <a:t>• Member maintenance, including B&amp;E Portal validation.</a:t>
            </a:r>
          </a:p>
          <a:p>
            <a:r>
              <a:rPr sz="969" b="0">
                <a:solidFill>
                  <a:srgbClr val="29333D"/>
                </a:solidFill>
                <a:latin typeface="Arial"/>
              </a:rPr>
              <a:t>• RFY rate, effective-date, or expiration-date correction before go-live, if supported.</a:t>
            </a:r>
          </a:p>
          <a:p>
            <a:r>
              <a:rPr sz="969" b="0">
                <a:solidFill>
                  <a:srgbClr val="29333D"/>
                </a:solidFill>
                <a:latin typeface="Arial"/>
              </a:rPr>
              <a:t>• Verify downstream systems do not create duplicate billing or RFY associations.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256032" y="393192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>
                <a:solidFill>
                  <a:srgbClr val="FFFFFF"/>
                </a:solidFill>
              </a:rPr>
              <a:t>PET New Business Testing Scope</a:t>
            </a:r>
            <a:endParaRPr lang="en-US" sz="2100"/>
          </a:p>
        </p:txBody>
      </p:sp>
      <p:sp>
        <p:nvSpPr>
          <p:cNvPr id="3" name="Shape 1"/>
          <p:cNvSpPr/>
          <p:nvPr/>
        </p:nvSpPr>
        <p:spPr>
          <a:xfrm>
            <a:off x="457200" y="1417320"/>
            <a:ext cx="3977640" cy="4480560"/>
          </a:xfrm>
          <a:prstGeom prst="roundRect">
            <a:avLst/>
          </a:prstGeom>
          <a:solidFill>
            <a:srgbClr val="F4F8FB"/>
          </a:solidFill>
          <a:ln w="12700">
            <a:solidFill>
              <a:srgbClr val="B9CA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977640" cy="34747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66928" y="1481328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</a:rPr>
              <a:t>Billing and Eligibility</a:t>
            </a:r>
            <a:endParaRPr lang="en-US" sz="1200"/>
          </a:p>
        </p:txBody>
      </p:sp>
      <p:sp>
        <p:nvSpPr>
          <p:cNvPr id="6" name="Text 4"/>
          <p:cNvSpPr/>
          <p:nvPr/>
        </p:nvSpPr>
        <p:spPr>
          <a:xfrm>
            <a:off x="585216" y="1892808"/>
            <a:ext cx="3721608" cy="3913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sz="919" b="0">
                <a:solidFill>
                  <a:srgbClr val="29333D"/>
                </a:solidFill>
                <a:latin typeface="Arial"/>
              </a:rPr>
              <a:t>• Validate the newly added RFY bill item type in BRMS and BASICS.</a:t>
            </a:r>
          </a:p>
          <a:p>
            <a:r>
              <a:rPr sz="919" b="0">
                <a:solidFill>
                  <a:srgbClr val="29333D"/>
                </a:solidFill>
                <a:latin typeface="Arial"/>
              </a:rPr>
              <a:t>• Validate new billing schedules and approved schedule fields.</a:t>
            </a:r>
          </a:p>
          <a:p>
            <a:r>
              <a:rPr sz="919" b="0">
                <a:solidFill>
                  <a:srgbClr val="29333D"/>
                </a:solidFill>
                <a:latin typeface="Arial"/>
              </a:rPr>
              <a:t>• Validate case-rate billing for the approved non-UHG population.</a:t>
            </a:r>
          </a:p>
          <a:p>
            <a:r>
              <a:rPr sz="919" b="0">
                <a:solidFill>
                  <a:srgbClr val="29333D"/>
                </a:solidFill>
                <a:latin typeface="Arial"/>
              </a:rPr>
              <a:t>• Validate member-level eligibility used to determine the billable population.</a:t>
            </a:r>
          </a:p>
          <a:p>
            <a:r>
              <a:rPr sz="919" b="0">
                <a:solidFill>
                  <a:srgbClr val="29333D"/>
                </a:solidFill>
                <a:latin typeface="Arial"/>
              </a:rPr>
              <a:t>• Validate bill item amount, effective and expiration dates, proration codes, and assignment-use type.</a:t>
            </a:r>
          </a:p>
          <a:p>
            <a:r>
              <a:rPr sz="919" b="0">
                <a:solidFill>
                  <a:srgbClr val="29333D"/>
                </a:solidFill>
                <a:latin typeface="Arial"/>
              </a:rPr>
              <a:t>• Confirm BRMS and BASICS billing results match approved expected results.</a:t>
            </a:r>
          </a:p>
          <a:p>
            <a:r>
              <a:rPr sz="919" b="0">
                <a:solidFill>
                  <a:srgbClr val="29333D"/>
                </a:solidFill>
                <a:latin typeface="Arial"/>
              </a:rPr>
              <a:t>• Validate applicable B&amp;E Portal billing visibility, if included.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82396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550">
                <a:solidFill>
                  <a:srgbClr val="6070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594360" y="5833872"/>
            <a:ext cx="79552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36C21"/>
                </a:solidFill>
                <a:latin typeface="Arial"/>
              </a:defRPr>
            </a:pPr>
            <a:r>
              <a:t>Current expected OBM/Cirrus mapping: Billing Schedule Type 02 | Calculation Method 08 (Per Unit) | Enrollment Proration 01 | Termination Proration 01 | Assignment Use Type 03 | Rate Guarantee false. Subject to approved requirements.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256032" y="393192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>
                <a:solidFill>
                  <a:srgbClr val="FFFFFF"/>
                </a:solidFill>
              </a:rPr>
              <a:t>PET New Business Testing Scope</a:t>
            </a:r>
            <a:endParaRPr lang="en-US" sz="2100"/>
          </a:p>
        </p:txBody>
      </p:sp>
      <p:sp>
        <p:nvSpPr>
          <p:cNvPr id="3" name="Rounded Rectangle 2"/>
          <p:cNvSpPr/>
          <p:nvPr/>
        </p:nvSpPr>
        <p:spPr>
          <a:xfrm>
            <a:off x="228600" y="1353312"/>
            <a:ext cx="2788920" cy="4709160"/>
          </a:xfrm>
          <a:prstGeom prst="roundRect">
            <a:avLst/>
          </a:prstGeom>
          <a:solidFill>
            <a:srgbClr val="F4F8FB"/>
          </a:solidFill>
          <a:ln>
            <a:solidFill>
              <a:srgbClr val="B9C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28600" y="1353312"/>
            <a:ext cx="2788920" cy="347472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38328" y="1417320"/>
            <a:ext cx="25603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rial"/>
              </a:rPr>
              <a:t>ACET Member / ACET BEO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" y="1828800"/>
            <a:ext cx="2532888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0">
                <a:solidFill>
                  <a:srgbClr val="29333D"/>
                </a:solidFill>
                <a:latin typeface="Arial"/>
              </a:rPr>
              <a:t>• Validate approved RFY eligibility and utilization-plan information.</a:t>
            </a:r>
          </a:p>
          <a:p>
            <a:r>
              <a:rPr sz="950" b="0">
                <a:solidFill>
                  <a:srgbClr val="29333D"/>
                </a:solidFill>
                <a:latin typeface="Arial"/>
              </a:rPr>
              <a:t>• Validate eligible and non-eligible member controls.</a:t>
            </a:r>
          </a:p>
          <a:p>
            <a:r>
              <a:rPr sz="950" b="0">
                <a:solidFill>
                  <a:srgbClr val="29333D"/>
                </a:solidFill>
                <a:latin typeface="Arial"/>
              </a:rPr>
              <a:t>• Validate approved group, plan, and member information.</a:t>
            </a:r>
          </a:p>
          <a:p>
            <a:r>
              <a:rPr sz="950" b="0">
                <a:solidFill>
                  <a:srgbClr val="29333D"/>
                </a:solidFill>
                <a:latin typeface="Arial"/>
              </a:rPr>
              <a:t>• Detailed fields and expected results: TBD.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82112" y="1353312"/>
            <a:ext cx="2788920" cy="4709160"/>
          </a:xfrm>
          <a:prstGeom prst="roundRect">
            <a:avLst/>
          </a:prstGeom>
          <a:solidFill>
            <a:srgbClr val="F4F8FB"/>
          </a:solidFill>
          <a:ln>
            <a:solidFill>
              <a:srgbClr val="B9C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182112" y="1353312"/>
            <a:ext cx="2788920" cy="347472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91840" y="1417320"/>
            <a:ext cx="25603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rial"/>
              </a:rPr>
              <a:t>SPIRE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10128" y="1828800"/>
            <a:ext cx="2532888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0">
                <a:solidFill>
                  <a:srgbClr val="29333D"/>
                </a:solidFill>
                <a:latin typeface="Arial"/>
              </a:rPr>
              <a:t>• Validate approved RFY information in SPIRE.</a:t>
            </a:r>
          </a:p>
          <a:p>
            <a:r>
              <a:rPr sz="950" b="0">
                <a:solidFill>
                  <a:srgbClr val="29333D"/>
                </a:solidFill>
                <a:latin typeface="Arial"/>
              </a:rPr>
              <a:t>• Confirm member and eligibility results display correctly.</a:t>
            </a:r>
          </a:p>
          <a:p>
            <a:r>
              <a:rPr sz="950" b="0">
                <a:solidFill>
                  <a:srgbClr val="29333D"/>
                </a:solidFill>
                <a:latin typeface="Arial"/>
              </a:rPr>
              <a:t>• Confirm non-eligible members do not display RFY incorrectly.</a:t>
            </a:r>
          </a:p>
          <a:p>
            <a:r>
              <a:rPr sz="950" b="0">
                <a:solidFill>
                  <a:srgbClr val="29333D"/>
                </a:solidFill>
                <a:latin typeface="Arial"/>
              </a:rPr>
              <a:t>• Environment, access, fields, and expected results: TBD.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353312"/>
            <a:ext cx="2788920" cy="4709160"/>
          </a:xfrm>
          <a:prstGeom prst="roundRect">
            <a:avLst/>
          </a:prstGeom>
          <a:solidFill>
            <a:srgbClr val="F4F8FB"/>
          </a:solidFill>
          <a:ln>
            <a:solidFill>
              <a:srgbClr val="B9C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26480" y="1353312"/>
            <a:ext cx="2788920" cy="347472"/>
          </a:xfrm>
          <a:prstGeom prst="rect">
            <a:avLst/>
          </a:prstGeom>
          <a:solidFill>
            <a:srgbClr val="F36C21"/>
          </a:solidFill>
          <a:ln>
            <a:solidFill>
              <a:srgbClr val="F36C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36208" y="1417320"/>
            <a:ext cx="25603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rial"/>
              </a:rPr>
              <a:t>myUHC / Surest Member Portal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54496" y="1828800"/>
            <a:ext cx="2532888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0">
                <a:solidFill>
                  <a:srgbClr val="29333D"/>
                </a:solidFill>
                <a:latin typeface="Arial"/>
              </a:rPr>
              <a:t>• Validate approved portal scope for eligible RFY members.</a:t>
            </a:r>
          </a:p>
          <a:p>
            <a:r>
              <a:rPr sz="950" b="0">
                <a:solidFill>
                  <a:srgbClr val="29333D"/>
                </a:solidFill>
                <a:latin typeface="Arial"/>
              </a:rPr>
              <a:t>• Confirm RFY program visibility and access.</a:t>
            </a:r>
          </a:p>
          <a:p>
            <a:r>
              <a:rPr sz="950" b="0">
                <a:solidFill>
                  <a:srgbClr val="29333D"/>
                </a:solidFill>
                <a:latin typeface="Arial"/>
              </a:rPr>
              <a:t>• Validate applicable member-maintenance impacts.</a:t>
            </a:r>
          </a:p>
          <a:p>
            <a:r>
              <a:rPr sz="950" b="0">
                <a:solidFill>
                  <a:srgbClr val="29333D"/>
                </a:solidFill>
                <a:latin typeface="Arial"/>
              </a:rPr>
              <a:t>• Environment, credentials, ownership, and expected results: TBD.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256032" y="393192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>
                <a:solidFill>
                  <a:srgbClr val="FFFFFF"/>
                </a:solidFill>
              </a:rPr>
              <a:t>PET New Business Testing Scope</a:t>
            </a:r>
            <a:endParaRPr lang="en-US" sz="2100"/>
          </a:p>
        </p:txBody>
      </p:sp>
      <p:sp>
        <p:nvSpPr>
          <p:cNvPr id="3" name="Shape 1"/>
          <p:cNvSpPr/>
          <p:nvPr/>
        </p:nvSpPr>
        <p:spPr>
          <a:xfrm>
            <a:off x="1508760" y="1417320"/>
            <a:ext cx="6126480" cy="4434840"/>
          </a:xfrm>
          <a:prstGeom prst="roundRect">
            <a:avLst/>
          </a:prstGeom>
          <a:solidFill>
            <a:srgbClr val="F4F8FB"/>
          </a:solidFill>
          <a:ln w="12700">
            <a:solidFill>
              <a:srgbClr val="B9CA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508760" y="1417320"/>
            <a:ext cx="6126480" cy="34747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508760" y="1481328"/>
            <a:ext cx="6126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150" b="0" dirty="0">
                <a:solidFill>
                  <a:schemeClr val="bg1"/>
                </a:solidFill>
                <a:latin typeface="Arial"/>
              </a:rPr>
              <a:t>BOSS</a:t>
            </a:r>
          </a:p>
        </p:txBody>
      </p:sp>
      <p:sp>
        <p:nvSpPr>
          <p:cNvPr id="6" name="Text 4"/>
          <p:cNvSpPr/>
          <p:nvPr/>
        </p:nvSpPr>
        <p:spPr>
          <a:xfrm>
            <a:off x="1508760" y="1892808"/>
            <a:ext cx="6126480" cy="3867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/>
              <a:t>Validate the approved RFY values are received and processed in BOSS.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/>
              <a:t>Validate the applicable RFY identifiers and effective dates.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/>
              <a:t>Confirm RFY data is associated with the correct group or population based on approved requirements.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/>
              <a:t>Validate expected BOSS results using application-team evidence.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/>
              <a:t>Support defect triage if the expected RFY data does not reach BOSS.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256032" y="393192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>
                <a:solidFill>
                  <a:srgbClr val="FFFFFF"/>
                </a:solidFill>
              </a:rPr>
              <a:t>PET New Business Testing Scope</a:t>
            </a:r>
            <a:endParaRPr lang="en-US" sz="2100"/>
          </a:p>
        </p:txBody>
      </p:sp>
      <p:sp>
        <p:nvSpPr>
          <p:cNvPr id="3" name="Shape 1"/>
          <p:cNvSpPr/>
          <p:nvPr/>
        </p:nvSpPr>
        <p:spPr>
          <a:xfrm>
            <a:off x="457200" y="1417320"/>
            <a:ext cx="3977640" cy="4434840"/>
          </a:xfrm>
          <a:prstGeom prst="roundRect">
            <a:avLst/>
          </a:prstGeom>
          <a:solidFill>
            <a:srgbClr val="F4F8FB"/>
          </a:solidFill>
          <a:ln w="12700">
            <a:solidFill>
              <a:srgbClr val="B9CA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977640" cy="34747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66928" y="1481328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</a:rPr>
              <a:t>ID Cards – Regression Only</a:t>
            </a:r>
            <a:endParaRPr lang="en-US" sz="1200"/>
          </a:p>
        </p:txBody>
      </p:sp>
      <p:sp>
        <p:nvSpPr>
          <p:cNvPr id="6" name="Text 4"/>
          <p:cNvSpPr/>
          <p:nvPr/>
        </p:nvSpPr>
        <p:spPr>
          <a:xfrm>
            <a:off x="585216" y="1892808"/>
            <a:ext cx="3721608" cy="3867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130" dirty="0">
                <a:solidFill>
                  <a:srgbClr val="29333D"/>
                </a:solidFill>
                <a:highlight>
                  <a:srgbClr val="FFFF00"/>
                </a:highlight>
              </a:rPr>
              <a:t>No RFY-specific ID-card design or content requirement is confirmed.</a:t>
            </a:r>
            <a:endParaRPr lang="en-US" sz="1130" dirty="0">
              <a:highlight>
                <a:srgbClr val="FFFF00"/>
              </a:highlight>
            </a:endParaRPr>
          </a:p>
          <a:p>
            <a:pPr marL="152400" indent="-152400">
              <a:buSzPct val="100000"/>
              <a:buChar char="•"/>
            </a:pPr>
            <a:r>
              <a:rPr lang="en-US" sz="1130" dirty="0">
                <a:solidFill>
                  <a:srgbClr val="29333D"/>
                </a:solidFill>
                <a:highlight>
                  <a:srgbClr val="FFFF00"/>
                </a:highlight>
              </a:rPr>
              <a:t>Validate standard card generation only if the application team requests regression coverage.</a:t>
            </a:r>
            <a:endParaRPr lang="en-US" sz="1130" dirty="0">
              <a:highlight>
                <a:srgbClr val="FFFF00"/>
              </a:highlight>
            </a:endParaRPr>
          </a:p>
          <a:p>
            <a:pPr marL="152400" indent="-152400">
              <a:buSzPct val="100000"/>
              <a:buChar char="•"/>
            </a:pPr>
            <a:r>
              <a:rPr lang="en-US" sz="1130" dirty="0">
                <a:solidFill>
                  <a:srgbClr val="29333D"/>
                </a:solidFill>
                <a:highlight>
                  <a:srgbClr val="FFFF00"/>
                </a:highlight>
              </a:rPr>
              <a:t>Confirm RFY setup does not suppress or fail existing card generation.</a:t>
            </a:r>
            <a:endParaRPr lang="en-US" sz="1130" dirty="0">
              <a:highlight>
                <a:srgbClr val="FFFF00"/>
              </a:highlight>
            </a:endParaRPr>
          </a:p>
          <a:p>
            <a:pPr marL="152400" indent="-152400">
              <a:buSzPct val="100000"/>
              <a:buChar char="•"/>
            </a:pPr>
            <a:r>
              <a:rPr lang="en-US" sz="1130" dirty="0">
                <a:solidFill>
                  <a:srgbClr val="29333D"/>
                </a:solidFill>
                <a:highlight>
                  <a:srgbClr val="FFFF00"/>
                </a:highlight>
              </a:rPr>
              <a:t>RFY-specific wording, logo, and benefit content are out of scope unless requirements change.</a:t>
            </a:r>
            <a:endParaRPr lang="en-US" sz="1130" dirty="0">
              <a:highlight>
                <a:srgbClr val="FFFF00"/>
              </a:highlight>
            </a:endParaRPr>
          </a:p>
        </p:txBody>
      </p:sp>
      <p:sp>
        <p:nvSpPr>
          <p:cNvPr id="7" name="Shape 5"/>
          <p:cNvSpPr/>
          <p:nvPr/>
        </p:nvSpPr>
        <p:spPr>
          <a:xfrm>
            <a:off x="4709160" y="1417320"/>
            <a:ext cx="3977640" cy="4434840"/>
          </a:xfrm>
          <a:prstGeom prst="roundRect">
            <a:avLst/>
          </a:prstGeom>
          <a:solidFill>
            <a:srgbClr val="F4F8FB"/>
          </a:solidFill>
          <a:ln w="12700">
            <a:solidFill>
              <a:srgbClr val="B9CA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709160" y="1417320"/>
            <a:ext cx="3977640" cy="3474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818888" y="1481328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Fulfillment – No Impact /  Regression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37176" y="1892808"/>
            <a:ext cx="3721608" cy="3867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130">
                <a:solidFill>
                  <a:srgbClr val="29333D"/>
                </a:solidFill>
              </a:rPr>
              <a:t>COM360 and QIB/member fulfillment are identified as no impact.</a:t>
            </a:r>
            <a:endParaRPr lang="en-US" sz="1130"/>
          </a:p>
          <a:p>
            <a:pPr marL="152400" indent="-152400">
              <a:buSzPct val="100000"/>
              <a:buChar char="•"/>
            </a:pPr>
            <a:r>
              <a:rPr lang="en-US" sz="1130">
                <a:solidFill>
                  <a:srgbClr val="29333D"/>
                </a:solidFill>
              </a:rPr>
              <a:t>Validate existing document or portal pass-through only if requested.</a:t>
            </a:r>
            <a:endParaRPr lang="en-US" sz="1130"/>
          </a:p>
          <a:p>
            <a:pPr marL="152400" indent="-152400">
              <a:buSzPct val="100000"/>
              <a:buChar char="•"/>
            </a:pPr>
            <a:r>
              <a:rPr lang="en-US" sz="1130">
                <a:solidFill>
                  <a:srgbClr val="29333D"/>
                </a:solidFill>
              </a:rPr>
              <a:t>No new RFY fields or fulfillment documents are currently confirmed.</a:t>
            </a:r>
            <a:endParaRPr lang="en-US" sz="1130"/>
          </a:p>
          <a:p>
            <a:pPr marL="152400" indent="-152400">
              <a:buSzPct val="100000"/>
              <a:buChar char="•"/>
            </a:pPr>
            <a:r>
              <a:rPr lang="en-US" sz="1130">
                <a:solidFill>
                  <a:srgbClr val="29333D"/>
                </a:solidFill>
              </a:rPr>
              <a:t>Document types, archival validation, and test access: TBD.</a:t>
            </a:r>
            <a:endParaRPr lang="en-US" sz="113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82396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550">
                <a:solidFill>
                  <a:srgbClr val="6070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256032" y="393192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>
                <a:solidFill>
                  <a:srgbClr val="FFFFFF"/>
                </a:solidFill>
              </a:rPr>
              <a:t>In Scope, Out of Scope, and Separate Dependencies</a:t>
            </a:r>
            <a:endParaRPr lang="en-US" sz="2100"/>
          </a:p>
        </p:txBody>
      </p:sp>
      <p:sp>
        <p:nvSpPr>
          <p:cNvPr id="3" name="Shape 1"/>
          <p:cNvSpPr/>
          <p:nvPr/>
        </p:nvSpPr>
        <p:spPr>
          <a:xfrm>
            <a:off x="320040" y="1325880"/>
            <a:ext cx="2743200" cy="4572000"/>
          </a:xfrm>
          <a:prstGeom prst="roundRect">
            <a:avLst/>
          </a:prstGeom>
          <a:solidFill>
            <a:srgbClr val="F4F8FB"/>
          </a:solidFill>
          <a:ln w="12700">
            <a:solidFill>
              <a:srgbClr val="B9CA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20040" y="1325880"/>
            <a:ext cx="2743200" cy="34747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29768" y="1389888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</a:rPr>
              <a:t>In Scope</a:t>
            </a:r>
            <a:endParaRPr lang="en-US" sz="1200"/>
          </a:p>
        </p:txBody>
      </p:sp>
      <p:sp>
        <p:nvSpPr>
          <p:cNvPr id="6" name="Text 4"/>
          <p:cNvSpPr/>
          <p:nvPr/>
        </p:nvSpPr>
        <p:spPr>
          <a:xfrm>
            <a:off x="448056" y="1801368"/>
            <a:ext cx="2487168" cy="4005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sz="1200" b="0" dirty="0">
                <a:solidFill>
                  <a:srgbClr val="29333D"/>
                </a:solidFill>
                <a:latin typeface="+mj-lt"/>
              </a:rPr>
              <a:t>• </a:t>
            </a:r>
            <a:r>
              <a:rPr lang="en-US" sz="1200" dirty="0">
                <a:latin typeface="+mj-lt"/>
              </a:rPr>
              <a:t>Case Install: OBM, Surest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+mj-lt"/>
              </a:rPr>
              <a:t>Eligibility processing: CIP and CDB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+mj-lt"/>
              </a:rPr>
              <a:t>Digital: ACET Member, ACET BEO, SPIRE, </a:t>
            </a:r>
            <a:r>
              <a:rPr lang="en-US" sz="1200" dirty="0" err="1">
                <a:latin typeface="+mj-lt"/>
              </a:rPr>
              <a:t>myUHC</a:t>
            </a:r>
            <a:r>
              <a:rPr lang="en-US" sz="1200" dirty="0">
                <a:latin typeface="+mj-lt"/>
              </a:rPr>
              <a:t>/Surest Member Portal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+mj-lt"/>
              </a:rPr>
              <a:t>Billing: Cirrus, BRMS, BASICS, new bill items and billing schedules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+mj-lt"/>
              </a:rPr>
              <a:t>Extracts/Streaming: BOSS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+mj-lt"/>
              </a:rPr>
              <a:t>Member Maintenance, including B&amp;E Portals</a:t>
            </a:r>
          </a:p>
        </p:txBody>
      </p:sp>
      <p:sp>
        <p:nvSpPr>
          <p:cNvPr id="7" name="Shape 5"/>
          <p:cNvSpPr/>
          <p:nvPr/>
        </p:nvSpPr>
        <p:spPr>
          <a:xfrm>
            <a:off x="3200400" y="1325880"/>
            <a:ext cx="2743200" cy="4572000"/>
          </a:xfrm>
          <a:prstGeom prst="roundRect">
            <a:avLst/>
          </a:prstGeom>
          <a:solidFill>
            <a:srgbClr val="F4F8FB"/>
          </a:solidFill>
          <a:ln w="12700">
            <a:solidFill>
              <a:srgbClr val="B9CA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200400" y="1325880"/>
            <a:ext cx="2743200" cy="347472"/>
          </a:xfrm>
          <a:prstGeom prst="rect">
            <a:avLst/>
          </a:prstGeom>
          <a:solidFill>
            <a:srgbClr val="F36C21"/>
          </a:solidFill>
          <a:ln w="12700">
            <a:solidFill>
              <a:srgbClr val="F36C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310128" y="1389888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</a:rPr>
              <a:t>Out of Scope</a:t>
            </a:r>
            <a:endParaRPr lang="en-US" sz="1200"/>
          </a:p>
        </p:txBody>
      </p:sp>
      <p:sp>
        <p:nvSpPr>
          <p:cNvPr id="10" name="Text 8"/>
          <p:cNvSpPr/>
          <p:nvPr/>
        </p:nvSpPr>
        <p:spPr>
          <a:xfrm>
            <a:off x="3328416" y="1801368"/>
            <a:ext cx="2487168" cy="4005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sz="1100" dirty="0">
                <a:solidFill>
                  <a:srgbClr val="29333D"/>
                </a:solidFill>
                <a:latin typeface="+mj-lt"/>
              </a:rPr>
              <a:t>• </a:t>
            </a:r>
            <a:r>
              <a:rPr lang="en-US" sz="1100" dirty="0">
                <a:latin typeface="+mj-lt"/>
              </a:rPr>
              <a:t>UHC ASO Rewards population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latin typeface="+mj-lt"/>
              </a:rPr>
              <a:t>Claims and provider testing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latin typeface="+mj-lt"/>
              </a:rPr>
              <a:t>Clinical testing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latin typeface="+mj-lt"/>
              </a:rPr>
              <a:t>RFY-specific ID-card changes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latin typeface="+mj-lt"/>
              </a:rPr>
              <a:t>New fulfillment functionality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latin typeface="+mj-lt"/>
              </a:rPr>
              <a:t>Detailed application-component testing unless specifically assigned</a:t>
            </a:r>
          </a:p>
        </p:txBody>
      </p:sp>
      <p:sp>
        <p:nvSpPr>
          <p:cNvPr id="11" name="Shape 9"/>
          <p:cNvSpPr/>
          <p:nvPr/>
        </p:nvSpPr>
        <p:spPr>
          <a:xfrm>
            <a:off x="6080760" y="1325880"/>
            <a:ext cx="2743200" cy="4572000"/>
          </a:xfrm>
          <a:prstGeom prst="roundRect">
            <a:avLst/>
          </a:prstGeom>
          <a:solidFill>
            <a:srgbClr val="F4F8FB"/>
          </a:solidFill>
          <a:ln w="12700">
            <a:solidFill>
              <a:srgbClr val="B9CA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080760" y="1325880"/>
            <a:ext cx="2743200" cy="3474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190488" y="1389888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FFFFFF"/>
                </a:solidFill>
              </a:rPr>
              <a:t>TBD /Separate Dependencies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08776" y="1801368"/>
            <a:ext cx="2487168" cy="4005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100" dirty="0"/>
              <a:t>OptumRx impact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100" dirty="0"/>
              <a:t>Renewal or migration testing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100" dirty="0"/>
              <a:t>Final case-rate billing rules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100" dirty="0"/>
              <a:t>Final member-level billing eligibility rules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100" dirty="0"/>
              <a:t>Application access and expected results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100" dirty="0"/>
              <a:t>Detailed portal and extract validation ownership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82396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550">
                <a:solidFill>
                  <a:srgbClr val="6070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 rot="900000">
            <a:off x="1965960" y="1188720"/>
            <a:ext cx="5212080" cy="4206240"/>
          </a:xfrm>
          <a:prstGeom prst="ellipse">
            <a:avLst/>
          </a:prstGeom>
          <a:solidFill>
            <a:srgbClr val="3F65A1"/>
          </a:solidFill>
          <a:ln w="25400">
            <a:solidFill>
              <a:srgbClr val="5B9B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965960" y="292608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900">
                <a:solidFill>
                  <a:srgbClr val="FFFFFF"/>
                </a:solidFill>
              </a:rPr>
              <a:t>Thank You</a:t>
            </a:r>
            <a:endParaRPr lang="en-US" sz="2900"/>
          </a:p>
        </p:txBody>
      </p:sp>
      <p:sp>
        <p:nvSpPr>
          <p:cNvPr id="4" name="Text 2"/>
          <p:cNvSpPr/>
          <p:nvPr/>
        </p:nvSpPr>
        <p:spPr>
          <a:xfrm>
            <a:off x="2286000" y="3657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EAF2F8"/>
                </a:solidFill>
              </a:rPr>
              <a:t>Questions and scope confirmations</a:t>
            </a:r>
            <a:endParaRPr lang="en-US" sz="1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1748</Words>
  <Application>Microsoft Office PowerPoint</Application>
  <PresentationFormat>On-screen Show (4:3)</PresentationFormat>
  <Paragraphs>198</Paragraphs>
  <Slides>13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5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ST22780 Rewards For You PET Test Plan - Final</dc:title>
  <dc:subject>Product Ecosystem Testing Plan</dc:subject>
  <dc:creator>Mohite, Sakshi M</dc:creator>
  <cp:lastModifiedBy>Mohite, Sakshi M</cp:lastModifiedBy>
  <cp:revision>4</cp:revision>
  <dcterms:created xsi:type="dcterms:W3CDTF">2026-10-07T14:35:22Z</dcterms:created>
  <dcterms:modified xsi:type="dcterms:W3CDTF">2026-10-07T15:02:40Z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0261ece-9d32-4744-8e78-9dd7bfb52643_Enabled">
    <vt:lpwstr>true</vt:lpwstr>
  </property>
  <property fmtid="{D5CDD505-2E9C-101B-9397-08002B2CF9AE}" pid="3" name="MSIP_Label_50261ece-9d32-4744-8e78-9dd7bfb52643_SetDate">
    <vt:lpwstr>2026-10-06T18:16:37Z</vt:lpwstr>
  </property>
  <property fmtid="{D5CDD505-2E9C-101B-9397-08002B2CF9AE}" pid="4" name="MSIP_Label_50261ece-9d32-4744-8e78-9dd7bfb52643_Method">
    <vt:lpwstr>Privileged</vt:lpwstr>
  </property>
  <property fmtid="{D5CDD505-2E9C-101B-9397-08002B2CF9AE}" pid="5" name="MSIP_Label_50261ece-9d32-4744-8e78-9dd7bfb52643_Name">
    <vt:lpwstr>Internal Public</vt:lpwstr>
  </property>
  <property fmtid="{D5CDD505-2E9C-101B-9397-08002B2CF9AE}" pid="6" name="MSIP_Label_50261ece-9d32-4744-8e78-9dd7bfb52643_SiteId">
    <vt:lpwstr>db05faca-c82a-4b9d-b9c5-0f64b6755421</vt:lpwstr>
  </property>
  <property fmtid="{D5CDD505-2E9C-101B-9397-08002B2CF9AE}" pid="7" name="MSIP_Label_50261ece-9d32-4744-8e78-9dd7bfb52643_ActionId">
    <vt:lpwstr>1d0229d3-029e-4000-851d-9716853df02e</vt:lpwstr>
  </property>
  <property fmtid="{D5CDD505-2E9C-101B-9397-08002B2CF9AE}" pid="8" name="MSIP_Label_50261ece-9d32-4744-8e78-9dd7bfb52643_ContentBits">
    <vt:lpwstr>0</vt:lpwstr>
  </property>
</Properties>
</file>