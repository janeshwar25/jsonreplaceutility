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0" r:id="rId4"/>
    <p:sldMasterId id="2147483717" r:id="rId5"/>
  </p:sldMasterIdLst>
  <p:notesMasterIdLst>
    <p:notesMasterId r:id="rId72"/>
  </p:notesMasterIdLst>
  <p:handoutMasterIdLst>
    <p:handoutMasterId r:id="rId73"/>
  </p:handoutMasterIdLst>
  <p:sldIdLst>
    <p:sldId id="445" r:id="rId6"/>
    <p:sldId id="404" r:id="rId7"/>
    <p:sldId id="446" r:id="rId8"/>
    <p:sldId id="456" r:id="rId9"/>
    <p:sldId id="2146847233" r:id="rId10"/>
    <p:sldId id="466" r:id="rId11"/>
    <p:sldId id="584" r:id="rId12"/>
    <p:sldId id="2147470055" r:id="rId13"/>
    <p:sldId id="587" r:id="rId14"/>
    <p:sldId id="588" r:id="rId15"/>
    <p:sldId id="2147470054" r:id="rId16"/>
    <p:sldId id="2145705504" r:id="rId17"/>
    <p:sldId id="2147470071" r:id="rId18"/>
    <p:sldId id="2147470094" r:id="rId19"/>
    <p:sldId id="2145705520" r:id="rId20"/>
    <p:sldId id="2147470774" r:id="rId21"/>
    <p:sldId id="2147470106" r:id="rId22"/>
    <p:sldId id="2147470107" r:id="rId23"/>
    <p:sldId id="2145705525" r:id="rId24"/>
    <p:sldId id="2147470775" r:id="rId25"/>
    <p:sldId id="2145705527" r:id="rId26"/>
    <p:sldId id="2147470751" r:id="rId27"/>
    <p:sldId id="2145705526" r:id="rId28"/>
    <p:sldId id="2145705528" r:id="rId29"/>
    <p:sldId id="2145705550" r:id="rId30"/>
    <p:sldId id="2147470752" r:id="rId31"/>
    <p:sldId id="2147470776" r:id="rId32"/>
    <p:sldId id="2147470753" r:id="rId33"/>
    <p:sldId id="2147470754" r:id="rId34"/>
    <p:sldId id="2147470755" r:id="rId35"/>
    <p:sldId id="2147470777" r:id="rId36"/>
    <p:sldId id="2145705516" r:id="rId37"/>
    <p:sldId id="2147470756" r:id="rId38"/>
    <p:sldId id="2147470757" r:id="rId39"/>
    <p:sldId id="2147470758" r:id="rId40"/>
    <p:sldId id="2147470759" r:id="rId41"/>
    <p:sldId id="2147470778" r:id="rId42"/>
    <p:sldId id="2147470761" r:id="rId43"/>
    <p:sldId id="2147470760" r:id="rId44"/>
    <p:sldId id="2145705498" r:id="rId45"/>
    <p:sldId id="2147470762" r:id="rId46"/>
    <p:sldId id="2147470779" r:id="rId47"/>
    <p:sldId id="2145705533" r:id="rId48"/>
    <p:sldId id="2145705534" r:id="rId49"/>
    <p:sldId id="2145705530" r:id="rId50"/>
    <p:sldId id="2145705531" r:id="rId51"/>
    <p:sldId id="2145705535" r:id="rId52"/>
    <p:sldId id="2147470763" r:id="rId53"/>
    <p:sldId id="2147470780" r:id="rId54"/>
    <p:sldId id="2147470764" r:id="rId55"/>
    <p:sldId id="2147470765" r:id="rId56"/>
    <p:sldId id="2147470781" r:id="rId57"/>
    <p:sldId id="2147470766" r:id="rId58"/>
    <p:sldId id="2147470769" r:id="rId59"/>
    <p:sldId id="2147470770" r:id="rId60"/>
    <p:sldId id="2147470771" r:id="rId61"/>
    <p:sldId id="2147470772" r:id="rId62"/>
    <p:sldId id="2147470773" r:id="rId63"/>
    <p:sldId id="2147470767" r:id="rId64"/>
    <p:sldId id="2147470782" r:id="rId65"/>
    <p:sldId id="2147470768" r:id="rId66"/>
    <p:sldId id="2145705540" r:id="rId67"/>
    <p:sldId id="2145705541" r:id="rId68"/>
    <p:sldId id="2145705543" r:id="rId69"/>
    <p:sldId id="2145705544" r:id="rId70"/>
    <p:sldId id="2147470070" r:id="rId71"/>
  </p:sldIdLst>
  <p:sldSz cx="9144000" cy="5143500" type="screen16x9"/>
  <p:notesSz cx="7010400" cy="120396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guide id="3" orient="horz" pos="2928">
          <p15:clr>
            <a:srgbClr val="A4A3A4"/>
          </p15:clr>
        </p15:guide>
        <p15:guide id="4" pos="2208">
          <p15:clr>
            <a:srgbClr val="A4A3A4"/>
          </p15:clr>
        </p15:guide>
        <p15:guide id="5" orient="horz" pos="3730">
          <p15:clr>
            <a:srgbClr val="A4A3A4"/>
          </p15:clr>
        </p15:guide>
        <p15:guide id="6" orient="horz" pos="3792">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Kelly" initials="KLT" lastIdx="15"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69696"/>
    <a:srgbClr val="000000"/>
    <a:srgbClr val="006600"/>
    <a:srgbClr val="4D4D4D"/>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31A0203-6575-407D-A3F0-33E60C2A9C67}" v="2" dt="2026-06-03T17:13:40.66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974" autoAdjust="0"/>
  </p:normalViewPr>
  <p:slideViewPr>
    <p:cSldViewPr snapToGrid="0">
      <p:cViewPr varScale="1">
        <p:scale>
          <a:sx n="109" d="100"/>
          <a:sy n="109" d="100"/>
        </p:scale>
        <p:origin x="706" y="82"/>
      </p:cViewPr>
      <p:guideLst>
        <p:guide orient="horz" pos="1620"/>
        <p:guide pos="2880"/>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 orient="horz" pos="2928"/>
        <p:guide pos="2208"/>
        <p:guide orient="horz" pos="3730"/>
        <p:guide orient="horz" pos="3792"/>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openxmlformats.org/officeDocument/2006/relationships/slide" Target="slides/slide58.xml"/><Relationship Id="rId68" Type="http://schemas.openxmlformats.org/officeDocument/2006/relationships/slide" Target="slides/slide63.xml"/><Relationship Id="rId76" Type="http://schemas.openxmlformats.org/officeDocument/2006/relationships/viewProps" Target="viewProps.xml"/><Relationship Id="rId7" Type="http://schemas.openxmlformats.org/officeDocument/2006/relationships/slide" Target="slides/slide2.xml"/><Relationship Id="rId71" Type="http://schemas.openxmlformats.org/officeDocument/2006/relationships/slide" Target="slides/slide66.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slide" Target="slides/slide61.xml"/><Relationship Id="rId74" Type="http://schemas.openxmlformats.org/officeDocument/2006/relationships/commentAuthors" Target="commentAuthors.xml"/><Relationship Id="rId79" Type="http://schemas.microsoft.com/office/2015/10/relationships/revisionInfo" Target="revisionInfo.xml"/><Relationship Id="rId5" Type="http://schemas.openxmlformats.org/officeDocument/2006/relationships/slideMaster" Target="slideMasters/slideMaster2.xml"/><Relationship Id="rId61" Type="http://schemas.openxmlformats.org/officeDocument/2006/relationships/slide" Target="slides/slide56.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handoutMaster" Target="handoutMasters/handoutMaster1.xml"/><Relationship Id="rId78"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77" Type="http://schemas.openxmlformats.org/officeDocument/2006/relationships/theme" Target="theme/theme1.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3970938" y="11738610"/>
            <a:ext cx="3037840" cy="162096"/>
          </a:xfrm>
          <a:prstGeom prst="rect">
            <a:avLst/>
          </a:prstGeom>
        </p:spPr>
        <p:txBody>
          <a:bodyPr vert="horz" lIns="0" tIns="0" rIns="0" bIns="0" rtlCol="0" anchor="ctr"/>
          <a:lstStyle>
            <a:lvl1pPr algn="r">
              <a:defRPr sz="1200"/>
            </a:lvl1pPr>
          </a:lstStyle>
          <a:p>
            <a:fld id="{728205D9-018B-42B6-AD28-F57F62B837CA}" type="slidenum">
              <a:rPr lang="en-US" sz="900"/>
              <a:t>‹#›</a:t>
            </a:fld>
            <a:endParaRPr lang="en-US" sz="900"/>
          </a:p>
        </p:txBody>
      </p:sp>
      <p:sp>
        <p:nvSpPr>
          <p:cNvPr id="6" name="TextBox 5"/>
          <p:cNvSpPr txBox="1"/>
          <p:nvPr/>
        </p:nvSpPr>
        <p:spPr>
          <a:xfrm>
            <a:off x="1" y="11777596"/>
            <a:ext cx="5971822" cy="123111"/>
          </a:xfrm>
          <a:prstGeom prst="rect">
            <a:avLst/>
          </a:prstGeom>
          <a:noFill/>
        </p:spPr>
        <p:txBody>
          <a:bodyPr wrap="square" lIns="0" tIns="0" rIns="0" bIns="0" rtlCol="0" anchor="b">
            <a:spAutoFit/>
          </a:bodyPr>
          <a:lstStyle/>
          <a:p>
            <a:r>
              <a:rPr lang="en-US" sz="800">
                <a:latin typeface="Arial"/>
                <a:cs typeface="Arial"/>
              </a:rPr>
              <a:t>Proprietary information of UnitedHealth Group. Do not distribute or reproduce without express permission of UnitedHealth Group.</a:t>
            </a:r>
          </a:p>
        </p:txBody>
      </p:sp>
      <p:pic>
        <p:nvPicPr>
          <p:cNvPr id="8" name="Picture 7" descr="2015_UHC_Logo_RGB.eps"/>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556392" y="0"/>
            <a:ext cx="1454009" cy="383592"/>
          </a:xfrm>
          <a:prstGeom prst="rect">
            <a:avLst/>
          </a:prstGeom>
        </p:spPr>
      </p:pic>
    </p:spTree>
    <p:extLst>
      <p:ext uri="{BB962C8B-B14F-4D97-AF65-F5344CB8AC3E}">
        <p14:creationId xmlns:p14="http://schemas.microsoft.com/office/powerpoint/2010/main" val="11927135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508000" y="904875"/>
            <a:ext cx="8026400" cy="4514850"/>
          </a:xfrm>
          <a:prstGeom prst="rect">
            <a:avLst/>
          </a:prstGeom>
          <a:noFill/>
          <a:ln w="12700">
            <a:solidFill>
              <a:prstClr val="black"/>
            </a:solidFill>
          </a:ln>
        </p:spPr>
        <p:txBody>
          <a:bodyPr vert="horz" lIns="93172" tIns="46586" rIns="93172" bIns="46586" rtlCol="0" anchor="ctr"/>
          <a:lstStyle/>
          <a:p>
            <a:endParaRPr lang="en-US"/>
          </a:p>
        </p:txBody>
      </p:sp>
      <p:sp>
        <p:nvSpPr>
          <p:cNvPr id="5" name="Notes Placeholder 4"/>
          <p:cNvSpPr>
            <a:spLocks noGrp="1"/>
          </p:cNvSpPr>
          <p:nvPr>
            <p:ph type="body" sz="quarter" idx="3"/>
          </p:nvPr>
        </p:nvSpPr>
        <p:spPr>
          <a:xfrm>
            <a:off x="701040" y="5718811"/>
            <a:ext cx="5608320" cy="5417820"/>
          </a:xfrm>
          <a:prstGeom prst="rect">
            <a:avLst/>
          </a:prstGeom>
        </p:spPr>
        <p:txBody>
          <a:bodyPr vert="horz" lIns="93172" tIns="46586" rIns="93172" bIns="46586"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5"/>
          </p:nvPr>
        </p:nvSpPr>
        <p:spPr>
          <a:xfrm>
            <a:off x="3970938" y="11738610"/>
            <a:ext cx="3037840" cy="162098"/>
          </a:xfrm>
          <a:prstGeom prst="rect">
            <a:avLst/>
          </a:prstGeom>
        </p:spPr>
        <p:txBody>
          <a:bodyPr vert="horz" lIns="0" tIns="46586" rIns="0" bIns="46586" rtlCol="0" anchor="ctr"/>
          <a:lstStyle>
            <a:lvl1pPr algn="r">
              <a:defRPr sz="900"/>
            </a:lvl1pPr>
          </a:lstStyle>
          <a:p>
            <a:fld id="{AB487858-B996-4291-96F9-A7500760731E}" type="slidenum">
              <a:rPr lang="en-US" smtClean="0"/>
              <a:pPr/>
              <a:t>‹#›</a:t>
            </a:fld>
            <a:endParaRPr lang="en-US"/>
          </a:p>
        </p:txBody>
      </p:sp>
      <p:sp>
        <p:nvSpPr>
          <p:cNvPr id="8" name="TextBox 7"/>
          <p:cNvSpPr txBox="1"/>
          <p:nvPr/>
        </p:nvSpPr>
        <p:spPr>
          <a:xfrm>
            <a:off x="1" y="11777596"/>
            <a:ext cx="5971822" cy="123111"/>
          </a:xfrm>
          <a:prstGeom prst="rect">
            <a:avLst/>
          </a:prstGeom>
          <a:noFill/>
        </p:spPr>
        <p:txBody>
          <a:bodyPr wrap="square" lIns="0" tIns="0" rIns="0" bIns="0" rtlCol="0" anchor="b">
            <a:spAutoFit/>
          </a:bodyPr>
          <a:lstStyle/>
          <a:p>
            <a:r>
              <a:rPr lang="en-US" sz="800">
                <a:solidFill>
                  <a:schemeClr val="tx1"/>
                </a:solidFill>
                <a:latin typeface="Arial"/>
                <a:cs typeface="Arial"/>
              </a:rPr>
              <a:t>Proprietary information of UnitedHealth Group. Do not distribute or reproduce without express permission of UnitedHealth Group.</a:t>
            </a:r>
          </a:p>
        </p:txBody>
      </p:sp>
      <p:pic>
        <p:nvPicPr>
          <p:cNvPr id="9" name="Picture 8" descr="2015_UHC_Logo_RGB.eps"/>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556392" y="0"/>
            <a:ext cx="1454009" cy="383592"/>
          </a:xfrm>
          <a:prstGeom prst="rect">
            <a:avLst/>
          </a:prstGeom>
        </p:spPr>
      </p:pic>
    </p:spTree>
    <p:extLst>
      <p:ext uri="{BB962C8B-B14F-4D97-AF65-F5344CB8AC3E}">
        <p14:creationId xmlns:p14="http://schemas.microsoft.com/office/powerpoint/2010/main" val="2703806767"/>
      </p:ext>
    </p:extLst>
  </p:cSld>
  <p:clrMap bg1="lt1" tx1="dk1" bg2="lt2" tx2="dk2" accent1="accent1" accent2="accent2" accent3="accent3" accent4="accent4" accent5="accent5" accent6="accent6" hlink="hlink" folHlink="folHlink"/>
  <p:notesStyle>
    <a:lvl1pPr marL="171450" indent="-171450" algn="l" defTabSz="914400" rtl="0" eaLnBrk="1" latinLnBrk="0" hangingPunct="1">
      <a:spcAft>
        <a:spcPts val="400"/>
      </a:spcAft>
      <a:buClr>
        <a:schemeClr val="accent3"/>
      </a:buClr>
      <a:buFont typeface="Arial" panose="020B0604020202020204" pitchFamily="34" charset="0"/>
      <a:buChar char="•"/>
      <a:defRPr sz="1200" kern="1200">
        <a:solidFill>
          <a:srgbClr val="4D4D4D"/>
        </a:solidFill>
        <a:latin typeface="+mn-lt"/>
        <a:ea typeface="+mn-ea"/>
        <a:cs typeface="+mn-cs"/>
      </a:defRPr>
    </a:lvl1pPr>
    <a:lvl2pPr marL="342900" indent="-171450" algn="l" defTabSz="914400" rtl="0" eaLnBrk="1" latinLnBrk="0" hangingPunct="1">
      <a:spcAft>
        <a:spcPts val="400"/>
      </a:spcAft>
      <a:buClr>
        <a:schemeClr val="accent3"/>
      </a:buClr>
      <a:buFont typeface="Arial" panose="020B0604020202020204" pitchFamily="34" charset="0"/>
      <a:buChar char="–"/>
      <a:defRPr sz="1200" kern="1200">
        <a:solidFill>
          <a:srgbClr val="4D4D4D"/>
        </a:solidFill>
        <a:latin typeface="+mn-lt"/>
        <a:ea typeface="+mn-ea"/>
        <a:cs typeface="+mn-cs"/>
      </a:defRPr>
    </a:lvl2pPr>
    <a:lvl3pPr marL="514350" indent="-171450" algn="l" defTabSz="914400" rtl="0" eaLnBrk="1" latinLnBrk="0" hangingPunct="1">
      <a:spcAft>
        <a:spcPts val="400"/>
      </a:spcAft>
      <a:buClr>
        <a:schemeClr val="accent3"/>
      </a:buClr>
      <a:buFont typeface="Arial" panose="020B0604020202020204" pitchFamily="34" charset="0"/>
      <a:buChar char="•"/>
      <a:defRPr sz="1200" kern="1200">
        <a:solidFill>
          <a:srgbClr val="4D4D4D"/>
        </a:solidFill>
        <a:latin typeface="+mn-lt"/>
        <a:ea typeface="+mn-ea"/>
        <a:cs typeface="+mn-cs"/>
      </a:defRPr>
    </a:lvl3pPr>
    <a:lvl4pPr marL="685800" indent="-171450" algn="l" defTabSz="914400" rtl="0" eaLnBrk="1" latinLnBrk="0" hangingPunct="1">
      <a:spcAft>
        <a:spcPts val="400"/>
      </a:spcAft>
      <a:buClr>
        <a:schemeClr val="accent3"/>
      </a:buClr>
      <a:buFont typeface="Arial" panose="020B0604020202020204" pitchFamily="34" charset="0"/>
      <a:buChar char="–"/>
      <a:defRPr sz="1200" kern="1200">
        <a:solidFill>
          <a:srgbClr val="4D4D4D"/>
        </a:solidFill>
        <a:latin typeface="+mn-lt"/>
        <a:ea typeface="+mn-ea"/>
        <a:cs typeface="+mn-cs"/>
      </a:defRPr>
    </a:lvl4pPr>
    <a:lvl5pPr marL="857250" indent="-171450" algn="l" defTabSz="914400" rtl="0" eaLnBrk="1" latinLnBrk="0" hangingPunct="1">
      <a:spcAft>
        <a:spcPts val="400"/>
      </a:spcAft>
      <a:buClr>
        <a:schemeClr val="accent3"/>
      </a:buClr>
      <a:buFont typeface="Arial" panose="020B0604020202020204" pitchFamily="34" charset="0"/>
      <a:buChar char="•"/>
      <a:defRPr sz="1200" kern="1200">
        <a:solidFill>
          <a:srgbClr val="4D4D4D"/>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A22E7-E0D6-050D-9923-034BDB4E6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6AB6FF-B44E-7A11-9C83-5F9762CEE37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664FC26-DE5F-2A5B-421A-9602391AD51F}"/>
              </a:ext>
            </a:extLst>
          </p:cNvPr>
          <p:cNvSpPr>
            <a:spLocks noGrp="1"/>
          </p:cNvSpPr>
          <p:nvPr>
            <p:ph type="body" idx="1"/>
          </p:nvPr>
        </p:nvSpPr>
        <p:spPr/>
        <p:txBody>
          <a:bodyPr/>
          <a:lstStyle/>
          <a:p>
            <a:r>
              <a:rPr lang="en-US" sz="1000">
                <a:latin typeface="Arial" panose="020B0604020202020204" pitchFamily="34" charset="0"/>
                <a:cs typeface="Arial" panose="020B0604020202020204" pitchFamily="34" charset="0"/>
              </a:rPr>
              <a:t>Source: UnitedHealthcare Key Account Fully Insured Book of Business, 2020-3/31/2025.</a:t>
            </a:r>
          </a:p>
        </p:txBody>
      </p:sp>
      <p:sp>
        <p:nvSpPr>
          <p:cNvPr id="4" name="Slide Number Placeholder 3">
            <a:extLst>
              <a:ext uri="{FF2B5EF4-FFF2-40B4-BE49-F238E27FC236}">
                <a16:creationId xmlns:a16="http://schemas.microsoft.com/office/drawing/2014/main" id="{4D91A6D4-8DE1-BCF2-7B96-CA7BFCE7CAD3}"/>
              </a:ext>
            </a:extLst>
          </p:cNvPr>
          <p:cNvSpPr>
            <a:spLocks noGrp="1"/>
          </p:cNvSpPr>
          <p:nvPr>
            <p:ph type="sldNum" sz="quarter" idx="10"/>
          </p:nvPr>
        </p:nvSpPr>
        <p:spPr/>
        <p:txBody>
          <a:bodyPr/>
          <a:lstStyle/>
          <a:p>
            <a:pPr defTabSz="992906">
              <a:defRPr/>
            </a:pPr>
            <a:fld id="{7CCA1033-C205-964A-95C9-36C396C65D7A}" type="slidenum">
              <a:rPr lang="en-US">
                <a:solidFill>
                  <a:prstClr val="black"/>
                </a:solidFill>
                <a:latin typeface="Calibri" panose="020F0502020204030204"/>
              </a:rPr>
              <a:pPr defTabSz="992906">
                <a:defRPr/>
              </a:pPr>
              <a:t>5</a:t>
            </a:fld>
            <a:endParaRPr lang="en-US">
              <a:solidFill>
                <a:prstClr val="black"/>
              </a:solidFill>
              <a:latin typeface="Calibri" panose="020F0502020204030204"/>
            </a:endParaRPr>
          </a:p>
        </p:txBody>
      </p:sp>
    </p:spTree>
    <p:extLst>
      <p:ext uri="{BB962C8B-B14F-4D97-AF65-F5344CB8AC3E}">
        <p14:creationId xmlns:p14="http://schemas.microsoft.com/office/powerpoint/2010/main" val="38737032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indent="0">
              <a:buNone/>
            </a:pPr>
            <a:r>
              <a:rPr lang="en-US" sz="1000" b="1">
                <a:solidFill>
                  <a:srgbClr val="000000"/>
                </a:solidFill>
              </a:rPr>
              <a:t>Notes: </a:t>
            </a:r>
          </a:p>
          <a:p>
            <a:pPr marL="0" indent="0">
              <a:buNone/>
            </a:pPr>
            <a:endParaRPr lang="en-US" sz="1000">
              <a:solidFill>
                <a:srgbClr val="000000"/>
              </a:solidFill>
            </a:endParaRPr>
          </a:p>
          <a:p>
            <a:pPr marL="0" indent="0">
              <a:buNone/>
            </a:pPr>
            <a:r>
              <a:rPr lang="en-US" sz="1000">
                <a:solidFill>
                  <a:srgbClr val="000000"/>
                </a:solidFill>
              </a:rPr>
              <a:t>Benefit Ally </a:t>
            </a:r>
            <a:r>
              <a:rPr lang="en-US" sz="1000" baseline="0">
                <a:solidFill>
                  <a:srgbClr val="000000"/>
                </a:solidFill>
              </a:rPr>
              <a:t>integrates supplemental health benefits with medical benefits, no claim forms required.  </a:t>
            </a:r>
          </a:p>
          <a:p>
            <a:pPr marL="0" indent="0">
              <a:buNone/>
            </a:pPr>
            <a:endParaRPr lang="en-US" sz="1000" baseline="0">
              <a:solidFill>
                <a:srgbClr val="000000"/>
              </a:solidFill>
            </a:endParaRPr>
          </a:p>
          <a:p>
            <a:pPr marL="0" indent="0">
              <a:buNone/>
            </a:pPr>
            <a:r>
              <a:rPr lang="en-US" sz="1000" kern="1200">
                <a:solidFill>
                  <a:schemeClr val="tx1"/>
                </a:solidFill>
                <a:effectLst/>
                <a:latin typeface="+mn-lt"/>
                <a:ea typeface="+mn-ea"/>
                <a:cs typeface="+mn-cs"/>
              </a:rPr>
              <a:t>The system monitors claims to identify the ones that are eligible for supplemental benefits, automatically triggering payments.</a:t>
            </a:r>
            <a:r>
              <a:rPr lang="en-US" sz="1000">
                <a:effectLst/>
              </a:rPr>
              <a:t> </a:t>
            </a:r>
            <a:r>
              <a:rPr lang="en-US" sz="1000" baseline="0">
                <a:solidFill>
                  <a:srgbClr val="000000"/>
                </a:solidFill>
              </a:rPr>
              <a:t>When an employee has a qualified medical event, they will automatically receive supplemental health benefits, such as critical illness, hospital indemnity or accident. No additional decision is needed from the employee (like with dental, vision or supplemental health today).</a:t>
            </a:r>
          </a:p>
          <a:p>
            <a:pPr marL="0" indent="0">
              <a:buNone/>
            </a:pPr>
            <a:endParaRPr lang="en-US" sz="1000" baseline="0">
              <a:solidFill>
                <a:srgbClr val="000000"/>
              </a:solidFill>
            </a:endParaRPr>
          </a:p>
          <a:p>
            <a:r>
              <a:rPr lang="en-US" sz="1000"/>
              <a:t>Here’s how Benefit Ally works: </a:t>
            </a:r>
          </a:p>
          <a:p>
            <a:pPr marL="228600" marR="0" indent="-228600" algn="l" defTabSz="914377" rtl="0" eaLnBrk="1" fontAlgn="auto" latinLnBrk="0" hangingPunct="1">
              <a:lnSpc>
                <a:spcPct val="100000"/>
              </a:lnSpc>
              <a:spcBef>
                <a:spcPts val="0"/>
              </a:spcBef>
              <a:spcAft>
                <a:spcPts val="0"/>
              </a:spcAft>
              <a:buClrTx/>
              <a:buSzTx/>
              <a:buFont typeface="+mj-lt"/>
              <a:buAutoNum type="arabicPeriod"/>
              <a:tabLst/>
              <a:defRPr/>
            </a:pPr>
            <a:r>
              <a:rPr lang="en-US" sz="1000">
                <a:solidFill>
                  <a:schemeClr val="tx1">
                    <a:lumMod val="50000"/>
                  </a:schemeClr>
                </a:solidFill>
              </a:rPr>
              <a:t>An employee has a qualifying medical event.</a:t>
            </a:r>
          </a:p>
          <a:p>
            <a:pPr marL="228600" marR="0" indent="-228600" algn="l" defTabSz="914377" rtl="0" eaLnBrk="1" fontAlgn="auto" latinLnBrk="0" hangingPunct="1">
              <a:lnSpc>
                <a:spcPct val="100000"/>
              </a:lnSpc>
              <a:spcBef>
                <a:spcPts val="0"/>
              </a:spcBef>
              <a:spcAft>
                <a:spcPts val="0"/>
              </a:spcAft>
              <a:buClrTx/>
              <a:buSzTx/>
              <a:buFont typeface="+mj-lt"/>
              <a:buAutoNum type="arabicPeriod"/>
              <a:tabLst/>
              <a:defRPr/>
            </a:pPr>
            <a:r>
              <a:rPr lang="en-US" sz="1200" kern="1200">
                <a:solidFill>
                  <a:schemeClr val="tx1"/>
                </a:solidFill>
                <a:effectLst/>
                <a:latin typeface="+mn-lt"/>
                <a:ea typeface="+mn-ea"/>
                <a:cs typeface="+mn-cs"/>
              </a:rPr>
              <a:t>Benefit Ally identifies UnitedHealthcare medical claims that may be eligible for supplemental health benefits.</a:t>
            </a:r>
            <a:r>
              <a:rPr lang="en-US" sz="1000">
                <a:effectLst/>
              </a:rPr>
              <a:t> </a:t>
            </a:r>
          </a:p>
          <a:p>
            <a:pPr marL="228600" marR="0" indent="-228600" algn="l" defTabSz="914377" rtl="0" eaLnBrk="1" fontAlgn="auto" latinLnBrk="0" hangingPunct="1">
              <a:lnSpc>
                <a:spcPct val="100000"/>
              </a:lnSpc>
              <a:spcBef>
                <a:spcPts val="0"/>
              </a:spcBef>
              <a:spcAft>
                <a:spcPts val="0"/>
              </a:spcAft>
              <a:buClrTx/>
              <a:buSzTx/>
              <a:buFont typeface="+mj-lt"/>
              <a:buAutoNum type="arabicPeriod"/>
              <a:tabLst/>
              <a:defRPr/>
            </a:pPr>
            <a:r>
              <a:rPr lang="en-US" sz="1000">
                <a:solidFill>
                  <a:schemeClr val="tx1">
                    <a:lumMod val="50000"/>
                  </a:schemeClr>
                </a:solidFill>
              </a:rPr>
              <a:t>The employee continues to pay their share of the costs, as defined by their plan. </a:t>
            </a:r>
          </a:p>
          <a:p>
            <a:pPr marL="228600" marR="0" indent="-228600" algn="l" defTabSz="914377" rtl="0" eaLnBrk="1" fontAlgn="auto" latinLnBrk="0" hangingPunct="1">
              <a:lnSpc>
                <a:spcPct val="100000"/>
              </a:lnSpc>
              <a:spcBef>
                <a:spcPts val="0"/>
              </a:spcBef>
              <a:spcAft>
                <a:spcPts val="0"/>
              </a:spcAft>
              <a:buClrTx/>
              <a:buSzTx/>
              <a:buFont typeface="+mj-lt"/>
              <a:buAutoNum type="arabicPeriod"/>
              <a:tabLst/>
              <a:defRPr/>
            </a:pPr>
            <a:r>
              <a:rPr lang="en-US" sz="1000">
                <a:solidFill>
                  <a:schemeClr val="tx1">
                    <a:lumMod val="50000"/>
                  </a:schemeClr>
                </a:solidFill>
              </a:rPr>
              <a:t>The employee automatica</a:t>
            </a:r>
            <a:r>
              <a:rPr lang="en-US" sz="1000">
                <a:solidFill>
                  <a:srgbClr val="4D4D4D"/>
                </a:solidFill>
              </a:rPr>
              <a:t>lly receives a supplemental benefit payment for qualified medical events.</a:t>
            </a:r>
          </a:p>
          <a:p>
            <a:pPr marL="0" marR="0" indent="0" algn="l" defTabSz="914377" rtl="0" eaLnBrk="1" fontAlgn="auto" latinLnBrk="0" hangingPunct="1">
              <a:lnSpc>
                <a:spcPct val="100000"/>
              </a:lnSpc>
              <a:spcBef>
                <a:spcPts val="0"/>
              </a:spcBef>
              <a:spcAft>
                <a:spcPts val="0"/>
              </a:spcAft>
              <a:buClrTx/>
              <a:buSzTx/>
              <a:buFont typeface="+mj-lt"/>
              <a:buNone/>
              <a:tabLst/>
              <a:defRPr/>
            </a:pPr>
            <a:endParaRPr lang="en-US" sz="1000">
              <a:solidFill>
                <a:srgbClr val="4D4D4D"/>
              </a:solidFill>
            </a:endParaRPr>
          </a:p>
          <a:p>
            <a:pPr marL="0" indent="0">
              <a:buNone/>
            </a:pPr>
            <a:endParaRPr lang="en-US" sz="1000">
              <a:solidFill>
                <a:srgbClr val="000000"/>
              </a:solidFill>
            </a:endParaRPr>
          </a:p>
          <a:p>
            <a:pPr marL="0" indent="0">
              <a:spcAft>
                <a:spcPts val="0"/>
              </a:spcAft>
              <a:buNone/>
            </a:pPr>
            <a:endParaRPr lang="en-US" sz="1000"/>
          </a:p>
          <a:p>
            <a:pPr marL="0" indent="0">
              <a:spcAft>
                <a:spcPts val="0"/>
              </a:spcAft>
              <a:buNone/>
            </a:pPr>
            <a:endParaRPr lang="en-US" sz="100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B487858-B996-4291-96F9-A7500760731E}" type="slidenum">
              <a:rPr kumimoji="0" lang="en-US" sz="900" b="0" i="0" u="none" strike="noStrike" kern="1200" cap="none" spc="0" normalizeH="0" baseline="0" noProof="0" smtClean="0">
                <a:ln>
                  <a:noFill/>
                </a:ln>
                <a:solidFill>
                  <a:srgbClr val="8C9599"/>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900" b="0" i="0" u="none" strike="noStrike" kern="1200" cap="none" spc="0" normalizeH="0" baseline="0" noProof="0">
              <a:ln>
                <a:noFill/>
              </a:ln>
              <a:solidFill>
                <a:srgbClr val="8C9599"/>
              </a:solidFill>
              <a:effectLst/>
              <a:uLnTx/>
              <a:uFillTx/>
              <a:latin typeface="Arial"/>
              <a:ea typeface="+mn-ea"/>
              <a:cs typeface="+mn-cs"/>
            </a:endParaRPr>
          </a:p>
        </p:txBody>
      </p:sp>
    </p:spTree>
    <p:extLst>
      <p:ext uri="{BB962C8B-B14F-4D97-AF65-F5344CB8AC3E}">
        <p14:creationId xmlns:p14="http://schemas.microsoft.com/office/powerpoint/2010/main" val="25021649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5978F-A110-BBA6-BE0D-88AFA56184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371DBF-B1A2-53F8-CB15-09D41957D60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A4E93D2-38C5-4228-C9EE-77EE5270527F}"/>
              </a:ext>
            </a:extLst>
          </p:cNvPr>
          <p:cNvSpPr>
            <a:spLocks noGrp="1"/>
          </p:cNvSpPr>
          <p:nvPr>
            <p:ph type="body" idx="1"/>
          </p:nvPr>
        </p:nvSpPr>
        <p:spPr/>
        <p:txBody>
          <a:bodyPr/>
          <a:lstStyle/>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000">
                <a:solidFill>
                  <a:srgbClr val="0070C0"/>
                </a:solidFill>
              </a:rPr>
              <a:t>Required for UHC Programs</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000">
                <a:solidFill>
                  <a:srgbClr val="0070C0"/>
                </a:solidFill>
              </a:rPr>
              <a:t>Owner:</a:t>
            </a:r>
            <a:r>
              <a:rPr lang="en-US" sz="1000" baseline="0">
                <a:solidFill>
                  <a:srgbClr val="0070C0"/>
                </a:solidFill>
              </a:rPr>
              <a:t> Product Architect</a:t>
            </a:r>
            <a:endParaRPr lang="en-US" sz="1000" b="1"/>
          </a:p>
          <a:p>
            <a:r>
              <a:rPr lang="en-US" sz="1000" b="1"/>
              <a:t>Link to Product Definitions (v 2.1)- </a:t>
            </a:r>
            <a:r>
              <a:rPr lang="en-US" sz="1600" u="sng" kern="1200">
                <a:solidFill>
                  <a:schemeClr val="tx1"/>
                </a:solidFill>
                <a:effectLst/>
                <a:latin typeface="Arial" panose="020B0604020202020204" pitchFamily="34" charset="0"/>
                <a:ea typeface="+mn-ea"/>
                <a:cs typeface="+mn-cs"/>
              </a:rPr>
              <a:t>https://techops.uhg.com/product-home(sidebar:padu)</a:t>
            </a:r>
            <a:endParaRPr lang="en-US" sz="1000" b="1"/>
          </a:p>
          <a:p>
            <a:r>
              <a:rPr lang="en-US" sz="1000" b="1"/>
              <a:t>Standard view across UHC</a:t>
            </a:r>
            <a:r>
              <a:rPr lang="en-US" sz="1000"/>
              <a:t>. Highlight part of model that investment impacts.  </a:t>
            </a:r>
          </a:p>
          <a:p>
            <a:r>
              <a:rPr lang="en-US" sz="1000"/>
              <a:t>How to make change – Put red box around Product Capability Family (title), then copy and paste red arrows to specific capabilities. </a:t>
            </a:r>
          </a:p>
          <a:p>
            <a:r>
              <a:rPr lang="en-US" sz="1000" baseline="0"/>
              <a:t>Slide shows some boxes highlighted as example.</a:t>
            </a:r>
            <a:endParaRPr lang="en-US" baseline="0"/>
          </a:p>
        </p:txBody>
      </p:sp>
      <p:sp>
        <p:nvSpPr>
          <p:cNvPr id="4" name="Slide Number Placeholder 3">
            <a:extLst>
              <a:ext uri="{FF2B5EF4-FFF2-40B4-BE49-F238E27FC236}">
                <a16:creationId xmlns:a16="http://schemas.microsoft.com/office/drawing/2014/main" id="{674F01DD-F217-9A7B-C783-7870CACD019E}"/>
              </a:ext>
            </a:extLst>
          </p:cNvPr>
          <p:cNvSpPr>
            <a:spLocks noGrp="1"/>
          </p:cNvSpPr>
          <p:nvPr>
            <p:ph type="sldNum" sz="quarter" idx="10"/>
          </p:nvPr>
        </p:nvSpPr>
        <p:spPr/>
        <p:txBody>
          <a:bodyPr/>
          <a:lstStyle/>
          <a:p>
            <a:pPr marL="0" marR="0" lvl="0" indent="0" algn="r" defTabSz="1209020" rtl="0" eaLnBrk="1" fontAlgn="auto" latinLnBrk="0" hangingPunct="1">
              <a:lnSpc>
                <a:spcPct val="100000"/>
              </a:lnSpc>
              <a:spcBef>
                <a:spcPts val="0"/>
              </a:spcBef>
              <a:spcAft>
                <a:spcPts val="0"/>
              </a:spcAft>
              <a:buClrTx/>
              <a:buSzTx/>
              <a:buFontTx/>
              <a:buNone/>
              <a:tabLst/>
              <a:defRPr/>
            </a:pPr>
            <a:fld id="{436492AF-BC2A-4188-B06F-754C36A745CF}" type="slidenum">
              <a:rPr kumimoji="0" lang="en-US" sz="13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1209020" rtl="0" eaLnBrk="1" fontAlgn="auto" latinLnBrk="0" hangingPunct="1">
                <a:lnSpc>
                  <a:spcPct val="100000"/>
                </a:lnSpc>
                <a:spcBef>
                  <a:spcPts val="0"/>
                </a:spcBef>
                <a:spcAft>
                  <a:spcPts val="0"/>
                </a:spcAft>
                <a:buClrTx/>
                <a:buSzTx/>
                <a:buFontTx/>
                <a:buNone/>
                <a:tabLst/>
                <a:defRPr/>
              </a:pPr>
              <a:t>11</a:t>
            </a:fld>
            <a:endParaRPr kumimoji="0" lang="en-US" sz="13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41376906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400"/>
              </a:spcAft>
              <a:buClr>
                <a:schemeClr val="accent3"/>
              </a:buClr>
              <a:buSzTx/>
              <a:buFont typeface="Arial" panose="020B0604020202020204" pitchFamily="34" charset="0"/>
              <a:buNone/>
              <a:tabLst/>
              <a:defRPr/>
            </a:pPr>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B487858-B996-4291-96F9-A7500760731E}" type="slidenum">
              <a:rPr kumimoji="0" lang="en-US" sz="900" b="0" i="0" u="none" strike="noStrike" kern="1200" cap="none" spc="0" normalizeH="0" baseline="0" noProof="0" smtClean="0">
                <a:ln>
                  <a:noFill/>
                </a:ln>
                <a:solidFill>
                  <a:srgbClr val="8C9599"/>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900" b="0" i="0" u="none" strike="noStrike" kern="1200" cap="none" spc="0" normalizeH="0" baseline="0" noProof="0">
              <a:ln>
                <a:noFill/>
              </a:ln>
              <a:solidFill>
                <a:srgbClr val="8C9599"/>
              </a:solidFill>
              <a:effectLst/>
              <a:uLnTx/>
              <a:uFillTx/>
              <a:latin typeface="Arial"/>
              <a:ea typeface="+mn-ea"/>
              <a:cs typeface="+mn-cs"/>
            </a:endParaRPr>
          </a:p>
        </p:txBody>
      </p:sp>
    </p:spTree>
    <p:extLst>
      <p:ext uri="{BB962C8B-B14F-4D97-AF65-F5344CB8AC3E}">
        <p14:creationId xmlns:p14="http://schemas.microsoft.com/office/powerpoint/2010/main" val="9097722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400"/>
              </a:spcAft>
              <a:buClr>
                <a:schemeClr val="accent3"/>
              </a:buClr>
              <a:buSzTx/>
              <a:buFont typeface="Arial" panose="020B0604020202020204" pitchFamily="34" charset="0"/>
              <a:buNone/>
              <a:tabLst/>
              <a:defRPr/>
            </a:pPr>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B487858-B996-4291-96F9-A7500760731E}" type="slidenum">
              <a:rPr kumimoji="0" lang="en-US" sz="900" b="0" i="0" u="none" strike="noStrike" kern="1200" cap="none" spc="0" normalizeH="0" baseline="0" noProof="0" smtClean="0">
                <a:ln>
                  <a:noFill/>
                </a:ln>
                <a:solidFill>
                  <a:srgbClr val="8C9599"/>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900" b="0" i="0" u="none" strike="noStrike" kern="1200" cap="none" spc="0" normalizeH="0" baseline="0" noProof="0">
              <a:ln>
                <a:noFill/>
              </a:ln>
              <a:solidFill>
                <a:srgbClr val="8C9599"/>
              </a:solidFill>
              <a:effectLst/>
              <a:uLnTx/>
              <a:uFillTx/>
              <a:latin typeface="Arial"/>
              <a:ea typeface="+mn-ea"/>
              <a:cs typeface="+mn-cs"/>
            </a:endParaRPr>
          </a:p>
        </p:txBody>
      </p:sp>
    </p:spTree>
    <p:extLst>
      <p:ext uri="{BB962C8B-B14F-4D97-AF65-F5344CB8AC3E}">
        <p14:creationId xmlns:p14="http://schemas.microsoft.com/office/powerpoint/2010/main" val="18338331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D5C78-A936-7AC6-2764-4C78C24FD9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B0A037-43A4-7EA9-00E5-E3BBF56CA1D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B48A1C6-7B9C-D054-6A2C-D364585CC09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400"/>
              </a:spcAft>
              <a:buClr>
                <a:schemeClr val="accent3"/>
              </a:buClr>
              <a:buSzTx/>
              <a:buFont typeface="Arial" panose="020B0604020202020204" pitchFamily="34" charset="0"/>
              <a:buNone/>
              <a:tabLst/>
              <a:defRPr/>
            </a:pPr>
            <a:endParaRPr lang="en-US"/>
          </a:p>
        </p:txBody>
      </p:sp>
      <p:sp>
        <p:nvSpPr>
          <p:cNvPr id="4" name="Slide Number Placeholder 3">
            <a:extLst>
              <a:ext uri="{FF2B5EF4-FFF2-40B4-BE49-F238E27FC236}">
                <a16:creationId xmlns:a16="http://schemas.microsoft.com/office/drawing/2014/main" id="{81E62679-CE0E-9523-2504-30C42128A8F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B487858-B996-4291-96F9-A7500760731E}" type="slidenum">
              <a:rPr kumimoji="0" lang="en-US" sz="900" b="0" i="0" u="none" strike="noStrike" kern="1200" cap="none" spc="0" normalizeH="0" baseline="0" noProof="0" smtClean="0">
                <a:ln>
                  <a:noFill/>
                </a:ln>
                <a:solidFill>
                  <a:srgbClr val="8C9599"/>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900" b="0" i="0" u="none" strike="noStrike" kern="1200" cap="none" spc="0" normalizeH="0" baseline="0" noProof="0">
              <a:ln>
                <a:noFill/>
              </a:ln>
              <a:solidFill>
                <a:srgbClr val="8C9599"/>
              </a:solidFill>
              <a:effectLst/>
              <a:uLnTx/>
              <a:uFillTx/>
              <a:latin typeface="Arial"/>
              <a:ea typeface="+mn-ea"/>
              <a:cs typeface="+mn-cs"/>
            </a:endParaRPr>
          </a:p>
        </p:txBody>
      </p:sp>
    </p:spTree>
    <p:extLst>
      <p:ext uri="{BB962C8B-B14F-4D97-AF65-F5344CB8AC3E}">
        <p14:creationId xmlns:p14="http://schemas.microsoft.com/office/powerpoint/2010/main" val="4780140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400"/>
              </a:spcAft>
              <a:buClr>
                <a:schemeClr val="accent3"/>
              </a:buClr>
              <a:buSzTx/>
              <a:buFont typeface="Arial" panose="020B0604020202020204" pitchFamily="34" charset="0"/>
              <a:buNone/>
              <a:tabLst/>
              <a:defRPr/>
            </a:pPr>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B487858-B996-4291-96F9-A7500760731E}" type="slidenum">
              <a:rPr kumimoji="0" lang="en-US" sz="900" b="0" i="0" u="none" strike="noStrike" kern="1200" cap="none" spc="0" normalizeH="0" baseline="0" noProof="0" smtClean="0">
                <a:ln>
                  <a:noFill/>
                </a:ln>
                <a:solidFill>
                  <a:srgbClr val="8C9599"/>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900" b="0" i="0" u="none" strike="noStrike" kern="1200" cap="none" spc="0" normalizeH="0" baseline="0" noProof="0">
              <a:ln>
                <a:noFill/>
              </a:ln>
              <a:solidFill>
                <a:srgbClr val="8C9599"/>
              </a:solidFill>
              <a:effectLst/>
              <a:uLnTx/>
              <a:uFillTx/>
              <a:latin typeface="Arial"/>
              <a:ea typeface="+mn-ea"/>
              <a:cs typeface="+mn-cs"/>
            </a:endParaRPr>
          </a:p>
        </p:txBody>
      </p:sp>
    </p:spTree>
    <p:extLst>
      <p:ext uri="{BB962C8B-B14F-4D97-AF65-F5344CB8AC3E}">
        <p14:creationId xmlns:p14="http://schemas.microsoft.com/office/powerpoint/2010/main" val="29713237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EAA146-0C93-691A-2E85-D910C378D1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8F4856-6AED-77A4-3474-85540AC262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74B8BF-0D77-B57A-6509-F52E46B9F6F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400"/>
              </a:spcAft>
              <a:buClr>
                <a:schemeClr val="accent3"/>
              </a:buClr>
              <a:buSzTx/>
              <a:buFont typeface="Arial" panose="020B0604020202020204" pitchFamily="34" charset="0"/>
              <a:buNone/>
              <a:tabLst/>
              <a:defRPr/>
            </a:pPr>
            <a:endParaRPr lang="en-US"/>
          </a:p>
        </p:txBody>
      </p:sp>
      <p:sp>
        <p:nvSpPr>
          <p:cNvPr id="4" name="Slide Number Placeholder 3">
            <a:extLst>
              <a:ext uri="{FF2B5EF4-FFF2-40B4-BE49-F238E27FC236}">
                <a16:creationId xmlns:a16="http://schemas.microsoft.com/office/drawing/2014/main" id="{B9C5EF22-7725-57E0-0C21-ADF23AA55E1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B487858-B996-4291-96F9-A7500760731E}" type="slidenum">
              <a:rPr kumimoji="0" lang="en-US" sz="900" b="0" i="0" u="none" strike="noStrike" kern="1200" cap="none" spc="0" normalizeH="0" baseline="0" noProof="0" smtClean="0">
                <a:ln>
                  <a:noFill/>
                </a:ln>
                <a:solidFill>
                  <a:srgbClr val="8C9599"/>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US" sz="900" b="0" i="0" u="none" strike="noStrike" kern="1200" cap="none" spc="0" normalizeH="0" baseline="0" noProof="0">
              <a:ln>
                <a:noFill/>
              </a:ln>
              <a:solidFill>
                <a:srgbClr val="8C9599"/>
              </a:solidFill>
              <a:effectLst/>
              <a:uLnTx/>
              <a:uFillTx/>
              <a:latin typeface="Arial"/>
              <a:ea typeface="+mn-ea"/>
              <a:cs typeface="+mn-cs"/>
            </a:endParaRPr>
          </a:p>
        </p:txBody>
      </p:sp>
    </p:spTree>
    <p:extLst>
      <p:ext uri="{BB962C8B-B14F-4D97-AF65-F5344CB8AC3E}">
        <p14:creationId xmlns:p14="http://schemas.microsoft.com/office/powerpoint/2010/main" val="21995632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400"/>
              </a:spcAft>
              <a:buClr>
                <a:schemeClr val="accent3"/>
              </a:buClr>
              <a:buSzTx/>
              <a:buFont typeface="Arial" panose="020B0604020202020204" pitchFamily="34" charset="0"/>
              <a:buNone/>
              <a:tabLst/>
              <a:defRPr/>
            </a:pPr>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B487858-B996-4291-96F9-A7500760731E}" type="slidenum">
              <a:rPr kumimoji="0" lang="en-US" sz="900" b="0" i="0" u="none" strike="noStrike" kern="1200" cap="none" spc="0" normalizeH="0" baseline="0" noProof="0" smtClean="0">
                <a:ln>
                  <a:noFill/>
                </a:ln>
                <a:solidFill>
                  <a:srgbClr val="8C9599"/>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US" sz="900" b="0" i="0" u="none" strike="noStrike" kern="1200" cap="none" spc="0" normalizeH="0" baseline="0" noProof="0">
              <a:ln>
                <a:noFill/>
              </a:ln>
              <a:solidFill>
                <a:srgbClr val="8C9599"/>
              </a:solidFill>
              <a:effectLst/>
              <a:uLnTx/>
              <a:uFillTx/>
              <a:latin typeface="Arial"/>
              <a:ea typeface="+mn-ea"/>
              <a:cs typeface="+mn-cs"/>
            </a:endParaRPr>
          </a:p>
        </p:txBody>
      </p:sp>
    </p:spTree>
    <p:extLst>
      <p:ext uri="{BB962C8B-B14F-4D97-AF65-F5344CB8AC3E}">
        <p14:creationId xmlns:p14="http://schemas.microsoft.com/office/powerpoint/2010/main" val="26023994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400"/>
              </a:spcAft>
              <a:buClr>
                <a:schemeClr val="accent3"/>
              </a:buClr>
              <a:buSzTx/>
              <a:buFont typeface="Arial" panose="020B0604020202020204" pitchFamily="34" charset="0"/>
              <a:buNone/>
              <a:tabLst/>
              <a:defRPr/>
            </a:pPr>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B487858-B996-4291-96F9-A7500760731E}" type="slidenum">
              <a:rPr kumimoji="0" lang="en-US" sz="900" b="0" i="0" u="none" strike="noStrike" kern="1200" cap="none" spc="0" normalizeH="0" baseline="0" noProof="0" smtClean="0">
                <a:ln>
                  <a:noFill/>
                </a:ln>
                <a:solidFill>
                  <a:srgbClr val="8C9599"/>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n-US" sz="900" b="0" i="0" u="none" strike="noStrike" kern="1200" cap="none" spc="0" normalizeH="0" baseline="0" noProof="0">
              <a:ln>
                <a:noFill/>
              </a:ln>
              <a:solidFill>
                <a:srgbClr val="8C9599"/>
              </a:solidFill>
              <a:effectLst/>
              <a:uLnTx/>
              <a:uFillTx/>
              <a:latin typeface="Arial"/>
              <a:ea typeface="+mn-ea"/>
              <a:cs typeface="+mn-cs"/>
            </a:endParaRPr>
          </a:p>
        </p:txBody>
      </p:sp>
    </p:spTree>
    <p:extLst>
      <p:ext uri="{BB962C8B-B14F-4D97-AF65-F5344CB8AC3E}">
        <p14:creationId xmlns:p14="http://schemas.microsoft.com/office/powerpoint/2010/main" val="18338331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400"/>
              </a:spcAft>
              <a:buClr>
                <a:schemeClr val="accent3"/>
              </a:buClr>
              <a:buSzTx/>
              <a:buFont typeface="Arial" panose="020B0604020202020204" pitchFamily="34" charset="0"/>
              <a:buNone/>
              <a:tabLst/>
              <a:defRPr/>
            </a:pPr>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B487858-B996-4291-96F9-A7500760731E}" type="slidenum">
              <a:rPr kumimoji="0" lang="en-US" sz="900" b="0" i="0" u="none" strike="noStrike" kern="1200" cap="none" spc="0" normalizeH="0" baseline="0" noProof="0" smtClean="0">
                <a:ln>
                  <a:noFill/>
                </a:ln>
                <a:solidFill>
                  <a:srgbClr val="8C9599"/>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en-US" sz="900" b="0" i="0" u="none" strike="noStrike" kern="1200" cap="none" spc="0" normalizeH="0" baseline="0" noProof="0">
              <a:ln>
                <a:noFill/>
              </a:ln>
              <a:solidFill>
                <a:srgbClr val="8C9599"/>
              </a:solidFill>
              <a:effectLst/>
              <a:uLnTx/>
              <a:uFillTx/>
              <a:latin typeface="Arial"/>
              <a:ea typeface="+mn-ea"/>
              <a:cs typeface="+mn-cs"/>
            </a:endParaRPr>
          </a:p>
        </p:txBody>
      </p:sp>
    </p:spTree>
    <p:extLst>
      <p:ext uri="{BB962C8B-B14F-4D97-AF65-F5344CB8AC3E}">
        <p14:creationId xmlns:p14="http://schemas.microsoft.com/office/powerpoint/2010/main" val="37144472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400"/>
              </a:spcAft>
              <a:buClr>
                <a:schemeClr val="accent3"/>
              </a:buClr>
              <a:buSzTx/>
              <a:buFont typeface="Arial" panose="020B0604020202020204" pitchFamily="34" charset="0"/>
              <a:buNone/>
              <a:tabLst/>
              <a:defRPr/>
            </a:pPr>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B487858-B996-4291-96F9-A7500760731E}" type="slidenum">
              <a:rPr kumimoji="0" lang="en-US" sz="900" b="0" i="0" u="none" strike="noStrike" kern="1200" cap="none" spc="0" normalizeH="0" baseline="0" noProof="0" smtClean="0">
                <a:ln>
                  <a:noFill/>
                </a:ln>
                <a:solidFill>
                  <a:srgbClr val="8C9599"/>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US" sz="900" b="0" i="0" u="none" strike="noStrike" kern="1200" cap="none" spc="0" normalizeH="0" baseline="0" noProof="0">
              <a:ln>
                <a:noFill/>
              </a:ln>
              <a:solidFill>
                <a:srgbClr val="8C9599"/>
              </a:solidFill>
              <a:effectLst/>
              <a:uLnTx/>
              <a:uFillTx/>
              <a:latin typeface="Arial"/>
              <a:ea typeface="+mn-ea"/>
              <a:cs typeface="+mn-cs"/>
            </a:endParaRPr>
          </a:p>
        </p:txBody>
      </p:sp>
    </p:spTree>
    <p:extLst>
      <p:ext uri="{BB962C8B-B14F-4D97-AF65-F5344CB8AC3E}">
        <p14:creationId xmlns:p14="http://schemas.microsoft.com/office/powerpoint/2010/main" val="37198843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400"/>
              </a:spcAft>
              <a:buClr>
                <a:schemeClr val="accent3"/>
              </a:buClr>
              <a:buSzTx/>
              <a:buFont typeface="Arial" panose="020B0604020202020204" pitchFamily="34" charset="0"/>
              <a:buNone/>
              <a:tabLst/>
              <a:defRPr/>
            </a:pPr>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B487858-B996-4291-96F9-A7500760731E}" type="slidenum">
              <a:rPr kumimoji="0" lang="en-US" sz="900" b="0" i="0" u="none" strike="noStrike" kern="1200" cap="none" spc="0" normalizeH="0" baseline="0" noProof="0" smtClean="0">
                <a:ln>
                  <a:noFill/>
                </a:ln>
                <a:solidFill>
                  <a:srgbClr val="8C9599"/>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n-US" sz="900" b="0" i="0" u="none" strike="noStrike" kern="1200" cap="none" spc="0" normalizeH="0" baseline="0" noProof="0">
              <a:ln>
                <a:noFill/>
              </a:ln>
              <a:solidFill>
                <a:srgbClr val="8C9599"/>
              </a:solidFill>
              <a:effectLst/>
              <a:uLnTx/>
              <a:uFillTx/>
              <a:latin typeface="Arial"/>
              <a:ea typeface="+mn-ea"/>
              <a:cs typeface="+mn-cs"/>
            </a:endParaRPr>
          </a:p>
        </p:txBody>
      </p:sp>
    </p:spTree>
    <p:extLst>
      <p:ext uri="{BB962C8B-B14F-4D97-AF65-F5344CB8AC3E}">
        <p14:creationId xmlns:p14="http://schemas.microsoft.com/office/powerpoint/2010/main" val="21972088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46D3A5-BB3F-A366-D3D5-02F5C7C50C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2A6AF7-1070-95CE-1F4A-42D1606C48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123CB7-5CF7-E53B-51F7-54F21114ADE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400"/>
              </a:spcAft>
              <a:buClr>
                <a:schemeClr val="accent3"/>
              </a:buClr>
              <a:buSzTx/>
              <a:buFont typeface="Arial" panose="020B0604020202020204" pitchFamily="34" charset="0"/>
              <a:buNone/>
              <a:tabLst/>
              <a:defRPr/>
            </a:pPr>
            <a:endParaRPr lang="en-US"/>
          </a:p>
        </p:txBody>
      </p:sp>
      <p:sp>
        <p:nvSpPr>
          <p:cNvPr id="4" name="Slide Number Placeholder 3">
            <a:extLst>
              <a:ext uri="{FF2B5EF4-FFF2-40B4-BE49-F238E27FC236}">
                <a16:creationId xmlns:a16="http://schemas.microsoft.com/office/drawing/2014/main" id="{E564F3B7-16E1-B502-8D61-7506F808F6B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B487858-B996-4291-96F9-A7500760731E}" type="slidenum">
              <a:rPr kumimoji="0" lang="en-US" sz="900" b="0" i="0" u="none" strike="noStrike" kern="1200" cap="none" spc="0" normalizeH="0" baseline="0" noProof="0" smtClean="0">
                <a:ln>
                  <a:noFill/>
                </a:ln>
                <a:solidFill>
                  <a:srgbClr val="8C9599"/>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en-US" sz="900" b="0" i="0" u="none" strike="noStrike" kern="1200" cap="none" spc="0" normalizeH="0" baseline="0" noProof="0">
              <a:ln>
                <a:noFill/>
              </a:ln>
              <a:solidFill>
                <a:srgbClr val="8C9599"/>
              </a:solidFill>
              <a:effectLst/>
              <a:uLnTx/>
              <a:uFillTx/>
              <a:latin typeface="Arial"/>
              <a:ea typeface="+mn-ea"/>
              <a:cs typeface="+mn-cs"/>
            </a:endParaRPr>
          </a:p>
        </p:txBody>
      </p:sp>
    </p:spTree>
    <p:extLst>
      <p:ext uri="{BB962C8B-B14F-4D97-AF65-F5344CB8AC3E}">
        <p14:creationId xmlns:p14="http://schemas.microsoft.com/office/powerpoint/2010/main" val="41033236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488B9-DDF0-05A4-E19C-2B99018454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B34AAC-1E31-7683-1798-8792D6D0EA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915C13-C4A8-8B29-CB45-E285DF07AA5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400"/>
              </a:spcAft>
              <a:buClr>
                <a:schemeClr val="accent3"/>
              </a:buClr>
              <a:buSzTx/>
              <a:buFont typeface="Arial" panose="020B0604020202020204" pitchFamily="34" charset="0"/>
              <a:buNone/>
              <a:tabLst/>
              <a:defRPr/>
            </a:pPr>
            <a:endParaRPr lang="en-US"/>
          </a:p>
        </p:txBody>
      </p:sp>
      <p:sp>
        <p:nvSpPr>
          <p:cNvPr id="4" name="Slide Number Placeholder 3">
            <a:extLst>
              <a:ext uri="{FF2B5EF4-FFF2-40B4-BE49-F238E27FC236}">
                <a16:creationId xmlns:a16="http://schemas.microsoft.com/office/drawing/2014/main" id="{8947D47E-F853-F5A5-290B-DE5DA2CEA5D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B487858-B996-4291-96F9-A7500760731E}" type="slidenum">
              <a:rPr kumimoji="0" lang="en-US" sz="900" b="0" i="0" u="none" strike="noStrike" kern="1200" cap="none" spc="0" normalizeH="0" baseline="0" noProof="0" smtClean="0">
                <a:ln>
                  <a:noFill/>
                </a:ln>
                <a:solidFill>
                  <a:srgbClr val="8C9599"/>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0" lang="en-US" sz="900" b="0" i="0" u="none" strike="noStrike" kern="1200" cap="none" spc="0" normalizeH="0" baseline="0" noProof="0">
              <a:ln>
                <a:noFill/>
              </a:ln>
              <a:solidFill>
                <a:srgbClr val="8C9599"/>
              </a:solidFill>
              <a:effectLst/>
              <a:uLnTx/>
              <a:uFillTx/>
              <a:latin typeface="Arial"/>
              <a:ea typeface="+mn-ea"/>
              <a:cs typeface="+mn-cs"/>
            </a:endParaRPr>
          </a:p>
        </p:txBody>
      </p:sp>
    </p:spTree>
    <p:extLst>
      <p:ext uri="{BB962C8B-B14F-4D97-AF65-F5344CB8AC3E}">
        <p14:creationId xmlns:p14="http://schemas.microsoft.com/office/powerpoint/2010/main" val="15233004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E2513D-B663-EBE9-E904-4127DCDF9A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5522FD-C183-5DF6-0C43-CD2E8D1D6D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506EB1-25BF-ECD1-3C71-314CDB1B26E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400"/>
              </a:spcAft>
              <a:buClr>
                <a:schemeClr val="accent3"/>
              </a:buClr>
              <a:buSzTx/>
              <a:buFont typeface="Arial" panose="020B0604020202020204" pitchFamily="34" charset="0"/>
              <a:buNone/>
              <a:tabLst/>
              <a:defRPr/>
            </a:pPr>
            <a:endParaRPr lang="en-US"/>
          </a:p>
        </p:txBody>
      </p:sp>
      <p:sp>
        <p:nvSpPr>
          <p:cNvPr id="4" name="Slide Number Placeholder 3">
            <a:extLst>
              <a:ext uri="{FF2B5EF4-FFF2-40B4-BE49-F238E27FC236}">
                <a16:creationId xmlns:a16="http://schemas.microsoft.com/office/drawing/2014/main" id="{CD640853-0630-A3F2-F3A6-A1E99B8D5D4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B487858-B996-4291-96F9-A7500760731E}" type="slidenum">
              <a:rPr kumimoji="0" lang="en-US" sz="900" b="0" i="0" u="none" strike="noStrike" kern="1200" cap="none" spc="0" normalizeH="0" baseline="0" noProof="0" smtClean="0">
                <a:ln>
                  <a:noFill/>
                </a:ln>
                <a:solidFill>
                  <a:srgbClr val="8C9599"/>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56</a:t>
            </a:fld>
            <a:endParaRPr kumimoji="0" lang="en-US" sz="900" b="0" i="0" u="none" strike="noStrike" kern="1200" cap="none" spc="0" normalizeH="0" baseline="0" noProof="0">
              <a:ln>
                <a:noFill/>
              </a:ln>
              <a:solidFill>
                <a:srgbClr val="8C9599"/>
              </a:solidFill>
              <a:effectLst/>
              <a:uLnTx/>
              <a:uFillTx/>
              <a:latin typeface="Arial"/>
              <a:ea typeface="+mn-ea"/>
              <a:cs typeface="+mn-cs"/>
            </a:endParaRPr>
          </a:p>
        </p:txBody>
      </p:sp>
    </p:spTree>
    <p:extLst>
      <p:ext uri="{BB962C8B-B14F-4D97-AF65-F5344CB8AC3E}">
        <p14:creationId xmlns:p14="http://schemas.microsoft.com/office/powerpoint/2010/main" val="8626491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CB956F-0F49-428D-06A9-D643836797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5C5D13-2C44-E5D1-0164-B89D56F60C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5F8DBB-0D8F-67CB-5305-FB2E55DE8C2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400"/>
              </a:spcAft>
              <a:buClr>
                <a:schemeClr val="accent3"/>
              </a:buClr>
              <a:buSzTx/>
              <a:buFont typeface="Arial" panose="020B0604020202020204" pitchFamily="34" charset="0"/>
              <a:buNone/>
              <a:tabLst/>
              <a:defRPr/>
            </a:pPr>
            <a:endParaRPr lang="en-US"/>
          </a:p>
        </p:txBody>
      </p:sp>
      <p:sp>
        <p:nvSpPr>
          <p:cNvPr id="4" name="Slide Number Placeholder 3">
            <a:extLst>
              <a:ext uri="{FF2B5EF4-FFF2-40B4-BE49-F238E27FC236}">
                <a16:creationId xmlns:a16="http://schemas.microsoft.com/office/drawing/2014/main" id="{DCDFE40B-F8F4-B1F4-9734-2E3598847F0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B487858-B996-4291-96F9-A7500760731E}" type="slidenum">
              <a:rPr kumimoji="0" lang="en-US" sz="900" b="0" i="0" u="none" strike="noStrike" kern="1200" cap="none" spc="0" normalizeH="0" baseline="0" noProof="0" smtClean="0">
                <a:ln>
                  <a:noFill/>
                </a:ln>
                <a:solidFill>
                  <a:srgbClr val="8C9599"/>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57</a:t>
            </a:fld>
            <a:endParaRPr kumimoji="0" lang="en-US" sz="900" b="0" i="0" u="none" strike="noStrike" kern="1200" cap="none" spc="0" normalizeH="0" baseline="0" noProof="0">
              <a:ln>
                <a:noFill/>
              </a:ln>
              <a:solidFill>
                <a:srgbClr val="8C9599"/>
              </a:solidFill>
              <a:effectLst/>
              <a:uLnTx/>
              <a:uFillTx/>
              <a:latin typeface="Arial"/>
              <a:ea typeface="+mn-ea"/>
              <a:cs typeface="+mn-cs"/>
            </a:endParaRPr>
          </a:p>
        </p:txBody>
      </p:sp>
    </p:spTree>
    <p:extLst>
      <p:ext uri="{BB962C8B-B14F-4D97-AF65-F5344CB8AC3E}">
        <p14:creationId xmlns:p14="http://schemas.microsoft.com/office/powerpoint/2010/main" val="42910774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7FBBD-6804-96D6-D64A-C7B26EEF98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EEBA64-6748-4E0A-0E32-361227CF9F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5B0D01-A48C-BF08-936A-042CDE7C461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400"/>
              </a:spcAft>
              <a:buClr>
                <a:schemeClr val="accent3"/>
              </a:buClr>
              <a:buSzTx/>
              <a:buFont typeface="Arial" panose="020B0604020202020204" pitchFamily="34" charset="0"/>
              <a:buNone/>
              <a:tabLst/>
              <a:defRPr/>
            </a:pPr>
            <a:endParaRPr lang="en-US"/>
          </a:p>
        </p:txBody>
      </p:sp>
      <p:sp>
        <p:nvSpPr>
          <p:cNvPr id="4" name="Slide Number Placeholder 3">
            <a:extLst>
              <a:ext uri="{FF2B5EF4-FFF2-40B4-BE49-F238E27FC236}">
                <a16:creationId xmlns:a16="http://schemas.microsoft.com/office/drawing/2014/main" id="{C619889B-C754-42A0-30E6-82DD1FC1DBB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B487858-B996-4291-96F9-A7500760731E}" type="slidenum">
              <a:rPr kumimoji="0" lang="en-US" sz="900" b="0" i="0" u="none" strike="noStrike" kern="1200" cap="none" spc="0" normalizeH="0" baseline="0" noProof="0" smtClean="0">
                <a:ln>
                  <a:noFill/>
                </a:ln>
                <a:solidFill>
                  <a:srgbClr val="8C9599"/>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58</a:t>
            </a:fld>
            <a:endParaRPr kumimoji="0" lang="en-US" sz="900" b="0" i="0" u="none" strike="noStrike" kern="1200" cap="none" spc="0" normalizeH="0" baseline="0" noProof="0">
              <a:ln>
                <a:noFill/>
              </a:ln>
              <a:solidFill>
                <a:srgbClr val="8C9599"/>
              </a:solidFill>
              <a:effectLst/>
              <a:uLnTx/>
              <a:uFillTx/>
              <a:latin typeface="Arial"/>
              <a:ea typeface="+mn-ea"/>
              <a:cs typeface="+mn-cs"/>
            </a:endParaRPr>
          </a:p>
        </p:txBody>
      </p:sp>
    </p:spTree>
    <p:extLst>
      <p:ext uri="{BB962C8B-B14F-4D97-AF65-F5344CB8AC3E}">
        <p14:creationId xmlns:p14="http://schemas.microsoft.com/office/powerpoint/2010/main" val="13991444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400"/>
              </a:spcAft>
              <a:buClr>
                <a:schemeClr val="accent3"/>
              </a:buClr>
              <a:buSzTx/>
              <a:buFont typeface="Arial" panose="020B0604020202020204" pitchFamily="34" charset="0"/>
              <a:buNone/>
              <a:tabLst/>
              <a:defRPr/>
            </a:pPr>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B487858-B996-4291-96F9-A7500760731E}" type="slidenum">
              <a:rPr kumimoji="0" lang="en-US" sz="900" b="0" i="0" u="none" strike="noStrike" kern="1200" cap="none" spc="0" normalizeH="0" baseline="0" noProof="0" smtClean="0">
                <a:ln>
                  <a:noFill/>
                </a:ln>
                <a:solidFill>
                  <a:srgbClr val="8C9599"/>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62</a:t>
            </a:fld>
            <a:endParaRPr kumimoji="0" lang="en-US" sz="900" b="0" i="0" u="none" strike="noStrike" kern="1200" cap="none" spc="0" normalizeH="0" baseline="0" noProof="0">
              <a:ln>
                <a:noFill/>
              </a:ln>
              <a:solidFill>
                <a:srgbClr val="8C9599"/>
              </a:solidFill>
              <a:effectLst/>
              <a:uLnTx/>
              <a:uFillTx/>
              <a:latin typeface="Arial"/>
              <a:ea typeface="+mn-ea"/>
              <a:cs typeface="+mn-cs"/>
            </a:endParaRPr>
          </a:p>
        </p:txBody>
      </p:sp>
    </p:spTree>
    <p:extLst>
      <p:ext uri="{BB962C8B-B14F-4D97-AF65-F5344CB8AC3E}">
        <p14:creationId xmlns:p14="http://schemas.microsoft.com/office/powerpoint/2010/main" val="18338331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400"/>
              </a:spcAft>
              <a:buClr>
                <a:schemeClr val="accent3"/>
              </a:buClr>
              <a:buSzTx/>
              <a:buFont typeface="Arial" panose="020B0604020202020204" pitchFamily="34" charset="0"/>
              <a:buNone/>
              <a:tabLst/>
              <a:defRPr/>
            </a:pPr>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B487858-B996-4291-96F9-A7500760731E}" type="slidenum">
              <a:rPr kumimoji="0" lang="en-US" sz="900" b="0" i="0" u="none" strike="noStrike" kern="1200" cap="none" spc="0" normalizeH="0" baseline="0" noProof="0" smtClean="0">
                <a:ln>
                  <a:noFill/>
                </a:ln>
                <a:solidFill>
                  <a:srgbClr val="8C9599"/>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63</a:t>
            </a:fld>
            <a:endParaRPr kumimoji="0" lang="en-US" sz="900" b="0" i="0" u="none" strike="noStrike" kern="1200" cap="none" spc="0" normalizeH="0" baseline="0" noProof="0">
              <a:ln>
                <a:noFill/>
              </a:ln>
              <a:solidFill>
                <a:srgbClr val="8C9599"/>
              </a:solidFill>
              <a:effectLst/>
              <a:uLnTx/>
              <a:uFillTx/>
              <a:latin typeface="Arial"/>
              <a:ea typeface="+mn-ea"/>
              <a:cs typeface="+mn-cs"/>
            </a:endParaRPr>
          </a:p>
        </p:txBody>
      </p:sp>
    </p:spTree>
    <p:extLst>
      <p:ext uri="{BB962C8B-B14F-4D97-AF65-F5344CB8AC3E}">
        <p14:creationId xmlns:p14="http://schemas.microsoft.com/office/powerpoint/2010/main" val="118446471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400"/>
              </a:spcAft>
              <a:buClr>
                <a:schemeClr val="accent3"/>
              </a:buClr>
              <a:buSzTx/>
              <a:buFont typeface="Arial" panose="020B0604020202020204" pitchFamily="34" charset="0"/>
              <a:buNone/>
              <a:tabLst/>
              <a:defRPr/>
            </a:pPr>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B487858-B996-4291-96F9-A7500760731E}" type="slidenum">
              <a:rPr kumimoji="0" lang="en-US" sz="900" b="0" i="0" u="none" strike="noStrike" kern="1200" cap="none" spc="0" normalizeH="0" baseline="0" noProof="0" smtClean="0">
                <a:ln>
                  <a:noFill/>
                </a:ln>
                <a:solidFill>
                  <a:srgbClr val="8C9599"/>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64</a:t>
            </a:fld>
            <a:endParaRPr kumimoji="0" lang="en-US" sz="900" b="0" i="0" u="none" strike="noStrike" kern="1200" cap="none" spc="0" normalizeH="0" baseline="0" noProof="0">
              <a:ln>
                <a:noFill/>
              </a:ln>
              <a:solidFill>
                <a:srgbClr val="8C9599"/>
              </a:solidFill>
              <a:effectLst/>
              <a:uLnTx/>
              <a:uFillTx/>
              <a:latin typeface="Arial"/>
              <a:ea typeface="+mn-ea"/>
              <a:cs typeface="+mn-cs"/>
            </a:endParaRPr>
          </a:p>
        </p:txBody>
      </p:sp>
    </p:spTree>
    <p:extLst>
      <p:ext uri="{BB962C8B-B14F-4D97-AF65-F5344CB8AC3E}">
        <p14:creationId xmlns:p14="http://schemas.microsoft.com/office/powerpoint/2010/main" val="19734609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sz="1200" b="1"/>
              <a:t>Questions &amp; Follow-Up Assignments:</a:t>
            </a:r>
          </a:p>
          <a:p>
            <a:pPr marL="0" marR="0" indent="0">
              <a:spcBef>
                <a:spcPts val="0"/>
              </a:spcBef>
              <a:spcAft>
                <a:spcPts val="0"/>
              </a:spcAft>
              <a:buNone/>
            </a:pPr>
            <a:r>
              <a:rPr lang="en-US" sz="1200">
                <a:latin typeface="Calibri" panose="020F0502020204030204" pitchFamily="34" charset="0"/>
                <a:ea typeface="Calibri" panose="020F0502020204030204" pitchFamily="34" charset="0"/>
              </a:rPr>
              <a:t>–  CER – impact CER as potentially TO, to ensure BA is not included in MLR</a:t>
            </a:r>
          </a:p>
          <a:p>
            <a:pPr marL="0" marR="0" indent="0">
              <a:spcBef>
                <a:spcPts val="0"/>
              </a:spcBef>
              <a:spcAft>
                <a:spcPts val="0"/>
              </a:spcAft>
              <a:buNone/>
            </a:pPr>
            <a:endParaRPr lang="en-US" sz="1200">
              <a:latin typeface="Calibri" panose="020F0502020204030204" pitchFamily="34" charset="0"/>
              <a:ea typeface="Calibri" panose="020F0502020204030204" pitchFamily="34" charset="0"/>
            </a:endParaRPr>
          </a:p>
          <a:p>
            <a:pPr marR="0">
              <a:spcBef>
                <a:spcPts val="0"/>
              </a:spcBef>
              <a:spcAft>
                <a:spcPts val="0"/>
              </a:spcAft>
              <a:buFontTx/>
              <a:buChar char="-"/>
            </a:pPr>
            <a:r>
              <a:rPr lang="en-US" sz="1200">
                <a:latin typeface="Calibri" panose="020F0502020204030204" pitchFamily="34" charset="0"/>
                <a:ea typeface="Calibri" panose="020F0502020204030204" pitchFamily="34" charset="0"/>
              </a:rPr>
              <a:t>ART – we need to connect with U/W contacts about the medical renewal process and premium data flow.</a:t>
            </a:r>
          </a:p>
          <a:p>
            <a:pPr marR="0">
              <a:spcBef>
                <a:spcPts val="0"/>
              </a:spcBef>
              <a:spcAft>
                <a:spcPts val="0"/>
              </a:spcAft>
              <a:buFontTx/>
              <a:buChar char="-"/>
            </a:pPr>
            <a:endParaRPr lang="en-US" sz="1200">
              <a:latin typeface="Calibri" panose="020F0502020204030204" pitchFamily="34" charset="0"/>
              <a:ea typeface="Calibri" panose="020F0502020204030204" pitchFamily="34" charset="0"/>
            </a:endParaRPr>
          </a:p>
          <a:p>
            <a:pPr marR="0">
              <a:spcBef>
                <a:spcPts val="0"/>
              </a:spcBef>
              <a:spcAft>
                <a:spcPts val="0"/>
              </a:spcAft>
              <a:buFontTx/>
              <a:buChar char="-"/>
            </a:pPr>
            <a:r>
              <a:rPr lang="en-US" sz="1200">
                <a:latin typeface="Calibri" panose="020F0502020204030204" pitchFamily="34" charset="0"/>
                <a:ea typeface="Calibri" panose="020F0502020204030204" pitchFamily="34" charset="0"/>
              </a:rPr>
              <a:t>Shilpa needs to be included in follow-up discussions, and SI E2E review. In interim Shilpa can review the JAD solution deck on share point and let us know if she needs to meet on any of solution capabilities.</a:t>
            </a:r>
          </a:p>
          <a:p>
            <a:pPr marR="0">
              <a:spcBef>
                <a:spcPts val="0"/>
              </a:spcBef>
              <a:spcAft>
                <a:spcPts val="0"/>
              </a:spcAft>
              <a:buFontTx/>
              <a:buChar char="-"/>
            </a:pPr>
            <a:endParaRPr lang="en-US" sz="1200">
              <a:latin typeface="Calibri" panose="020F0502020204030204" pitchFamily="34" charset="0"/>
              <a:ea typeface="Calibri" panose="020F0502020204030204" pitchFamily="34" charset="0"/>
            </a:endParaRPr>
          </a:p>
          <a:p>
            <a:pPr marR="0">
              <a:spcBef>
                <a:spcPts val="0"/>
              </a:spcBef>
              <a:spcAft>
                <a:spcPts val="0"/>
              </a:spcAft>
              <a:buFontTx/>
              <a:buChar char="-"/>
            </a:pPr>
            <a:r>
              <a:rPr lang="en-US" sz="1200">
                <a:latin typeface="Calibri" panose="020F0502020204030204" pitchFamily="34" charset="0"/>
                <a:ea typeface="Calibri" panose="020F0502020204030204" pitchFamily="34" charset="0"/>
              </a:rPr>
              <a:t>In the claims processing solution capability JAD discussion we were informed that OnBase has the capability to use adapter to subscribe to real time data streaming. Need confirmation from OnBase Dev team, on where they are with their work related to building of POC of adapter to source the member group /plan info for BA using real time data streaming.? Has POC been operationalized for UNET implementation in production?.</a:t>
            </a:r>
          </a:p>
          <a:p>
            <a:pPr marR="0">
              <a:spcBef>
                <a:spcPts val="0"/>
              </a:spcBef>
              <a:spcAft>
                <a:spcPts val="0"/>
              </a:spcAft>
              <a:buFontTx/>
              <a:buChar char="-"/>
            </a:pPr>
            <a:endParaRPr lang="en-US" sz="1200">
              <a:latin typeface="Calibri" panose="020F0502020204030204" pitchFamily="34" charset="0"/>
              <a:ea typeface="Calibri" panose="020F0502020204030204" pitchFamily="34" charset="0"/>
            </a:endParaRPr>
          </a:p>
          <a:p>
            <a:pPr marL="0" marR="0" indent="0">
              <a:spcBef>
                <a:spcPts val="0"/>
              </a:spcBef>
              <a:spcAft>
                <a:spcPts val="0"/>
              </a:spcAft>
              <a:buNone/>
            </a:pPr>
            <a:r>
              <a:rPr lang="en-US" sz="1200" b="1">
                <a:latin typeface="Calibri" panose="020F0502020204030204" pitchFamily="34" charset="0"/>
                <a:ea typeface="Calibri" panose="020F0502020204030204" pitchFamily="34" charset="0"/>
              </a:rPr>
              <a:t>Notes</a:t>
            </a:r>
            <a:r>
              <a:rPr lang="en-US" sz="1200">
                <a:latin typeface="Calibri" panose="020F0502020204030204" pitchFamily="34" charset="0"/>
                <a:ea typeface="Calibri" panose="020F0502020204030204" pitchFamily="34" charset="0"/>
              </a:rPr>
              <a:t>:</a:t>
            </a:r>
          </a:p>
          <a:p>
            <a:pPr marR="0">
              <a:spcBef>
                <a:spcPts val="0"/>
              </a:spcBef>
              <a:spcAft>
                <a:spcPts val="0"/>
              </a:spcAft>
              <a:buFontTx/>
              <a:buChar char="-"/>
            </a:pPr>
            <a:r>
              <a:rPr lang="en-US" sz="1200">
                <a:latin typeface="Calibri" panose="020F0502020204030204" pitchFamily="34" charset="0"/>
                <a:ea typeface="Calibri" panose="020F0502020204030204" pitchFamily="34" charset="0"/>
              </a:rPr>
              <a:t>Don’t see existing report impacts, like creating new reports etc., its more of enabling the architecture and flowing the required data to downstream systems used from different sources for BA reporting for USP.</a:t>
            </a:r>
          </a:p>
          <a:p>
            <a:pPr marR="0">
              <a:spcBef>
                <a:spcPts val="0"/>
              </a:spcBef>
              <a:spcAft>
                <a:spcPts val="0"/>
              </a:spcAft>
              <a:buFontTx/>
              <a:buChar char="-"/>
            </a:pPr>
            <a:r>
              <a:rPr lang="en-US" sz="1200">
                <a:latin typeface="Calibri" panose="020F0502020204030204" pitchFamily="34" charset="0"/>
                <a:ea typeface="Calibri" panose="020F0502020204030204" pitchFamily="34" charset="0"/>
              </a:rPr>
              <a:t>If we need the underwriters to use CER for their BA reporting needs instead of Stratus, then we will have dependency with the product roadmap of CER for 2022 and we need to see how it aligns and impacts the BA Delivery timeline for Case Effective market event.</a:t>
            </a:r>
          </a:p>
          <a:p>
            <a:pPr marR="0">
              <a:spcBef>
                <a:spcPts val="0"/>
              </a:spcBef>
              <a:spcAft>
                <a:spcPts val="0"/>
              </a:spcAft>
              <a:buFontTx/>
              <a:buChar char="-"/>
            </a:pPr>
            <a:r>
              <a:rPr lang="en-US" sz="1200">
                <a:latin typeface="Calibri" panose="020F0502020204030204" pitchFamily="34" charset="0"/>
                <a:ea typeface="Calibri" panose="020F0502020204030204" pitchFamily="34" charset="0"/>
              </a:rPr>
              <a:t>Target Architecture state proposed as solution option can be implemented by going through one or two transitions states, given the budget constraints, delivery timeline of BA and bandwidth availability of resources from impacted applications.</a:t>
            </a:r>
          </a:p>
          <a:p>
            <a:pPr marR="0">
              <a:spcBef>
                <a:spcPts val="0"/>
              </a:spcBef>
              <a:spcAft>
                <a:spcPts val="0"/>
              </a:spcAft>
              <a:buFontTx/>
              <a:buChar char="-"/>
            </a:pPr>
            <a:endParaRPr lang="en-US" sz="1200">
              <a:latin typeface="Calibri" panose="020F0502020204030204" pitchFamily="34" charset="0"/>
              <a:ea typeface="Calibri" panose="020F0502020204030204" pitchFamily="34" charset="0"/>
            </a:endParaRPr>
          </a:p>
          <a:p>
            <a:endParaRPr lang="en-US"/>
          </a:p>
        </p:txBody>
      </p:sp>
      <p:sp>
        <p:nvSpPr>
          <p:cNvPr id="4" name="Slide Number Placeholder 3"/>
          <p:cNvSpPr>
            <a:spLocks noGrp="1"/>
          </p:cNvSpPr>
          <p:nvPr>
            <p:ph type="sldNum" sz="quarter" idx="5"/>
          </p:nvPr>
        </p:nvSpPr>
        <p:spPr/>
        <p:txBody>
          <a:bodyPr/>
          <a:lstStyle/>
          <a:p>
            <a:fld id="{AB487858-B996-4291-96F9-A7500760731E}" type="slidenum">
              <a:rPr lang="en-US" smtClean="0"/>
              <a:pPr/>
              <a:t>65</a:t>
            </a:fld>
            <a:endParaRPr lang="en-US"/>
          </a:p>
        </p:txBody>
      </p:sp>
    </p:spTree>
    <p:extLst>
      <p:ext uri="{BB962C8B-B14F-4D97-AF65-F5344CB8AC3E}">
        <p14:creationId xmlns:p14="http://schemas.microsoft.com/office/powerpoint/2010/main" val="199711418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1">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108743" y="1784063"/>
            <a:ext cx="4762043" cy="1102519"/>
          </a:xfrm>
        </p:spPr>
        <p:txBody>
          <a:bodyPr anchor="ctr">
            <a:noAutofit/>
          </a:bodyPr>
          <a:lstStyle>
            <a:lvl1pPr>
              <a:defRPr sz="3200" spc="-51" baseline="0"/>
            </a:lvl1pPr>
          </a:lstStyle>
          <a:p>
            <a:r>
              <a:rPr lang="en-US"/>
              <a:t>Click to edit title style</a:t>
            </a:r>
          </a:p>
        </p:txBody>
      </p:sp>
      <p:sp>
        <p:nvSpPr>
          <p:cNvPr id="7" name="Rectangle 6"/>
          <p:cNvSpPr/>
          <p:nvPr userDrawn="1"/>
        </p:nvSpPr>
        <p:spPr bwMode="auto">
          <a:xfrm rot="10800000" flipH="1">
            <a:off x="1" y="0"/>
            <a:ext cx="228600" cy="5143500"/>
          </a:xfrm>
          <a:prstGeom prst="rect">
            <a:avLst/>
          </a:prstGeom>
          <a:solidFill>
            <a:srgbClr val="00A8F7"/>
          </a:solidFill>
          <a:ln>
            <a:noFill/>
          </a:ln>
          <a:effectLst/>
        </p:spPr>
        <p:txBody>
          <a:bodyPr vert="horz" wrap="square" lIns="91440" tIns="45720" rIns="91440" bIns="45720" numCol="1" rtlCol="0" anchor="ctr" anchorCtr="0" compatLnSpc="1">
            <a:prstTxWarp prst="textNoShape">
              <a:avLst/>
            </a:prstTxWarp>
          </a:bodyPr>
          <a:lstStyle/>
          <a:p>
            <a:pPr marL="0" marR="0" indent="0" algn="ctr" defTabSz="914377"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rgbClr val="00A8F7"/>
              </a:solidFill>
              <a:effectLst/>
              <a:latin typeface="Arial" charset="0"/>
              <a:ea typeface="ＭＳ Ｐゴシック" pitchFamily="34" charset="-128"/>
            </a:endParaRPr>
          </a:p>
        </p:txBody>
      </p:sp>
      <p:pic>
        <p:nvPicPr>
          <p:cNvPr id="6" name="Picture 5">
            <a:extLst>
              <a:ext uri="{FF2B5EF4-FFF2-40B4-BE49-F238E27FC236}">
                <a16:creationId xmlns:a16="http://schemas.microsoft.com/office/drawing/2014/main" id="{83C1CE73-A306-824E-AF5D-DFABDA223E9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441581" y="4356158"/>
            <a:ext cx="1509131" cy="473641"/>
          </a:xfrm>
          <a:prstGeom prst="rect">
            <a:avLst/>
          </a:prstGeom>
        </p:spPr>
      </p:pic>
      <p:grpSp>
        <p:nvGrpSpPr>
          <p:cNvPr id="13" name="Group 12">
            <a:extLst>
              <a:ext uri="{FF2B5EF4-FFF2-40B4-BE49-F238E27FC236}">
                <a16:creationId xmlns:a16="http://schemas.microsoft.com/office/drawing/2014/main" id="{26962A78-5F90-E849-926E-E27C20197959}"/>
              </a:ext>
            </a:extLst>
          </p:cNvPr>
          <p:cNvGrpSpPr/>
          <p:nvPr userDrawn="1"/>
        </p:nvGrpSpPr>
        <p:grpSpPr>
          <a:xfrm>
            <a:off x="679539" y="1"/>
            <a:ext cx="3815548" cy="5144568"/>
            <a:chOff x="679539" y="1"/>
            <a:chExt cx="3815548" cy="5144568"/>
          </a:xfrm>
        </p:grpSpPr>
        <p:sp>
          <p:nvSpPr>
            <p:cNvPr id="14" name="Chevron 13">
              <a:extLst>
                <a:ext uri="{FF2B5EF4-FFF2-40B4-BE49-F238E27FC236}">
                  <a16:creationId xmlns:a16="http://schemas.microsoft.com/office/drawing/2014/main" id="{673B59A0-63BC-0F46-8B19-44FD67D42D94}"/>
                </a:ext>
              </a:extLst>
            </p:cNvPr>
            <p:cNvSpPr/>
            <p:nvPr/>
          </p:nvSpPr>
          <p:spPr>
            <a:xfrm>
              <a:off x="679539" y="1"/>
              <a:ext cx="3193569" cy="2999574"/>
            </a:xfrm>
            <a:prstGeom prst="chevron">
              <a:avLst>
                <a:gd name="adj" fmla="val 4614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15" name="Chevron 14">
              <a:extLst>
                <a:ext uri="{FF2B5EF4-FFF2-40B4-BE49-F238E27FC236}">
                  <a16:creationId xmlns:a16="http://schemas.microsoft.com/office/drawing/2014/main" id="{8DDFA2FC-9DC8-3D4B-8217-398D230F5C57}"/>
                </a:ext>
              </a:extLst>
            </p:cNvPr>
            <p:cNvSpPr/>
            <p:nvPr/>
          </p:nvSpPr>
          <p:spPr>
            <a:xfrm>
              <a:off x="696634" y="1576855"/>
              <a:ext cx="3798453" cy="3567714"/>
            </a:xfrm>
            <a:prstGeom prst="chevron">
              <a:avLst>
                <a:gd name="adj" fmla="val 46148"/>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16" name="Chevron 15">
              <a:extLst>
                <a:ext uri="{FF2B5EF4-FFF2-40B4-BE49-F238E27FC236}">
                  <a16:creationId xmlns:a16="http://schemas.microsoft.com/office/drawing/2014/main" id="{C54180A5-7756-E048-A966-59067574F7BA}"/>
                </a:ext>
              </a:extLst>
            </p:cNvPr>
            <p:cNvSpPr/>
            <p:nvPr/>
          </p:nvSpPr>
          <p:spPr>
            <a:xfrm>
              <a:off x="1500375" y="1166614"/>
              <a:ext cx="2488584" cy="2337414"/>
            </a:xfrm>
            <a:prstGeom prst="chevron">
              <a:avLst>
                <a:gd name="adj" fmla="val 46148"/>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grpSp>
      <p:grpSp>
        <p:nvGrpSpPr>
          <p:cNvPr id="17" name="Group 16">
            <a:extLst>
              <a:ext uri="{FF2B5EF4-FFF2-40B4-BE49-F238E27FC236}">
                <a16:creationId xmlns:a16="http://schemas.microsoft.com/office/drawing/2014/main" id="{CB27F661-382B-BC47-B53A-37C814026FC3}"/>
              </a:ext>
            </a:extLst>
          </p:cNvPr>
          <p:cNvGrpSpPr/>
          <p:nvPr userDrawn="1"/>
        </p:nvGrpSpPr>
        <p:grpSpPr>
          <a:xfrm>
            <a:off x="4001696" y="4653856"/>
            <a:ext cx="2609341" cy="230049"/>
            <a:chOff x="744483" y="4848998"/>
            <a:chExt cx="2609341" cy="230049"/>
          </a:xfrm>
        </p:grpSpPr>
        <p:sp>
          <p:nvSpPr>
            <p:cNvPr id="18" name="TextBox 17">
              <a:extLst>
                <a:ext uri="{FF2B5EF4-FFF2-40B4-BE49-F238E27FC236}">
                  <a16:creationId xmlns:a16="http://schemas.microsoft.com/office/drawing/2014/main" id="{C24A353D-2250-8848-B6A0-16BF03C42779}"/>
                </a:ext>
              </a:extLst>
            </p:cNvPr>
            <p:cNvSpPr txBox="1"/>
            <p:nvPr userDrawn="1"/>
          </p:nvSpPr>
          <p:spPr>
            <a:xfrm>
              <a:off x="2184981" y="4875393"/>
              <a:ext cx="1168843" cy="161711"/>
            </a:xfrm>
            <a:prstGeom prst="rect">
              <a:avLst/>
            </a:prstGeom>
            <a:noFill/>
          </p:spPr>
          <p:txBody>
            <a:bodyPr wrap="square" lIns="0" tIns="0" rIns="0" bIns="0" rtlCol="0" anchor="ctr">
              <a:spAutoFit/>
            </a:bodyPr>
            <a:lstStyle/>
            <a:p>
              <a:pPr algn="l"/>
              <a:r>
                <a:rPr lang="en-US" sz="1051" b="1">
                  <a:solidFill>
                    <a:schemeClr val="tx1">
                      <a:lumMod val="50000"/>
                    </a:schemeClr>
                  </a:solidFill>
                  <a:latin typeface="+mn-lt"/>
                  <a:cs typeface="Arial"/>
                </a:rPr>
                <a:t>Better Together</a:t>
              </a:r>
            </a:p>
          </p:txBody>
        </p:sp>
        <p:sp>
          <p:nvSpPr>
            <p:cNvPr id="19" name="Title 3">
              <a:extLst>
                <a:ext uri="{FF2B5EF4-FFF2-40B4-BE49-F238E27FC236}">
                  <a16:creationId xmlns:a16="http://schemas.microsoft.com/office/drawing/2014/main" id="{64EB3198-E83E-A24B-AA77-090BB5B1A606}"/>
                </a:ext>
              </a:extLst>
            </p:cNvPr>
            <p:cNvSpPr txBox="1">
              <a:spLocks/>
            </p:cNvSpPr>
            <p:nvPr userDrawn="1"/>
          </p:nvSpPr>
          <p:spPr>
            <a:xfrm>
              <a:off x="744483" y="4848998"/>
              <a:ext cx="1342523" cy="230049"/>
            </a:xfrm>
            <a:prstGeom prst="rect">
              <a:avLst/>
            </a:prstGeom>
          </p:spPr>
          <p:txBody>
            <a:bodyPr anchor="ctr"/>
            <a:lstStyle>
              <a:lvl1pPr algn="l" defTabSz="914400" rtl="0" eaLnBrk="1" latinLnBrk="0" hangingPunct="1">
                <a:lnSpc>
                  <a:spcPct val="90000"/>
                </a:lnSpc>
                <a:spcBef>
                  <a:spcPct val="0"/>
                </a:spcBef>
                <a:buNone/>
                <a:defRPr sz="2400" b="1" kern="1200">
                  <a:solidFill>
                    <a:schemeClr val="tx1">
                      <a:lumMod val="50000"/>
                    </a:schemeClr>
                  </a:solidFill>
                  <a:latin typeface="+mj-lt"/>
                  <a:ea typeface="+mj-ea"/>
                  <a:cs typeface="+mj-cs"/>
                </a:defRPr>
              </a:lvl1pPr>
            </a:lstStyle>
            <a:p>
              <a:pPr algn="r"/>
              <a:r>
                <a:rPr lang="en-US" sz="1051">
                  <a:solidFill>
                    <a:schemeClr val="accent1"/>
                  </a:solidFill>
                  <a:latin typeface="+mn-lt"/>
                </a:rPr>
                <a:t>UHC</a:t>
              </a:r>
              <a:r>
                <a:rPr lang="en-US" sz="1051">
                  <a:solidFill>
                    <a:schemeClr val="accent2"/>
                  </a:solidFill>
                  <a:latin typeface="+mn-lt"/>
                </a:rPr>
                <a:t>Technology</a:t>
              </a:r>
            </a:p>
          </p:txBody>
        </p:sp>
        <p:cxnSp>
          <p:nvCxnSpPr>
            <p:cNvPr id="20" name="Straight Connector 19">
              <a:extLst>
                <a:ext uri="{FF2B5EF4-FFF2-40B4-BE49-F238E27FC236}">
                  <a16:creationId xmlns:a16="http://schemas.microsoft.com/office/drawing/2014/main" id="{A37B8663-024F-8F4F-82F1-488E09622219}"/>
                </a:ext>
              </a:extLst>
            </p:cNvPr>
            <p:cNvCxnSpPr/>
            <p:nvPr userDrawn="1"/>
          </p:nvCxnSpPr>
          <p:spPr>
            <a:xfrm>
              <a:off x="2087006" y="4874877"/>
              <a:ext cx="0" cy="1814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342839797"/>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le Slide 1">
    <p:spTree>
      <p:nvGrpSpPr>
        <p:cNvPr id="1" name=""/>
        <p:cNvGrpSpPr/>
        <p:nvPr/>
      </p:nvGrpSpPr>
      <p:grpSpPr>
        <a:xfrm>
          <a:off x="0" y="0"/>
          <a:ext cx="0" cy="0"/>
          <a:chOff x="0" y="0"/>
          <a:chExt cx="0" cy="0"/>
        </a:xfrm>
      </p:grpSpPr>
      <p:sp>
        <p:nvSpPr>
          <p:cNvPr id="7" name="Rectangle 6"/>
          <p:cNvSpPr/>
          <p:nvPr userDrawn="1"/>
        </p:nvSpPr>
        <p:spPr bwMode="auto">
          <a:xfrm rot="10800000" flipH="1">
            <a:off x="1" y="0"/>
            <a:ext cx="228600" cy="5143500"/>
          </a:xfrm>
          <a:prstGeom prst="rect">
            <a:avLst/>
          </a:prstGeom>
          <a:solidFill>
            <a:srgbClr val="00A8F7"/>
          </a:solidFill>
          <a:ln>
            <a:noFill/>
          </a:ln>
          <a:effectLst/>
        </p:spPr>
        <p:txBody>
          <a:bodyPr vert="horz" wrap="square" lIns="91440" tIns="45720" rIns="91440" bIns="45720" numCol="1" rtlCol="0" anchor="ctr" anchorCtr="0" compatLnSpc="1">
            <a:prstTxWarp prst="textNoShape">
              <a:avLst/>
            </a:prstTxWarp>
          </a:bodyPr>
          <a:lstStyle/>
          <a:p>
            <a:pPr marL="0" marR="0" indent="0" algn="ctr" defTabSz="914377"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rgbClr val="00A8F7"/>
              </a:solidFill>
              <a:effectLst/>
              <a:latin typeface="Arial" charset="0"/>
              <a:ea typeface="ＭＳ Ｐゴシック" pitchFamily="34" charset="-128"/>
            </a:endParaRPr>
          </a:p>
        </p:txBody>
      </p:sp>
      <p:pic>
        <p:nvPicPr>
          <p:cNvPr id="6" name="Picture 5">
            <a:extLst>
              <a:ext uri="{FF2B5EF4-FFF2-40B4-BE49-F238E27FC236}">
                <a16:creationId xmlns:a16="http://schemas.microsoft.com/office/drawing/2014/main" id="{83C1CE73-A306-824E-AF5D-DFABDA223E9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441581" y="4356158"/>
            <a:ext cx="1509131" cy="473641"/>
          </a:xfrm>
          <a:prstGeom prst="rect">
            <a:avLst/>
          </a:prstGeom>
        </p:spPr>
      </p:pic>
      <p:grpSp>
        <p:nvGrpSpPr>
          <p:cNvPr id="13" name="Group 12">
            <a:extLst>
              <a:ext uri="{FF2B5EF4-FFF2-40B4-BE49-F238E27FC236}">
                <a16:creationId xmlns:a16="http://schemas.microsoft.com/office/drawing/2014/main" id="{26962A78-5F90-E849-926E-E27C20197959}"/>
              </a:ext>
            </a:extLst>
          </p:cNvPr>
          <p:cNvGrpSpPr/>
          <p:nvPr userDrawn="1"/>
        </p:nvGrpSpPr>
        <p:grpSpPr>
          <a:xfrm>
            <a:off x="679539" y="1"/>
            <a:ext cx="3815548" cy="5144568"/>
            <a:chOff x="679539" y="1"/>
            <a:chExt cx="3815548" cy="5144568"/>
          </a:xfrm>
        </p:grpSpPr>
        <p:sp>
          <p:nvSpPr>
            <p:cNvPr id="14" name="Chevron 13">
              <a:extLst>
                <a:ext uri="{FF2B5EF4-FFF2-40B4-BE49-F238E27FC236}">
                  <a16:creationId xmlns:a16="http://schemas.microsoft.com/office/drawing/2014/main" id="{673B59A0-63BC-0F46-8B19-44FD67D42D94}"/>
                </a:ext>
              </a:extLst>
            </p:cNvPr>
            <p:cNvSpPr/>
            <p:nvPr/>
          </p:nvSpPr>
          <p:spPr>
            <a:xfrm>
              <a:off x="679539" y="1"/>
              <a:ext cx="3193569" cy="2999574"/>
            </a:xfrm>
            <a:prstGeom prst="chevron">
              <a:avLst>
                <a:gd name="adj" fmla="val 4614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15" name="Chevron 14">
              <a:extLst>
                <a:ext uri="{FF2B5EF4-FFF2-40B4-BE49-F238E27FC236}">
                  <a16:creationId xmlns:a16="http://schemas.microsoft.com/office/drawing/2014/main" id="{8DDFA2FC-9DC8-3D4B-8217-398D230F5C57}"/>
                </a:ext>
              </a:extLst>
            </p:cNvPr>
            <p:cNvSpPr/>
            <p:nvPr/>
          </p:nvSpPr>
          <p:spPr>
            <a:xfrm>
              <a:off x="696634" y="1576855"/>
              <a:ext cx="3798453" cy="3567714"/>
            </a:xfrm>
            <a:prstGeom prst="chevron">
              <a:avLst>
                <a:gd name="adj" fmla="val 46148"/>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16" name="Chevron 15">
              <a:extLst>
                <a:ext uri="{FF2B5EF4-FFF2-40B4-BE49-F238E27FC236}">
                  <a16:creationId xmlns:a16="http://schemas.microsoft.com/office/drawing/2014/main" id="{C54180A5-7756-E048-A966-59067574F7BA}"/>
                </a:ext>
              </a:extLst>
            </p:cNvPr>
            <p:cNvSpPr/>
            <p:nvPr/>
          </p:nvSpPr>
          <p:spPr>
            <a:xfrm>
              <a:off x="1500375" y="1166614"/>
              <a:ext cx="2488584" cy="2337414"/>
            </a:xfrm>
            <a:prstGeom prst="chevron">
              <a:avLst>
                <a:gd name="adj" fmla="val 46148"/>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grpSp>
      <p:grpSp>
        <p:nvGrpSpPr>
          <p:cNvPr id="17" name="Group 16">
            <a:extLst>
              <a:ext uri="{FF2B5EF4-FFF2-40B4-BE49-F238E27FC236}">
                <a16:creationId xmlns:a16="http://schemas.microsoft.com/office/drawing/2014/main" id="{6DDBE942-5C20-1049-963F-D9BDD4B704AD}"/>
              </a:ext>
            </a:extLst>
          </p:cNvPr>
          <p:cNvGrpSpPr/>
          <p:nvPr userDrawn="1"/>
        </p:nvGrpSpPr>
        <p:grpSpPr>
          <a:xfrm>
            <a:off x="4221917" y="2158866"/>
            <a:ext cx="4869763" cy="374682"/>
            <a:chOff x="4221917" y="2158865"/>
            <a:chExt cx="4869763" cy="374682"/>
          </a:xfrm>
        </p:grpSpPr>
        <p:cxnSp>
          <p:nvCxnSpPr>
            <p:cNvPr id="21" name="Straight Connector 20">
              <a:extLst>
                <a:ext uri="{FF2B5EF4-FFF2-40B4-BE49-F238E27FC236}">
                  <a16:creationId xmlns:a16="http://schemas.microsoft.com/office/drawing/2014/main" id="{94ABAC76-EE16-9C4A-A031-E26084E221A7}"/>
                </a:ext>
              </a:extLst>
            </p:cNvPr>
            <p:cNvCxnSpPr>
              <a:cxnSpLocks/>
            </p:cNvCxnSpPr>
            <p:nvPr userDrawn="1"/>
          </p:nvCxnSpPr>
          <p:spPr>
            <a:xfrm>
              <a:off x="6588671" y="2175160"/>
              <a:ext cx="0" cy="3583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3E8C3CA4-D98A-0649-BB27-B61F761535E4}"/>
                </a:ext>
              </a:extLst>
            </p:cNvPr>
            <p:cNvSpPr txBox="1"/>
            <p:nvPr userDrawn="1"/>
          </p:nvSpPr>
          <p:spPr>
            <a:xfrm>
              <a:off x="6708459" y="2158865"/>
              <a:ext cx="2383221" cy="369332"/>
            </a:xfrm>
            <a:prstGeom prst="rect">
              <a:avLst/>
            </a:prstGeom>
            <a:noFill/>
          </p:spPr>
          <p:txBody>
            <a:bodyPr wrap="square" lIns="0" tIns="0" rIns="0" bIns="0" rtlCol="0" anchor="ctr">
              <a:spAutoFit/>
            </a:bodyPr>
            <a:lstStyle/>
            <a:p>
              <a:pPr algn="l"/>
              <a:r>
                <a:rPr lang="en-US" sz="2400" b="1" i="0" spc="-51" baseline="0">
                  <a:solidFill>
                    <a:schemeClr val="tx1">
                      <a:lumMod val="50000"/>
                    </a:schemeClr>
                  </a:solidFill>
                  <a:latin typeface="Arial" panose="020B0604020202020204" pitchFamily="34" charset="0"/>
                </a:rPr>
                <a:t>Better Together</a:t>
              </a:r>
              <a:endParaRPr lang="en-US" sz="2400" b="1" i="0" spc="-51" baseline="0">
                <a:solidFill>
                  <a:schemeClr val="tx1">
                    <a:lumMod val="50000"/>
                  </a:schemeClr>
                </a:solidFill>
                <a:latin typeface="Arial" panose="020B0604020202020204" pitchFamily="34" charset="0"/>
                <a:cs typeface="Arial"/>
              </a:endParaRPr>
            </a:p>
          </p:txBody>
        </p:sp>
        <p:sp>
          <p:nvSpPr>
            <p:cNvPr id="23" name="TextBox 22">
              <a:extLst>
                <a:ext uri="{FF2B5EF4-FFF2-40B4-BE49-F238E27FC236}">
                  <a16:creationId xmlns:a16="http://schemas.microsoft.com/office/drawing/2014/main" id="{73B7303F-E15F-E84C-8DB3-E150AE7EF477}"/>
                </a:ext>
              </a:extLst>
            </p:cNvPr>
            <p:cNvSpPr txBox="1"/>
            <p:nvPr userDrawn="1"/>
          </p:nvSpPr>
          <p:spPr>
            <a:xfrm>
              <a:off x="4633576" y="2234023"/>
              <a:ext cx="190053" cy="225624"/>
            </a:xfrm>
            <a:custGeom>
              <a:avLst/>
              <a:gdLst/>
              <a:ahLst/>
              <a:cxnLst/>
              <a:rect l="l" t="t" r="r" b="b"/>
              <a:pathLst>
                <a:path w="190053" h="225624">
                  <a:moveTo>
                    <a:pt x="102096" y="0"/>
                  </a:moveTo>
                  <a:cubicBezTo>
                    <a:pt x="128785" y="0"/>
                    <a:pt x="150465" y="7888"/>
                    <a:pt x="167134" y="23664"/>
                  </a:cubicBezTo>
                  <a:cubicBezTo>
                    <a:pt x="177055" y="32991"/>
                    <a:pt x="184497" y="46385"/>
                    <a:pt x="189458" y="63848"/>
                  </a:cubicBezTo>
                  <a:lnTo>
                    <a:pt x="145851" y="74266"/>
                  </a:lnTo>
                  <a:cubicBezTo>
                    <a:pt x="143271" y="62955"/>
                    <a:pt x="137889" y="54025"/>
                    <a:pt x="129703" y="47477"/>
                  </a:cubicBezTo>
                  <a:cubicBezTo>
                    <a:pt x="121518" y="40928"/>
                    <a:pt x="111571" y="37654"/>
                    <a:pt x="99863" y="37654"/>
                  </a:cubicBezTo>
                  <a:cubicBezTo>
                    <a:pt x="83691" y="37654"/>
                    <a:pt x="70569" y="43458"/>
                    <a:pt x="60498" y="55067"/>
                  </a:cubicBezTo>
                  <a:cubicBezTo>
                    <a:pt x="50427" y="66675"/>
                    <a:pt x="45392" y="85477"/>
                    <a:pt x="45392" y="111473"/>
                  </a:cubicBezTo>
                  <a:cubicBezTo>
                    <a:pt x="45392" y="139055"/>
                    <a:pt x="50353" y="158701"/>
                    <a:pt x="60275" y="170409"/>
                  </a:cubicBezTo>
                  <a:cubicBezTo>
                    <a:pt x="70197" y="182116"/>
                    <a:pt x="83095" y="187970"/>
                    <a:pt x="98970" y="187970"/>
                  </a:cubicBezTo>
                  <a:cubicBezTo>
                    <a:pt x="110678" y="187970"/>
                    <a:pt x="120749" y="184250"/>
                    <a:pt x="129182" y="176808"/>
                  </a:cubicBezTo>
                  <a:cubicBezTo>
                    <a:pt x="137616" y="169367"/>
                    <a:pt x="143668" y="157659"/>
                    <a:pt x="147339" y="141685"/>
                  </a:cubicBezTo>
                  <a:lnTo>
                    <a:pt x="190053" y="155228"/>
                  </a:lnTo>
                  <a:cubicBezTo>
                    <a:pt x="183505" y="179041"/>
                    <a:pt x="172615" y="196726"/>
                    <a:pt x="157385" y="208285"/>
                  </a:cubicBezTo>
                  <a:cubicBezTo>
                    <a:pt x="142155" y="219844"/>
                    <a:pt x="122832" y="225624"/>
                    <a:pt x="99417" y="225624"/>
                  </a:cubicBezTo>
                  <a:cubicBezTo>
                    <a:pt x="70445" y="225624"/>
                    <a:pt x="46632" y="215727"/>
                    <a:pt x="27979" y="195933"/>
                  </a:cubicBezTo>
                  <a:cubicBezTo>
                    <a:pt x="9326" y="176138"/>
                    <a:pt x="0" y="149077"/>
                    <a:pt x="0" y="114747"/>
                  </a:cubicBezTo>
                  <a:cubicBezTo>
                    <a:pt x="0" y="78433"/>
                    <a:pt x="9376" y="50230"/>
                    <a:pt x="28128" y="30138"/>
                  </a:cubicBezTo>
                  <a:cubicBezTo>
                    <a:pt x="46880" y="10046"/>
                    <a:pt x="71536" y="0"/>
                    <a:pt x="102096" y="0"/>
                  </a:cubicBezTo>
                  <a:close/>
                </a:path>
              </a:pathLst>
            </a:custGeom>
            <a:solidFill>
              <a:schemeClr val="accent1"/>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en-US" sz="2400" b="1" i="0" spc="-51" baseline="0">
                <a:solidFill>
                  <a:schemeClr val="tx1">
                    <a:lumMod val="50000"/>
                  </a:schemeClr>
                </a:solidFill>
                <a:latin typeface="Arial" panose="020B0604020202020204" pitchFamily="34" charset="0"/>
                <a:cs typeface="Arial"/>
              </a:endParaRPr>
            </a:p>
          </p:txBody>
        </p:sp>
        <p:sp>
          <p:nvSpPr>
            <p:cNvPr id="24" name="TextBox 23">
              <a:extLst>
                <a:ext uri="{FF2B5EF4-FFF2-40B4-BE49-F238E27FC236}">
                  <a16:creationId xmlns:a16="http://schemas.microsoft.com/office/drawing/2014/main" id="{585B8ADC-EA55-6544-906B-071EFDD2ADDC}"/>
                </a:ext>
              </a:extLst>
            </p:cNvPr>
            <p:cNvSpPr txBox="1"/>
            <p:nvPr userDrawn="1"/>
          </p:nvSpPr>
          <p:spPr>
            <a:xfrm>
              <a:off x="4221917" y="2237745"/>
              <a:ext cx="173980" cy="221903"/>
            </a:xfrm>
            <a:custGeom>
              <a:avLst/>
              <a:gdLst/>
              <a:ahLst/>
              <a:cxnLst/>
              <a:rect l="l" t="t" r="r" b="b"/>
              <a:pathLst>
                <a:path w="173980" h="221903">
                  <a:moveTo>
                    <a:pt x="0" y="0"/>
                  </a:moveTo>
                  <a:lnTo>
                    <a:pt x="44053" y="0"/>
                  </a:lnTo>
                  <a:lnTo>
                    <a:pt x="44053" y="118170"/>
                  </a:lnTo>
                  <a:cubicBezTo>
                    <a:pt x="44053" y="136922"/>
                    <a:pt x="44599" y="149076"/>
                    <a:pt x="45690" y="154633"/>
                  </a:cubicBezTo>
                  <a:cubicBezTo>
                    <a:pt x="47575" y="163562"/>
                    <a:pt x="52065" y="170731"/>
                    <a:pt x="59159" y="176138"/>
                  </a:cubicBezTo>
                  <a:cubicBezTo>
                    <a:pt x="66253" y="181546"/>
                    <a:pt x="75952" y="184249"/>
                    <a:pt x="88255" y="184249"/>
                  </a:cubicBezTo>
                  <a:cubicBezTo>
                    <a:pt x="100757" y="184249"/>
                    <a:pt x="110182" y="181694"/>
                    <a:pt x="116532" y="176585"/>
                  </a:cubicBezTo>
                  <a:cubicBezTo>
                    <a:pt x="122882" y="171475"/>
                    <a:pt x="126702" y="165199"/>
                    <a:pt x="127992" y="157758"/>
                  </a:cubicBezTo>
                  <a:cubicBezTo>
                    <a:pt x="129282" y="150316"/>
                    <a:pt x="129927" y="137964"/>
                    <a:pt x="129927" y="120700"/>
                  </a:cubicBezTo>
                  <a:lnTo>
                    <a:pt x="129927" y="0"/>
                  </a:lnTo>
                  <a:lnTo>
                    <a:pt x="173980" y="0"/>
                  </a:lnTo>
                  <a:lnTo>
                    <a:pt x="173980" y="114598"/>
                  </a:lnTo>
                  <a:cubicBezTo>
                    <a:pt x="173980" y="140791"/>
                    <a:pt x="172789" y="159296"/>
                    <a:pt x="170408" y="170111"/>
                  </a:cubicBezTo>
                  <a:cubicBezTo>
                    <a:pt x="168027" y="180925"/>
                    <a:pt x="163636" y="190054"/>
                    <a:pt x="157237" y="197495"/>
                  </a:cubicBezTo>
                  <a:cubicBezTo>
                    <a:pt x="150837" y="204936"/>
                    <a:pt x="142280" y="210865"/>
                    <a:pt x="131564" y="215280"/>
                  </a:cubicBezTo>
                  <a:cubicBezTo>
                    <a:pt x="120848" y="219695"/>
                    <a:pt x="106859" y="221903"/>
                    <a:pt x="89595" y="221903"/>
                  </a:cubicBezTo>
                  <a:cubicBezTo>
                    <a:pt x="68759" y="221903"/>
                    <a:pt x="52958" y="219497"/>
                    <a:pt x="42193" y="214685"/>
                  </a:cubicBezTo>
                  <a:cubicBezTo>
                    <a:pt x="31428" y="209873"/>
                    <a:pt x="22920" y="203622"/>
                    <a:pt x="16669" y="195932"/>
                  </a:cubicBezTo>
                  <a:cubicBezTo>
                    <a:pt x="10418" y="188243"/>
                    <a:pt x="6300" y="180181"/>
                    <a:pt x="4316" y="171748"/>
                  </a:cubicBezTo>
                  <a:cubicBezTo>
                    <a:pt x="1439" y="159246"/>
                    <a:pt x="0" y="140791"/>
                    <a:pt x="0" y="116384"/>
                  </a:cubicBezTo>
                  <a:lnTo>
                    <a:pt x="0" y="0"/>
                  </a:lnTo>
                  <a:close/>
                </a:path>
              </a:pathLst>
            </a:custGeom>
            <a:solidFill>
              <a:schemeClr val="accent1"/>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en-US" sz="2400" b="1" i="0" spc="-51" baseline="0">
                <a:solidFill>
                  <a:schemeClr val="tx1">
                    <a:lumMod val="50000"/>
                  </a:schemeClr>
                </a:solidFill>
                <a:latin typeface="Arial" panose="020B0604020202020204" pitchFamily="34" charset="0"/>
                <a:cs typeface="Arial"/>
              </a:endParaRPr>
            </a:p>
          </p:txBody>
        </p:sp>
        <p:sp>
          <p:nvSpPr>
            <p:cNvPr id="25" name="TextBox 24">
              <a:extLst>
                <a:ext uri="{FF2B5EF4-FFF2-40B4-BE49-F238E27FC236}">
                  <a16:creationId xmlns:a16="http://schemas.microsoft.com/office/drawing/2014/main" id="{DFC94635-322A-2C4E-94AC-588E33D0DB81}"/>
                </a:ext>
              </a:extLst>
            </p:cNvPr>
            <p:cNvSpPr txBox="1"/>
            <p:nvPr userDrawn="1"/>
          </p:nvSpPr>
          <p:spPr>
            <a:xfrm>
              <a:off x="4431913" y="2237744"/>
              <a:ext cx="174427" cy="218182"/>
            </a:xfrm>
            <a:custGeom>
              <a:avLst/>
              <a:gdLst/>
              <a:ahLst/>
              <a:cxnLst/>
              <a:rect l="l" t="t" r="r" b="b"/>
              <a:pathLst>
                <a:path w="174427" h="218182">
                  <a:moveTo>
                    <a:pt x="0" y="0"/>
                  </a:moveTo>
                  <a:lnTo>
                    <a:pt x="44054" y="0"/>
                  </a:lnTo>
                  <a:lnTo>
                    <a:pt x="44054" y="85874"/>
                  </a:lnTo>
                  <a:lnTo>
                    <a:pt x="130374" y="85874"/>
                  </a:lnTo>
                  <a:lnTo>
                    <a:pt x="130374" y="0"/>
                  </a:lnTo>
                  <a:lnTo>
                    <a:pt x="174427" y="0"/>
                  </a:lnTo>
                  <a:lnTo>
                    <a:pt x="174427" y="218182"/>
                  </a:lnTo>
                  <a:lnTo>
                    <a:pt x="130374" y="218182"/>
                  </a:lnTo>
                  <a:lnTo>
                    <a:pt x="130374" y="122783"/>
                  </a:lnTo>
                  <a:lnTo>
                    <a:pt x="44054" y="122783"/>
                  </a:lnTo>
                  <a:lnTo>
                    <a:pt x="44054" y="218182"/>
                  </a:lnTo>
                  <a:lnTo>
                    <a:pt x="0" y="218182"/>
                  </a:lnTo>
                  <a:lnTo>
                    <a:pt x="0" y="0"/>
                  </a:lnTo>
                  <a:close/>
                </a:path>
              </a:pathLst>
            </a:custGeom>
            <a:solidFill>
              <a:schemeClr val="accent1"/>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en-US" sz="2400" b="1" i="0" spc="-51" baseline="0">
                <a:solidFill>
                  <a:schemeClr val="tx1">
                    <a:lumMod val="50000"/>
                  </a:schemeClr>
                </a:solidFill>
                <a:latin typeface="Arial" panose="020B0604020202020204" pitchFamily="34" charset="0"/>
                <a:cs typeface="Arial"/>
              </a:endParaRPr>
            </a:p>
          </p:txBody>
        </p:sp>
        <p:sp>
          <p:nvSpPr>
            <p:cNvPr id="26" name="TextBox 25">
              <a:extLst>
                <a:ext uri="{FF2B5EF4-FFF2-40B4-BE49-F238E27FC236}">
                  <a16:creationId xmlns:a16="http://schemas.microsoft.com/office/drawing/2014/main" id="{36891785-D783-D04D-B092-61D9C04EA8EC}"/>
                </a:ext>
              </a:extLst>
            </p:cNvPr>
            <p:cNvSpPr txBox="1"/>
            <p:nvPr userDrawn="1"/>
          </p:nvSpPr>
          <p:spPr>
            <a:xfrm>
              <a:off x="4835238" y="2237744"/>
              <a:ext cx="173384" cy="218182"/>
            </a:xfrm>
            <a:custGeom>
              <a:avLst/>
              <a:gdLst/>
              <a:ahLst/>
              <a:cxnLst/>
              <a:rect l="l" t="t" r="r" b="b"/>
              <a:pathLst>
                <a:path w="173384" h="218182">
                  <a:moveTo>
                    <a:pt x="0" y="0"/>
                  </a:moveTo>
                  <a:lnTo>
                    <a:pt x="173384" y="0"/>
                  </a:lnTo>
                  <a:lnTo>
                    <a:pt x="173384" y="36909"/>
                  </a:lnTo>
                  <a:lnTo>
                    <a:pt x="108793" y="36909"/>
                  </a:lnTo>
                  <a:lnTo>
                    <a:pt x="108793" y="218182"/>
                  </a:lnTo>
                  <a:lnTo>
                    <a:pt x="64740" y="218182"/>
                  </a:lnTo>
                  <a:lnTo>
                    <a:pt x="64740" y="36909"/>
                  </a:lnTo>
                  <a:lnTo>
                    <a:pt x="0" y="36909"/>
                  </a:lnTo>
                  <a:lnTo>
                    <a:pt x="0" y="0"/>
                  </a:lnTo>
                  <a:close/>
                </a:path>
              </a:pathLst>
            </a:custGeom>
            <a:solidFill>
              <a:schemeClr val="accent2"/>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en-US" sz="2400" b="1" i="0" spc="-51" baseline="0">
                <a:solidFill>
                  <a:schemeClr val="tx1">
                    <a:lumMod val="50000"/>
                  </a:schemeClr>
                </a:solidFill>
                <a:latin typeface="Arial" panose="020B0604020202020204" pitchFamily="34" charset="0"/>
                <a:cs typeface="Arial"/>
              </a:endParaRPr>
            </a:p>
          </p:txBody>
        </p:sp>
        <p:sp>
          <p:nvSpPr>
            <p:cNvPr id="27" name="TextBox 26">
              <a:extLst>
                <a:ext uri="{FF2B5EF4-FFF2-40B4-BE49-F238E27FC236}">
                  <a16:creationId xmlns:a16="http://schemas.microsoft.com/office/drawing/2014/main" id="{43651B17-76E2-854A-9AE8-173330B26C25}"/>
                </a:ext>
              </a:extLst>
            </p:cNvPr>
            <p:cNvSpPr txBox="1"/>
            <p:nvPr userDrawn="1"/>
          </p:nvSpPr>
          <p:spPr>
            <a:xfrm>
              <a:off x="5336193" y="2237744"/>
              <a:ext cx="143917" cy="218182"/>
            </a:xfrm>
            <a:custGeom>
              <a:avLst/>
              <a:gdLst/>
              <a:ahLst/>
              <a:cxnLst/>
              <a:rect l="l" t="t" r="r" b="b"/>
              <a:pathLst>
                <a:path w="143917" h="218182">
                  <a:moveTo>
                    <a:pt x="0" y="0"/>
                  </a:moveTo>
                  <a:lnTo>
                    <a:pt x="41821" y="0"/>
                  </a:lnTo>
                  <a:lnTo>
                    <a:pt x="41821" y="80218"/>
                  </a:lnTo>
                  <a:cubicBezTo>
                    <a:pt x="55315" y="64443"/>
                    <a:pt x="71438" y="56555"/>
                    <a:pt x="90190" y="56555"/>
                  </a:cubicBezTo>
                  <a:cubicBezTo>
                    <a:pt x="99814" y="56555"/>
                    <a:pt x="108496" y="58341"/>
                    <a:pt x="116235" y="61913"/>
                  </a:cubicBezTo>
                  <a:cubicBezTo>
                    <a:pt x="123974" y="65484"/>
                    <a:pt x="129803" y="70049"/>
                    <a:pt x="133722" y="75605"/>
                  </a:cubicBezTo>
                  <a:cubicBezTo>
                    <a:pt x="137641" y="81161"/>
                    <a:pt x="140320" y="87313"/>
                    <a:pt x="141759" y="94059"/>
                  </a:cubicBezTo>
                  <a:cubicBezTo>
                    <a:pt x="143197" y="100806"/>
                    <a:pt x="143917" y="111274"/>
                    <a:pt x="143917" y="125462"/>
                  </a:cubicBezTo>
                  <a:lnTo>
                    <a:pt x="143917" y="218182"/>
                  </a:lnTo>
                  <a:lnTo>
                    <a:pt x="102096" y="218182"/>
                  </a:lnTo>
                  <a:lnTo>
                    <a:pt x="102096" y="134690"/>
                  </a:lnTo>
                  <a:cubicBezTo>
                    <a:pt x="102096" y="118120"/>
                    <a:pt x="101302" y="107603"/>
                    <a:pt x="99715" y="103138"/>
                  </a:cubicBezTo>
                  <a:cubicBezTo>
                    <a:pt x="98128" y="98673"/>
                    <a:pt x="95325" y="95126"/>
                    <a:pt x="91306" y="92497"/>
                  </a:cubicBezTo>
                  <a:cubicBezTo>
                    <a:pt x="87288" y="89867"/>
                    <a:pt x="82252" y="88553"/>
                    <a:pt x="76200" y="88553"/>
                  </a:cubicBezTo>
                  <a:cubicBezTo>
                    <a:pt x="69255" y="88553"/>
                    <a:pt x="63054" y="90240"/>
                    <a:pt x="57597" y="93613"/>
                  </a:cubicBezTo>
                  <a:cubicBezTo>
                    <a:pt x="52140" y="96986"/>
                    <a:pt x="48146" y="102071"/>
                    <a:pt x="45616" y="108868"/>
                  </a:cubicBezTo>
                  <a:cubicBezTo>
                    <a:pt x="43086" y="115664"/>
                    <a:pt x="41821" y="125710"/>
                    <a:pt x="41821" y="139006"/>
                  </a:cubicBezTo>
                  <a:lnTo>
                    <a:pt x="41821" y="218182"/>
                  </a:lnTo>
                  <a:lnTo>
                    <a:pt x="0" y="218182"/>
                  </a:lnTo>
                  <a:lnTo>
                    <a:pt x="0" y="0"/>
                  </a:lnTo>
                  <a:close/>
                </a:path>
              </a:pathLst>
            </a:custGeom>
            <a:solidFill>
              <a:schemeClr val="accent2"/>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en-US" sz="2400" b="1" i="0" spc="-51" baseline="0">
                <a:solidFill>
                  <a:schemeClr val="tx1">
                    <a:lumMod val="50000"/>
                  </a:schemeClr>
                </a:solidFill>
                <a:latin typeface="Arial" panose="020B0604020202020204" pitchFamily="34" charset="0"/>
                <a:cs typeface="Arial"/>
              </a:endParaRPr>
            </a:p>
          </p:txBody>
        </p:sp>
        <p:sp>
          <p:nvSpPr>
            <p:cNvPr id="28" name="TextBox 27">
              <a:extLst>
                <a:ext uri="{FF2B5EF4-FFF2-40B4-BE49-F238E27FC236}">
                  <a16:creationId xmlns:a16="http://schemas.microsoft.com/office/drawing/2014/main" id="{650B56E0-DBB7-1140-91A3-4BFC37341F76}"/>
                </a:ext>
              </a:extLst>
            </p:cNvPr>
            <p:cNvSpPr txBox="1"/>
            <p:nvPr userDrawn="1"/>
          </p:nvSpPr>
          <p:spPr>
            <a:xfrm>
              <a:off x="5879267" y="2237744"/>
              <a:ext cx="41821" cy="218182"/>
            </a:xfrm>
            <a:custGeom>
              <a:avLst/>
              <a:gdLst/>
              <a:ahLst/>
              <a:cxnLst/>
              <a:rect l="l" t="t" r="r" b="b"/>
              <a:pathLst>
                <a:path w="41821" h="218182">
                  <a:moveTo>
                    <a:pt x="0" y="0"/>
                  </a:moveTo>
                  <a:lnTo>
                    <a:pt x="41821" y="0"/>
                  </a:lnTo>
                  <a:lnTo>
                    <a:pt x="41821" y="218182"/>
                  </a:lnTo>
                  <a:lnTo>
                    <a:pt x="0" y="218182"/>
                  </a:lnTo>
                  <a:lnTo>
                    <a:pt x="0" y="0"/>
                  </a:lnTo>
                  <a:close/>
                </a:path>
              </a:pathLst>
            </a:custGeom>
            <a:solidFill>
              <a:schemeClr val="accent2"/>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en-US" sz="2400" b="1" i="0" spc="-51" baseline="0">
                <a:solidFill>
                  <a:schemeClr val="tx1">
                    <a:lumMod val="50000"/>
                  </a:schemeClr>
                </a:solidFill>
                <a:latin typeface="Arial" panose="020B0604020202020204" pitchFamily="34" charset="0"/>
                <a:cs typeface="Arial"/>
              </a:endParaRPr>
            </a:p>
          </p:txBody>
        </p:sp>
        <p:sp>
          <p:nvSpPr>
            <p:cNvPr id="29" name="TextBox 28">
              <a:extLst>
                <a:ext uri="{FF2B5EF4-FFF2-40B4-BE49-F238E27FC236}">
                  <a16:creationId xmlns:a16="http://schemas.microsoft.com/office/drawing/2014/main" id="{C1686D8C-3165-114E-97BD-E8628EC7F395}"/>
                </a:ext>
              </a:extLst>
            </p:cNvPr>
            <p:cNvSpPr txBox="1"/>
            <p:nvPr userDrawn="1"/>
          </p:nvSpPr>
          <p:spPr>
            <a:xfrm>
              <a:off x="5000288" y="2294300"/>
              <a:ext cx="147675" cy="165199"/>
            </a:xfrm>
            <a:custGeom>
              <a:avLst/>
              <a:gdLst/>
              <a:ahLst/>
              <a:cxnLst/>
              <a:rect l="l" t="t" r="r" b="b"/>
              <a:pathLst>
                <a:path w="147675" h="165199">
                  <a:moveTo>
                    <a:pt x="72479" y="0"/>
                  </a:moveTo>
                  <a:cubicBezTo>
                    <a:pt x="95994" y="0"/>
                    <a:pt x="114548" y="7764"/>
                    <a:pt x="128141" y="23291"/>
                  </a:cubicBezTo>
                  <a:cubicBezTo>
                    <a:pt x="141734" y="38819"/>
                    <a:pt x="148233" y="62607"/>
                    <a:pt x="147638" y="94654"/>
                  </a:cubicBezTo>
                  <a:lnTo>
                    <a:pt x="42863" y="94654"/>
                  </a:lnTo>
                  <a:cubicBezTo>
                    <a:pt x="43160" y="107057"/>
                    <a:pt x="46534" y="116706"/>
                    <a:pt x="52983" y="123602"/>
                  </a:cubicBezTo>
                  <a:cubicBezTo>
                    <a:pt x="59432" y="130497"/>
                    <a:pt x="67469" y="133945"/>
                    <a:pt x="77093" y="133945"/>
                  </a:cubicBezTo>
                  <a:cubicBezTo>
                    <a:pt x="83641" y="133945"/>
                    <a:pt x="89148" y="132159"/>
                    <a:pt x="93613" y="128587"/>
                  </a:cubicBezTo>
                  <a:cubicBezTo>
                    <a:pt x="98078" y="125015"/>
                    <a:pt x="101451" y="119261"/>
                    <a:pt x="103733" y="111323"/>
                  </a:cubicBezTo>
                  <a:lnTo>
                    <a:pt x="145405" y="118318"/>
                  </a:lnTo>
                  <a:cubicBezTo>
                    <a:pt x="140047" y="133598"/>
                    <a:pt x="131589" y="145231"/>
                    <a:pt x="120030" y="153218"/>
                  </a:cubicBezTo>
                  <a:cubicBezTo>
                    <a:pt x="108471" y="161205"/>
                    <a:pt x="94010" y="165199"/>
                    <a:pt x="76647" y="165199"/>
                  </a:cubicBezTo>
                  <a:cubicBezTo>
                    <a:pt x="49163" y="165199"/>
                    <a:pt x="28823" y="156220"/>
                    <a:pt x="15627" y="138261"/>
                  </a:cubicBezTo>
                  <a:cubicBezTo>
                    <a:pt x="5209" y="123874"/>
                    <a:pt x="0" y="105717"/>
                    <a:pt x="0" y="83790"/>
                  </a:cubicBezTo>
                  <a:cubicBezTo>
                    <a:pt x="0" y="57596"/>
                    <a:pt x="6846" y="37083"/>
                    <a:pt x="20538" y="22250"/>
                  </a:cubicBezTo>
                  <a:cubicBezTo>
                    <a:pt x="34231" y="7416"/>
                    <a:pt x="51544" y="0"/>
                    <a:pt x="72479" y="0"/>
                  </a:cubicBezTo>
                  <a:close/>
                  <a:moveTo>
                    <a:pt x="75009" y="31998"/>
                  </a:moveTo>
                  <a:cubicBezTo>
                    <a:pt x="65881" y="31998"/>
                    <a:pt x="58341" y="35322"/>
                    <a:pt x="52388" y="41969"/>
                  </a:cubicBezTo>
                  <a:cubicBezTo>
                    <a:pt x="46434" y="48617"/>
                    <a:pt x="43507" y="57646"/>
                    <a:pt x="43607" y="69056"/>
                  </a:cubicBezTo>
                  <a:lnTo>
                    <a:pt x="106114" y="69056"/>
                  </a:lnTo>
                  <a:cubicBezTo>
                    <a:pt x="105817" y="56951"/>
                    <a:pt x="102691" y="47749"/>
                    <a:pt x="96738" y="41448"/>
                  </a:cubicBezTo>
                  <a:cubicBezTo>
                    <a:pt x="90785" y="35148"/>
                    <a:pt x="83542" y="31998"/>
                    <a:pt x="75009" y="31998"/>
                  </a:cubicBezTo>
                  <a:close/>
                </a:path>
              </a:pathLst>
            </a:custGeom>
            <a:solidFill>
              <a:schemeClr val="accent2"/>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en-US" sz="2400" b="1" i="0" spc="-51" baseline="0">
                <a:solidFill>
                  <a:schemeClr val="tx1">
                    <a:lumMod val="50000"/>
                  </a:schemeClr>
                </a:solidFill>
                <a:latin typeface="Arial" panose="020B0604020202020204" pitchFamily="34" charset="0"/>
                <a:cs typeface="Arial"/>
              </a:endParaRPr>
            </a:p>
          </p:txBody>
        </p:sp>
        <p:sp>
          <p:nvSpPr>
            <p:cNvPr id="30" name="TextBox 29">
              <a:extLst>
                <a:ext uri="{FF2B5EF4-FFF2-40B4-BE49-F238E27FC236}">
                  <a16:creationId xmlns:a16="http://schemas.microsoft.com/office/drawing/2014/main" id="{4285349C-A7B3-7645-B904-34B35CE09072}"/>
                </a:ext>
              </a:extLst>
            </p:cNvPr>
            <p:cNvSpPr txBox="1"/>
            <p:nvPr userDrawn="1"/>
          </p:nvSpPr>
          <p:spPr>
            <a:xfrm>
              <a:off x="5165190" y="2294300"/>
              <a:ext cx="149125" cy="165199"/>
            </a:xfrm>
            <a:custGeom>
              <a:avLst/>
              <a:gdLst/>
              <a:ahLst/>
              <a:cxnLst/>
              <a:rect l="l" t="t" r="r" b="b"/>
              <a:pathLst>
                <a:path w="149125" h="165199">
                  <a:moveTo>
                    <a:pt x="76646" y="0"/>
                  </a:moveTo>
                  <a:cubicBezTo>
                    <a:pt x="95894" y="0"/>
                    <a:pt x="111199" y="4142"/>
                    <a:pt x="122560" y="12427"/>
                  </a:cubicBezTo>
                  <a:cubicBezTo>
                    <a:pt x="133920" y="20712"/>
                    <a:pt x="142081" y="33337"/>
                    <a:pt x="147042" y="50304"/>
                  </a:cubicBezTo>
                  <a:lnTo>
                    <a:pt x="105816" y="57745"/>
                  </a:lnTo>
                  <a:cubicBezTo>
                    <a:pt x="104427" y="49510"/>
                    <a:pt x="101277" y="43309"/>
                    <a:pt x="96366" y="39142"/>
                  </a:cubicBezTo>
                  <a:cubicBezTo>
                    <a:pt x="91454" y="34974"/>
                    <a:pt x="85080" y="32891"/>
                    <a:pt x="77241" y="32891"/>
                  </a:cubicBezTo>
                  <a:cubicBezTo>
                    <a:pt x="66823" y="32891"/>
                    <a:pt x="58514" y="36487"/>
                    <a:pt x="52313" y="43681"/>
                  </a:cubicBezTo>
                  <a:cubicBezTo>
                    <a:pt x="46112" y="50874"/>
                    <a:pt x="43011" y="62904"/>
                    <a:pt x="43011" y="79772"/>
                  </a:cubicBezTo>
                  <a:cubicBezTo>
                    <a:pt x="43011" y="98524"/>
                    <a:pt x="46161" y="111770"/>
                    <a:pt x="52462" y="119509"/>
                  </a:cubicBezTo>
                  <a:cubicBezTo>
                    <a:pt x="58762" y="127248"/>
                    <a:pt x="67220" y="131117"/>
                    <a:pt x="77837" y="131117"/>
                  </a:cubicBezTo>
                  <a:cubicBezTo>
                    <a:pt x="85774" y="131117"/>
                    <a:pt x="92273" y="128860"/>
                    <a:pt x="97333" y="124346"/>
                  </a:cubicBezTo>
                  <a:cubicBezTo>
                    <a:pt x="102393" y="119831"/>
                    <a:pt x="105965" y="112067"/>
                    <a:pt x="108049" y="101054"/>
                  </a:cubicBezTo>
                  <a:lnTo>
                    <a:pt x="149125" y="108049"/>
                  </a:lnTo>
                  <a:cubicBezTo>
                    <a:pt x="144859" y="126901"/>
                    <a:pt x="136673" y="141138"/>
                    <a:pt x="124569" y="150763"/>
                  </a:cubicBezTo>
                  <a:cubicBezTo>
                    <a:pt x="112464" y="160387"/>
                    <a:pt x="96242" y="165199"/>
                    <a:pt x="75902" y="165199"/>
                  </a:cubicBezTo>
                  <a:cubicBezTo>
                    <a:pt x="52784" y="165199"/>
                    <a:pt x="34354" y="157906"/>
                    <a:pt x="20612" y="143321"/>
                  </a:cubicBezTo>
                  <a:cubicBezTo>
                    <a:pt x="6871" y="128736"/>
                    <a:pt x="0" y="108545"/>
                    <a:pt x="0" y="82748"/>
                  </a:cubicBezTo>
                  <a:cubicBezTo>
                    <a:pt x="0" y="56654"/>
                    <a:pt x="6895" y="36339"/>
                    <a:pt x="20687" y="21803"/>
                  </a:cubicBezTo>
                  <a:cubicBezTo>
                    <a:pt x="34478" y="7268"/>
                    <a:pt x="53131" y="0"/>
                    <a:pt x="76646" y="0"/>
                  </a:cubicBezTo>
                  <a:close/>
                </a:path>
              </a:pathLst>
            </a:custGeom>
            <a:solidFill>
              <a:schemeClr val="accent2"/>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en-US" sz="2400" b="1" i="0" spc="-51" baseline="0">
                <a:solidFill>
                  <a:schemeClr val="tx1">
                    <a:lumMod val="50000"/>
                  </a:schemeClr>
                </a:solidFill>
                <a:latin typeface="Arial" panose="020B0604020202020204" pitchFamily="34" charset="0"/>
                <a:cs typeface="Arial"/>
              </a:endParaRPr>
            </a:p>
          </p:txBody>
        </p:sp>
        <p:sp>
          <p:nvSpPr>
            <p:cNvPr id="31" name="TextBox 30">
              <a:extLst>
                <a:ext uri="{FF2B5EF4-FFF2-40B4-BE49-F238E27FC236}">
                  <a16:creationId xmlns:a16="http://schemas.microsoft.com/office/drawing/2014/main" id="{87B7D536-858E-3042-939D-08F6CE80A072}"/>
                </a:ext>
              </a:extLst>
            </p:cNvPr>
            <p:cNvSpPr txBox="1"/>
            <p:nvPr userDrawn="1"/>
          </p:nvSpPr>
          <p:spPr>
            <a:xfrm>
              <a:off x="5517019" y="2294300"/>
              <a:ext cx="144066" cy="161627"/>
            </a:xfrm>
            <a:custGeom>
              <a:avLst/>
              <a:gdLst/>
              <a:ahLst/>
              <a:cxnLst/>
              <a:rect l="l" t="t" r="r" b="b"/>
              <a:pathLst>
                <a:path w="144066" h="161627">
                  <a:moveTo>
                    <a:pt x="90934" y="0"/>
                  </a:moveTo>
                  <a:cubicBezTo>
                    <a:pt x="100162" y="0"/>
                    <a:pt x="108595" y="1662"/>
                    <a:pt x="116235" y="4986"/>
                  </a:cubicBezTo>
                  <a:cubicBezTo>
                    <a:pt x="123875" y="8309"/>
                    <a:pt x="129654" y="12551"/>
                    <a:pt x="133574" y="17710"/>
                  </a:cubicBezTo>
                  <a:cubicBezTo>
                    <a:pt x="137493" y="22870"/>
                    <a:pt x="140221" y="28724"/>
                    <a:pt x="141759" y="35272"/>
                  </a:cubicBezTo>
                  <a:cubicBezTo>
                    <a:pt x="143297" y="41821"/>
                    <a:pt x="144066" y="51197"/>
                    <a:pt x="144066" y="63401"/>
                  </a:cubicBezTo>
                  <a:lnTo>
                    <a:pt x="144066" y="161627"/>
                  </a:lnTo>
                  <a:lnTo>
                    <a:pt x="102245" y="161627"/>
                  </a:lnTo>
                  <a:lnTo>
                    <a:pt x="102245" y="80962"/>
                  </a:lnTo>
                  <a:cubicBezTo>
                    <a:pt x="102245" y="63897"/>
                    <a:pt x="101352" y="52859"/>
                    <a:pt x="99566" y="47848"/>
                  </a:cubicBezTo>
                  <a:cubicBezTo>
                    <a:pt x="97780" y="42837"/>
                    <a:pt x="94878" y="38943"/>
                    <a:pt x="90860" y="36165"/>
                  </a:cubicBezTo>
                  <a:cubicBezTo>
                    <a:pt x="86841" y="33387"/>
                    <a:pt x="82005" y="31998"/>
                    <a:pt x="76349" y="31998"/>
                  </a:cubicBezTo>
                  <a:cubicBezTo>
                    <a:pt x="69106" y="31998"/>
                    <a:pt x="62607" y="33982"/>
                    <a:pt x="56853" y="37951"/>
                  </a:cubicBezTo>
                  <a:cubicBezTo>
                    <a:pt x="51098" y="41920"/>
                    <a:pt x="47154" y="47178"/>
                    <a:pt x="45021" y="53727"/>
                  </a:cubicBezTo>
                  <a:cubicBezTo>
                    <a:pt x="42887" y="60275"/>
                    <a:pt x="41821" y="72380"/>
                    <a:pt x="41821" y="90041"/>
                  </a:cubicBezTo>
                  <a:lnTo>
                    <a:pt x="41821" y="161627"/>
                  </a:lnTo>
                  <a:lnTo>
                    <a:pt x="0" y="161627"/>
                  </a:lnTo>
                  <a:lnTo>
                    <a:pt x="0" y="3572"/>
                  </a:lnTo>
                  <a:lnTo>
                    <a:pt x="38844" y="3572"/>
                  </a:lnTo>
                  <a:lnTo>
                    <a:pt x="38844" y="26789"/>
                  </a:lnTo>
                  <a:cubicBezTo>
                    <a:pt x="52636" y="8929"/>
                    <a:pt x="69999" y="0"/>
                    <a:pt x="90934" y="0"/>
                  </a:cubicBezTo>
                  <a:close/>
                </a:path>
              </a:pathLst>
            </a:custGeom>
            <a:solidFill>
              <a:schemeClr val="accent2"/>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en-US" sz="2400" b="1" i="0" spc="-51" baseline="0">
                <a:solidFill>
                  <a:schemeClr val="tx1">
                    <a:lumMod val="50000"/>
                  </a:schemeClr>
                </a:solidFill>
                <a:latin typeface="Arial" panose="020B0604020202020204" pitchFamily="34" charset="0"/>
                <a:cs typeface="Arial"/>
              </a:endParaRPr>
            </a:p>
          </p:txBody>
        </p:sp>
        <p:sp>
          <p:nvSpPr>
            <p:cNvPr id="32" name="TextBox 31">
              <a:extLst>
                <a:ext uri="{FF2B5EF4-FFF2-40B4-BE49-F238E27FC236}">
                  <a16:creationId xmlns:a16="http://schemas.microsoft.com/office/drawing/2014/main" id="{75FF8F98-788B-C346-AEA6-89E493CA8DEA}"/>
                </a:ext>
              </a:extLst>
            </p:cNvPr>
            <p:cNvSpPr txBox="1"/>
            <p:nvPr userDrawn="1"/>
          </p:nvSpPr>
          <p:spPr>
            <a:xfrm>
              <a:off x="5688618" y="2294300"/>
              <a:ext cx="163116" cy="165199"/>
            </a:xfrm>
            <a:custGeom>
              <a:avLst/>
              <a:gdLst/>
              <a:ahLst/>
              <a:cxnLst/>
              <a:rect l="l" t="t" r="r" b="b"/>
              <a:pathLst>
                <a:path w="163116" h="165199">
                  <a:moveTo>
                    <a:pt x="81409" y="0"/>
                  </a:moveTo>
                  <a:cubicBezTo>
                    <a:pt x="105321" y="0"/>
                    <a:pt x="124916" y="7764"/>
                    <a:pt x="140196" y="23291"/>
                  </a:cubicBezTo>
                  <a:cubicBezTo>
                    <a:pt x="155476" y="38819"/>
                    <a:pt x="163116" y="58440"/>
                    <a:pt x="163116" y="82153"/>
                  </a:cubicBezTo>
                  <a:cubicBezTo>
                    <a:pt x="163116" y="106065"/>
                    <a:pt x="155401" y="125884"/>
                    <a:pt x="139973" y="141610"/>
                  </a:cubicBezTo>
                  <a:cubicBezTo>
                    <a:pt x="124544" y="157336"/>
                    <a:pt x="105122" y="165199"/>
                    <a:pt x="81707" y="165199"/>
                  </a:cubicBezTo>
                  <a:cubicBezTo>
                    <a:pt x="67221" y="165199"/>
                    <a:pt x="53405" y="161925"/>
                    <a:pt x="40258" y="155376"/>
                  </a:cubicBezTo>
                  <a:cubicBezTo>
                    <a:pt x="27112" y="148828"/>
                    <a:pt x="17115" y="139228"/>
                    <a:pt x="10269" y="126578"/>
                  </a:cubicBezTo>
                  <a:cubicBezTo>
                    <a:pt x="3423" y="113928"/>
                    <a:pt x="0" y="98524"/>
                    <a:pt x="0" y="80367"/>
                  </a:cubicBezTo>
                  <a:cubicBezTo>
                    <a:pt x="0" y="66476"/>
                    <a:pt x="3423" y="53032"/>
                    <a:pt x="10269" y="40035"/>
                  </a:cubicBezTo>
                  <a:cubicBezTo>
                    <a:pt x="17115" y="27037"/>
                    <a:pt x="26814" y="17115"/>
                    <a:pt x="39365" y="10269"/>
                  </a:cubicBezTo>
                  <a:cubicBezTo>
                    <a:pt x="51916" y="3423"/>
                    <a:pt x="65931" y="0"/>
                    <a:pt x="81409" y="0"/>
                  </a:cubicBezTo>
                  <a:close/>
                  <a:moveTo>
                    <a:pt x="81558" y="34081"/>
                  </a:moveTo>
                  <a:cubicBezTo>
                    <a:pt x="70644" y="34081"/>
                    <a:pt x="61466" y="38249"/>
                    <a:pt x="54025" y="46583"/>
                  </a:cubicBezTo>
                  <a:cubicBezTo>
                    <a:pt x="46583" y="54917"/>
                    <a:pt x="42863" y="66923"/>
                    <a:pt x="42863" y="82599"/>
                  </a:cubicBezTo>
                  <a:cubicBezTo>
                    <a:pt x="42863" y="98276"/>
                    <a:pt x="46583" y="110281"/>
                    <a:pt x="54025" y="118616"/>
                  </a:cubicBezTo>
                  <a:cubicBezTo>
                    <a:pt x="61466" y="126950"/>
                    <a:pt x="70644" y="131117"/>
                    <a:pt x="81558" y="131117"/>
                  </a:cubicBezTo>
                  <a:cubicBezTo>
                    <a:pt x="92472" y="131117"/>
                    <a:pt x="101625" y="126950"/>
                    <a:pt x="109017" y="118616"/>
                  </a:cubicBezTo>
                  <a:cubicBezTo>
                    <a:pt x="116408" y="110281"/>
                    <a:pt x="120104" y="98177"/>
                    <a:pt x="120104" y="82302"/>
                  </a:cubicBezTo>
                  <a:cubicBezTo>
                    <a:pt x="120104" y="66824"/>
                    <a:pt x="116408" y="54917"/>
                    <a:pt x="109017" y="46583"/>
                  </a:cubicBezTo>
                  <a:cubicBezTo>
                    <a:pt x="101625" y="38249"/>
                    <a:pt x="92472" y="34081"/>
                    <a:pt x="81558" y="34081"/>
                  </a:cubicBezTo>
                  <a:close/>
                </a:path>
              </a:pathLst>
            </a:custGeom>
            <a:solidFill>
              <a:schemeClr val="accent2"/>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en-US" sz="2400" b="1" i="0" spc="-51" baseline="0">
                <a:solidFill>
                  <a:schemeClr val="tx1">
                    <a:lumMod val="50000"/>
                  </a:schemeClr>
                </a:solidFill>
                <a:latin typeface="Arial" panose="020B0604020202020204" pitchFamily="34" charset="0"/>
                <a:cs typeface="Arial"/>
              </a:endParaRPr>
            </a:p>
          </p:txBody>
        </p:sp>
        <p:sp>
          <p:nvSpPr>
            <p:cNvPr id="33" name="TextBox 32">
              <a:extLst>
                <a:ext uri="{FF2B5EF4-FFF2-40B4-BE49-F238E27FC236}">
                  <a16:creationId xmlns:a16="http://schemas.microsoft.com/office/drawing/2014/main" id="{F2960768-09EF-714E-810E-CDE100123881}"/>
                </a:ext>
              </a:extLst>
            </p:cNvPr>
            <p:cNvSpPr txBox="1"/>
            <p:nvPr userDrawn="1"/>
          </p:nvSpPr>
          <p:spPr>
            <a:xfrm>
              <a:off x="5945793" y="2294300"/>
              <a:ext cx="163116" cy="165199"/>
            </a:xfrm>
            <a:custGeom>
              <a:avLst/>
              <a:gdLst/>
              <a:ahLst/>
              <a:cxnLst/>
              <a:rect l="l" t="t" r="r" b="b"/>
              <a:pathLst>
                <a:path w="163116" h="165199">
                  <a:moveTo>
                    <a:pt x="81409" y="0"/>
                  </a:moveTo>
                  <a:cubicBezTo>
                    <a:pt x="105321" y="0"/>
                    <a:pt x="124916" y="7764"/>
                    <a:pt x="140196" y="23291"/>
                  </a:cubicBezTo>
                  <a:cubicBezTo>
                    <a:pt x="155476" y="38819"/>
                    <a:pt x="163116" y="58440"/>
                    <a:pt x="163116" y="82153"/>
                  </a:cubicBezTo>
                  <a:cubicBezTo>
                    <a:pt x="163116" y="106065"/>
                    <a:pt x="155401" y="125884"/>
                    <a:pt x="139973" y="141610"/>
                  </a:cubicBezTo>
                  <a:cubicBezTo>
                    <a:pt x="124544" y="157336"/>
                    <a:pt x="105122" y="165199"/>
                    <a:pt x="81707" y="165199"/>
                  </a:cubicBezTo>
                  <a:cubicBezTo>
                    <a:pt x="67221" y="165199"/>
                    <a:pt x="53405" y="161925"/>
                    <a:pt x="40258" y="155376"/>
                  </a:cubicBezTo>
                  <a:cubicBezTo>
                    <a:pt x="27112" y="148828"/>
                    <a:pt x="17115" y="139228"/>
                    <a:pt x="10269" y="126578"/>
                  </a:cubicBezTo>
                  <a:cubicBezTo>
                    <a:pt x="3423" y="113928"/>
                    <a:pt x="0" y="98524"/>
                    <a:pt x="0" y="80367"/>
                  </a:cubicBezTo>
                  <a:cubicBezTo>
                    <a:pt x="0" y="66476"/>
                    <a:pt x="3423" y="53032"/>
                    <a:pt x="10269" y="40035"/>
                  </a:cubicBezTo>
                  <a:cubicBezTo>
                    <a:pt x="17115" y="27037"/>
                    <a:pt x="26814" y="17115"/>
                    <a:pt x="39365" y="10269"/>
                  </a:cubicBezTo>
                  <a:cubicBezTo>
                    <a:pt x="51916" y="3423"/>
                    <a:pt x="65931" y="0"/>
                    <a:pt x="81409" y="0"/>
                  </a:cubicBezTo>
                  <a:close/>
                  <a:moveTo>
                    <a:pt x="81558" y="34081"/>
                  </a:moveTo>
                  <a:cubicBezTo>
                    <a:pt x="70644" y="34081"/>
                    <a:pt x="61466" y="38249"/>
                    <a:pt x="54025" y="46583"/>
                  </a:cubicBezTo>
                  <a:cubicBezTo>
                    <a:pt x="46583" y="54917"/>
                    <a:pt x="42863" y="66923"/>
                    <a:pt x="42863" y="82599"/>
                  </a:cubicBezTo>
                  <a:cubicBezTo>
                    <a:pt x="42863" y="98276"/>
                    <a:pt x="46583" y="110281"/>
                    <a:pt x="54025" y="118616"/>
                  </a:cubicBezTo>
                  <a:cubicBezTo>
                    <a:pt x="61466" y="126950"/>
                    <a:pt x="70644" y="131117"/>
                    <a:pt x="81558" y="131117"/>
                  </a:cubicBezTo>
                  <a:cubicBezTo>
                    <a:pt x="92472" y="131117"/>
                    <a:pt x="101625" y="126950"/>
                    <a:pt x="109017" y="118616"/>
                  </a:cubicBezTo>
                  <a:cubicBezTo>
                    <a:pt x="116408" y="110281"/>
                    <a:pt x="120104" y="98177"/>
                    <a:pt x="120104" y="82302"/>
                  </a:cubicBezTo>
                  <a:cubicBezTo>
                    <a:pt x="120104" y="66824"/>
                    <a:pt x="116408" y="54917"/>
                    <a:pt x="109017" y="46583"/>
                  </a:cubicBezTo>
                  <a:cubicBezTo>
                    <a:pt x="101625" y="38249"/>
                    <a:pt x="92472" y="34081"/>
                    <a:pt x="81558" y="34081"/>
                  </a:cubicBezTo>
                  <a:close/>
                </a:path>
              </a:pathLst>
            </a:custGeom>
            <a:solidFill>
              <a:schemeClr val="accent2"/>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en-US" sz="2400" b="1" i="0" spc="-51" baseline="0">
                <a:solidFill>
                  <a:schemeClr val="tx1">
                    <a:lumMod val="50000"/>
                  </a:schemeClr>
                </a:solidFill>
                <a:latin typeface="Arial" panose="020B0604020202020204" pitchFamily="34" charset="0"/>
                <a:cs typeface="Arial"/>
              </a:endParaRPr>
            </a:p>
          </p:txBody>
        </p:sp>
        <p:sp>
          <p:nvSpPr>
            <p:cNvPr id="34" name="TextBox 33">
              <a:extLst>
                <a:ext uri="{FF2B5EF4-FFF2-40B4-BE49-F238E27FC236}">
                  <a16:creationId xmlns:a16="http://schemas.microsoft.com/office/drawing/2014/main" id="{3EA93E3B-566E-954B-B276-F34642446AE2}"/>
                </a:ext>
              </a:extLst>
            </p:cNvPr>
            <p:cNvSpPr txBox="1"/>
            <p:nvPr userDrawn="1"/>
          </p:nvSpPr>
          <p:spPr>
            <a:xfrm>
              <a:off x="6127066" y="2294299"/>
              <a:ext cx="154186" cy="225772"/>
            </a:xfrm>
            <a:custGeom>
              <a:avLst/>
              <a:gdLst/>
              <a:ahLst/>
              <a:cxnLst/>
              <a:rect l="l" t="t" r="r" b="b"/>
              <a:pathLst>
                <a:path w="154186" h="225772">
                  <a:moveTo>
                    <a:pt x="66675" y="0"/>
                  </a:moveTo>
                  <a:cubicBezTo>
                    <a:pt x="86221" y="0"/>
                    <a:pt x="102344" y="8582"/>
                    <a:pt x="115044" y="25747"/>
                  </a:cubicBezTo>
                  <a:lnTo>
                    <a:pt x="115044" y="3572"/>
                  </a:lnTo>
                  <a:lnTo>
                    <a:pt x="154186" y="3572"/>
                  </a:lnTo>
                  <a:lnTo>
                    <a:pt x="154186" y="145405"/>
                  </a:lnTo>
                  <a:cubicBezTo>
                    <a:pt x="154186" y="164058"/>
                    <a:pt x="152648" y="177998"/>
                    <a:pt x="149572" y="187226"/>
                  </a:cubicBezTo>
                  <a:cubicBezTo>
                    <a:pt x="146496" y="196453"/>
                    <a:pt x="142180" y="203696"/>
                    <a:pt x="136624" y="208954"/>
                  </a:cubicBezTo>
                  <a:cubicBezTo>
                    <a:pt x="131068" y="214213"/>
                    <a:pt x="123651" y="218331"/>
                    <a:pt x="114374" y="221307"/>
                  </a:cubicBezTo>
                  <a:cubicBezTo>
                    <a:pt x="105097" y="224284"/>
                    <a:pt x="93365" y="225772"/>
                    <a:pt x="79176" y="225772"/>
                  </a:cubicBezTo>
                  <a:cubicBezTo>
                    <a:pt x="52387" y="225772"/>
                    <a:pt x="33387" y="221183"/>
                    <a:pt x="22175" y="212005"/>
                  </a:cubicBezTo>
                  <a:cubicBezTo>
                    <a:pt x="10963" y="202828"/>
                    <a:pt x="5358" y="191194"/>
                    <a:pt x="5358" y="177105"/>
                  </a:cubicBezTo>
                  <a:cubicBezTo>
                    <a:pt x="5358" y="175716"/>
                    <a:pt x="5407" y="174029"/>
                    <a:pt x="5506" y="172045"/>
                  </a:cubicBezTo>
                  <a:lnTo>
                    <a:pt x="53280" y="177849"/>
                  </a:lnTo>
                  <a:cubicBezTo>
                    <a:pt x="54074" y="183406"/>
                    <a:pt x="55909" y="187226"/>
                    <a:pt x="58787" y="189309"/>
                  </a:cubicBezTo>
                  <a:cubicBezTo>
                    <a:pt x="62756" y="192286"/>
                    <a:pt x="69006" y="193774"/>
                    <a:pt x="77539" y="193774"/>
                  </a:cubicBezTo>
                  <a:cubicBezTo>
                    <a:pt x="88453" y="193774"/>
                    <a:pt x="96639" y="192137"/>
                    <a:pt x="102096" y="188863"/>
                  </a:cubicBezTo>
                  <a:cubicBezTo>
                    <a:pt x="105767" y="186680"/>
                    <a:pt x="108545" y="183158"/>
                    <a:pt x="110430" y="178296"/>
                  </a:cubicBezTo>
                  <a:cubicBezTo>
                    <a:pt x="111720" y="174823"/>
                    <a:pt x="112365" y="168424"/>
                    <a:pt x="112365" y="159097"/>
                  </a:cubicBezTo>
                  <a:lnTo>
                    <a:pt x="112365" y="136029"/>
                  </a:lnTo>
                  <a:cubicBezTo>
                    <a:pt x="99863" y="153094"/>
                    <a:pt x="84088" y="161627"/>
                    <a:pt x="65038" y="161627"/>
                  </a:cubicBezTo>
                  <a:cubicBezTo>
                    <a:pt x="43805" y="161627"/>
                    <a:pt x="26987" y="152648"/>
                    <a:pt x="14585" y="134689"/>
                  </a:cubicBezTo>
                  <a:cubicBezTo>
                    <a:pt x="4861" y="120501"/>
                    <a:pt x="0" y="102840"/>
                    <a:pt x="0" y="81706"/>
                  </a:cubicBezTo>
                  <a:cubicBezTo>
                    <a:pt x="0" y="55215"/>
                    <a:pt x="6375" y="34974"/>
                    <a:pt x="19124" y="20985"/>
                  </a:cubicBezTo>
                  <a:cubicBezTo>
                    <a:pt x="31874" y="6995"/>
                    <a:pt x="47724" y="0"/>
                    <a:pt x="66675" y="0"/>
                  </a:cubicBezTo>
                  <a:close/>
                  <a:moveTo>
                    <a:pt x="77390" y="31998"/>
                  </a:moveTo>
                  <a:cubicBezTo>
                    <a:pt x="67369" y="31998"/>
                    <a:pt x="59109" y="35892"/>
                    <a:pt x="52610" y="43681"/>
                  </a:cubicBezTo>
                  <a:cubicBezTo>
                    <a:pt x="46112" y="51470"/>
                    <a:pt x="42862" y="63351"/>
                    <a:pt x="42862" y="79325"/>
                  </a:cubicBezTo>
                  <a:cubicBezTo>
                    <a:pt x="42862" y="96093"/>
                    <a:pt x="46112" y="108371"/>
                    <a:pt x="52610" y="116160"/>
                  </a:cubicBezTo>
                  <a:cubicBezTo>
                    <a:pt x="59109" y="123949"/>
                    <a:pt x="67121" y="127843"/>
                    <a:pt x="76646" y="127843"/>
                  </a:cubicBezTo>
                  <a:cubicBezTo>
                    <a:pt x="86866" y="127843"/>
                    <a:pt x="95498" y="123850"/>
                    <a:pt x="102542" y="115862"/>
                  </a:cubicBezTo>
                  <a:cubicBezTo>
                    <a:pt x="109587" y="107875"/>
                    <a:pt x="113109" y="96044"/>
                    <a:pt x="113109" y="80367"/>
                  </a:cubicBezTo>
                  <a:cubicBezTo>
                    <a:pt x="113109" y="63996"/>
                    <a:pt x="109736" y="51842"/>
                    <a:pt x="102989" y="43904"/>
                  </a:cubicBezTo>
                  <a:cubicBezTo>
                    <a:pt x="96242" y="35967"/>
                    <a:pt x="87709" y="31998"/>
                    <a:pt x="77390" y="31998"/>
                  </a:cubicBezTo>
                  <a:close/>
                </a:path>
              </a:pathLst>
            </a:custGeom>
            <a:solidFill>
              <a:schemeClr val="accent2"/>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en-US" sz="2400" b="1" i="0" spc="-51" baseline="0">
                <a:solidFill>
                  <a:schemeClr val="tx1">
                    <a:lumMod val="50000"/>
                  </a:schemeClr>
                </a:solidFill>
                <a:latin typeface="Arial" panose="020B0604020202020204" pitchFamily="34" charset="0"/>
                <a:cs typeface="Arial"/>
              </a:endParaRPr>
            </a:p>
          </p:txBody>
        </p:sp>
        <p:sp>
          <p:nvSpPr>
            <p:cNvPr id="35" name="TextBox 34">
              <a:extLst>
                <a:ext uri="{FF2B5EF4-FFF2-40B4-BE49-F238E27FC236}">
                  <a16:creationId xmlns:a16="http://schemas.microsoft.com/office/drawing/2014/main" id="{1E3E8253-2CAE-E147-8D81-B5BAA6E050F8}"/>
                </a:ext>
              </a:extLst>
            </p:cNvPr>
            <p:cNvSpPr txBox="1"/>
            <p:nvPr userDrawn="1"/>
          </p:nvSpPr>
          <p:spPr>
            <a:xfrm>
              <a:off x="6297623" y="2297871"/>
              <a:ext cx="162520" cy="222200"/>
            </a:xfrm>
            <a:custGeom>
              <a:avLst/>
              <a:gdLst/>
              <a:ahLst/>
              <a:cxnLst/>
              <a:rect l="l" t="t" r="r" b="b"/>
              <a:pathLst>
                <a:path w="162520" h="222200">
                  <a:moveTo>
                    <a:pt x="0" y="0"/>
                  </a:moveTo>
                  <a:lnTo>
                    <a:pt x="44499" y="0"/>
                  </a:lnTo>
                  <a:lnTo>
                    <a:pt x="82302" y="112216"/>
                  </a:lnTo>
                  <a:lnTo>
                    <a:pt x="119211" y="0"/>
                  </a:lnTo>
                  <a:lnTo>
                    <a:pt x="162520" y="0"/>
                  </a:lnTo>
                  <a:lnTo>
                    <a:pt x="106709" y="152102"/>
                  </a:lnTo>
                  <a:lnTo>
                    <a:pt x="96738" y="179635"/>
                  </a:lnTo>
                  <a:cubicBezTo>
                    <a:pt x="93067" y="188863"/>
                    <a:pt x="89569" y="195907"/>
                    <a:pt x="86246" y="200769"/>
                  </a:cubicBezTo>
                  <a:cubicBezTo>
                    <a:pt x="82922" y="205631"/>
                    <a:pt x="79102" y="209574"/>
                    <a:pt x="74786" y="212601"/>
                  </a:cubicBezTo>
                  <a:cubicBezTo>
                    <a:pt x="70470" y="215627"/>
                    <a:pt x="65162" y="217983"/>
                    <a:pt x="58861" y="219670"/>
                  </a:cubicBezTo>
                  <a:cubicBezTo>
                    <a:pt x="52561" y="221357"/>
                    <a:pt x="45442" y="222200"/>
                    <a:pt x="37504" y="222200"/>
                  </a:cubicBezTo>
                  <a:cubicBezTo>
                    <a:pt x="29468" y="222200"/>
                    <a:pt x="21580" y="221357"/>
                    <a:pt x="13841" y="219670"/>
                  </a:cubicBezTo>
                  <a:lnTo>
                    <a:pt x="10120" y="186928"/>
                  </a:lnTo>
                  <a:cubicBezTo>
                    <a:pt x="16668" y="188218"/>
                    <a:pt x="22572" y="188863"/>
                    <a:pt x="27831" y="188863"/>
                  </a:cubicBezTo>
                  <a:cubicBezTo>
                    <a:pt x="37554" y="188863"/>
                    <a:pt x="44747" y="186010"/>
                    <a:pt x="49411" y="180305"/>
                  </a:cubicBezTo>
                  <a:cubicBezTo>
                    <a:pt x="54074" y="174600"/>
                    <a:pt x="57646" y="167332"/>
                    <a:pt x="60126" y="158502"/>
                  </a:cubicBezTo>
                  <a:lnTo>
                    <a:pt x="0" y="0"/>
                  </a:lnTo>
                  <a:close/>
                </a:path>
              </a:pathLst>
            </a:custGeom>
            <a:solidFill>
              <a:schemeClr val="accent2"/>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en-US" sz="2400" b="1" i="0" spc="-51" baseline="0">
                <a:solidFill>
                  <a:schemeClr val="tx1">
                    <a:lumMod val="50000"/>
                  </a:schemeClr>
                </a:solidFill>
                <a:latin typeface="Arial" panose="020B0604020202020204" pitchFamily="34" charset="0"/>
                <a:cs typeface="Arial"/>
              </a:endParaRPr>
            </a:p>
          </p:txBody>
        </p:sp>
      </p:grpSp>
    </p:spTree>
    <p:extLst>
      <p:ext uri="{BB962C8B-B14F-4D97-AF65-F5344CB8AC3E}">
        <p14:creationId xmlns:p14="http://schemas.microsoft.com/office/powerpoint/2010/main" val="3674657007"/>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2">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0CF815FE-B4CF-6A4A-B94A-CEF58EAFE6A1}"/>
              </a:ext>
            </a:extLst>
          </p:cNvPr>
          <p:cNvSpPr/>
          <p:nvPr userDrawn="1"/>
        </p:nvSpPr>
        <p:spPr>
          <a:xfrm>
            <a:off x="2242269" y="0"/>
            <a:ext cx="6901732" cy="4282068"/>
          </a:xfrm>
          <a:prstGeom prst="rect">
            <a:avLst/>
          </a:prstGeom>
          <a:pattFill prst="dkUpDiag">
            <a:fgClr>
              <a:schemeClr val="bg1">
                <a:lumMod val="8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ctrTitle"/>
          </p:nvPr>
        </p:nvSpPr>
        <p:spPr>
          <a:xfrm>
            <a:off x="4114801" y="1791891"/>
            <a:ext cx="4560073" cy="551260"/>
          </a:xfrm>
        </p:spPr>
        <p:txBody>
          <a:bodyPr vert="horz" lIns="91440" tIns="45720" rIns="91440" bIns="45720" rtlCol="0" anchor="b">
            <a:noAutofit/>
          </a:bodyPr>
          <a:lstStyle>
            <a:lvl1pPr>
              <a:defRPr lang="en-US" sz="2400" spc="-51" baseline="0" dirty="0">
                <a:solidFill>
                  <a:schemeClr val="tx1">
                    <a:lumMod val="50000"/>
                  </a:schemeClr>
                </a:solidFill>
              </a:defRPr>
            </a:lvl1pPr>
          </a:lstStyle>
          <a:p>
            <a:pPr lvl="0"/>
            <a:r>
              <a:rPr lang="en-US"/>
              <a:t>Click to edit Master title style</a:t>
            </a:r>
          </a:p>
        </p:txBody>
      </p:sp>
      <p:sp>
        <p:nvSpPr>
          <p:cNvPr id="7" name="Rectangle 6"/>
          <p:cNvSpPr/>
          <p:nvPr userDrawn="1"/>
        </p:nvSpPr>
        <p:spPr bwMode="auto">
          <a:xfrm rot="10800000" flipH="1">
            <a:off x="1" y="0"/>
            <a:ext cx="228600" cy="5143500"/>
          </a:xfrm>
          <a:prstGeom prst="rect">
            <a:avLst/>
          </a:prstGeom>
          <a:solidFill>
            <a:srgbClr val="00A8F7"/>
          </a:solidFill>
          <a:ln>
            <a:noFill/>
          </a:ln>
          <a:effectLst/>
        </p:spPr>
        <p:txBody>
          <a:bodyPr vert="horz" wrap="square" lIns="91440" tIns="45720" rIns="91440" bIns="45720" numCol="1" rtlCol="0" anchor="ctr" anchorCtr="0" compatLnSpc="1">
            <a:prstTxWarp prst="textNoShape">
              <a:avLst/>
            </a:prstTxWarp>
          </a:bodyPr>
          <a:lstStyle/>
          <a:p>
            <a:pPr marL="0" marR="0" indent="0" algn="ctr" defTabSz="914377"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rgbClr val="00A8F7"/>
              </a:solidFill>
              <a:effectLst/>
              <a:latin typeface="Arial" charset="0"/>
              <a:ea typeface="ＭＳ Ｐゴシック" pitchFamily="34" charset="-128"/>
            </a:endParaRPr>
          </a:p>
        </p:txBody>
      </p:sp>
      <p:pic>
        <p:nvPicPr>
          <p:cNvPr id="9" name="Picture 8">
            <a:extLst>
              <a:ext uri="{FF2B5EF4-FFF2-40B4-BE49-F238E27FC236}">
                <a16:creationId xmlns:a16="http://schemas.microsoft.com/office/drawing/2014/main" id="{DDDFD66A-0FEA-9E43-85A5-272F33EA954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441581" y="4356158"/>
            <a:ext cx="1509131" cy="473641"/>
          </a:xfrm>
          <a:prstGeom prst="rect">
            <a:avLst/>
          </a:prstGeom>
        </p:spPr>
      </p:pic>
      <p:grpSp>
        <p:nvGrpSpPr>
          <p:cNvPr id="10" name="Group 9">
            <a:extLst>
              <a:ext uri="{FF2B5EF4-FFF2-40B4-BE49-F238E27FC236}">
                <a16:creationId xmlns:a16="http://schemas.microsoft.com/office/drawing/2014/main" id="{8926EC48-BD49-014A-A1EC-F94585FABBA0}"/>
              </a:ext>
            </a:extLst>
          </p:cNvPr>
          <p:cNvGrpSpPr/>
          <p:nvPr userDrawn="1"/>
        </p:nvGrpSpPr>
        <p:grpSpPr>
          <a:xfrm>
            <a:off x="679539" y="1"/>
            <a:ext cx="3815548" cy="5144568"/>
            <a:chOff x="679539" y="1"/>
            <a:chExt cx="3815548" cy="5144568"/>
          </a:xfrm>
        </p:grpSpPr>
        <p:sp>
          <p:nvSpPr>
            <p:cNvPr id="11" name="Chevron 10">
              <a:extLst>
                <a:ext uri="{FF2B5EF4-FFF2-40B4-BE49-F238E27FC236}">
                  <a16:creationId xmlns:a16="http://schemas.microsoft.com/office/drawing/2014/main" id="{D574683D-4DBB-5249-AF45-F413E53A063F}"/>
                </a:ext>
              </a:extLst>
            </p:cNvPr>
            <p:cNvSpPr/>
            <p:nvPr/>
          </p:nvSpPr>
          <p:spPr>
            <a:xfrm>
              <a:off x="679539" y="1"/>
              <a:ext cx="3193569" cy="2999574"/>
            </a:xfrm>
            <a:prstGeom prst="chevron">
              <a:avLst>
                <a:gd name="adj" fmla="val 4614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12" name="Chevron 11">
              <a:extLst>
                <a:ext uri="{FF2B5EF4-FFF2-40B4-BE49-F238E27FC236}">
                  <a16:creationId xmlns:a16="http://schemas.microsoft.com/office/drawing/2014/main" id="{2A6D0B0A-9FFE-5C41-849B-440463C5C464}"/>
                </a:ext>
              </a:extLst>
            </p:cNvPr>
            <p:cNvSpPr/>
            <p:nvPr/>
          </p:nvSpPr>
          <p:spPr>
            <a:xfrm>
              <a:off x="696634" y="1576855"/>
              <a:ext cx="3798453" cy="3567714"/>
            </a:xfrm>
            <a:prstGeom prst="chevron">
              <a:avLst>
                <a:gd name="adj" fmla="val 46148"/>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13" name="Chevron 12">
              <a:extLst>
                <a:ext uri="{FF2B5EF4-FFF2-40B4-BE49-F238E27FC236}">
                  <a16:creationId xmlns:a16="http://schemas.microsoft.com/office/drawing/2014/main" id="{9432091A-B9E0-5C4A-9F0C-8E699C05493C}"/>
                </a:ext>
              </a:extLst>
            </p:cNvPr>
            <p:cNvSpPr/>
            <p:nvPr/>
          </p:nvSpPr>
          <p:spPr>
            <a:xfrm>
              <a:off x="1500375" y="1166614"/>
              <a:ext cx="2488584" cy="2337414"/>
            </a:xfrm>
            <a:prstGeom prst="chevron">
              <a:avLst>
                <a:gd name="adj" fmla="val 46148"/>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grpSp>
      <p:sp>
        <p:nvSpPr>
          <p:cNvPr id="16" name="Subtitle 2">
            <a:extLst>
              <a:ext uri="{FF2B5EF4-FFF2-40B4-BE49-F238E27FC236}">
                <a16:creationId xmlns:a16="http://schemas.microsoft.com/office/drawing/2014/main" id="{96A4AACE-0F03-3C4F-B453-5659CF3AE6D2}"/>
              </a:ext>
            </a:extLst>
          </p:cNvPr>
          <p:cNvSpPr>
            <a:spLocks noGrp="1"/>
          </p:cNvSpPr>
          <p:nvPr>
            <p:ph type="subTitle" idx="1"/>
          </p:nvPr>
        </p:nvSpPr>
        <p:spPr>
          <a:xfrm>
            <a:off x="4130263" y="2343153"/>
            <a:ext cx="4544611" cy="675679"/>
          </a:xfrm>
        </p:spPr>
        <p:txBody>
          <a:bodyPr>
            <a:noAutofit/>
          </a:bodyPr>
          <a:lstStyle>
            <a:lvl1pPr marL="0" indent="0" algn="l">
              <a:buNone/>
              <a:defRPr sz="1800" b="1" spc="-51" baseline="0">
                <a:solidFill>
                  <a:schemeClr val="accent3"/>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p>
        </p:txBody>
      </p:sp>
      <p:grpSp>
        <p:nvGrpSpPr>
          <p:cNvPr id="24" name="Group 23">
            <a:extLst>
              <a:ext uri="{FF2B5EF4-FFF2-40B4-BE49-F238E27FC236}">
                <a16:creationId xmlns:a16="http://schemas.microsoft.com/office/drawing/2014/main" id="{8EC783B4-CAA9-3043-97CE-E88A30110BD7}"/>
              </a:ext>
            </a:extLst>
          </p:cNvPr>
          <p:cNvGrpSpPr/>
          <p:nvPr userDrawn="1"/>
        </p:nvGrpSpPr>
        <p:grpSpPr>
          <a:xfrm>
            <a:off x="3990874" y="4653856"/>
            <a:ext cx="2609341" cy="230049"/>
            <a:chOff x="744483" y="4848998"/>
            <a:chExt cx="2609341" cy="230049"/>
          </a:xfrm>
        </p:grpSpPr>
        <p:sp>
          <p:nvSpPr>
            <p:cNvPr id="25" name="TextBox 24">
              <a:extLst>
                <a:ext uri="{FF2B5EF4-FFF2-40B4-BE49-F238E27FC236}">
                  <a16:creationId xmlns:a16="http://schemas.microsoft.com/office/drawing/2014/main" id="{2C4A5DB9-461A-E340-AACF-9C2853D86132}"/>
                </a:ext>
              </a:extLst>
            </p:cNvPr>
            <p:cNvSpPr txBox="1"/>
            <p:nvPr userDrawn="1"/>
          </p:nvSpPr>
          <p:spPr>
            <a:xfrm>
              <a:off x="2184981" y="4875393"/>
              <a:ext cx="1168843" cy="161711"/>
            </a:xfrm>
            <a:prstGeom prst="rect">
              <a:avLst/>
            </a:prstGeom>
            <a:noFill/>
          </p:spPr>
          <p:txBody>
            <a:bodyPr wrap="square" lIns="0" tIns="0" rIns="0" bIns="0" rtlCol="0" anchor="ctr">
              <a:spAutoFit/>
            </a:bodyPr>
            <a:lstStyle/>
            <a:p>
              <a:pPr algn="l"/>
              <a:r>
                <a:rPr lang="en-US" sz="1051" b="1">
                  <a:solidFill>
                    <a:schemeClr val="tx1">
                      <a:lumMod val="50000"/>
                    </a:schemeClr>
                  </a:solidFill>
                  <a:latin typeface="+mn-lt"/>
                  <a:cs typeface="Arial"/>
                </a:rPr>
                <a:t>Better Together</a:t>
              </a:r>
            </a:p>
          </p:txBody>
        </p:sp>
        <p:sp>
          <p:nvSpPr>
            <p:cNvPr id="26" name="Title 3">
              <a:extLst>
                <a:ext uri="{FF2B5EF4-FFF2-40B4-BE49-F238E27FC236}">
                  <a16:creationId xmlns:a16="http://schemas.microsoft.com/office/drawing/2014/main" id="{1BE5FF10-1BE6-9047-82EE-93D1BC6536CD}"/>
                </a:ext>
              </a:extLst>
            </p:cNvPr>
            <p:cNvSpPr txBox="1">
              <a:spLocks/>
            </p:cNvSpPr>
            <p:nvPr userDrawn="1"/>
          </p:nvSpPr>
          <p:spPr>
            <a:xfrm>
              <a:off x="744483" y="4848998"/>
              <a:ext cx="1342523" cy="230049"/>
            </a:xfrm>
            <a:prstGeom prst="rect">
              <a:avLst/>
            </a:prstGeom>
          </p:spPr>
          <p:txBody>
            <a:bodyPr anchor="ctr"/>
            <a:lstStyle>
              <a:lvl1pPr algn="l" defTabSz="914400" rtl="0" eaLnBrk="1" latinLnBrk="0" hangingPunct="1">
                <a:lnSpc>
                  <a:spcPct val="90000"/>
                </a:lnSpc>
                <a:spcBef>
                  <a:spcPct val="0"/>
                </a:spcBef>
                <a:buNone/>
                <a:defRPr sz="2400" b="1" kern="1200">
                  <a:solidFill>
                    <a:schemeClr val="tx1">
                      <a:lumMod val="50000"/>
                    </a:schemeClr>
                  </a:solidFill>
                  <a:latin typeface="+mj-lt"/>
                  <a:ea typeface="+mj-ea"/>
                  <a:cs typeface="+mj-cs"/>
                </a:defRPr>
              </a:lvl1pPr>
            </a:lstStyle>
            <a:p>
              <a:pPr algn="r"/>
              <a:r>
                <a:rPr lang="en-US" sz="1051">
                  <a:solidFill>
                    <a:schemeClr val="accent1"/>
                  </a:solidFill>
                  <a:latin typeface="+mn-lt"/>
                </a:rPr>
                <a:t>UHC</a:t>
              </a:r>
              <a:r>
                <a:rPr lang="en-US" sz="1051">
                  <a:solidFill>
                    <a:schemeClr val="accent2"/>
                  </a:solidFill>
                  <a:latin typeface="+mn-lt"/>
                </a:rPr>
                <a:t>Technology</a:t>
              </a:r>
            </a:p>
          </p:txBody>
        </p:sp>
        <p:cxnSp>
          <p:nvCxnSpPr>
            <p:cNvPr id="27" name="Straight Connector 26">
              <a:extLst>
                <a:ext uri="{FF2B5EF4-FFF2-40B4-BE49-F238E27FC236}">
                  <a16:creationId xmlns:a16="http://schemas.microsoft.com/office/drawing/2014/main" id="{191D7E35-E8BA-D447-A285-6C09E8673F3D}"/>
                </a:ext>
              </a:extLst>
            </p:cNvPr>
            <p:cNvCxnSpPr/>
            <p:nvPr userDrawn="1"/>
          </p:nvCxnSpPr>
          <p:spPr>
            <a:xfrm>
              <a:off x="2087006" y="4874877"/>
              <a:ext cx="0" cy="1814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561594728"/>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800101" y="1028700"/>
            <a:ext cx="7886700" cy="3600450"/>
          </a:xfrm>
        </p:spPr>
        <p:txBody>
          <a:bodyPr>
            <a:noAutofit/>
          </a:bodyPr>
          <a:lstStyle>
            <a:lvl2pPr marL="342891" indent="-152396">
              <a:buFont typeface="Arial" panose="020B0604020202020204" pitchFamily="34" charset="0"/>
              <a:buChar char="-"/>
              <a:defRPr/>
            </a:lvl2pPr>
          </a:lstStyle>
          <a:p>
            <a:pPr lvl="0"/>
            <a:r>
              <a:rPr lang="en-US"/>
              <a:t>Click to edit Master text styles</a:t>
            </a:r>
          </a:p>
          <a:p>
            <a:pPr lvl="1"/>
            <a:r>
              <a:rPr lang="en-US"/>
              <a:t>Second level</a:t>
            </a:r>
          </a:p>
        </p:txBody>
      </p:sp>
      <p:sp>
        <p:nvSpPr>
          <p:cNvPr id="6" name="Slide Number Placeholder 5"/>
          <p:cNvSpPr>
            <a:spLocks noGrp="1"/>
          </p:cNvSpPr>
          <p:nvPr>
            <p:ph type="sldNum" sz="quarter" idx="12"/>
          </p:nvPr>
        </p:nvSpPr>
        <p:spPr>
          <a:xfrm>
            <a:off x="7620000" y="4904161"/>
            <a:ext cx="1066800" cy="125885"/>
          </a:xfrm>
        </p:spPr>
        <p:txBody>
          <a:bodyPr/>
          <a:lstStyle/>
          <a:p>
            <a:fld id="{90F9BDA0-AF0E-4BA8-B742-3B9C92A3E6FE}" type="slidenum">
              <a:rPr lang="en-US" smtClean="0"/>
              <a:t>‹#›</a:t>
            </a:fld>
            <a:endParaRPr lang="en-US"/>
          </a:p>
        </p:txBody>
      </p:sp>
      <p:sp>
        <p:nvSpPr>
          <p:cNvPr id="5" name="Title Placeholder 1">
            <a:extLst>
              <a:ext uri="{FF2B5EF4-FFF2-40B4-BE49-F238E27FC236}">
                <a16:creationId xmlns:a16="http://schemas.microsoft.com/office/drawing/2014/main" id="{21EAF9A4-A042-254F-8E1D-C5357A291498}"/>
              </a:ext>
            </a:extLst>
          </p:cNvPr>
          <p:cNvSpPr>
            <a:spLocks noGrp="1"/>
          </p:cNvSpPr>
          <p:nvPr>
            <p:ph type="title"/>
          </p:nvPr>
        </p:nvSpPr>
        <p:spPr>
          <a:xfrm>
            <a:off x="800101" y="221850"/>
            <a:ext cx="5770684" cy="525319"/>
          </a:xfrm>
          <a:prstGeom prst="rect">
            <a:avLst/>
          </a:prstGeom>
        </p:spPr>
        <p:txBody>
          <a:bodyPr vert="horz" lIns="91440" tIns="45720" rIns="91440" bIns="45720" rtlCol="0" anchor="b">
            <a:normAutofit/>
          </a:bodyPr>
          <a:lstStyle/>
          <a:p>
            <a:r>
              <a:rPr lang="en-US"/>
              <a:t>Click to edit Master title style</a:t>
            </a:r>
          </a:p>
        </p:txBody>
      </p:sp>
    </p:spTree>
    <p:extLst>
      <p:ext uri="{BB962C8B-B14F-4D97-AF65-F5344CB8AC3E}">
        <p14:creationId xmlns:p14="http://schemas.microsoft.com/office/powerpoint/2010/main" val="1629893424"/>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Content Photo">
    <p:spTree>
      <p:nvGrpSpPr>
        <p:cNvPr id="1" name=""/>
        <p:cNvGrpSpPr/>
        <p:nvPr/>
      </p:nvGrpSpPr>
      <p:grpSpPr>
        <a:xfrm>
          <a:off x="0" y="0"/>
          <a:ext cx="0" cy="0"/>
          <a:chOff x="0" y="0"/>
          <a:chExt cx="0" cy="0"/>
        </a:xfrm>
      </p:grpSpPr>
      <p:sp>
        <p:nvSpPr>
          <p:cNvPr id="7" name="Picture Placeholder 6"/>
          <p:cNvSpPr>
            <a:spLocks noGrp="1"/>
          </p:cNvSpPr>
          <p:nvPr>
            <p:ph type="pic" sz="quarter" idx="13" hasCustomPrompt="1"/>
          </p:nvPr>
        </p:nvSpPr>
        <p:spPr>
          <a:xfrm>
            <a:off x="6570689" y="747715"/>
            <a:ext cx="2573337" cy="4097337"/>
          </a:xfrm>
        </p:spPr>
        <p:txBody>
          <a:bodyPr anchor="ctr"/>
          <a:lstStyle>
            <a:lvl1pPr marL="0" indent="0" algn="ctr">
              <a:buNone/>
              <a:defRPr baseline="0"/>
            </a:lvl1pPr>
          </a:lstStyle>
          <a:p>
            <a:r>
              <a:rPr lang="en-US"/>
              <a:t>Add photo here</a:t>
            </a:r>
          </a:p>
        </p:txBody>
      </p:sp>
      <p:sp>
        <p:nvSpPr>
          <p:cNvPr id="3" name="Content Placeholder 2"/>
          <p:cNvSpPr>
            <a:spLocks noGrp="1"/>
          </p:cNvSpPr>
          <p:nvPr>
            <p:ph idx="1"/>
          </p:nvPr>
        </p:nvSpPr>
        <p:spPr>
          <a:xfrm>
            <a:off x="800101" y="1028700"/>
            <a:ext cx="5770684" cy="3600450"/>
          </a:xfrm>
        </p:spPr>
        <p:txBody>
          <a:bodyPr>
            <a:noAutofit/>
          </a:bodyPr>
          <a:lstStyle>
            <a:lvl2pPr marL="342891" indent="-152396">
              <a:buFont typeface="Arial" panose="020B0604020202020204" pitchFamily="34" charset="0"/>
              <a:buChar char="-"/>
              <a:defRPr/>
            </a:lvl2pPr>
          </a:lstStyle>
          <a:p>
            <a:pPr lvl="0"/>
            <a:r>
              <a:rPr lang="en-US"/>
              <a:t>Click to edit Master text styles</a:t>
            </a:r>
          </a:p>
          <a:p>
            <a:pPr lvl="1"/>
            <a:r>
              <a:rPr lang="en-US"/>
              <a:t>Second level</a:t>
            </a:r>
          </a:p>
        </p:txBody>
      </p:sp>
      <p:sp>
        <p:nvSpPr>
          <p:cNvPr id="6" name="Slide Number Placeholder 5"/>
          <p:cNvSpPr>
            <a:spLocks noGrp="1"/>
          </p:cNvSpPr>
          <p:nvPr>
            <p:ph type="sldNum" sz="quarter" idx="12"/>
          </p:nvPr>
        </p:nvSpPr>
        <p:spPr/>
        <p:txBody>
          <a:bodyPr/>
          <a:lstStyle/>
          <a:p>
            <a:fld id="{90F9BDA0-AF0E-4BA8-B742-3B9C92A3E6FE}" type="slidenum">
              <a:rPr lang="en-US" smtClean="0"/>
              <a:t>‹#›</a:t>
            </a:fld>
            <a:endParaRPr lang="en-US"/>
          </a:p>
        </p:txBody>
      </p:sp>
      <p:sp>
        <p:nvSpPr>
          <p:cNvPr id="8" name="Title Placeholder 1">
            <a:extLst>
              <a:ext uri="{FF2B5EF4-FFF2-40B4-BE49-F238E27FC236}">
                <a16:creationId xmlns:a16="http://schemas.microsoft.com/office/drawing/2014/main" id="{C5E8B961-8F8E-6C40-AE35-177DF2727480}"/>
              </a:ext>
            </a:extLst>
          </p:cNvPr>
          <p:cNvSpPr>
            <a:spLocks noGrp="1"/>
          </p:cNvSpPr>
          <p:nvPr>
            <p:ph type="title"/>
          </p:nvPr>
        </p:nvSpPr>
        <p:spPr>
          <a:xfrm>
            <a:off x="800101" y="221850"/>
            <a:ext cx="5770684" cy="525319"/>
          </a:xfrm>
          <a:prstGeom prst="rect">
            <a:avLst/>
          </a:prstGeom>
        </p:spPr>
        <p:txBody>
          <a:bodyPr vert="horz" lIns="91440" tIns="45720" rIns="91440" bIns="45720" rtlCol="0" anchor="b">
            <a:normAutofit/>
          </a:bodyPr>
          <a:lstStyle/>
          <a:p>
            <a:r>
              <a:rPr lang="en-US"/>
              <a:t>Click to edit Master title style</a:t>
            </a:r>
          </a:p>
        </p:txBody>
      </p:sp>
    </p:spTree>
    <p:extLst>
      <p:ext uri="{BB962C8B-B14F-4D97-AF65-F5344CB8AC3E}">
        <p14:creationId xmlns:p14="http://schemas.microsoft.com/office/powerpoint/2010/main" val="864077305"/>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90F9BDA0-AF0E-4BA8-B742-3B9C92A3E6FE}" type="slidenum">
              <a:rPr lang="en-US" smtClean="0"/>
              <a:t>‹#›</a:t>
            </a:fld>
            <a:endParaRPr lang="en-US"/>
          </a:p>
        </p:txBody>
      </p:sp>
      <p:sp>
        <p:nvSpPr>
          <p:cNvPr id="4" name="Title Placeholder 1">
            <a:extLst>
              <a:ext uri="{FF2B5EF4-FFF2-40B4-BE49-F238E27FC236}">
                <a16:creationId xmlns:a16="http://schemas.microsoft.com/office/drawing/2014/main" id="{9CE6DDEF-F8BD-7042-9C50-A74152996EE1}"/>
              </a:ext>
            </a:extLst>
          </p:cNvPr>
          <p:cNvSpPr>
            <a:spLocks noGrp="1"/>
          </p:cNvSpPr>
          <p:nvPr>
            <p:ph type="title"/>
          </p:nvPr>
        </p:nvSpPr>
        <p:spPr>
          <a:xfrm>
            <a:off x="800101" y="221850"/>
            <a:ext cx="5770684" cy="525319"/>
          </a:xfrm>
          <a:prstGeom prst="rect">
            <a:avLst/>
          </a:prstGeom>
        </p:spPr>
        <p:txBody>
          <a:bodyPr vert="horz" lIns="91440" tIns="45720" rIns="91440" bIns="45720" rtlCol="0" anchor="b">
            <a:normAutofit/>
          </a:bodyPr>
          <a:lstStyle/>
          <a:p>
            <a:r>
              <a:rPr lang="en-US"/>
              <a:t>Click to edit Master title style</a:t>
            </a:r>
          </a:p>
        </p:txBody>
      </p:sp>
    </p:spTree>
    <p:extLst>
      <p:ext uri="{BB962C8B-B14F-4D97-AF65-F5344CB8AC3E}">
        <p14:creationId xmlns:p14="http://schemas.microsoft.com/office/powerpoint/2010/main" val="1583510299"/>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Section Title 1">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956FB6AC-EF27-3A48-8C2A-ECD2232A3836}"/>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2374" t="11915" b="14209"/>
          <a:stretch/>
        </p:blipFill>
        <p:spPr>
          <a:xfrm>
            <a:off x="2499258" y="3"/>
            <a:ext cx="6644743" cy="3355449"/>
          </a:xfrm>
          <a:prstGeom prst="rect">
            <a:avLst/>
          </a:prstGeom>
        </p:spPr>
      </p:pic>
      <p:sp>
        <p:nvSpPr>
          <p:cNvPr id="2" name="Title 1"/>
          <p:cNvSpPr>
            <a:spLocks noGrp="1"/>
          </p:cNvSpPr>
          <p:nvPr>
            <p:ph type="ctrTitle"/>
          </p:nvPr>
        </p:nvSpPr>
        <p:spPr>
          <a:xfrm>
            <a:off x="4114801" y="3620256"/>
            <a:ext cx="4599831" cy="466899"/>
          </a:xfrm>
        </p:spPr>
        <p:txBody>
          <a:bodyPr anchor="b">
            <a:noAutofit/>
          </a:bodyPr>
          <a:lstStyle>
            <a:lvl1pPr>
              <a:defRPr sz="2200" spc="-51" baseline="0"/>
            </a:lvl1pPr>
          </a:lstStyle>
          <a:p>
            <a:r>
              <a:rPr lang="en-US"/>
              <a:t>Click to edit Master title style</a:t>
            </a:r>
          </a:p>
        </p:txBody>
      </p:sp>
      <p:sp>
        <p:nvSpPr>
          <p:cNvPr id="7" name="Rectangle 6"/>
          <p:cNvSpPr/>
          <p:nvPr userDrawn="1"/>
        </p:nvSpPr>
        <p:spPr bwMode="auto">
          <a:xfrm rot="10800000" flipH="1">
            <a:off x="1" y="0"/>
            <a:ext cx="228600" cy="5143500"/>
          </a:xfrm>
          <a:prstGeom prst="rect">
            <a:avLst/>
          </a:prstGeom>
          <a:solidFill>
            <a:srgbClr val="00A8F7"/>
          </a:solidFill>
          <a:ln>
            <a:noFill/>
          </a:ln>
          <a:effectLst/>
        </p:spPr>
        <p:txBody>
          <a:bodyPr vert="horz" wrap="square" lIns="91440" tIns="45720" rIns="91440" bIns="45720" numCol="1" rtlCol="0" anchor="ctr" anchorCtr="0" compatLnSpc="1">
            <a:prstTxWarp prst="textNoShape">
              <a:avLst/>
            </a:prstTxWarp>
          </a:bodyPr>
          <a:lstStyle/>
          <a:p>
            <a:pPr marL="0" marR="0" indent="0" algn="ctr" defTabSz="914377"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rgbClr val="00A8F7"/>
              </a:solidFill>
              <a:effectLst/>
              <a:latin typeface="Arial" charset="0"/>
              <a:ea typeface="ＭＳ Ｐゴシック" pitchFamily="34" charset="-128"/>
            </a:endParaRPr>
          </a:p>
        </p:txBody>
      </p:sp>
      <p:grpSp>
        <p:nvGrpSpPr>
          <p:cNvPr id="4" name="Group 3">
            <a:extLst>
              <a:ext uri="{FF2B5EF4-FFF2-40B4-BE49-F238E27FC236}">
                <a16:creationId xmlns:a16="http://schemas.microsoft.com/office/drawing/2014/main" id="{1D6B91B2-FF25-B547-96EF-5961B0ED9545}"/>
              </a:ext>
            </a:extLst>
          </p:cNvPr>
          <p:cNvGrpSpPr/>
          <p:nvPr userDrawn="1"/>
        </p:nvGrpSpPr>
        <p:grpSpPr>
          <a:xfrm>
            <a:off x="679539" y="1"/>
            <a:ext cx="3815548" cy="5144568"/>
            <a:chOff x="679539" y="1"/>
            <a:chExt cx="3815548" cy="5144568"/>
          </a:xfrm>
        </p:grpSpPr>
        <p:sp>
          <p:nvSpPr>
            <p:cNvPr id="5" name="Chevron 4">
              <a:extLst>
                <a:ext uri="{FF2B5EF4-FFF2-40B4-BE49-F238E27FC236}">
                  <a16:creationId xmlns:a16="http://schemas.microsoft.com/office/drawing/2014/main" id="{DC18AE4F-7AF1-1E49-8E35-ACD12253F1DC}"/>
                </a:ext>
              </a:extLst>
            </p:cNvPr>
            <p:cNvSpPr/>
            <p:nvPr/>
          </p:nvSpPr>
          <p:spPr>
            <a:xfrm>
              <a:off x="679539" y="1"/>
              <a:ext cx="3193569" cy="2999574"/>
            </a:xfrm>
            <a:prstGeom prst="chevron">
              <a:avLst>
                <a:gd name="adj" fmla="val 4614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6" name="Chevron 5">
              <a:extLst>
                <a:ext uri="{FF2B5EF4-FFF2-40B4-BE49-F238E27FC236}">
                  <a16:creationId xmlns:a16="http://schemas.microsoft.com/office/drawing/2014/main" id="{76D0D87F-CCC6-9E41-97FE-B4426F02A174}"/>
                </a:ext>
              </a:extLst>
            </p:cNvPr>
            <p:cNvSpPr/>
            <p:nvPr/>
          </p:nvSpPr>
          <p:spPr>
            <a:xfrm>
              <a:off x="696634" y="1576855"/>
              <a:ext cx="3798453" cy="3567714"/>
            </a:xfrm>
            <a:prstGeom prst="chevron">
              <a:avLst>
                <a:gd name="adj" fmla="val 46148"/>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8" name="Chevron 7">
              <a:extLst>
                <a:ext uri="{FF2B5EF4-FFF2-40B4-BE49-F238E27FC236}">
                  <a16:creationId xmlns:a16="http://schemas.microsoft.com/office/drawing/2014/main" id="{3A23CFCA-DE87-964F-9974-016A9D172A36}"/>
                </a:ext>
              </a:extLst>
            </p:cNvPr>
            <p:cNvSpPr/>
            <p:nvPr/>
          </p:nvSpPr>
          <p:spPr>
            <a:xfrm>
              <a:off x="1500375" y="1166614"/>
              <a:ext cx="2488584" cy="2337414"/>
            </a:xfrm>
            <a:prstGeom prst="chevron">
              <a:avLst>
                <a:gd name="adj" fmla="val 46148"/>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grpSp>
      <p:sp>
        <p:nvSpPr>
          <p:cNvPr id="11" name="Subtitle 2">
            <a:extLst>
              <a:ext uri="{FF2B5EF4-FFF2-40B4-BE49-F238E27FC236}">
                <a16:creationId xmlns:a16="http://schemas.microsoft.com/office/drawing/2014/main" id="{26F5DBD2-37E9-4C46-9895-67278E0C99D9}"/>
              </a:ext>
            </a:extLst>
          </p:cNvPr>
          <p:cNvSpPr>
            <a:spLocks noGrp="1"/>
          </p:cNvSpPr>
          <p:nvPr>
            <p:ph type="subTitle" idx="1"/>
          </p:nvPr>
        </p:nvSpPr>
        <p:spPr>
          <a:xfrm>
            <a:off x="4114800" y="4097328"/>
            <a:ext cx="4544611" cy="675679"/>
          </a:xfrm>
        </p:spPr>
        <p:txBody>
          <a:bodyPr>
            <a:noAutofit/>
          </a:bodyPr>
          <a:lstStyle>
            <a:lvl1pPr marL="0" indent="0" algn="l">
              <a:buNone/>
              <a:defRPr sz="1800" b="1" spc="-51" baseline="0">
                <a:solidFill>
                  <a:schemeClr val="accent3"/>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p>
        </p:txBody>
      </p:sp>
      <p:grpSp>
        <p:nvGrpSpPr>
          <p:cNvPr id="19" name="Group 18">
            <a:extLst>
              <a:ext uri="{FF2B5EF4-FFF2-40B4-BE49-F238E27FC236}">
                <a16:creationId xmlns:a16="http://schemas.microsoft.com/office/drawing/2014/main" id="{44C1B2AB-BBAD-E74D-900D-B1D6577B4EEF}"/>
              </a:ext>
            </a:extLst>
          </p:cNvPr>
          <p:cNvGrpSpPr/>
          <p:nvPr userDrawn="1"/>
        </p:nvGrpSpPr>
        <p:grpSpPr>
          <a:xfrm>
            <a:off x="3996284" y="4653856"/>
            <a:ext cx="2609341" cy="230049"/>
            <a:chOff x="744483" y="4848998"/>
            <a:chExt cx="2609341" cy="230049"/>
          </a:xfrm>
        </p:grpSpPr>
        <p:sp>
          <p:nvSpPr>
            <p:cNvPr id="20" name="TextBox 19">
              <a:extLst>
                <a:ext uri="{FF2B5EF4-FFF2-40B4-BE49-F238E27FC236}">
                  <a16:creationId xmlns:a16="http://schemas.microsoft.com/office/drawing/2014/main" id="{443370BE-5C48-5C43-90D3-FA8018A9022B}"/>
                </a:ext>
              </a:extLst>
            </p:cNvPr>
            <p:cNvSpPr txBox="1"/>
            <p:nvPr userDrawn="1"/>
          </p:nvSpPr>
          <p:spPr>
            <a:xfrm>
              <a:off x="2184981" y="4875393"/>
              <a:ext cx="1168843" cy="161711"/>
            </a:xfrm>
            <a:prstGeom prst="rect">
              <a:avLst/>
            </a:prstGeom>
            <a:noFill/>
          </p:spPr>
          <p:txBody>
            <a:bodyPr wrap="square" lIns="0" tIns="0" rIns="0" bIns="0" rtlCol="0" anchor="ctr">
              <a:spAutoFit/>
            </a:bodyPr>
            <a:lstStyle/>
            <a:p>
              <a:pPr algn="l"/>
              <a:r>
                <a:rPr lang="en-US" sz="1051" b="1">
                  <a:solidFill>
                    <a:schemeClr val="tx1">
                      <a:lumMod val="50000"/>
                    </a:schemeClr>
                  </a:solidFill>
                  <a:latin typeface="+mn-lt"/>
                  <a:cs typeface="Arial"/>
                </a:rPr>
                <a:t>Better Together</a:t>
              </a:r>
            </a:p>
          </p:txBody>
        </p:sp>
        <p:sp>
          <p:nvSpPr>
            <p:cNvPr id="21" name="Title 3">
              <a:extLst>
                <a:ext uri="{FF2B5EF4-FFF2-40B4-BE49-F238E27FC236}">
                  <a16:creationId xmlns:a16="http://schemas.microsoft.com/office/drawing/2014/main" id="{EB7D1992-1891-A542-9135-2BA4EF7A2A57}"/>
                </a:ext>
              </a:extLst>
            </p:cNvPr>
            <p:cNvSpPr txBox="1">
              <a:spLocks/>
            </p:cNvSpPr>
            <p:nvPr userDrawn="1"/>
          </p:nvSpPr>
          <p:spPr>
            <a:xfrm>
              <a:off x="744483" y="4848998"/>
              <a:ext cx="1342523" cy="230049"/>
            </a:xfrm>
            <a:prstGeom prst="rect">
              <a:avLst/>
            </a:prstGeom>
          </p:spPr>
          <p:txBody>
            <a:bodyPr anchor="ctr"/>
            <a:lstStyle>
              <a:lvl1pPr algn="l" defTabSz="914400" rtl="0" eaLnBrk="1" latinLnBrk="0" hangingPunct="1">
                <a:lnSpc>
                  <a:spcPct val="90000"/>
                </a:lnSpc>
                <a:spcBef>
                  <a:spcPct val="0"/>
                </a:spcBef>
                <a:buNone/>
                <a:defRPr sz="2400" b="1" kern="1200">
                  <a:solidFill>
                    <a:schemeClr val="tx1">
                      <a:lumMod val="50000"/>
                    </a:schemeClr>
                  </a:solidFill>
                  <a:latin typeface="+mj-lt"/>
                  <a:ea typeface="+mj-ea"/>
                  <a:cs typeface="+mj-cs"/>
                </a:defRPr>
              </a:lvl1pPr>
            </a:lstStyle>
            <a:p>
              <a:pPr algn="r"/>
              <a:r>
                <a:rPr lang="en-US" sz="1051">
                  <a:solidFill>
                    <a:schemeClr val="accent1"/>
                  </a:solidFill>
                  <a:latin typeface="+mn-lt"/>
                </a:rPr>
                <a:t>UHC</a:t>
              </a:r>
              <a:r>
                <a:rPr lang="en-US" sz="1051">
                  <a:solidFill>
                    <a:schemeClr val="accent2"/>
                  </a:solidFill>
                  <a:latin typeface="+mn-lt"/>
                </a:rPr>
                <a:t>Technology</a:t>
              </a:r>
            </a:p>
          </p:txBody>
        </p:sp>
        <p:cxnSp>
          <p:nvCxnSpPr>
            <p:cNvPr id="22" name="Straight Connector 21">
              <a:extLst>
                <a:ext uri="{FF2B5EF4-FFF2-40B4-BE49-F238E27FC236}">
                  <a16:creationId xmlns:a16="http://schemas.microsoft.com/office/drawing/2014/main" id="{F92C6D60-2FE2-0842-BF79-2D19682FEC35}"/>
                </a:ext>
              </a:extLst>
            </p:cNvPr>
            <p:cNvCxnSpPr/>
            <p:nvPr userDrawn="1"/>
          </p:nvCxnSpPr>
          <p:spPr>
            <a:xfrm>
              <a:off x="2087006" y="4874877"/>
              <a:ext cx="0" cy="1814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061009703"/>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4_Section Title 1">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AF41E83-83E3-824C-B05A-8A5546B4DFB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271" t="12318" b="14800"/>
          <a:stretch/>
        </p:blipFill>
        <p:spPr>
          <a:xfrm>
            <a:off x="2423533" y="1"/>
            <a:ext cx="6720468" cy="3360712"/>
          </a:xfrm>
          <a:prstGeom prst="rect">
            <a:avLst/>
          </a:prstGeom>
        </p:spPr>
      </p:pic>
      <p:sp>
        <p:nvSpPr>
          <p:cNvPr id="7" name="Rectangle 6"/>
          <p:cNvSpPr/>
          <p:nvPr userDrawn="1"/>
        </p:nvSpPr>
        <p:spPr bwMode="auto">
          <a:xfrm rot="10800000" flipH="1">
            <a:off x="1" y="0"/>
            <a:ext cx="228600" cy="5143500"/>
          </a:xfrm>
          <a:prstGeom prst="rect">
            <a:avLst/>
          </a:prstGeom>
          <a:solidFill>
            <a:srgbClr val="00A8F7"/>
          </a:solidFill>
          <a:ln>
            <a:noFill/>
          </a:ln>
          <a:effectLst/>
        </p:spPr>
        <p:txBody>
          <a:bodyPr vert="horz" wrap="square" lIns="91440" tIns="45720" rIns="91440" bIns="45720" numCol="1" rtlCol="0" anchor="ctr" anchorCtr="0" compatLnSpc="1">
            <a:prstTxWarp prst="textNoShape">
              <a:avLst/>
            </a:prstTxWarp>
          </a:bodyPr>
          <a:lstStyle/>
          <a:p>
            <a:pPr marL="0" marR="0" indent="0" algn="ctr" defTabSz="914377"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rgbClr val="00A8F7"/>
              </a:solidFill>
              <a:effectLst/>
              <a:latin typeface="Arial" charset="0"/>
              <a:ea typeface="ＭＳ Ｐゴシック" pitchFamily="34" charset="-128"/>
            </a:endParaRPr>
          </a:p>
        </p:txBody>
      </p:sp>
      <p:grpSp>
        <p:nvGrpSpPr>
          <p:cNvPr id="4" name="Group 3">
            <a:extLst>
              <a:ext uri="{FF2B5EF4-FFF2-40B4-BE49-F238E27FC236}">
                <a16:creationId xmlns:a16="http://schemas.microsoft.com/office/drawing/2014/main" id="{1D6B91B2-FF25-B547-96EF-5961B0ED9545}"/>
              </a:ext>
            </a:extLst>
          </p:cNvPr>
          <p:cNvGrpSpPr/>
          <p:nvPr userDrawn="1"/>
        </p:nvGrpSpPr>
        <p:grpSpPr>
          <a:xfrm>
            <a:off x="679539" y="1"/>
            <a:ext cx="3815548" cy="5144568"/>
            <a:chOff x="679539" y="1"/>
            <a:chExt cx="3815548" cy="5144568"/>
          </a:xfrm>
        </p:grpSpPr>
        <p:sp>
          <p:nvSpPr>
            <p:cNvPr id="5" name="Chevron 4">
              <a:extLst>
                <a:ext uri="{FF2B5EF4-FFF2-40B4-BE49-F238E27FC236}">
                  <a16:creationId xmlns:a16="http://schemas.microsoft.com/office/drawing/2014/main" id="{DC18AE4F-7AF1-1E49-8E35-ACD12253F1DC}"/>
                </a:ext>
              </a:extLst>
            </p:cNvPr>
            <p:cNvSpPr/>
            <p:nvPr/>
          </p:nvSpPr>
          <p:spPr>
            <a:xfrm>
              <a:off x="679539" y="1"/>
              <a:ext cx="3193569" cy="2999574"/>
            </a:xfrm>
            <a:prstGeom prst="chevron">
              <a:avLst>
                <a:gd name="adj" fmla="val 4614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6" name="Chevron 5">
              <a:extLst>
                <a:ext uri="{FF2B5EF4-FFF2-40B4-BE49-F238E27FC236}">
                  <a16:creationId xmlns:a16="http://schemas.microsoft.com/office/drawing/2014/main" id="{76D0D87F-CCC6-9E41-97FE-B4426F02A174}"/>
                </a:ext>
              </a:extLst>
            </p:cNvPr>
            <p:cNvSpPr/>
            <p:nvPr/>
          </p:nvSpPr>
          <p:spPr>
            <a:xfrm>
              <a:off x="696634" y="1576855"/>
              <a:ext cx="3798453" cy="3567714"/>
            </a:xfrm>
            <a:prstGeom prst="chevron">
              <a:avLst>
                <a:gd name="adj" fmla="val 46148"/>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8" name="Chevron 7">
              <a:extLst>
                <a:ext uri="{FF2B5EF4-FFF2-40B4-BE49-F238E27FC236}">
                  <a16:creationId xmlns:a16="http://schemas.microsoft.com/office/drawing/2014/main" id="{3A23CFCA-DE87-964F-9974-016A9D172A36}"/>
                </a:ext>
              </a:extLst>
            </p:cNvPr>
            <p:cNvSpPr/>
            <p:nvPr/>
          </p:nvSpPr>
          <p:spPr>
            <a:xfrm>
              <a:off x="1500375" y="1166614"/>
              <a:ext cx="2488584" cy="2337414"/>
            </a:xfrm>
            <a:prstGeom prst="chevron">
              <a:avLst>
                <a:gd name="adj" fmla="val 46148"/>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grpSp>
      <p:sp>
        <p:nvSpPr>
          <p:cNvPr id="12" name="Title 1">
            <a:extLst>
              <a:ext uri="{FF2B5EF4-FFF2-40B4-BE49-F238E27FC236}">
                <a16:creationId xmlns:a16="http://schemas.microsoft.com/office/drawing/2014/main" id="{F5DD42CD-EE00-1446-8F2A-C82DE4129864}"/>
              </a:ext>
            </a:extLst>
          </p:cNvPr>
          <p:cNvSpPr>
            <a:spLocks noGrp="1"/>
          </p:cNvSpPr>
          <p:nvPr>
            <p:ph type="ctrTitle"/>
          </p:nvPr>
        </p:nvSpPr>
        <p:spPr>
          <a:xfrm>
            <a:off x="4114801" y="3620256"/>
            <a:ext cx="4599831" cy="466899"/>
          </a:xfrm>
        </p:spPr>
        <p:txBody>
          <a:bodyPr anchor="b">
            <a:noAutofit/>
          </a:bodyPr>
          <a:lstStyle>
            <a:lvl1pPr>
              <a:defRPr sz="2200" spc="-51" baseline="0"/>
            </a:lvl1pPr>
          </a:lstStyle>
          <a:p>
            <a:r>
              <a:rPr lang="en-US"/>
              <a:t>Click to edit Master title style</a:t>
            </a:r>
          </a:p>
        </p:txBody>
      </p:sp>
      <p:sp>
        <p:nvSpPr>
          <p:cNvPr id="13" name="Subtitle 2">
            <a:extLst>
              <a:ext uri="{FF2B5EF4-FFF2-40B4-BE49-F238E27FC236}">
                <a16:creationId xmlns:a16="http://schemas.microsoft.com/office/drawing/2014/main" id="{5EFD8F51-BFFC-3841-A417-4C0A7270D0A4}"/>
              </a:ext>
            </a:extLst>
          </p:cNvPr>
          <p:cNvSpPr>
            <a:spLocks noGrp="1"/>
          </p:cNvSpPr>
          <p:nvPr>
            <p:ph type="subTitle" idx="1"/>
          </p:nvPr>
        </p:nvSpPr>
        <p:spPr>
          <a:xfrm>
            <a:off x="4114800" y="4097328"/>
            <a:ext cx="4544611" cy="675679"/>
          </a:xfrm>
        </p:spPr>
        <p:txBody>
          <a:bodyPr>
            <a:noAutofit/>
          </a:bodyPr>
          <a:lstStyle>
            <a:lvl1pPr marL="0" indent="0" algn="l">
              <a:buNone/>
              <a:defRPr sz="1800" b="1" spc="-51" baseline="0">
                <a:solidFill>
                  <a:schemeClr val="accent3"/>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p>
        </p:txBody>
      </p:sp>
      <p:grpSp>
        <p:nvGrpSpPr>
          <p:cNvPr id="22" name="Group 21">
            <a:extLst>
              <a:ext uri="{FF2B5EF4-FFF2-40B4-BE49-F238E27FC236}">
                <a16:creationId xmlns:a16="http://schemas.microsoft.com/office/drawing/2014/main" id="{7B8822F6-18DD-0A4E-A8D7-ED719A9B245A}"/>
              </a:ext>
            </a:extLst>
          </p:cNvPr>
          <p:cNvGrpSpPr/>
          <p:nvPr userDrawn="1"/>
        </p:nvGrpSpPr>
        <p:grpSpPr>
          <a:xfrm>
            <a:off x="3996284" y="4653856"/>
            <a:ext cx="2609341" cy="230049"/>
            <a:chOff x="744483" y="4848998"/>
            <a:chExt cx="2609341" cy="230049"/>
          </a:xfrm>
        </p:grpSpPr>
        <p:sp>
          <p:nvSpPr>
            <p:cNvPr id="23" name="TextBox 22">
              <a:extLst>
                <a:ext uri="{FF2B5EF4-FFF2-40B4-BE49-F238E27FC236}">
                  <a16:creationId xmlns:a16="http://schemas.microsoft.com/office/drawing/2014/main" id="{9634D32D-7C09-EB4A-9EC5-DB5B33369ED0}"/>
                </a:ext>
              </a:extLst>
            </p:cNvPr>
            <p:cNvSpPr txBox="1"/>
            <p:nvPr userDrawn="1"/>
          </p:nvSpPr>
          <p:spPr>
            <a:xfrm>
              <a:off x="2184981" y="4875393"/>
              <a:ext cx="1168843" cy="161711"/>
            </a:xfrm>
            <a:prstGeom prst="rect">
              <a:avLst/>
            </a:prstGeom>
            <a:noFill/>
          </p:spPr>
          <p:txBody>
            <a:bodyPr wrap="square" lIns="0" tIns="0" rIns="0" bIns="0" rtlCol="0" anchor="ctr">
              <a:spAutoFit/>
            </a:bodyPr>
            <a:lstStyle/>
            <a:p>
              <a:pPr algn="l"/>
              <a:r>
                <a:rPr lang="en-US" sz="1051" b="1">
                  <a:solidFill>
                    <a:schemeClr val="tx1">
                      <a:lumMod val="50000"/>
                    </a:schemeClr>
                  </a:solidFill>
                  <a:latin typeface="+mn-lt"/>
                  <a:cs typeface="Arial"/>
                </a:rPr>
                <a:t>Better Together</a:t>
              </a:r>
            </a:p>
          </p:txBody>
        </p:sp>
        <p:sp>
          <p:nvSpPr>
            <p:cNvPr id="24" name="Title 3">
              <a:extLst>
                <a:ext uri="{FF2B5EF4-FFF2-40B4-BE49-F238E27FC236}">
                  <a16:creationId xmlns:a16="http://schemas.microsoft.com/office/drawing/2014/main" id="{17BC5B71-5229-E648-A753-F08447F372D0}"/>
                </a:ext>
              </a:extLst>
            </p:cNvPr>
            <p:cNvSpPr txBox="1">
              <a:spLocks/>
            </p:cNvSpPr>
            <p:nvPr userDrawn="1"/>
          </p:nvSpPr>
          <p:spPr>
            <a:xfrm>
              <a:off x="744483" y="4848998"/>
              <a:ext cx="1342523" cy="230049"/>
            </a:xfrm>
            <a:prstGeom prst="rect">
              <a:avLst/>
            </a:prstGeom>
          </p:spPr>
          <p:txBody>
            <a:bodyPr anchor="ctr"/>
            <a:lstStyle>
              <a:lvl1pPr algn="l" defTabSz="914400" rtl="0" eaLnBrk="1" latinLnBrk="0" hangingPunct="1">
                <a:lnSpc>
                  <a:spcPct val="90000"/>
                </a:lnSpc>
                <a:spcBef>
                  <a:spcPct val="0"/>
                </a:spcBef>
                <a:buNone/>
                <a:defRPr sz="2400" b="1" kern="1200">
                  <a:solidFill>
                    <a:schemeClr val="tx1">
                      <a:lumMod val="50000"/>
                    </a:schemeClr>
                  </a:solidFill>
                  <a:latin typeface="+mj-lt"/>
                  <a:ea typeface="+mj-ea"/>
                  <a:cs typeface="+mj-cs"/>
                </a:defRPr>
              </a:lvl1pPr>
            </a:lstStyle>
            <a:p>
              <a:pPr algn="r"/>
              <a:r>
                <a:rPr lang="en-US" sz="1051">
                  <a:solidFill>
                    <a:schemeClr val="accent1"/>
                  </a:solidFill>
                  <a:latin typeface="+mn-lt"/>
                </a:rPr>
                <a:t>UHC</a:t>
              </a:r>
              <a:r>
                <a:rPr lang="en-US" sz="1051">
                  <a:solidFill>
                    <a:schemeClr val="accent2"/>
                  </a:solidFill>
                  <a:latin typeface="+mn-lt"/>
                </a:rPr>
                <a:t>Technology</a:t>
              </a:r>
            </a:p>
          </p:txBody>
        </p:sp>
        <p:cxnSp>
          <p:nvCxnSpPr>
            <p:cNvPr id="25" name="Straight Connector 24">
              <a:extLst>
                <a:ext uri="{FF2B5EF4-FFF2-40B4-BE49-F238E27FC236}">
                  <a16:creationId xmlns:a16="http://schemas.microsoft.com/office/drawing/2014/main" id="{8689C5A0-DA9D-4549-947B-FB5584F4750A}"/>
                </a:ext>
              </a:extLst>
            </p:cNvPr>
            <p:cNvCxnSpPr/>
            <p:nvPr userDrawn="1"/>
          </p:nvCxnSpPr>
          <p:spPr>
            <a:xfrm>
              <a:off x="2087006" y="4874877"/>
              <a:ext cx="0" cy="1814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13866371"/>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1_Section Title 1">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BB74B01-997D-4342-8638-CC9D66A5B20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5589" b="12293"/>
          <a:stretch/>
        </p:blipFill>
        <p:spPr>
          <a:xfrm>
            <a:off x="2237677" y="0"/>
            <a:ext cx="6906323" cy="3352800"/>
          </a:xfrm>
          <a:prstGeom prst="rect">
            <a:avLst/>
          </a:prstGeom>
        </p:spPr>
      </p:pic>
      <p:sp>
        <p:nvSpPr>
          <p:cNvPr id="7" name="Rectangle 6"/>
          <p:cNvSpPr/>
          <p:nvPr userDrawn="1"/>
        </p:nvSpPr>
        <p:spPr bwMode="auto">
          <a:xfrm rot="10800000" flipH="1">
            <a:off x="1" y="0"/>
            <a:ext cx="228600" cy="5143500"/>
          </a:xfrm>
          <a:prstGeom prst="rect">
            <a:avLst/>
          </a:prstGeom>
          <a:solidFill>
            <a:srgbClr val="00A8F7"/>
          </a:solidFill>
          <a:ln>
            <a:noFill/>
          </a:ln>
          <a:effectLst/>
        </p:spPr>
        <p:txBody>
          <a:bodyPr vert="horz" wrap="square" lIns="91440" tIns="45720" rIns="91440" bIns="45720" numCol="1" rtlCol="0" anchor="ctr" anchorCtr="0" compatLnSpc="1">
            <a:prstTxWarp prst="textNoShape">
              <a:avLst/>
            </a:prstTxWarp>
          </a:bodyPr>
          <a:lstStyle/>
          <a:p>
            <a:pPr marL="0" marR="0" indent="0" algn="ctr" defTabSz="914377"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rgbClr val="00A8F7"/>
              </a:solidFill>
              <a:effectLst/>
              <a:latin typeface="Arial" charset="0"/>
              <a:ea typeface="ＭＳ Ｐゴシック" pitchFamily="34" charset="-128"/>
            </a:endParaRPr>
          </a:p>
        </p:txBody>
      </p:sp>
      <p:grpSp>
        <p:nvGrpSpPr>
          <p:cNvPr id="4" name="Group 3">
            <a:extLst>
              <a:ext uri="{FF2B5EF4-FFF2-40B4-BE49-F238E27FC236}">
                <a16:creationId xmlns:a16="http://schemas.microsoft.com/office/drawing/2014/main" id="{1D6B91B2-FF25-B547-96EF-5961B0ED9545}"/>
              </a:ext>
            </a:extLst>
          </p:cNvPr>
          <p:cNvGrpSpPr/>
          <p:nvPr userDrawn="1"/>
        </p:nvGrpSpPr>
        <p:grpSpPr>
          <a:xfrm>
            <a:off x="679539" y="1"/>
            <a:ext cx="3815548" cy="5144568"/>
            <a:chOff x="679539" y="1"/>
            <a:chExt cx="3815548" cy="5144568"/>
          </a:xfrm>
        </p:grpSpPr>
        <p:sp>
          <p:nvSpPr>
            <p:cNvPr id="5" name="Chevron 4">
              <a:extLst>
                <a:ext uri="{FF2B5EF4-FFF2-40B4-BE49-F238E27FC236}">
                  <a16:creationId xmlns:a16="http://schemas.microsoft.com/office/drawing/2014/main" id="{DC18AE4F-7AF1-1E49-8E35-ACD12253F1DC}"/>
                </a:ext>
              </a:extLst>
            </p:cNvPr>
            <p:cNvSpPr/>
            <p:nvPr/>
          </p:nvSpPr>
          <p:spPr>
            <a:xfrm>
              <a:off x="679539" y="1"/>
              <a:ext cx="3193569" cy="2999574"/>
            </a:xfrm>
            <a:prstGeom prst="chevron">
              <a:avLst>
                <a:gd name="adj" fmla="val 4614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6" name="Chevron 5">
              <a:extLst>
                <a:ext uri="{FF2B5EF4-FFF2-40B4-BE49-F238E27FC236}">
                  <a16:creationId xmlns:a16="http://schemas.microsoft.com/office/drawing/2014/main" id="{76D0D87F-CCC6-9E41-97FE-B4426F02A174}"/>
                </a:ext>
              </a:extLst>
            </p:cNvPr>
            <p:cNvSpPr/>
            <p:nvPr/>
          </p:nvSpPr>
          <p:spPr>
            <a:xfrm>
              <a:off x="696634" y="1576855"/>
              <a:ext cx="3798453" cy="3567714"/>
            </a:xfrm>
            <a:prstGeom prst="chevron">
              <a:avLst>
                <a:gd name="adj" fmla="val 46148"/>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8" name="Chevron 7">
              <a:extLst>
                <a:ext uri="{FF2B5EF4-FFF2-40B4-BE49-F238E27FC236}">
                  <a16:creationId xmlns:a16="http://schemas.microsoft.com/office/drawing/2014/main" id="{3A23CFCA-DE87-964F-9974-016A9D172A36}"/>
                </a:ext>
              </a:extLst>
            </p:cNvPr>
            <p:cNvSpPr/>
            <p:nvPr/>
          </p:nvSpPr>
          <p:spPr>
            <a:xfrm>
              <a:off x="1500375" y="1166614"/>
              <a:ext cx="2488584" cy="2337414"/>
            </a:xfrm>
            <a:prstGeom prst="chevron">
              <a:avLst>
                <a:gd name="adj" fmla="val 46148"/>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grpSp>
      <p:sp>
        <p:nvSpPr>
          <p:cNvPr id="10" name="Title 1">
            <a:extLst>
              <a:ext uri="{FF2B5EF4-FFF2-40B4-BE49-F238E27FC236}">
                <a16:creationId xmlns:a16="http://schemas.microsoft.com/office/drawing/2014/main" id="{B71D31DB-8BCA-7042-B94D-76954AEA48F2}"/>
              </a:ext>
            </a:extLst>
          </p:cNvPr>
          <p:cNvSpPr>
            <a:spLocks noGrp="1"/>
          </p:cNvSpPr>
          <p:nvPr>
            <p:ph type="ctrTitle"/>
          </p:nvPr>
        </p:nvSpPr>
        <p:spPr>
          <a:xfrm>
            <a:off x="4114801" y="3620256"/>
            <a:ext cx="4599831" cy="466899"/>
          </a:xfrm>
        </p:spPr>
        <p:txBody>
          <a:bodyPr anchor="b">
            <a:noAutofit/>
          </a:bodyPr>
          <a:lstStyle>
            <a:lvl1pPr>
              <a:defRPr sz="2200" spc="-51" baseline="0"/>
            </a:lvl1pPr>
          </a:lstStyle>
          <a:p>
            <a:r>
              <a:rPr lang="en-US"/>
              <a:t>Click to edit Master title style</a:t>
            </a:r>
          </a:p>
        </p:txBody>
      </p:sp>
      <p:sp>
        <p:nvSpPr>
          <p:cNvPr id="12" name="Subtitle 2">
            <a:extLst>
              <a:ext uri="{FF2B5EF4-FFF2-40B4-BE49-F238E27FC236}">
                <a16:creationId xmlns:a16="http://schemas.microsoft.com/office/drawing/2014/main" id="{5E37C1BC-8CB7-5F4C-9252-0CCB40049E11}"/>
              </a:ext>
            </a:extLst>
          </p:cNvPr>
          <p:cNvSpPr>
            <a:spLocks noGrp="1"/>
          </p:cNvSpPr>
          <p:nvPr>
            <p:ph type="subTitle" idx="1"/>
          </p:nvPr>
        </p:nvSpPr>
        <p:spPr>
          <a:xfrm>
            <a:off x="4114800" y="4097328"/>
            <a:ext cx="4544611" cy="675679"/>
          </a:xfrm>
        </p:spPr>
        <p:txBody>
          <a:bodyPr>
            <a:noAutofit/>
          </a:bodyPr>
          <a:lstStyle>
            <a:lvl1pPr marL="0" indent="0" algn="l">
              <a:buNone/>
              <a:defRPr sz="1800" b="1" spc="-51" baseline="0">
                <a:solidFill>
                  <a:schemeClr val="accent3"/>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p>
        </p:txBody>
      </p:sp>
      <p:grpSp>
        <p:nvGrpSpPr>
          <p:cNvPr id="21" name="Group 20">
            <a:extLst>
              <a:ext uri="{FF2B5EF4-FFF2-40B4-BE49-F238E27FC236}">
                <a16:creationId xmlns:a16="http://schemas.microsoft.com/office/drawing/2014/main" id="{FD9F12B0-5D5F-2145-B861-AF9E8A85FB89}"/>
              </a:ext>
            </a:extLst>
          </p:cNvPr>
          <p:cNvGrpSpPr/>
          <p:nvPr userDrawn="1"/>
        </p:nvGrpSpPr>
        <p:grpSpPr>
          <a:xfrm>
            <a:off x="3996284" y="4653856"/>
            <a:ext cx="2609341" cy="230049"/>
            <a:chOff x="744483" y="4848998"/>
            <a:chExt cx="2609341" cy="230049"/>
          </a:xfrm>
        </p:grpSpPr>
        <p:sp>
          <p:nvSpPr>
            <p:cNvPr id="22" name="TextBox 21">
              <a:extLst>
                <a:ext uri="{FF2B5EF4-FFF2-40B4-BE49-F238E27FC236}">
                  <a16:creationId xmlns:a16="http://schemas.microsoft.com/office/drawing/2014/main" id="{D4FFD12B-A382-5844-A4D2-92C01109B222}"/>
                </a:ext>
              </a:extLst>
            </p:cNvPr>
            <p:cNvSpPr txBox="1"/>
            <p:nvPr userDrawn="1"/>
          </p:nvSpPr>
          <p:spPr>
            <a:xfrm>
              <a:off x="2184981" y="4875393"/>
              <a:ext cx="1168843" cy="161711"/>
            </a:xfrm>
            <a:prstGeom prst="rect">
              <a:avLst/>
            </a:prstGeom>
            <a:noFill/>
          </p:spPr>
          <p:txBody>
            <a:bodyPr wrap="square" lIns="0" tIns="0" rIns="0" bIns="0" rtlCol="0" anchor="ctr">
              <a:spAutoFit/>
            </a:bodyPr>
            <a:lstStyle/>
            <a:p>
              <a:pPr algn="l"/>
              <a:r>
                <a:rPr lang="en-US" sz="1051" b="1">
                  <a:solidFill>
                    <a:schemeClr val="tx1">
                      <a:lumMod val="50000"/>
                    </a:schemeClr>
                  </a:solidFill>
                  <a:latin typeface="+mn-lt"/>
                  <a:cs typeface="Arial"/>
                </a:rPr>
                <a:t>Better Together</a:t>
              </a:r>
            </a:p>
          </p:txBody>
        </p:sp>
        <p:sp>
          <p:nvSpPr>
            <p:cNvPr id="23" name="Title 3">
              <a:extLst>
                <a:ext uri="{FF2B5EF4-FFF2-40B4-BE49-F238E27FC236}">
                  <a16:creationId xmlns:a16="http://schemas.microsoft.com/office/drawing/2014/main" id="{95B75683-1196-5948-9C0B-65AB17405A20}"/>
                </a:ext>
              </a:extLst>
            </p:cNvPr>
            <p:cNvSpPr txBox="1">
              <a:spLocks/>
            </p:cNvSpPr>
            <p:nvPr userDrawn="1"/>
          </p:nvSpPr>
          <p:spPr>
            <a:xfrm>
              <a:off x="744483" y="4848998"/>
              <a:ext cx="1342523" cy="230049"/>
            </a:xfrm>
            <a:prstGeom prst="rect">
              <a:avLst/>
            </a:prstGeom>
          </p:spPr>
          <p:txBody>
            <a:bodyPr anchor="ctr"/>
            <a:lstStyle>
              <a:lvl1pPr algn="l" defTabSz="914400" rtl="0" eaLnBrk="1" latinLnBrk="0" hangingPunct="1">
                <a:lnSpc>
                  <a:spcPct val="90000"/>
                </a:lnSpc>
                <a:spcBef>
                  <a:spcPct val="0"/>
                </a:spcBef>
                <a:buNone/>
                <a:defRPr sz="2400" b="1" kern="1200">
                  <a:solidFill>
                    <a:schemeClr val="tx1">
                      <a:lumMod val="50000"/>
                    </a:schemeClr>
                  </a:solidFill>
                  <a:latin typeface="+mj-lt"/>
                  <a:ea typeface="+mj-ea"/>
                  <a:cs typeface="+mj-cs"/>
                </a:defRPr>
              </a:lvl1pPr>
            </a:lstStyle>
            <a:p>
              <a:pPr algn="r"/>
              <a:r>
                <a:rPr lang="en-US" sz="1051">
                  <a:solidFill>
                    <a:schemeClr val="accent1"/>
                  </a:solidFill>
                  <a:latin typeface="+mn-lt"/>
                </a:rPr>
                <a:t>UHC</a:t>
              </a:r>
              <a:r>
                <a:rPr lang="en-US" sz="1051">
                  <a:solidFill>
                    <a:schemeClr val="accent2"/>
                  </a:solidFill>
                  <a:latin typeface="+mn-lt"/>
                </a:rPr>
                <a:t>Technology</a:t>
              </a:r>
            </a:p>
          </p:txBody>
        </p:sp>
        <p:cxnSp>
          <p:nvCxnSpPr>
            <p:cNvPr id="24" name="Straight Connector 23">
              <a:extLst>
                <a:ext uri="{FF2B5EF4-FFF2-40B4-BE49-F238E27FC236}">
                  <a16:creationId xmlns:a16="http://schemas.microsoft.com/office/drawing/2014/main" id="{650786FC-F9CF-0340-A9EB-A657DA3E5FF4}"/>
                </a:ext>
              </a:extLst>
            </p:cNvPr>
            <p:cNvCxnSpPr/>
            <p:nvPr userDrawn="1"/>
          </p:nvCxnSpPr>
          <p:spPr>
            <a:xfrm>
              <a:off x="2087006" y="4874877"/>
              <a:ext cx="0" cy="1814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634538031"/>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3_Section Title 1">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A5F41C1-ED0A-894A-B3CF-5F7CFFB84AE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1585" t="21323" b="11914"/>
          <a:stretch/>
        </p:blipFill>
        <p:spPr>
          <a:xfrm>
            <a:off x="2468138" y="0"/>
            <a:ext cx="6675863" cy="3345366"/>
          </a:xfrm>
          <a:prstGeom prst="rect">
            <a:avLst/>
          </a:prstGeom>
        </p:spPr>
      </p:pic>
      <p:sp>
        <p:nvSpPr>
          <p:cNvPr id="7" name="Rectangle 6"/>
          <p:cNvSpPr/>
          <p:nvPr userDrawn="1"/>
        </p:nvSpPr>
        <p:spPr bwMode="auto">
          <a:xfrm rot="10800000" flipH="1">
            <a:off x="1" y="0"/>
            <a:ext cx="228600" cy="5143500"/>
          </a:xfrm>
          <a:prstGeom prst="rect">
            <a:avLst/>
          </a:prstGeom>
          <a:solidFill>
            <a:srgbClr val="00A8F7"/>
          </a:solidFill>
          <a:ln>
            <a:noFill/>
          </a:ln>
          <a:effectLst/>
        </p:spPr>
        <p:txBody>
          <a:bodyPr vert="horz" wrap="square" lIns="91440" tIns="45720" rIns="91440" bIns="45720" numCol="1" rtlCol="0" anchor="ctr" anchorCtr="0" compatLnSpc="1">
            <a:prstTxWarp prst="textNoShape">
              <a:avLst/>
            </a:prstTxWarp>
          </a:bodyPr>
          <a:lstStyle/>
          <a:p>
            <a:pPr marL="0" marR="0" indent="0" algn="ctr" defTabSz="914377"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rgbClr val="00A8F7"/>
              </a:solidFill>
              <a:effectLst/>
              <a:latin typeface="Arial" charset="0"/>
              <a:ea typeface="ＭＳ Ｐゴシック" pitchFamily="34" charset="-128"/>
            </a:endParaRPr>
          </a:p>
        </p:txBody>
      </p:sp>
      <p:grpSp>
        <p:nvGrpSpPr>
          <p:cNvPr id="4" name="Group 3">
            <a:extLst>
              <a:ext uri="{FF2B5EF4-FFF2-40B4-BE49-F238E27FC236}">
                <a16:creationId xmlns:a16="http://schemas.microsoft.com/office/drawing/2014/main" id="{1D6B91B2-FF25-B547-96EF-5961B0ED9545}"/>
              </a:ext>
            </a:extLst>
          </p:cNvPr>
          <p:cNvGrpSpPr/>
          <p:nvPr userDrawn="1"/>
        </p:nvGrpSpPr>
        <p:grpSpPr>
          <a:xfrm>
            <a:off x="679539" y="1"/>
            <a:ext cx="3815548" cy="5144568"/>
            <a:chOff x="679539" y="1"/>
            <a:chExt cx="3815548" cy="5144568"/>
          </a:xfrm>
        </p:grpSpPr>
        <p:sp>
          <p:nvSpPr>
            <p:cNvPr id="5" name="Chevron 4">
              <a:extLst>
                <a:ext uri="{FF2B5EF4-FFF2-40B4-BE49-F238E27FC236}">
                  <a16:creationId xmlns:a16="http://schemas.microsoft.com/office/drawing/2014/main" id="{DC18AE4F-7AF1-1E49-8E35-ACD12253F1DC}"/>
                </a:ext>
              </a:extLst>
            </p:cNvPr>
            <p:cNvSpPr/>
            <p:nvPr/>
          </p:nvSpPr>
          <p:spPr>
            <a:xfrm>
              <a:off x="679539" y="1"/>
              <a:ext cx="3193569" cy="2999574"/>
            </a:xfrm>
            <a:prstGeom prst="chevron">
              <a:avLst>
                <a:gd name="adj" fmla="val 4614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6" name="Chevron 5">
              <a:extLst>
                <a:ext uri="{FF2B5EF4-FFF2-40B4-BE49-F238E27FC236}">
                  <a16:creationId xmlns:a16="http://schemas.microsoft.com/office/drawing/2014/main" id="{76D0D87F-CCC6-9E41-97FE-B4426F02A174}"/>
                </a:ext>
              </a:extLst>
            </p:cNvPr>
            <p:cNvSpPr/>
            <p:nvPr/>
          </p:nvSpPr>
          <p:spPr>
            <a:xfrm>
              <a:off x="696634" y="1576855"/>
              <a:ext cx="3798453" cy="3567714"/>
            </a:xfrm>
            <a:prstGeom prst="chevron">
              <a:avLst>
                <a:gd name="adj" fmla="val 46148"/>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8" name="Chevron 7">
              <a:extLst>
                <a:ext uri="{FF2B5EF4-FFF2-40B4-BE49-F238E27FC236}">
                  <a16:creationId xmlns:a16="http://schemas.microsoft.com/office/drawing/2014/main" id="{3A23CFCA-DE87-964F-9974-016A9D172A36}"/>
                </a:ext>
              </a:extLst>
            </p:cNvPr>
            <p:cNvSpPr/>
            <p:nvPr/>
          </p:nvSpPr>
          <p:spPr>
            <a:xfrm>
              <a:off x="1500375" y="1166614"/>
              <a:ext cx="2488584" cy="2337414"/>
            </a:xfrm>
            <a:prstGeom prst="chevron">
              <a:avLst>
                <a:gd name="adj" fmla="val 46148"/>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grpSp>
      <p:sp>
        <p:nvSpPr>
          <p:cNvPr id="12" name="Title 1">
            <a:extLst>
              <a:ext uri="{FF2B5EF4-FFF2-40B4-BE49-F238E27FC236}">
                <a16:creationId xmlns:a16="http://schemas.microsoft.com/office/drawing/2014/main" id="{95672ECA-8BDB-C24D-A85A-A65E8F046F94}"/>
              </a:ext>
            </a:extLst>
          </p:cNvPr>
          <p:cNvSpPr>
            <a:spLocks noGrp="1"/>
          </p:cNvSpPr>
          <p:nvPr>
            <p:ph type="ctrTitle"/>
          </p:nvPr>
        </p:nvSpPr>
        <p:spPr>
          <a:xfrm>
            <a:off x="4114801" y="3620256"/>
            <a:ext cx="4599831" cy="466899"/>
          </a:xfrm>
        </p:spPr>
        <p:txBody>
          <a:bodyPr anchor="b">
            <a:noAutofit/>
          </a:bodyPr>
          <a:lstStyle>
            <a:lvl1pPr>
              <a:defRPr sz="2200" spc="-51" baseline="0"/>
            </a:lvl1pPr>
          </a:lstStyle>
          <a:p>
            <a:r>
              <a:rPr lang="en-US"/>
              <a:t>Click to edit Master title style</a:t>
            </a:r>
          </a:p>
        </p:txBody>
      </p:sp>
      <p:sp>
        <p:nvSpPr>
          <p:cNvPr id="13" name="Subtitle 2">
            <a:extLst>
              <a:ext uri="{FF2B5EF4-FFF2-40B4-BE49-F238E27FC236}">
                <a16:creationId xmlns:a16="http://schemas.microsoft.com/office/drawing/2014/main" id="{D8999BF5-F786-F14D-B7C2-C2BCC5AE8B41}"/>
              </a:ext>
            </a:extLst>
          </p:cNvPr>
          <p:cNvSpPr>
            <a:spLocks noGrp="1"/>
          </p:cNvSpPr>
          <p:nvPr>
            <p:ph type="subTitle" idx="1"/>
          </p:nvPr>
        </p:nvSpPr>
        <p:spPr>
          <a:xfrm>
            <a:off x="4114800" y="4097328"/>
            <a:ext cx="4544611" cy="675679"/>
          </a:xfrm>
        </p:spPr>
        <p:txBody>
          <a:bodyPr>
            <a:noAutofit/>
          </a:bodyPr>
          <a:lstStyle>
            <a:lvl1pPr marL="0" indent="0" algn="l">
              <a:buNone/>
              <a:defRPr sz="1800" b="1" spc="-51" baseline="0">
                <a:solidFill>
                  <a:schemeClr val="accent3"/>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p>
        </p:txBody>
      </p:sp>
      <p:grpSp>
        <p:nvGrpSpPr>
          <p:cNvPr id="22" name="Group 21">
            <a:extLst>
              <a:ext uri="{FF2B5EF4-FFF2-40B4-BE49-F238E27FC236}">
                <a16:creationId xmlns:a16="http://schemas.microsoft.com/office/drawing/2014/main" id="{853885AB-AADA-2746-98D6-78E2B96B17F2}"/>
              </a:ext>
            </a:extLst>
          </p:cNvPr>
          <p:cNvGrpSpPr/>
          <p:nvPr userDrawn="1"/>
        </p:nvGrpSpPr>
        <p:grpSpPr>
          <a:xfrm>
            <a:off x="3996284" y="4653856"/>
            <a:ext cx="2609341" cy="230049"/>
            <a:chOff x="744483" y="4848998"/>
            <a:chExt cx="2609341" cy="230049"/>
          </a:xfrm>
        </p:grpSpPr>
        <p:sp>
          <p:nvSpPr>
            <p:cNvPr id="23" name="TextBox 22">
              <a:extLst>
                <a:ext uri="{FF2B5EF4-FFF2-40B4-BE49-F238E27FC236}">
                  <a16:creationId xmlns:a16="http://schemas.microsoft.com/office/drawing/2014/main" id="{A26DD190-D481-8245-8459-30F06A13D612}"/>
                </a:ext>
              </a:extLst>
            </p:cNvPr>
            <p:cNvSpPr txBox="1"/>
            <p:nvPr userDrawn="1"/>
          </p:nvSpPr>
          <p:spPr>
            <a:xfrm>
              <a:off x="2184981" y="4875393"/>
              <a:ext cx="1168843" cy="161711"/>
            </a:xfrm>
            <a:prstGeom prst="rect">
              <a:avLst/>
            </a:prstGeom>
            <a:noFill/>
          </p:spPr>
          <p:txBody>
            <a:bodyPr wrap="square" lIns="0" tIns="0" rIns="0" bIns="0" rtlCol="0" anchor="ctr">
              <a:spAutoFit/>
            </a:bodyPr>
            <a:lstStyle/>
            <a:p>
              <a:pPr algn="l"/>
              <a:r>
                <a:rPr lang="en-US" sz="1051" b="1">
                  <a:solidFill>
                    <a:schemeClr val="tx1">
                      <a:lumMod val="50000"/>
                    </a:schemeClr>
                  </a:solidFill>
                  <a:latin typeface="+mn-lt"/>
                  <a:cs typeface="Arial"/>
                </a:rPr>
                <a:t>Better Together</a:t>
              </a:r>
            </a:p>
          </p:txBody>
        </p:sp>
        <p:sp>
          <p:nvSpPr>
            <p:cNvPr id="24" name="Title 3">
              <a:extLst>
                <a:ext uri="{FF2B5EF4-FFF2-40B4-BE49-F238E27FC236}">
                  <a16:creationId xmlns:a16="http://schemas.microsoft.com/office/drawing/2014/main" id="{08253C4F-2669-6C49-8F4E-00818047DE9F}"/>
                </a:ext>
              </a:extLst>
            </p:cNvPr>
            <p:cNvSpPr txBox="1">
              <a:spLocks/>
            </p:cNvSpPr>
            <p:nvPr userDrawn="1"/>
          </p:nvSpPr>
          <p:spPr>
            <a:xfrm>
              <a:off x="744483" y="4848998"/>
              <a:ext cx="1342523" cy="230049"/>
            </a:xfrm>
            <a:prstGeom prst="rect">
              <a:avLst/>
            </a:prstGeom>
          </p:spPr>
          <p:txBody>
            <a:bodyPr anchor="ctr"/>
            <a:lstStyle>
              <a:lvl1pPr algn="l" defTabSz="914400" rtl="0" eaLnBrk="1" latinLnBrk="0" hangingPunct="1">
                <a:lnSpc>
                  <a:spcPct val="90000"/>
                </a:lnSpc>
                <a:spcBef>
                  <a:spcPct val="0"/>
                </a:spcBef>
                <a:buNone/>
                <a:defRPr sz="2400" b="1" kern="1200">
                  <a:solidFill>
                    <a:schemeClr val="tx1">
                      <a:lumMod val="50000"/>
                    </a:schemeClr>
                  </a:solidFill>
                  <a:latin typeface="+mj-lt"/>
                  <a:ea typeface="+mj-ea"/>
                  <a:cs typeface="+mj-cs"/>
                </a:defRPr>
              </a:lvl1pPr>
            </a:lstStyle>
            <a:p>
              <a:pPr algn="r"/>
              <a:r>
                <a:rPr lang="en-US" sz="1051">
                  <a:solidFill>
                    <a:schemeClr val="accent1"/>
                  </a:solidFill>
                  <a:latin typeface="+mn-lt"/>
                </a:rPr>
                <a:t>UHC</a:t>
              </a:r>
              <a:r>
                <a:rPr lang="en-US" sz="1051">
                  <a:solidFill>
                    <a:schemeClr val="accent2"/>
                  </a:solidFill>
                  <a:latin typeface="+mn-lt"/>
                </a:rPr>
                <a:t>Technology</a:t>
              </a:r>
            </a:p>
          </p:txBody>
        </p:sp>
        <p:cxnSp>
          <p:nvCxnSpPr>
            <p:cNvPr id="25" name="Straight Connector 24">
              <a:extLst>
                <a:ext uri="{FF2B5EF4-FFF2-40B4-BE49-F238E27FC236}">
                  <a16:creationId xmlns:a16="http://schemas.microsoft.com/office/drawing/2014/main" id="{5A0B4BEC-A07A-3443-957E-21680C8E6C15}"/>
                </a:ext>
              </a:extLst>
            </p:cNvPr>
            <p:cNvCxnSpPr/>
            <p:nvPr userDrawn="1"/>
          </p:nvCxnSpPr>
          <p:spPr>
            <a:xfrm>
              <a:off x="2087006" y="4874877"/>
              <a:ext cx="0" cy="1814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998118244"/>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2_Section Title 1">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28902BF-5D3A-9D49-BF43-9A572D0E62E4}"/>
              </a:ext>
            </a:extLst>
          </p:cNvPr>
          <p:cNvSpPr/>
          <p:nvPr userDrawn="1"/>
        </p:nvSpPr>
        <p:spPr>
          <a:xfrm>
            <a:off x="2469331" y="2005"/>
            <a:ext cx="6687047" cy="3367668"/>
          </a:xfrm>
          <a:prstGeom prst="rect">
            <a:avLst/>
          </a:prstGeom>
          <a:pattFill prst="dkUpDiag">
            <a:fgClr>
              <a:schemeClr val="bg1">
                <a:lumMod val="8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ctrTitle"/>
          </p:nvPr>
        </p:nvSpPr>
        <p:spPr>
          <a:xfrm>
            <a:off x="4114801" y="3809695"/>
            <a:ext cx="4599831" cy="466899"/>
          </a:xfrm>
        </p:spPr>
        <p:txBody>
          <a:bodyPr anchor="b">
            <a:noAutofit/>
          </a:bodyPr>
          <a:lstStyle>
            <a:lvl1pPr>
              <a:defRPr sz="2200" spc="-51" baseline="0"/>
            </a:lvl1pPr>
          </a:lstStyle>
          <a:p>
            <a:r>
              <a:rPr lang="en-US"/>
              <a:t>Click to edit Master title style</a:t>
            </a:r>
          </a:p>
        </p:txBody>
      </p:sp>
      <p:sp>
        <p:nvSpPr>
          <p:cNvPr id="7" name="Rectangle 6"/>
          <p:cNvSpPr/>
          <p:nvPr userDrawn="1"/>
        </p:nvSpPr>
        <p:spPr bwMode="auto">
          <a:xfrm rot="10800000" flipH="1">
            <a:off x="1" y="0"/>
            <a:ext cx="228600" cy="5143500"/>
          </a:xfrm>
          <a:prstGeom prst="rect">
            <a:avLst/>
          </a:prstGeom>
          <a:solidFill>
            <a:srgbClr val="00A8F7"/>
          </a:solidFill>
          <a:ln>
            <a:noFill/>
          </a:ln>
          <a:effectLst/>
        </p:spPr>
        <p:txBody>
          <a:bodyPr vert="horz" wrap="square" lIns="91440" tIns="45720" rIns="91440" bIns="45720" numCol="1" rtlCol="0" anchor="ctr" anchorCtr="0" compatLnSpc="1">
            <a:prstTxWarp prst="textNoShape">
              <a:avLst/>
            </a:prstTxWarp>
          </a:bodyPr>
          <a:lstStyle/>
          <a:p>
            <a:pPr marL="0" marR="0" indent="0" algn="ctr" defTabSz="914377"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rgbClr val="00A8F7"/>
              </a:solidFill>
              <a:effectLst/>
              <a:latin typeface="Arial" charset="0"/>
              <a:ea typeface="ＭＳ Ｐゴシック" pitchFamily="34" charset="-128"/>
            </a:endParaRPr>
          </a:p>
        </p:txBody>
      </p:sp>
      <p:grpSp>
        <p:nvGrpSpPr>
          <p:cNvPr id="4" name="Group 3">
            <a:extLst>
              <a:ext uri="{FF2B5EF4-FFF2-40B4-BE49-F238E27FC236}">
                <a16:creationId xmlns:a16="http://schemas.microsoft.com/office/drawing/2014/main" id="{1D6B91B2-FF25-B547-96EF-5961B0ED9545}"/>
              </a:ext>
            </a:extLst>
          </p:cNvPr>
          <p:cNvGrpSpPr/>
          <p:nvPr userDrawn="1"/>
        </p:nvGrpSpPr>
        <p:grpSpPr>
          <a:xfrm>
            <a:off x="679539" y="1"/>
            <a:ext cx="3815548" cy="5144568"/>
            <a:chOff x="679539" y="1"/>
            <a:chExt cx="3815548" cy="5144568"/>
          </a:xfrm>
        </p:grpSpPr>
        <p:sp>
          <p:nvSpPr>
            <p:cNvPr id="5" name="Chevron 4">
              <a:extLst>
                <a:ext uri="{FF2B5EF4-FFF2-40B4-BE49-F238E27FC236}">
                  <a16:creationId xmlns:a16="http://schemas.microsoft.com/office/drawing/2014/main" id="{DC18AE4F-7AF1-1E49-8E35-ACD12253F1DC}"/>
                </a:ext>
              </a:extLst>
            </p:cNvPr>
            <p:cNvSpPr/>
            <p:nvPr/>
          </p:nvSpPr>
          <p:spPr>
            <a:xfrm>
              <a:off x="679539" y="1"/>
              <a:ext cx="3193569" cy="2999574"/>
            </a:xfrm>
            <a:prstGeom prst="chevron">
              <a:avLst>
                <a:gd name="adj" fmla="val 4614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6" name="Chevron 5">
              <a:extLst>
                <a:ext uri="{FF2B5EF4-FFF2-40B4-BE49-F238E27FC236}">
                  <a16:creationId xmlns:a16="http://schemas.microsoft.com/office/drawing/2014/main" id="{76D0D87F-CCC6-9E41-97FE-B4426F02A174}"/>
                </a:ext>
              </a:extLst>
            </p:cNvPr>
            <p:cNvSpPr/>
            <p:nvPr/>
          </p:nvSpPr>
          <p:spPr>
            <a:xfrm>
              <a:off x="696634" y="1576855"/>
              <a:ext cx="3798453" cy="3567714"/>
            </a:xfrm>
            <a:prstGeom prst="chevron">
              <a:avLst>
                <a:gd name="adj" fmla="val 46148"/>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8" name="Chevron 7">
              <a:extLst>
                <a:ext uri="{FF2B5EF4-FFF2-40B4-BE49-F238E27FC236}">
                  <a16:creationId xmlns:a16="http://schemas.microsoft.com/office/drawing/2014/main" id="{3A23CFCA-DE87-964F-9974-016A9D172A36}"/>
                </a:ext>
              </a:extLst>
            </p:cNvPr>
            <p:cNvSpPr/>
            <p:nvPr/>
          </p:nvSpPr>
          <p:spPr>
            <a:xfrm>
              <a:off x="1500375" y="1166614"/>
              <a:ext cx="2488584" cy="2337414"/>
            </a:xfrm>
            <a:prstGeom prst="chevron">
              <a:avLst>
                <a:gd name="adj" fmla="val 46148"/>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grpSp>
      <p:sp>
        <p:nvSpPr>
          <p:cNvPr id="11" name="Subtitle 2">
            <a:extLst>
              <a:ext uri="{FF2B5EF4-FFF2-40B4-BE49-F238E27FC236}">
                <a16:creationId xmlns:a16="http://schemas.microsoft.com/office/drawing/2014/main" id="{26F5DBD2-37E9-4C46-9895-67278E0C99D9}"/>
              </a:ext>
            </a:extLst>
          </p:cNvPr>
          <p:cNvSpPr>
            <a:spLocks noGrp="1"/>
          </p:cNvSpPr>
          <p:nvPr>
            <p:ph type="subTitle" idx="1"/>
          </p:nvPr>
        </p:nvSpPr>
        <p:spPr>
          <a:xfrm>
            <a:off x="4114800" y="4286767"/>
            <a:ext cx="4544611" cy="675679"/>
          </a:xfrm>
        </p:spPr>
        <p:txBody>
          <a:bodyPr>
            <a:noAutofit/>
          </a:bodyPr>
          <a:lstStyle>
            <a:lvl1pPr marL="0" indent="0" algn="l">
              <a:buNone/>
              <a:defRPr sz="1800" b="1" spc="-51" baseline="0">
                <a:solidFill>
                  <a:schemeClr val="accent3"/>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p>
        </p:txBody>
      </p:sp>
      <p:grpSp>
        <p:nvGrpSpPr>
          <p:cNvPr id="13" name="Group 12">
            <a:extLst>
              <a:ext uri="{FF2B5EF4-FFF2-40B4-BE49-F238E27FC236}">
                <a16:creationId xmlns:a16="http://schemas.microsoft.com/office/drawing/2014/main" id="{79DAAC04-46A3-9B4E-9CC6-921207BBC5C4}"/>
              </a:ext>
            </a:extLst>
          </p:cNvPr>
          <p:cNvGrpSpPr/>
          <p:nvPr userDrawn="1"/>
        </p:nvGrpSpPr>
        <p:grpSpPr>
          <a:xfrm>
            <a:off x="4221917" y="2158866"/>
            <a:ext cx="4869763" cy="374682"/>
            <a:chOff x="4221917" y="2158865"/>
            <a:chExt cx="4869763" cy="374682"/>
          </a:xfrm>
        </p:grpSpPr>
        <p:cxnSp>
          <p:nvCxnSpPr>
            <p:cNvPr id="19" name="Straight Connector 18">
              <a:extLst>
                <a:ext uri="{FF2B5EF4-FFF2-40B4-BE49-F238E27FC236}">
                  <a16:creationId xmlns:a16="http://schemas.microsoft.com/office/drawing/2014/main" id="{EAED680D-2C61-9D4B-9565-8D8D27789754}"/>
                </a:ext>
              </a:extLst>
            </p:cNvPr>
            <p:cNvCxnSpPr>
              <a:cxnSpLocks/>
            </p:cNvCxnSpPr>
            <p:nvPr userDrawn="1"/>
          </p:nvCxnSpPr>
          <p:spPr>
            <a:xfrm>
              <a:off x="6588671" y="2175160"/>
              <a:ext cx="0" cy="3583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02F97882-EB61-A348-82F0-BAE1DB338F22}"/>
                </a:ext>
              </a:extLst>
            </p:cNvPr>
            <p:cNvSpPr txBox="1"/>
            <p:nvPr userDrawn="1"/>
          </p:nvSpPr>
          <p:spPr>
            <a:xfrm>
              <a:off x="6708459" y="2158865"/>
              <a:ext cx="2383221" cy="369332"/>
            </a:xfrm>
            <a:prstGeom prst="rect">
              <a:avLst/>
            </a:prstGeom>
            <a:noFill/>
          </p:spPr>
          <p:txBody>
            <a:bodyPr wrap="square" lIns="0" tIns="0" rIns="0" bIns="0" rtlCol="0" anchor="ctr">
              <a:spAutoFit/>
            </a:bodyPr>
            <a:lstStyle/>
            <a:p>
              <a:pPr algn="l"/>
              <a:r>
                <a:rPr lang="en-US" sz="2400" b="1" i="0" spc="-51" baseline="0">
                  <a:solidFill>
                    <a:schemeClr val="tx1">
                      <a:lumMod val="50000"/>
                    </a:schemeClr>
                  </a:solidFill>
                  <a:latin typeface="Arial" panose="020B0604020202020204" pitchFamily="34" charset="0"/>
                </a:rPr>
                <a:t>Better Together</a:t>
              </a:r>
              <a:endParaRPr lang="en-US" sz="2400" b="1" i="0" spc="-51" baseline="0">
                <a:solidFill>
                  <a:schemeClr val="tx1">
                    <a:lumMod val="50000"/>
                  </a:schemeClr>
                </a:solidFill>
                <a:latin typeface="Arial" panose="020B0604020202020204" pitchFamily="34" charset="0"/>
                <a:cs typeface="Arial"/>
              </a:endParaRPr>
            </a:p>
          </p:txBody>
        </p:sp>
        <p:sp>
          <p:nvSpPr>
            <p:cNvPr id="38" name="TextBox 37">
              <a:extLst>
                <a:ext uri="{FF2B5EF4-FFF2-40B4-BE49-F238E27FC236}">
                  <a16:creationId xmlns:a16="http://schemas.microsoft.com/office/drawing/2014/main" id="{BE8895A3-93F5-7944-AEE5-FACB36E109ED}"/>
                </a:ext>
              </a:extLst>
            </p:cNvPr>
            <p:cNvSpPr txBox="1"/>
            <p:nvPr userDrawn="1"/>
          </p:nvSpPr>
          <p:spPr>
            <a:xfrm>
              <a:off x="4633576" y="2234023"/>
              <a:ext cx="190053" cy="225624"/>
            </a:xfrm>
            <a:custGeom>
              <a:avLst/>
              <a:gdLst/>
              <a:ahLst/>
              <a:cxnLst/>
              <a:rect l="l" t="t" r="r" b="b"/>
              <a:pathLst>
                <a:path w="190053" h="225624">
                  <a:moveTo>
                    <a:pt x="102096" y="0"/>
                  </a:moveTo>
                  <a:cubicBezTo>
                    <a:pt x="128785" y="0"/>
                    <a:pt x="150465" y="7888"/>
                    <a:pt x="167134" y="23664"/>
                  </a:cubicBezTo>
                  <a:cubicBezTo>
                    <a:pt x="177055" y="32991"/>
                    <a:pt x="184497" y="46385"/>
                    <a:pt x="189458" y="63848"/>
                  </a:cubicBezTo>
                  <a:lnTo>
                    <a:pt x="145851" y="74266"/>
                  </a:lnTo>
                  <a:cubicBezTo>
                    <a:pt x="143271" y="62955"/>
                    <a:pt x="137889" y="54025"/>
                    <a:pt x="129703" y="47477"/>
                  </a:cubicBezTo>
                  <a:cubicBezTo>
                    <a:pt x="121518" y="40928"/>
                    <a:pt x="111571" y="37654"/>
                    <a:pt x="99863" y="37654"/>
                  </a:cubicBezTo>
                  <a:cubicBezTo>
                    <a:pt x="83691" y="37654"/>
                    <a:pt x="70569" y="43458"/>
                    <a:pt x="60498" y="55067"/>
                  </a:cubicBezTo>
                  <a:cubicBezTo>
                    <a:pt x="50427" y="66675"/>
                    <a:pt x="45392" y="85477"/>
                    <a:pt x="45392" y="111473"/>
                  </a:cubicBezTo>
                  <a:cubicBezTo>
                    <a:pt x="45392" y="139055"/>
                    <a:pt x="50353" y="158701"/>
                    <a:pt x="60275" y="170409"/>
                  </a:cubicBezTo>
                  <a:cubicBezTo>
                    <a:pt x="70197" y="182116"/>
                    <a:pt x="83095" y="187970"/>
                    <a:pt x="98970" y="187970"/>
                  </a:cubicBezTo>
                  <a:cubicBezTo>
                    <a:pt x="110678" y="187970"/>
                    <a:pt x="120749" y="184250"/>
                    <a:pt x="129182" y="176808"/>
                  </a:cubicBezTo>
                  <a:cubicBezTo>
                    <a:pt x="137616" y="169367"/>
                    <a:pt x="143668" y="157659"/>
                    <a:pt x="147339" y="141685"/>
                  </a:cubicBezTo>
                  <a:lnTo>
                    <a:pt x="190053" y="155228"/>
                  </a:lnTo>
                  <a:cubicBezTo>
                    <a:pt x="183505" y="179041"/>
                    <a:pt x="172615" y="196726"/>
                    <a:pt x="157385" y="208285"/>
                  </a:cubicBezTo>
                  <a:cubicBezTo>
                    <a:pt x="142155" y="219844"/>
                    <a:pt x="122832" y="225624"/>
                    <a:pt x="99417" y="225624"/>
                  </a:cubicBezTo>
                  <a:cubicBezTo>
                    <a:pt x="70445" y="225624"/>
                    <a:pt x="46632" y="215727"/>
                    <a:pt x="27979" y="195933"/>
                  </a:cubicBezTo>
                  <a:cubicBezTo>
                    <a:pt x="9326" y="176138"/>
                    <a:pt x="0" y="149077"/>
                    <a:pt x="0" y="114747"/>
                  </a:cubicBezTo>
                  <a:cubicBezTo>
                    <a:pt x="0" y="78433"/>
                    <a:pt x="9376" y="50230"/>
                    <a:pt x="28128" y="30138"/>
                  </a:cubicBezTo>
                  <a:cubicBezTo>
                    <a:pt x="46880" y="10046"/>
                    <a:pt x="71536" y="0"/>
                    <a:pt x="102096" y="0"/>
                  </a:cubicBezTo>
                  <a:close/>
                </a:path>
              </a:pathLst>
            </a:custGeom>
            <a:solidFill>
              <a:schemeClr val="accent1"/>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en-US" sz="2400" b="1" i="0" spc="-51" baseline="0">
                <a:solidFill>
                  <a:schemeClr val="tx1">
                    <a:lumMod val="50000"/>
                  </a:schemeClr>
                </a:solidFill>
                <a:latin typeface="Arial" panose="020B0604020202020204" pitchFamily="34" charset="0"/>
                <a:cs typeface="Arial"/>
              </a:endParaRPr>
            </a:p>
          </p:txBody>
        </p:sp>
        <p:sp>
          <p:nvSpPr>
            <p:cNvPr id="37" name="TextBox 36">
              <a:extLst>
                <a:ext uri="{FF2B5EF4-FFF2-40B4-BE49-F238E27FC236}">
                  <a16:creationId xmlns:a16="http://schemas.microsoft.com/office/drawing/2014/main" id="{53059CF6-8D1F-9943-898B-158F304BF319}"/>
                </a:ext>
              </a:extLst>
            </p:cNvPr>
            <p:cNvSpPr txBox="1"/>
            <p:nvPr userDrawn="1"/>
          </p:nvSpPr>
          <p:spPr>
            <a:xfrm>
              <a:off x="4221917" y="2237745"/>
              <a:ext cx="173980" cy="221903"/>
            </a:xfrm>
            <a:custGeom>
              <a:avLst/>
              <a:gdLst/>
              <a:ahLst/>
              <a:cxnLst/>
              <a:rect l="l" t="t" r="r" b="b"/>
              <a:pathLst>
                <a:path w="173980" h="221903">
                  <a:moveTo>
                    <a:pt x="0" y="0"/>
                  </a:moveTo>
                  <a:lnTo>
                    <a:pt x="44053" y="0"/>
                  </a:lnTo>
                  <a:lnTo>
                    <a:pt x="44053" y="118170"/>
                  </a:lnTo>
                  <a:cubicBezTo>
                    <a:pt x="44053" y="136922"/>
                    <a:pt x="44599" y="149076"/>
                    <a:pt x="45690" y="154633"/>
                  </a:cubicBezTo>
                  <a:cubicBezTo>
                    <a:pt x="47575" y="163562"/>
                    <a:pt x="52065" y="170731"/>
                    <a:pt x="59159" y="176138"/>
                  </a:cubicBezTo>
                  <a:cubicBezTo>
                    <a:pt x="66253" y="181546"/>
                    <a:pt x="75952" y="184249"/>
                    <a:pt x="88255" y="184249"/>
                  </a:cubicBezTo>
                  <a:cubicBezTo>
                    <a:pt x="100757" y="184249"/>
                    <a:pt x="110182" y="181694"/>
                    <a:pt x="116532" y="176585"/>
                  </a:cubicBezTo>
                  <a:cubicBezTo>
                    <a:pt x="122882" y="171475"/>
                    <a:pt x="126702" y="165199"/>
                    <a:pt x="127992" y="157758"/>
                  </a:cubicBezTo>
                  <a:cubicBezTo>
                    <a:pt x="129282" y="150316"/>
                    <a:pt x="129927" y="137964"/>
                    <a:pt x="129927" y="120700"/>
                  </a:cubicBezTo>
                  <a:lnTo>
                    <a:pt x="129927" y="0"/>
                  </a:lnTo>
                  <a:lnTo>
                    <a:pt x="173980" y="0"/>
                  </a:lnTo>
                  <a:lnTo>
                    <a:pt x="173980" y="114598"/>
                  </a:lnTo>
                  <a:cubicBezTo>
                    <a:pt x="173980" y="140791"/>
                    <a:pt x="172789" y="159296"/>
                    <a:pt x="170408" y="170111"/>
                  </a:cubicBezTo>
                  <a:cubicBezTo>
                    <a:pt x="168027" y="180925"/>
                    <a:pt x="163636" y="190054"/>
                    <a:pt x="157237" y="197495"/>
                  </a:cubicBezTo>
                  <a:cubicBezTo>
                    <a:pt x="150837" y="204936"/>
                    <a:pt x="142280" y="210865"/>
                    <a:pt x="131564" y="215280"/>
                  </a:cubicBezTo>
                  <a:cubicBezTo>
                    <a:pt x="120848" y="219695"/>
                    <a:pt x="106859" y="221903"/>
                    <a:pt x="89595" y="221903"/>
                  </a:cubicBezTo>
                  <a:cubicBezTo>
                    <a:pt x="68759" y="221903"/>
                    <a:pt x="52958" y="219497"/>
                    <a:pt x="42193" y="214685"/>
                  </a:cubicBezTo>
                  <a:cubicBezTo>
                    <a:pt x="31428" y="209873"/>
                    <a:pt x="22920" y="203622"/>
                    <a:pt x="16669" y="195932"/>
                  </a:cubicBezTo>
                  <a:cubicBezTo>
                    <a:pt x="10418" y="188243"/>
                    <a:pt x="6300" y="180181"/>
                    <a:pt x="4316" y="171748"/>
                  </a:cubicBezTo>
                  <a:cubicBezTo>
                    <a:pt x="1439" y="159246"/>
                    <a:pt x="0" y="140791"/>
                    <a:pt x="0" y="116384"/>
                  </a:cubicBezTo>
                  <a:lnTo>
                    <a:pt x="0" y="0"/>
                  </a:lnTo>
                  <a:close/>
                </a:path>
              </a:pathLst>
            </a:custGeom>
            <a:solidFill>
              <a:schemeClr val="accent1"/>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en-US" sz="2400" b="1" i="0" spc="-51" baseline="0">
                <a:solidFill>
                  <a:schemeClr val="tx1">
                    <a:lumMod val="50000"/>
                  </a:schemeClr>
                </a:solidFill>
                <a:latin typeface="Arial" panose="020B0604020202020204" pitchFamily="34" charset="0"/>
                <a:cs typeface="Arial"/>
              </a:endParaRPr>
            </a:p>
          </p:txBody>
        </p:sp>
        <p:sp>
          <p:nvSpPr>
            <p:cNvPr id="36" name="TextBox 35">
              <a:extLst>
                <a:ext uri="{FF2B5EF4-FFF2-40B4-BE49-F238E27FC236}">
                  <a16:creationId xmlns:a16="http://schemas.microsoft.com/office/drawing/2014/main" id="{F5B04F91-35AA-8E4F-AAF0-95F37C9B2FA7}"/>
                </a:ext>
              </a:extLst>
            </p:cNvPr>
            <p:cNvSpPr txBox="1"/>
            <p:nvPr userDrawn="1"/>
          </p:nvSpPr>
          <p:spPr>
            <a:xfrm>
              <a:off x="4431913" y="2237744"/>
              <a:ext cx="174427" cy="218182"/>
            </a:xfrm>
            <a:custGeom>
              <a:avLst/>
              <a:gdLst/>
              <a:ahLst/>
              <a:cxnLst/>
              <a:rect l="l" t="t" r="r" b="b"/>
              <a:pathLst>
                <a:path w="174427" h="218182">
                  <a:moveTo>
                    <a:pt x="0" y="0"/>
                  </a:moveTo>
                  <a:lnTo>
                    <a:pt x="44054" y="0"/>
                  </a:lnTo>
                  <a:lnTo>
                    <a:pt x="44054" y="85874"/>
                  </a:lnTo>
                  <a:lnTo>
                    <a:pt x="130374" y="85874"/>
                  </a:lnTo>
                  <a:lnTo>
                    <a:pt x="130374" y="0"/>
                  </a:lnTo>
                  <a:lnTo>
                    <a:pt x="174427" y="0"/>
                  </a:lnTo>
                  <a:lnTo>
                    <a:pt x="174427" y="218182"/>
                  </a:lnTo>
                  <a:lnTo>
                    <a:pt x="130374" y="218182"/>
                  </a:lnTo>
                  <a:lnTo>
                    <a:pt x="130374" y="122783"/>
                  </a:lnTo>
                  <a:lnTo>
                    <a:pt x="44054" y="122783"/>
                  </a:lnTo>
                  <a:lnTo>
                    <a:pt x="44054" y="218182"/>
                  </a:lnTo>
                  <a:lnTo>
                    <a:pt x="0" y="218182"/>
                  </a:lnTo>
                  <a:lnTo>
                    <a:pt x="0" y="0"/>
                  </a:lnTo>
                  <a:close/>
                </a:path>
              </a:pathLst>
            </a:custGeom>
            <a:solidFill>
              <a:schemeClr val="accent1"/>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en-US" sz="2400" b="1" i="0" spc="-51" baseline="0">
                <a:solidFill>
                  <a:schemeClr val="tx1">
                    <a:lumMod val="50000"/>
                  </a:schemeClr>
                </a:solidFill>
                <a:latin typeface="Arial" panose="020B0604020202020204" pitchFamily="34" charset="0"/>
                <a:cs typeface="Arial"/>
              </a:endParaRPr>
            </a:p>
          </p:txBody>
        </p:sp>
        <p:sp>
          <p:nvSpPr>
            <p:cNvPr id="35" name="TextBox 34">
              <a:extLst>
                <a:ext uri="{FF2B5EF4-FFF2-40B4-BE49-F238E27FC236}">
                  <a16:creationId xmlns:a16="http://schemas.microsoft.com/office/drawing/2014/main" id="{39684C28-7525-724C-9EAB-7DC4FF5A56E0}"/>
                </a:ext>
              </a:extLst>
            </p:cNvPr>
            <p:cNvSpPr txBox="1"/>
            <p:nvPr userDrawn="1"/>
          </p:nvSpPr>
          <p:spPr>
            <a:xfrm>
              <a:off x="4835238" y="2237744"/>
              <a:ext cx="173384" cy="218182"/>
            </a:xfrm>
            <a:custGeom>
              <a:avLst/>
              <a:gdLst/>
              <a:ahLst/>
              <a:cxnLst/>
              <a:rect l="l" t="t" r="r" b="b"/>
              <a:pathLst>
                <a:path w="173384" h="218182">
                  <a:moveTo>
                    <a:pt x="0" y="0"/>
                  </a:moveTo>
                  <a:lnTo>
                    <a:pt x="173384" y="0"/>
                  </a:lnTo>
                  <a:lnTo>
                    <a:pt x="173384" y="36909"/>
                  </a:lnTo>
                  <a:lnTo>
                    <a:pt x="108793" y="36909"/>
                  </a:lnTo>
                  <a:lnTo>
                    <a:pt x="108793" y="218182"/>
                  </a:lnTo>
                  <a:lnTo>
                    <a:pt x="64740" y="218182"/>
                  </a:lnTo>
                  <a:lnTo>
                    <a:pt x="64740" y="36909"/>
                  </a:lnTo>
                  <a:lnTo>
                    <a:pt x="0" y="36909"/>
                  </a:lnTo>
                  <a:lnTo>
                    <a:pt x="0" y="0"/>
                  </a:lnTo>
                  <a:close/>
                </a:path>
              </a:pathLst>
            </a:custGeom>
            <a:solidFill>
              <a:schemeClr val="accent2"/>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en-US" sz="2400" b="1" i="0" spc="-51" baseline="0">
                <a:solidFill>
                  <a:schemeClr val="tx1">
                    <a:lumMod val="50000"/>
                  </a:schemeClr>
                </a:solidFill>
                <a:latin typeface="Arial" panose="020B0604020202020204" pitchFamily="34" charset="0"/>
                <a:cs typeface="Arial"/>
              </a:endParaRPr>
            </a:p>
          </p:txBody>
        </p:sp>
        <p:sp>
          <p:nvSpPr>
            <p:cNvPr id="34" name="TextBox 33">
              <a:extLst>
                <a:ext uri="{FF2B5EF4-FFF2-40B4-BE49-F238E27FC236}">
                  <a16:creationId xmlns:a16="http://schemas.microsoft.com/office/drawing/2014/main" id="{A61E7D71-4677-3545-983E-8A7D397B4458}"/>
                </a:ext>
              </a:extLst>
            </p:cNvPr>
            <p:cNvSpPr txBox="1"/>
            <p:nvPr userDrawn="1"/>
          </p:nvSpPr>
          <p:spPr>
            <a:xfrm>
              <a:off x="5336193" y="2237744"/>
              <a:ext cx="143917" cy="218182"/>
            </a:xfrm>
            <a:custGeom>
              <a:avLst/>
              <a:gdLst/>
              <a:ahLst/>
              <a:cxnLst/>
              <a:rect l="l" t="t" r="r" b="b"/>
              <a:pathLst>
                <a:path w="143917" h="218182">
                  <a:moveTo>
                    <a:pt x="0" y="0"/>
                  </a:moveTo>
                  <a:lnTo>
                    <a:pt x="41821" y="0"/>
                  </a:lnTo>
                  <a:lnTo>
                    <a:pt x="41821" y="80218"/>
                  </a:lnTo>
                  <a:cubicBezTo>
                    <a:pt x="55315" y="64443"/>
                    <a:pt x="71438" y="56555"/>
                    <a:pt x="90190" y="56555"/>
                  </a:cubicBezTo>
                  <a:cubicBezTo>
                    <a:pt x="99814" y="56555"/>
                    <a:pt x="108496" y="58341"/>
                    <a:pt x="116235" y="61913"/>
                  </a:cubicBezTo>
                  <a:cubicBezTo>
                    <a:pt x="123974" y="65484"/>
                    <a:pt x="129803" y="70049"/>
                    <a:pt x="133722" y="75605"/>
                  </a:cubicBezTo>
                  <a:cubicBezTo>
                    <a:pt x="137641" y="81161"/>
                    <a:pt x="140320" y="87313"/>
                    <a:pt x="141759" y="94059"/>
                  </a:cubicBezTo>
                  <a:cubicBezTo>
                    <a:pt x="143197" y="100806"/>
                    <a:pt x="143917" y="111274"/>
                    <a:pt x="143917" y="125462"/>
                  </a:cubicBezTo>
                  <a:lnTo>
                    <a:pt x="143917" y="218182"/>
                  </a:lnTo>
                  <a:lnTo>
                    <a:pt x="102096" y="218182"/>
                  </a:lnTo>
                  <a:lnTo>
                    <a:pt x="102096" y="134690"/>
                  </a:lnTo>
                  <a:cubicBezTo>
                    <a:pt x="102096" y="118120"/>
                    <a:pt x="101302" y="107603"/>
                    <a:pt x="99715" y="103138"/>
                  </a:cubicBezTo>
                  <a:cubicBezTo>
                    <a:pt x="98128" y="98673"/>
                    <a:pt x="95325" y="95126"/>
                    <a:pt x="91306" y="92497"/>
                  </a:cubicBezTo>
                  <a:cubicBezTo>
                    <a:pt x="87288" y="89867"/>
                    <a:pt x="82252" y="88553"/>
                    <a:pt x="76200" y="88553"/>
                  </a:cubicBezTo>
                  <a:cubicBezTo>
                    <a:pt x="69255" y="88553"/>
                    <a:pt x="63054" y="90240"/>
                    <a:pt x="57597" y="93613"/>
                  </a:cubicBezTo>
                  <a:cubicBezTo>
                    <a:pt x="52140" y="96986"/>
                    <a:pt x="48146" y="102071"/>
                    <a:pt x="45616" y="108868"/>
                  </a:cubicBezTo>
                  <a:cubicBezTo>
                    <a:pt x="43086" y="115664"/>
                    <a:pt x="41821" y="125710"/>
                    <a:pt x="41821" y="139006"/>
                  </a:cubicBezTo>
                  <a:lnTo>
                    <a:pt x="41821" y="218182"/>
                  </a:lnTo>
                  <a:lnTo>
                    <a:pt x="0" y="218182"/>
                  </a:lnTo>
                  <a:lnTo>
                    <a:pt x="0" y="0"/>
                  </a:lnTo>
                  <a:close/>
                </a:path>
              </a:pathLst>
            </a:custGeom>
            <a:solidFill>
              <a:schemeClr val="accent2"/>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en-US" sz="2400" b="1" i="0" spc="-51" baseline="0">
                <a:solidFill>
                  <a:schemeClr val="tx1">
                    <a:lumMod val="50000"/>
                  </a:schemeClr>
                </a:solidFill>
                <a:latin typeface="Arial" panose="020B0604020202020204" pitchFamily="34" charset="0"/>
                <a:cs typeface="Arial"/>
              </a:endParaRPr>
            </a:p>
          </p:txBody>
        </p:sp>
        <p:sp>
          <p:nvSpPr>
            <p:cNvPr id="33" name="TextBox 32">
              <a:extLst>
                <a:ext uri="{FF2B5EF4-FFF2-40B4-BE49-F238E27FC236}">
                  <a16:creationId xmlns:a16="http://schemas.microsoft.com/office/drawing/2014/main" id="{569B402F-C17E-CF41-85D9-62C73BC68667}"/>
                </a:ext>
              </a:extLst>
            </p:cNvPr>
            <p:cNvSpPr txBox="1"/>
            <p:nvPr userDrawn="1"/>
          </p:nvSpPr>
          <p:spPr>
            <a:xfrm>
              <a:off x="5879267" y="2237744"/>
              <a:ext cx="41821" cy="218182"/>
            </a:xfrm>
            <a:custGeom>
              <a:avLst/>
              <a:gdLst/>
              <a:ahLst/>
              <a:cxnLst/>
              <a:rect l="l" t="t" r="r" b="b"/>
              <a:pathLst>
                <a:path w="41821" h="218182">
                  <a:moveTo>
                    <a:pt x="0" y="0"/>
                  </a:moveTo>
                  <a:lnTo>
                    <a:pt x="41821" y="0"/>
                  </a:lnTo>
                  <a:lnTo>
                    <a:pt x="41821" y="218182"/>
                  </a:lnTo>
                  <a:lnTo>
                    <a:pt x="0" y="218182"/>
                  </a:lnTo>
                  <a:lnTo>
                    <a:pt x="0" y="0"/>
                  </a:lnTo>
                  <a:close/>
                </a:path>
              </a:pathLst>
            </a:custGeom>
            <a:solidFill>
              <a:schemeClr val="accent2"/>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en-US" sz="2400" b="1" i="0" spc="-51" baseline="0">
                <a:solidFill>
                  <a:schemeClr val="tx1">
                    <a:lumMod val="50000"/>
                  </a:schemeClr>
                </a:solidFill>
                <a:latin typeface="Arial" panose="020B0604020202020204" pitchFamily="34" charset="0"/>
                <a:cs typeface="Arial"/>
              </a:endParaRPr>
            </a:p>
          </p:txBody>
        </p:sp>
        <p:sp>
          <p:nvSpPr>
            <p:cNvPr id="32" name="TextBox 31">
              <a:extLst>
                <a:ext uri="{FF2B5EF4-FFF2-40B4-BE49-F238E27FC236}">
                  <a16:creationId xmlns:a16="http://schemas.microsoft.com/office/drawing/2014/main" id="{355E1ECD-3484-6846-B7EF-B0B83FDF788A}"/>
                </a:ext>
              </a:extLst>
            </p:cNvPr>
            <p:cNvSpPr txBox="1"/>
            <p:nvPr userDrawn="1"/>
          </p:nvSpPr>
          <p:spPr>
            <a:xfrm>
              <a:off x="5000288" y="2294300"/>
              <a:ext cx="147675" cy="165199"/>
            </a:xfrm>
            <a:custGeom>
              <a:avLst/>
              <a:gdLst/>
              <a:ahLst/>
              <a:cxnLst/>
              <a:rect l="l" t="t" r="r" b="b"/>
              <a:pathLst>
                <a:path w="147675" h="165199">
                  <a:moveTo>
                    <a:pt x="72479" y="0"/>
                  </a:moveTo>
                  <a:cubicBezTo>
                    <a:pt x="95994" y="0"/>
                    <a:pt x="114548" y="7764"/>
                    <a:pt x="128141" y="23291"/>
                  </a:cubicBezTo>
                  <a:cubicBezTo>
                    <a:pt x="141734" y="38819"/>
                    <a:pt x="148233" y="62607"/>
                    <a:pt x="147638" y="94654"/>
                  </a:cubicBezTo>
                  <a:lnTo>
                    <a:pt x="42863" y="94654"/>
                  </a:lnTo>
                  <a:cubicBezTo>
                    <a:pt x="43160" y="107057"/>
                    <a:pt x="46534" y="116706"/>
                    <a:pt x="52983" y="123602"/>
                  </a:cubicBezTo>
                  <a:cubicBezTo>
                    <a:pt x="59432" y="130497"/>
                    <a:pt x="67469" y="133945"/>
                    <a:pt x="77093" y="133945"/>
                  </a:cubicBezTo>
                  <a:cubicBezTo>
                    <a:pt x="83641" y="133945"/>
                    <a:pt x="89148" y="132159"/>
                    <a:pt x="93613" y="128587"/>
                  </a:cubicBezTo>
                  <a:cubicBezTo>
                    <a:pt x="98078" y="125015"/>
                    <a:pt x="101451" y="119261"/>
                    <a:pt x="103733" y="111323"/>
                  </a:cubicBezTo>
                  <a:lnTo>
                    <a:pt x="145405" y="118318"/>
                  </a:lnTo>
                  <a:cubicBezTo>
                    <a:pt x="140047" y="133598"/>
                    <a:pt x="131589" y="145231"/>
                    <a:pt x="120030" y="153218"/>
                  </a:cubicBezTo>
                  <a:cubicBezTo>
                    <a:pt x="108471" y="161205"/>
                    <a:pt x="94010" y="165199"/>
                    <a:pt x="76647" y="165199"/>
                  </a:cubicBezTo>
                  <a:cubicBezTo>
                    <a:pt x="49163" y="165199"/>
                    <a:pt x="28823" y="156220"/>
                    <a:pt x="15627" y="138261"/>
                  </a:cubicBezTo>
                  <a:cubicBezTo>
                    <a:pt x="5209" y="123874"/>
                    <a:pt x="0" y="105717"/>
                    <a:pt x="0" y="83790"/>
                  </a:cubicBezTo>
                  <a:cubicBezTo>
                    <a:pt x="0" y="57596"/>
                    <a:pt x="6846" y="37083"/>
                    <a:pt x="20538" y="22250"/>
                  </a:cubicBezTo>
                  <a:cubicBezTo>
                    <a:pt x="34231" y="7416"/>
                    <a:pt x="51544" y="0"/>
                    <a:pt x="72479" y="0"/>
                  </a:cubicBezTo>
                  <a:close/>
                  <a:moveTo>
                    <a:pt x="75009" y="31998"/>
                  </a:moveTo>
                  <a:cubicBezTo>
                    <a:pt x="65881" y="31998"/>
                    <a:pt x="58341" y="35322"/>
                    <a:pt x="52388" y="41969"/>
                  </a:cubicBezTo>
                  <a:cubicBezTo>
                    <a:pt x="46434" y="48617"/>
                    <a:pt x="43507" y="57646"/>
                    <a:pt x="43607" y="69056"/>
                  </a:cubicBezTo>
                  <a:lnTo>
                    <a:pt x="106114" y="69056"/>
                  </a:lnTo>
                  <a:cubicBezTo>
                    <a:pt x="105817" y="56951"/>
                    <a:pt x="102691" y="47749"/>
                    <a:pt x="96738" y="41448"/>
                  </a:cubicBezTo>
                  <a:cubicBezTo>
                    <a:pt x="90785" y="35148"/>
                    <a:pt x="83542" y="31998"/>
                    <a:pt x="75009" y="31998"/>
                  </a:cubicBezTo>
                  <a:close/>
                </a:path>
              </a:pathLst>
            </a:custGeom>
            <a:solidFill>
              <a:schemeClr val="accent2"/>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en-US" sz="2400" b="1" i="0" spc="-51" baseline="0">
                <a:solidFill>
                  <a:schemeClr val="tx1">
                    <a:lumMod val="50000"/>
                  </a:schemeClr>
                </a:solidFill>
                <a:latin typeface="Arial" panose="020B0604020202020204" pitchFamily="34" charset="0"/>
                <a:cs typeface="Arial"/>
              </a:endParaRPr>
            </a:p>
          </p:txBody>
        </p:sp>
        <p:sp>
          <p:nvSpPr>
            <p:cNvPr id="31" name="TextBox 30">
              <a:extLst>
                <a:ext uri="{FF2B5EF4-FFF2-40B4-BE49-F238E27FC236}">
                  <a16:creationId xmlns:a16="http://schemas.microsoft.com/office/drawing/2014/main" id="{2A1FAAAC-2C46-7A45-A7DC-8F71137BBF70}"/>
                </a:ext>
              </a:extLst>
            </p:cNvPr>
            <p:cNvSpPr txBox="1"/>
            <p:nvPr userDrawn="1"/>
          </p:nvSpPr>
          <p:spPr>
            <a:xfrm>
              <a:off x="5165190" y="2294300"/>
              <a:ext cx="149125" cy="165199"/>
            </a:xfrm>
            <a:custGeom>
              <a:avLst/>
              <a:gdLst/>
              <a:ahLst/>
              <a:cxnLst/>
              <a:rect l="l" t="t" r="r" b="b"/>
              <a:pathLst>
                <a:path w="149125" h="165199">
                  <a:moveTo>
                    <a:pt x="76646" y="0"/>
                  </a:moveTo>
                  <a:cubicBezTo>
                    <a:pt x="95894" y="0"/>
                    <a:pt x="111199" y="4142"/>
                    <a:pt x="122560" y="12427"/>
                  </a:cubicBezTo>
                  <a:cubicBezTo>
                    <a:pt x="133920" y="20712"/>
                    <a:pt x="142081" y="33337"/>
                    <a:pt x="147042" y="50304"/>
                  </a:cubicBezTo>
                  <a:lnTo>
                    <a:pt x="105816" y="57745"/>
                  </a:lnTo>
                  <a:cubicBezTo>
                    <a:pt x="104427" y="49510"/>
                    <a:pt x="101277" y="43309"/>
                    <a:pt x="96366" y="39142"/>
                  </a:cubicBezTo>
                  <a:cubicBezTo>
                    <a:pt x="91454" y="34974"/>
                    <a:pt x="85080" y="32891"/>
                    <a:pt x="77241" y="32891"/>
                  </a:cubicBezTo>
                  <a:cubicBezTo>
                    <a:pt x="66823" y="32891"/>
                    <a:pt x="58514" y="36487"/>
                    <a:pt x="52313" y="43681"/>
                  </a:cubicBezTo>
                  <a:cubicBezTo>
                    <a:pt x="46112" y="50874"/>
                    <a:pt x="43011" y="62904"/>
                    <a:pt x="43011" y="79772"/>
                  </a:cubicBezTo>
                  <a:cubicBezTo>
                    <a:pt x="43011" y="98524"/>
                    <a:pt x="46161" y="111770"/>
                    <a:pt x="52462" y="119509"/>
                  </a:cubicBezTo>
                  <a:cubicBezTo>
                    <a:pt x="58762" y="127248"/>
                    <a:pt x="67220" y="131117"/>
                    <a:pt x="77837" y="131117"/>
                  </a:cubicBezTo>
                  <a:cubicBezTo>
                    <a:pt x="85774" y="131117"/>
                    <a:pt x="92273" y="128860"/>
                    <a:pt x="97333" y="124346"/>
                  </a:cubicBezTo>
                  <a:cubicBezTo>
                    <a:pt x="102393" y="119831"/>
                    <a:pt x="105965" y="112067"/>
                    <a:pt x="108049" y="101054"/>
                  </a:cubicBezTo>
                  <a:lnTo>
                    <a:pt x="149125" y="108049"/>
                  </a:lnTo>
                  <a:cubicBezTo>
                    <a:pt x="144859" y="126901"/>
                    <a:pt x="136673" y="141138"/>
                    <a:pt x="124569" y="150763"/>
                  </a:cubicBezTo>
                  <a:cubicBezTo>
                    <a:pt x="112464" y="160387"/>
                    <a:pt x="96242" y="165199"/>
                    <a:pt x="75902" y="165199"/>
                  </a:cubicBezTo>
                  <a:cubicBezTo>
                    <a:pt x="52784" y="165199"/>
                    <a:pt x="34354" y="157906"/>
                    <a:pt x="20612" y="143321"/>
                  </a:cubicBezTo>
                  <a:cubicBezTo>
                    <a:pt x="6871" y="128736"/>
                    <a:pt x="0" y="108545"/>
                    <a:pt x="0" y="82748"/>
                  </a:cubicBezTo>
                  <a:cubicBezTo>
                    <a:pt x="0" y="56654"/>
                    <a:pt x="6895" y="36339"/>
                    <a:pt x="20687" y="21803"/>
                  </a:cubicBezTo>
                  <a:cubicBezTo>
                    <a:pt x="34478" y="7268"/>
                    <a:pt x="53131" y="0"/>
                    <a:pt x="76646" y="0"/>
                  </a:cubicBezTo>
                  <a:close/>
                </a:path>
              </a:pathLst>
            </a:custGeom>
            <a:solidFill>
              <a:schemeClr val="accent2"/>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en-US" sz="2400" b="1" i="0" spc="-51" baseline="0">
                <a:solidFill>
                  <a:schemeClr val="tx1">
                    <a:lumMod val="50000"/>
                  </a:schemeClr>
                </a:solidFill>
                <a:latin typeface="Arial" panose="020B0604020202020204" pitchFamily="34" charset="0"/>
                <a:cs typeface="Arial"/>
              </a:endParaRPr>
            </a:p>
          </p:txBody>
        </p:sp>
        <p:sp>
          <p:nvSpPr>
            <p:cNvPr id="30" name="TextBox 29">
              <a:extLst>
                <a:ext uri="{FF2B5EF4-FFF2-40B4-BE49-F238E27FC236}">
                  <a16:creationId xmlns:a16="http://schemas.microsoft.com/office/drawing/2014/main" id="{87C28EED-2DF9-1C4B-B18F-FA6112A46BBA}"/>
                </a:ext>
              </a:extLst>
            </p:cNvPr>
            <p:cNvSpPr txBox="1"/>
            <p:nvPr userDrawn="1"/>
          </p:nvSpPr>
          <p:spPr>
            <a:xfrm>
              <a:off x="5517019" y="2294300"/>
              <a:ext cx="144066" cy="161627"/>
            </a:xfrm>
            <a:custGeom>
              <a:avLst/>
              <a:gdLst/>
              <a:ahLst/>
              <a:cxnLst/>
              <a:rect l="l" t="t" r="r" b="b"/>
              <a:pathLst>
                <a:path w="144066" h="161627">
                  <a:moveTo>
                    <a:pt x="90934" y="0"/>
                  </a:moveTo>
                  <a:cubicBezTo>
                    <a:pt x="100162" y="0"/>
                    <a:pt x="108595" y="1662"/>
                    <a:pt x="116235" y="4986"/>
                  </a:cubicBezTo>
                  <a:cubicBezTo>
                    <a:pt x="123875" y="8309"/>
                    <a:pt x="129654" y="12551"/>
                    <a:pt x="133574" y="17710"/>
                  </a:cubicBezTo>
                  <a:cubicBezTo>
                    <a:pt x="137493" y="22870"/>
                    <a:pt x="140221" y="28724"/>
                    <a:pt x="141759" y="35272"/>
                  </a:cubicBezTo>
                  <a:cubicBezTo>
                    <a:pt x="143297" y="41821"/>
                    <a:pt x="144066" y="51197"/>
                    <a:pt x="144066" y="63401"/>
                  </a:cubicBezTo>
                  <a:lnTo>
                    <a:pt x="144066" y="161627"/>
                  </a:lnTo>
                  <a:lnTo>
                    <a:pt x="102245" y="161627"/>
                  </a:lnTo>
                  <a:lnTo>
                    <a:pt x="102245" y="80962"/>
                  </a:lnTo>
                  <a:cubicBezTo>
                    <a:pt x="102245" y="63897"/>
                    <a:pt x="101352" y="52859"/>
                    <a:pt x="99566" y="47848"/>
                  </a:cubicBezTo>
                  <a:cubicBezTo>
                    <a:pt x="97780" y="42837"/>
                    <a:pt x="94878" y="38943"/>
                    <a:pt x="90860" y="36165"/>
                  </a:cubicBezTo>
                  <a:cubicBezTo>
                    <a:pt x="86841" y="33387"/>
                    <a:pt x="82005" y="31998"/>
                    <a:pt x="76349" y="31998"/>
                  </a:cubicBezTo>
                  <a:cubicBezTo>
                    <a:pt x="69106" y="31998"/>
                    <a:pt x="62607" y="33982"/>
                    <a:pt x="56853" y="37951"/>
                  </a:cubicBezTo>
                  <a:cubicBezTo>
                    <a:pt x="51098" y="41920"/>
                    <a:pt x="47154" y="47178"/>
                    <a:pt x="45021" y="53727"/>
                  </a:cubicBezTo>
                  <a:cubicBezTo>
                    <a:pt x="42887" y="60275"/>
                    <a:pt x="41821" y="72380"/>
                    <a:pt x="41821" y="90041"/>
                  </a:cubicBezTo>
                  <a:lnTo>
                    <a:pt x="41821" y="161627"/>
                  </a:lnTo>
                  <a:lnTo>
                    <a:pt x="0" y="161627"/>
                  </a:lnTo>
                  <a:lnTo>
                    <a:pt x="0" y="3572"/>
                  </a:lnTo>
                  <a:lnTo>
                    <a:pt x="38844" y="3572"/>
                  </a:lnTo>
                  <a:lnTo>
                    <a:pt x="38844" y="26789"/>
                  </a:lnTo>
                  <a:cubicBezTo>
                    <a:pt x="52636" y="8929"/>
                    <a:pt x="69999" y="0"/>
                    <a:pt x="90934" y="0"/>
                  </a:cubicBezTo>
                  <a:close/>
                </a:path>
              </a:pathLst>
            </a:custGeom>
            <a:solidFill>
              <a:schemeClr val="accent2"/>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en-US" sz="2400" b="1" i="0" spc="-51" baseline="0">
                <a:solidFill>
                  <a:schemeClr val="tx1">
                    <a:lumMod val="50000"/>
                  </a:schemeClr>
                </a:solidFill>
                <a:latin typeface="Arial" panose="020B0604020202020204" pitchFamily="34" charset="0"/>
                <a:cs typeface="Arial"/>
              </a:endParaRPr>
            </a:p>
          </p:txBody>
        </p:sp>
        <p:sp>
          <p:nvSpPr>
            <p:cNvPr id="29" name="TextBox 28">
              <a:extLst>
                <a:ext uri="{FF2B5EF4-FFF2-40B4-BE49-F238E27FC236}">
                  <a16:creationId xmlns:a16="http://schemas.microsoft.com/office/drawing/2014/main" id="{1E2C23FB-3FB0-1F48-9224-183CD40B520C}"/>
                </a:ext>
              </a:extLst>
            </p:cNvPr>
            <p:cNvSpPr txBox="1"/>
            <p:nvPr userDrawn="1"/>
          </p:nvSpPr>
          <p:spPr>
            <a:xfrm>
              <a:off x="5688618" y="2294300"/>
              <a:ext cx="163116" cy="165199"/>
            </a:xfrm>
            <a:custGeom>
              <a:avLst/>
              <a:gdLst/>
              <a:ahLst/>
              <a:cxnLst/>
              <a:rect l="l" t="t" r="r" b="b"/>
              <a:pathLst>
                <a:path w="163116" h="165199">
                  <a:moveTo>
                    <a:pt x="81409" y="0"/>
                  </a:moveTo>
                  <a:cubicBezTo>
                    <a:pt x="105321" y="0"/>
                    <a:pt x="124916" y="7764"/>
                    <a:pt x="140196" y="23291"/>
                  </a:cubicBezTo>
                  <a:cubicBezTo>
                    <a:pt x="155476" y="38819"/>
                    <a:pt x="163116" y="58440"/>
                    <a:pt x="163116" y="82153"/>
                  </a:cubicBezTo>
                  <a:cubicBezTo>
                    <a:pt x="163116" y="106065"/>
                    <a:pt x="155401" y="125884"/>
                    <a:pt x="139973" y="141610"/>
                  </a:cubicBezTo>
                  <a:cubicBezTo>
                    <a:pt x="124544" y="157336"/>
                    <a:pt x="105122" y="165199"/>
                    <a:pt x="81707" y="165199"/>
                  </a:cubicBezTo>
                  <a:cubicBezTo>
                    <a:pt x="67221" y="165199"/>
                    <a:pt x="53405" y="161925"/>
                    <a:pt x="40258" y="155376"/>
                  </a:cubicBezTo>
                  <a:cubicBezTo>
                    <a:pt x="27112" y="148828"/>
                    <a:pt x="17115" y="139228"/>
                    <a:pt x="10269" y="126578"/>
                  </a:cubicBezTo>
                  <a:cubicBezTo>
                    <a:pt x="3423" y="113928"/>
                    <a:pt x="0" y="98524"/>
                    <a:pt x="0" y="80367"/>
                  </a:cubicBezTo>
                  <a:cubicBezTo>
                    <a:pt x="0" y="66476"/>
                    <a:pt x="3423" y="53032"/>
                    <a:pt x="10269" y="40035"/>
                  </a:cubicBezTo>
                  <a:cubicBezTo>
                    <a:pt x="17115" y="27037"/>
                    <a:pt x="26814" y="17115"/>
                    <a:pt x="39365" y="10269"/>
                  </a:cubicBezTo>
                  <a:cubicBezTo>
                    <a:pt x="51916" y="3423"/>
                    <a:pt x="65931" y="0"/>
                    <a:pt x="81409" y="0"/>
                  </a:cubicBezTo>
                  <a:close/>
                  <a:moveTo>
                    <a:pt x="81558" y="34081"/>
                  </a:moveTo>
                  <a:cubicBezTo>
                    <a:pt x="70644" y="34081"/>
                    <a:pt x="61466" y="38249"/>
                    <a:pt x="54025" y="46583"/>
                  </a:cubicBezTo>
                  <a:cubicBezTo>
                    <a:pt x="46583" y="54917"/>
                    <a:pt x="42863" y="66923"/>
                    <a:pt x="42863" y="82599"/>
                  </a:cubicBezTo>
                  <a:cubicBezTo>
                    <a:pt x="42863" y="98276"/>
                    <a:pt x="46583" y="110281"/>
                    <a:pt x="54025" y="118616"/>
                  </a:cubicBezTo>
                  <a:cubicBezTo>
                    <a:pt x="61466" y="126950"/>
                    <a:pt x="70644" y="131117"/>
                    <a:pt x="81558" y="131117"/>
                  </a:cubicBezTo>
                  <a:cubicBezTo>
                    <a:pt x="92472" y="131117"/>
                    <a:pt x="101625" y="126950"/>
                    <a:pt x="109017" y="118616"/>
                  </a:cubicBezTo>
                  <a:cubicBezTo>
                    <a:pt x="116408" y="110281"/>
                    <a:pt x="120104" y="98177"/>
                    <a:pt x="120104" y="82302"/>
                  </a:cubicBezTo>
                  <a:cubicBezTo>
                    <a:pt x="120104" y="66824"/>
                    <a:pt x="116408" y="54917"/>
                    <a:pt x="109017" y="46583"/>
                  </a:cubicBezTo>
                  <a:cubicBezTo>
                    <a:pt x="101625" y="38249"/>
                    <a:pt x="92472" y="34081"/>
                    <a:pt x="81558" y="34081"/>
                  </a:cubicBezTo>
                  <a:close/>
                </a:path>
              </a:pathLst>
            </a:custGeom>
            <a:solidFill>
              <a:schemeClr val="accent2"/>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en-US" sz="2400" b="1" i="0" spc="-51" baseline="0">
                <a:solidFill>
                  <a:schemeClr val="tx1">
                    <a:lumMod val="50000"/>
                  </a:schemeClr>
                </a:solidFill>
                <a:latin typeface="Arial" panose="020B0604020202020204" pitchFamily="34" charset="0"/>
                <a:cs typeface="Arial"/>
              </a:endParaRPr>
            </a:p>
          </p:txBody>
        </p:sp>
        <p:sp>
          <p:nvSpPr>
            <p:cNvPr id="28" name="TextBox 27">
              <a:extLst>
                <a:ext uri="{FF2B5EF4-FFF2-40B4-BE49-F238E27FC236}">
                  <a16:creationId xmlns:a16="http://schemas.microsoft.com/office/drawing/2014/main" id="{122C33C4-2EED-1B47-AE64-18CE95053628}"/>
                </a:ext>
              </a:extLst>
            </p:cNvPr>
            <p:cNvSpPr txBox="1"/>
            <p:nvPr userDrawn="1"/>
          </p:nvSpPr>
          <p:spPr>
            <a:xfrm>
              <a:off x="5945793" y="2294300"/>
              <a:ext cx="163116" cy="165199"/>
            </a:xfrm>
            <a:custGeom>
              <a:avLst/>
              <a:gdLst/>
              <a:ahLst/>
              <a:cxnLst/>
              <a:rect l="l" t="t" r="r" b="b"/>
              <a:pathLst>
                <a:path w="163116" h="165199">
                  <a:moveTo>
                    <a:pt x="81409" y="0"/>
                  </a:moveTo>
                  <a:cubicBezTo>
                    <a:pt x="105321" y="0"/>
                    <a:pt x="124916" y="7764"/>
                    <a:pt x="140196" y="23291"/>
                  </a:cubicBezTo>
                  <a:cubicBezTo>
                    <a:pt x="155476" y="38819"/>
                    <a:pt x="163116" y="58440"/>
                    <a:pt x="163116" y="82153"/>
                  </a:cubicBezTo>
                  <a:cubicBezTo>
                    <a:pt x="163116" y="106065"/>
                    <a:pt x="155401" y="125884"/>
                    <a:pt x="139973" y="141610"/>
                  </a:cubicBezTo>
                  <a:cubicBezTo>
                    <a:pt x="124544" y="157336"/>
                    <a:pt x="105122" y="165199"/>
                    <a:pt x="81707" y="165199"/>
                  </a:cubicBezTo>
                  <a:cubicBezTo>
                    <a:pt x="67221" y="165199"/>
                    <a:pt x="53405" y="161925"/>
                    <a:pt x="40258" y="155376"/>
                  </a:cubicBezTo>
                  <a:cubicBezTo>
                    <a:pt x="27112" y="148828"/>
                    <a:pt x="17115" y="139228"/>
                    <a:pt x="10269" y="126578"/>
                  </a:cubicBezTo>
                  <a:cubicBezTo>
                    <a:pt x="3423" y="113928"/>
                    <a:pt x="0" y="98524"/>
                    <a:pt x="0" y="80367"/>
                  </a:cubicBezTo>
                  <a:cubicBezTo>
                    <a:pt x="0" y="66476"/>
                    <a:pt x="3423" y="53032"/>
                    <a:pt x="10269" y="40035"/>
                  </a:cubicBezTo>
                  <a:cubicBezTo>
                    <a:pt x="17115" y="27037"/>
                    <a:pt x="26814" y="17115"/>
                    <a:pt x="39365" y="10269"/>
                  </a:cubicBezTo>
                  <a:cubicBezTo>
                    <a:pt x="51916" y="3423"/>
                    <a:pt x="65931" y="0"/>
                    <a:pt x="81409" y="0"/>
                  </a:cubicBezTo>
                  <a:close/>
                  <a:moveTo>
                    <a:pt x="81558" y="34081"/>
                  </a:moveTo>
                  <a:cubicBezTo>
                    <a:pt x="70644" y="34081"/>
                    <a:pt x="61466" y="38249"/>
                    <a:pt x="54025" y="46583"/>
                  </a:cubicBezTo>
                  <a:cubicBezTo>
                    <a:pt x="46583" y="54917"/>
                    <a:pt x="42863" y="66923"/>
                    <a:pt x="42863" y="82599"/>
                  </a:cubicBezTo>
                  <a:cubicBezTo>
                    <a:pt x="42863" y="98276"/>
                    <a:pt x="46583" y="110281"/>
                    <a:pt x="54025" y="118616"/>
                  </a:cubicBezTo>
                  <a:cubicBezTo>
                    <a:pt x="61466" y="126950"/>
                    <a:pt x="70644" y="131117"/>
                    <a:pt x="81558" y="131117"/>
                  </a:cubicBezTo>
                  <a:cubicBezTo>
                    <a:pt x="92472" y="131117"/>
                    <a:pt x="101625" y="126950"/>
                    <a:pt x="109017" y="118616"/>
                  </a:cubicBezTo>
                  <a:cubicBezTo>
                    <a:pt x="116408" y="110281"/>
                    <a:pt x="120104" y="98177"/>
                    <a:pt x="120104" y="82302"/>
                  </a:cubicBezTo>
                  <a:cubicBezTo>
                    <a:pt x="120104" y="66824"/>
                    <a:pt x="116408" y="54917"/>
                    <a:pt x="109017" y="46583"/>
                  </a:cubicBezTo>
                  <a:cubicBezTo>
                    <a:pt x="101625" y="38249"/>
                    <a:pt x="92472" y="34081"/>
                    <a:pt x="81558" y="34081"/>
                  </a:cubicBezTo>
                  <a:close/>
                </a:path>
              </a:pathLst>
            </a:custGeom>
            <a:solidFill>
              <a:schemeClr val="accent2"/>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en-US" sz="2400" b="1" i="0" spc="-51" baseline="0">
                <a:solidFill>
                  <a:schemeClr val="tx1">
                    <a:lumMod val="50000"/>
                  </a:schemeClr>
                </a:solidFill>
                <a:latin typeface="Arial" panose="020B0604020202020204" pitchFamily="34" charset="0"/>
                <a:cs typeface="Arial"/>
              </a:endParaRPr>
            </a:p>
          </p:txBody>
        </p:sp>
        <p:sp>
          <p:nvSpPr>
            <p:cNvPr id="27" name="TextBox 26">
              <a:extLst>
                <a:ext uri="{FF2B5EF4-FFF2-40B4-BE49-F238E27FC236}">
                  <a16:creationId xmlns:a16="http://schemas.microsoft.com/office/drawing/2014/main" id="{D82FEC70-A84A-A843-95D5-2DEE5D0F34FB}"/>
                </a:ext>
              </a:extLst>
            </p:cNvPr>
            <p:cNvSpPr txBox="1"/>
            <p:nvPr userDrawn="1"/>
          </p:nvSpPr>
          <p:spPr>
            <a:xfrm>
              <a:off x="6127066" y="2294299"/>
              <a:ext cx="154186" cy="225772"/>
            </a:xfrm>
            <a:custGeom>
              <a:avLst/>
              <a:gdLst/>
              <a:ahLst/>
              <a:cxnLst/>
              <a:rect l="l" t="t" r="r" b="b"/>
              <a:pathLst>
                <a:path w="154186" h="225772">
                  <a:moveTo>
                    <a:pt x="66675" y="0"/>
                  </a:moveTo>
                  <a:cubicBezTo>
                    <a:pt x="86221" y="0"/>
                    <a:pt x="102344" y="8582"/>
                    <a:pt x="115044" y="25747"/>
                  </a:cubicBezTo>
                  <a:lnTo>
                    <a:pt x="115044" y="3572"/>
                  </a:lnTo>
                  <a:lnTo>
                    <a:pt x="154186" y="3572"/>
                  </a:lnTo>
                  <a:lnTo>
                    <a:pt x="154186" y="145405"/>
                  </a:lnTo>
                  <a:cubicBezTo>
                    <a:pt x="154186" y="164058"/>
                    <a:pt x="152648" y="177998"/>
                    <a:pt x="149572" y="187226"/>
                  </a:cubicBezTo>
                  <a:cubicBezTo>
                    <a:pt x="146496" y="196453"/>
                    <a:pt x="142180" y="203696"/>
                    <a:pt x="136624" y="208954"/>
                  </a:cubicBezTo>
                  <a:cubicBezTo>
                    <a:pt x="131068" y="214213"/>
                    <a:pt x="123651" y="218331"/>
                    <a:pt x="114374" y="221307"/>
                  </a:cubicBezTo>
                  <a:cubicBezTo>
                    <a:pt x="105097" y="224284"/>
                    <a:pt x="93365" y="225772"/>
                    <a:pt x="79176" y="225772"/>
                  </a:cubicBezTo>
                  <a:cubicBezTo>
                    <a:pt x="52387" y="225772"/>
                    <a:pt x="33387" y="221183"/>
                    <a:pt x="22175" y="212005"/>
                  </a:cubicBezTo>
                  <a:cubicBezTo>
                    <a:pt x="10963" y="202828"/>
                    <a:pt x="5358" y="191194"/>
                    <a:pt x="5358" y="177105"/>
                  </a:cubicBezTo>
                  <a:cubicBezTo>
                    <a:pt x="5358" y="175716"/>
                    <a:pt x="5407" y="174029"/>
                    <a:pt x="5506" y="172045"/>
                  </a:cubicBezTo>
                  <a:lnTo>
                    <a:pt x="53280" y="177849"/>
                  </a:lnTo>
                  <a:cubicBezTo>
                    <a:pt x="54074" y="183406"/>
                    <a:pt x="55909" y="187226"/>
                    <a:pt x="58787" y="189309"/>
                  </a:cubicBezTo>
                  <a:cubicBezTo>
                    <a:pt x="62756" y="192286"/>
                    <a:pt x="69006" y="193774"/>
                    <a:pt x="77539" y="193774"/>
                  </a:cubicBezTo>
                  <a:cubicBezTo>
                    <a:pt x="88453" y="193774"/>
                    <a:pt x="96639" y="192137"/>
                    <a:pt x="102096" y="188863"/>
                  </a:cubicBezTo>
                  <a:cubicBezTo>
                    <a:pt x="105767" y="186680"/>
                    <a:pt x="108545" y="183158"/>
                    <a:pt x="110430" y="178296"/>
                  </a:cubicBezTo>
                  <a:cubicBezTo>
                    <a:pt x="111720" y="174823"/>
                    <a:pt x="112365" y="168424"/>
                    <a:pt x="112365" y="159097"/>
                  </a:cubicBezTo>
                  <a:lnTo>
                    <a:pt x="112365" y="136029"/>
                  </a:lnTo>
                  <a:cubicBezTo>
                    <a:pt x="99863" y="153094"/>
                    <a:pt x="84088" y="161627"/>
                    <a:pt x="65038" y="161627"/>
                  </a:cubicBezTo>
                  <a:cubicBezTo>
                    <a:pt x="43805" y="161627"/>
                    <a:pt x="26987" y="152648"/>
                    <a:pt x="14585" y="134689"/>
                  </a:cubicBezTo>
                  <a:cubicBezTo>
                    <a:pt x="4861" y="120501"/>
                    <a:pt x="0" y="102840"/>
                    <a:pt x="0" y="81706"/>
                  </a:cubicBezTo>
                  <a:cubicBezTo>
                    <a:pt x="0" y="55215"/>
                    <a:pt x="6375" y="34974"/>
                    <a:pt x="19124" y="20985"/>
                  </a:cubicBezTo>
                  <a:cubicBezTo>
                    <a:pt x="31874" y="6995"/>
                    <a:pt x="47724" y="0"/>
                    <a:pt x="66675" y="0"/>
                  </a:cubicBezTo>
                  <a:close/>
                  <a:moveTo>
                    <a:pt x="77390" y="31998"/>
                  </a:moveTo>
                  <a:cubicBezTo>
                    <a:pt x="67369" y="31998"/>
                    <a:pt x="59109" y="35892"/>
                    <a:pt x="52610" y="43681"/>
                  </a:cubicBezTo>
                  <a:cubicBezTo>
                    <a:pt x="46112" y="51470"/>
                    <a:pt x="42862" y="63351"/>
                    <a:pt x="42862" y="79325"/>
                  </a:cubicBezTo>
                  <a:cubicBezTo>
                    <a:pt x="42862" y="96093"/>
                    <a:pt x="46112" y="108371"/>
                    <a:pt x="52610" y="116160"/>
                  </a:cubicBezTo>
                  <a:cubicBezTo>
                    <a:pt x="59109" y="123949"/>
                    <a:pt x="67121" y="127843"/>
                    <a:pt x="76646" y="127843"/>
                  </a:cubicBezTo>
                  <a:cubicBezTo>
                    <a:pt x="86866" y="127843"/>
                    <a:pt x="95498" y="123850"/>
                    <a:pt x="102542" y="115862"/>
                  </a:cubicBezTo>
                  <a:cubicBezTo>
                    <a:pt x="109587" y="107875"/>
                    <a:pt x="113109" y="96044"/>
                    <a:pt x="113109" y="80367"/>
                  </a:cubicBezTo>
                  <a:cubicBezTo>
                    <a:pt x="113109" y="63996"/>
                    <a:pt x="109736" y="51842"/>
                    <a:pt x="102989" y="43904"/>
                  </a:cubicBezTo>
                  <a:cubicBezTo>
                    <a:pt x="96242" y="35967"/>
                    <a:pt x="87709" y="31998"/>
                    <a:pt x="77390" y="31998"/>
                  </a:cubicBezTo>
                  <a:close/>
                </a:path>
              </a:pathLst>
            </a:custGeom>
            <a:solidFill>
              <a:schemeClr val="accent2"/>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en-US" sz="2400" b="1" i="0" spc="-51" baseline="0">
                <a:solidFill>
                  <a:schemeClr val="tx1">
                    <a:lumMod val="50000"/>
                  </a:schemeClr>
                </a:solidFill>
                <a:latin typeface="Arial" panose="020B0604020202020204" pitchFamily="34" charset="0"/>
                <a:cs typeface="Arial"/>
              </a:endParaRPr>
            </a:p>
          </p:txBody>
        </p:sp>
        <p:sp>
          <p:nvSpPr>
            <p:cNvPr id="26" name="TextBox 25">
              <a:extLst>
                <a:ext uri="{FF2B5EF4-FFF2-40B4-BE49-F238E27FC236}">
                  <a16:creationId xmlns:a16="http://schemas.microsoft.com/office/drawing/2014/main" id="{72275691-F2D1-9240-A849-36C54E8F5AE4}"/>
                </a:ext>
              </a:extLst>
            </p:cNvPr>
            <p:cNvSpPr txBox="1"/>
            <p:nvPr userDrawn="1"/>
          </p:nvSpPr>
          <p:spPr>
            <a:xfrm>
              <a:off x="6297623" y="2297871"/>
              <a:ext cx="162520" cy="222200"/>
            </a:xfrm>
            <a:custGeom>
              <a:avLst/>
              <a:gdLst/>
              <a:ahLst/>
              <a:cxnLst/>
              <a:rect l="l" t="t" r="r" b="b"/>
              <a:pathLst>
                <a:path w="162520" h="222200">
                  <a:moveTo>
                    <a:pt x="0" y="0"/>
                  </a:moveTo>
                  <a:lnTo>
                    <a:pt x="44499" y="0"/>
                  </a:lnTo>
                  <a:lnTo>
                    <a:pt x="82302" y="112216"/>
                  </a:lnTo>
                  <a:lnTo>
                    <a:pt x="119211" y="0"/>
                  </a:lnTo>
                  <a:lnTo>
                    <a:pt x="162520" y="0"/>
                  </a:lnTo>
                  <a:lnTo>
                    <a:pt x="106709" y="152102"/>
                  </a:lnTo>
                  <a:lnTo>
                    <a:pt x="96738" y="179635"/>
                  </a:lnTo>
                  <a:cubicBezTo>
                    <a:pt x="93067" y="188863"/>
                    <a:pt x="89569" y="195907"/>
                    <a:pt x="86246" y="200769"/>
                  </a:cubicBezTo>
                  <a:cubicBezTo>
                    <a:pt x="82922" y="205631"/>
                    <a:pt x="79102" y="209574"/>
                    <a:pt x="74786" y="212601"/>
                  </a:cubicBezTo>
                  <a:cubicBezTo>
                    <a:pt x="70470" y="215627"/>
                    <a:pt x="65162" y="217983"/>
                    <a:pt x="58861" y="219670"/>
                  </a:cubicBezTo>
                  <a:cubicBezTo>
                    <a:pt x="52561" y="221357"/>
                    <a:pt x="45442" y="222200"/>
                    <a:pt x="37504" y="222200"/>
                  </a:cubicBezTo>
                  <a:cubicBezTo>
                    <a:pt x="29468" y="222200"/>
                    <a:pt x="21580" y="221357"/>
                    <a:pt x="13841" y="219670"/>
                  </a:cubicBezTo>
                  <a:lnTo>
                    <a:pt x="10120" y="186928"/>
                  </a:lnTo>
                  <a:cubicBezTo>
                    <a:pt x="16668" y="188218"/>
                    <a:pt x="22572" y="188863"/>
                    <a:pt x="27831" y="188863"/>
                  </a:cubicBezTo>
                  <a:cubicBezTo>
                    <a:pt x="37554" y="188863"/>
                    <a:pt x="44747" y="186010"/>
                    <a:pt x="49411" y="180305"/>
                  </a:cubicBezTo>
                  <a:cubicBezTo>
                    <a:pt x="54074" y="174600"/>
                    <a:pt x="57646" y="167332"/>
                    <a:pt x="60126" y="158502"/>
                  </a:cubicBezTo>
                  <a:lnTo>
                    <a:pt x="0" y="0"/>
                  </a:lnTo>
                  <a:close/>
                </a:path>
              </a:pathLst>
            </a:custGeom>
            <a:solidFill>
              <a:schemeClr val="accent2"/>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en-US" sz="2400" b="1" i="0" spc="-51" baseline="0">
                <a:solidFill>
                  <a:schemeClr val="tx1">
                    <a:lumMod val="50000"/>
                  </a:schemeClr>
                </a:solidFill>
                <a:latin typeface="Arial" panose="020B0604020202020204" pitchFamily="34" charset="0"/>
                <a:cs typeface="Arial"/>
              </a:endParaRPr>
            </a:p>
          </p:txBody>
        </p:sp>
      </p:grpSp>
    </p:spTree>
    <p:extLst>
      <p:ext uri="{BB962C8B-B14F-4D97-AF65-F5344CB8AC3E}">
        <p14:creationId xmlns:p14="http://schemas.microsoft.com/office/powerpoint/2010/main" val="3813963613"/>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4" name="Slide Number Placeholder 4"/>
          <p:cNvSpPr>
            <a:spLocks noGrp="1"/>
          </p:cNvSpPr>
          <p:nvPr>
            <p:ph type="sldNum" sz="quarter" idx="12"/>
          </p:nvPr>
        </p:nvSpPr>
        <p:spPr>
          <a:xfrm>
            <a:off x="7620000" y="4896210"/>
            <a:ext cx="1066800" cy="125885"/>
          </a:xfrm>
        </p:spPr>
        <p:txBody>
          <a:bodyPr/>
          <a:lstStyle/>
          <a:p>
            <a:fld id="{90F9BDA0-AF0E-4BA8-B742-3B9C92A3E6FE}" type="slidenum">
              <a:rPr lang="en-US" smtClean="0"/>
              <a:t>‹#›</a:t>
            </a:fld>
            <a:endParaRPr lang="en-US"/>
          </a:p>
        </p:txBody>
      </p:sp>
    </p:spTree>
    <p:extLst>
      <p:ext uri="{BB962C8B-B14F-4D97-AF65-F5344CB8AC3E}">
        <p14:creationId xmlns:p14="http://schemas.microsoft.com/office/powerpoint/2010/main" val="2820056609"/>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Title Slide 1">
    <p:spTree>
      <p:nvGrpSpPr>
        <p:cNvPr id="1" name=""/>
        <p:cNvGrpSpPr/>
        <p:nvPr/>
      </p:nvGrpSpPr>
      <p:grpSpPr>
        <a:xfrm>
          <a:off x="0" y="0"/>
          <a:ext cx="0" cy="0"/>
          <a:chOff x="0" y="0"/>
          <a:chExt cx="0" cy="0"/>
        </a:xfrm>
      </p:grpSpPr>
      <p:sp>
        <p:nvSpPr>
          <p:cNvPr id="2" name="Title 1"/>
          <p:cNvSpPr>
            <a:spLocks noGrp="1"/>
          </p:cNvSpPr>
          <p:nvPr>
            <p:ph type="ctrTitle"/>
          </p:nvPr>
        </p:nvSpPr>
        <p:spPr>
          <a:xfrm>
            <a:off x="628650" y="1464470"/>
            <a:ext cx="7772400" cy="1102519"/>
          </a:xfrm>
        </p:spPr>
        <p:txBody>
          <a:bodyPr anchor="b">
            <a:noAutofit/>
          </a:bodyPr>
          <a:lstStyle>
            <a:lvl1pPr>
              <a:defRPr sz="3600"/>
            </a:lvl1pPr>
          </a:lstStyle>
          <a:p>
            <a:r>
              <a:rPr lang="en-US"/>
              <a:t>Click to edit Master title style</a:t>
            </a:r>
          </a:p>
        </p:txBody>
      </p:sp>
      <p:sp>
        <p:nvSpPr>
          <p:cNvPr id="3" name="Subtitle 2"/>
          <p:cNvSpPr>
            <a:spLocks noGrp="1"/>
          </p:cNvSpPr>
          <p:nvPr>
            <p:ph type="subTitle" idx="1"/>
          </p:nvPr>
        </p:nvSpPr>
        <p:spPr>
          <a:xfrm>
            <a:off x="627063" y="2574131"/>
            <a:ext cx="7772400" cy="1314450"/>
          </a:xfrm>
        </p:spPr>
        <p:txBody>
          <a:bodyPr>
            <a:noAutofit/>
          </a:bodyPr>
          <a:lstStyle>
            <a:lvl1pPr marL="0" indent="0" algn="l">
              <a:buNone/>
              <a:defRPr sz="2000" b="1">
                <a:solidFill>
                  <a:schemeClr val="accent3"/>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7" name="Rectangle 6"/>
          <p:cNvSpPr/>
          <p:nvPr userDrawn="1"/>
        </p:nvSpPr>
        <p:spPr bwMode="auto">
          <a:xfrm rot="10800000" flipH="1">
            <a:off x="1" y="0"/>
            <a:ext cx="228600" cy="5143500"/>
          </a:xfrm>
          <a:prstGeom prst="rect">
            <a:avLst/>
          </a:prstGeom>
          <a:solidFill>
            <a:srgbClr val="00A8F7"/>
          </a:solidFill>
          <a:ln>
            <a:noFill/>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rgbClr val="00A8F7"/>
              </a:solidFill>
              <a:effectLst/>
              <a:latin typeface="Arial" charset="0"/>
              <a:ea typeface="ＭＳ Ｐゴシック" pitchFamily="34" charset="-128"/>
            </a:endParaRPr>
          </a:p>
        </p:txBody>
      </p:sp>
      <p:pic>
        <p:nvPicPr>
          <p:cNvPr id="8" name="Picture 7" descr="2015_UHC_E&amp;I_Logo_RGB.eps"/>
          <p:cNvPicPr>
            <a:picLocks noChangeAspect="1"/>
          </p:cNvPicPr>
          <p:nvPr userDrawn="1"/>
        </p:nvPicPr>
        <p:blipFill>
          <a:blip r:embed="rId2" cstate="print">
            <a:alphaModFix/>
            <a:extLst>
              <a:ext uri="{28A0092B-C50C-407E-A947-70E740481C1C}">
                <a14:useLocalDpi xmlns:a14="http://schemas.microsoft.com/office/drawing/2010/main" val="0"/>
              </a:ext>
            </a:extLst>
          </a:blip>
          <a:stretch>
            <a:fillRect/>
          </a:stretch>
        </p:blipFill>
        <p:spPr>
          <a:xfrm>
            <a:off x="7255957" y="4506007"/>
            <a:ext cx="1604994" cy="393191"/>
          </a:xfrm>
          <a:prstGeom prst="rect">
            <a:avLst/>
          </a:prstGeom>
        </p:spPr>
      </p:pic>
    </p:spTree>
    <p:extLst>
      <p:ext uri="{BB962C8B-B14F-4D97-AF65-F5344CB8AC3E}">
        <p14:creationId xmlns:p14="http://schemas.microsoft.com/office/powerpoint/2010/main" val="1915745447"/>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reserve="1">
  <p:cSld name="Title Slide 2">
    <p:spTree>
      <p:nvGrpSpPr>
        <p:cNvPr id="1" name=""/>
        <p:cNvGrpSpPr/>
        <p:nvPr/>
      </p:nvGrpSpPr>
      <p:grpSpPr>
        <a:xfrm>
          <a:off x="0" y="0"/>
          <a:ext cx="0" cy="0"/>
          <a:chOff x="0" y="0"/>
          <a:chExt cx="0" cy="0"/>
        </a:xfrm>
      </p:grpSpPr>
      <p:sp>
        <p:nvSpPr>
          <p:cNvPr id="6" name="Rectangle 5"/>
          <p:cNvSpPr/>
          <p:nvPr userDrawn="1"/>
        </p:nvSpPr>
        <p:spPr bwMode="auto">
          <a:xfrm>
            <a:off x="0" y="0"/>
            <a:ext cx="9144000" cy="4286250"/>
          </a:xfrm>
          <a:prstGeom prst="rect">
            <a:avLst/>
          </a:prstGeom>
          <a:solidFill>
            <a:srgbClr val="003DA1"/>
          </a:solidFill>
          <a:ln>
            <a:noFill/>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rgbClr val="646D72"/>
              </a:solidFill>
              <a:effectLst/>
              <a:latin typeface="Arial" charset="0"/>
              <a:ea typeface="ＭＳ Ｐゴシック" pitchFamily="34" charset="-128"/>
            </a:endParaRPr>
          </a:p>
        </p:txBody>
      </p:sp>
      <p:sp>
        <p:nvSpPr>
          <p:cNvPr id="2" name="Title 1"/>
          <p:cNvSpPr>
            <a:spLocks noGrp="1"/>
          </p:cNvSpPr>
          <p:nvPr>
            <p:ph type="ctrTitle"/>
          </p:nvPr>
        </p:nvSpPr>
        <p:spPr>
          <a:xfrm>
            <a:off x="628650" y="1464470"/>
            <a:ext cx="7772400" cy="1102519"/>
          </a:xfrm>
        </p:spPr>
        <p:txBody>
          <a:bodyPr vert="horz" lIns="91440" tIns="45720" rIns="91440" bIns="45720" rtlCol="0" anchor="b">
            <a:noAutofit/>
          </a:bodyPr>
          <a:lstStyle>
            <a:lvl1pPr>
              <a:defRPr lang="en-US" sz="3600" dirty="0">
                <a:solidFill>
                  <a:schemeClr val="bg1"/>
                </a:solidFill>
              </a:defRPr>
            </a:lvl1pPr>
          </a:lstStyle>
          <a:p>
            <a:pPr lvl="0"/>
            <a:r>
              <a:rPr lang="en-US"/>
              <a:t>Click to edit Master title style</a:t>
            </a:r>
          </a:p>
        </p:txBody>
      </p:sp>
      <p:sp>
        <p:nvSpPr>
          <p:cNvPr id="3" name="Subtitle 2"/>
          <p:cNvSpPr>
            <a:spLocks noGrp="1"/>
          </p:cNvSpPr>
          <p:nvPr>
            <p:ph type="subTitle" idx="1"/>
          </p:nvPr>
        </p:nvSpPr>
        <p:spPr>
          <a:xfrm>
            <a:off x="627063" y="2574131"/>
            <a:ext cx="7772400" cy="1314450"/>
          </a:xfrm>
        </p:spPr>
        <p:txBody>
          <a:bodyPr>
            <a:noAutofit/>
          </a:bodyPr>
          <a:lstStyle>
            <a:lvl1pPr marL="0" indent="0" algn="l">
              <a:buNone/>
              <a:defRPr sz="2000" b="1">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7" name="Rectangle 6"/>
          <p:cNvSpPr/>
          <p:nvPr userDrawn="1"/>
        </p:nvSpPr>
        <p:spPr bwMode="auto">
          <a:xfrm rot="10800000" flipH="1">
            <a:off x="1" y="0"/>
            <a:ext cx="228600" cy="5143500"/>
          </a:xfrm>
          <a:prstGeom prst="rect">
            <a:avLst/>
          </a:prstGeom>
          <a:solidFill>
            <a:srgbClr val="00A8F7"/>
          </a:solidFill>
          <a:ln>
            <a:noFill/>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rgbClr val="00A8F7"/>
              </a:solidFill>
              <a:effectLst/>
              <a:latin typeface="Arial" charset="0"/>
              <a:ea typeface="ＭＳ Ｐゴシック" pitchFamily="34" charset="-128"/>
            </a:endParaRPr>
          </a:p>
        </p:txBody>
      </p:sp>
      <p:pic>
        <p:nvPicPr>
          <p:cNvPr id="9" name="Picture 8" descr="2015_UHC_E&amp;I_Logo_RGB.eps"/>
          <p:cNvPicPr>
            <a:picLocks noChangeAspect="1"/>
          </p:cNvPicPr>
          <p:nvPr userDrawn="1"/>
        </p:nvPicPr>
        <p:blipFill>
          <a:blip r:embed="rId2" cstate="print">
            <a:alphaModFix/>
            <a:extLst>
              <a:ext uri="{28A0092B-C50C-407E-A947-70E740481C1C}">
                <a14:useLocalDpi xmlns:a14="http://schemas.microsoft.com/office/drawing/2010/main" val="0"/>
              </a:ext>
            </a:extLst>
          </a:blip>
          <a:stretch>
            <a:fillRect/>
          </a:stretch>
        </p:blipFill>
        <p:spPr>
          <a:xfrm>
            <a:off x="7255957" y="4506007"/>
            <a:ext cx="1604994" cy="393191"/>
          </a:xfrm>
          <a:prstGeom prst="rect">
            <a:avLst/>
          </a:prstGeom>
        </p:spPr>
      </p:pic>
    </p:spTree>
    <p:extLst>
      <p:ext uri="{BB962C8B-B14F-4D97-AF65-F5344CB8AC3E}">
        <p14:creationId xmlns:p14="http://schemas.microsoft.com/office/powerpoint/2010/main" val="2595684265"/>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itle Slide 3">
    <p:bg>
      <p:bgRef idx="1001">
        <a:schemeClr val="bg1"/>
      </p:bgRef>
    </p:bg>
    <p:spTree>
      <p:nvGrpSpPr>
        <p:cNvPr id="1" name=""/>
        <p:cNvGrpSpPr/>
        <p:nvPr/>
      </p:nvGrpSpPr>
      <p:grpSpPr>
        <a:xfrm>
          <a:off x="0" y="0"/>
          <a:ext cx="0" cy="0"/>
          <a:chOff x="0" y="0"/>
          <a:chExt cx="0" cy="0"/>
        </a:xfrm>
      </p:grpSpPr>
      <p:sp>
        <p:nvSpPr>
          <p:cNvPr id="7" name="Rectangle 6"/>
          <p:cNvSpPr/>
          <p:nvPr userDrawn="1"/>
        </p:nvSpPr>
        <p:spPr bwMode="auto">
          <a:xfrm rot="10800000" flipH="1">
            <a:off x="1" y="0"/>
            <a:ext cx="228600" cy="5143500"/>
          </a:xfrm>
          <a:prstGeom prst="rect">
            <a:avLst/>
          </a:prstGeom>
          <a:solidFill>
            <a:srgbClr val="00A8F7"/>
          </a:solidFill>
          <a:ln>
            <a:noFill/>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rgbClr val="00A8F7"/>
              </a:solidFill>
              <a:effectLst/>
              <a:latin typeface="Arial" charset="0"/>
              <a:ea typeface="ＭＳ Ｐゴシック" pitchFamily="34" charset="-128"/>
            </a:endParaRPr>
          </a:p>
        </p:txBody>
      </p:sp>
      <p:sp>
        <p:nvSpPr>
          <p:cNvPr id="2" name="Title 1"/>
          <p:cNvSpPr>
            <a:spLocks noGrp="1"/>
          </p:cNvSpPr>
          <p:nvPr>
            <p:ph type="ctrTitle"/>
          </p:nvPr>
        </p:nvSpPr>
        <p:spPr>
          <a:xfrm>
            <a:off x="628650" y="2971801"/>
            <a:ext cx="7772400" cy="566738"/>
          </a:xfrm>
        </p:spPr>
        <p:txBody>
          <a:bodyPr anchor="b">
            <a:noAutofit/>
          </a:bodyPr>
          <a:lstStyle>
            <a:lvl1pPr>
              <a:defRPr sz="3600"/>
            </a:lvl1pPr>
          </a:lstStyle>
          <a:p>
            <a:r>
              <a:rPr lang="en-US"/>
              <a:t>Click to edit Master title style</a:t>
            </a:r>
          </a:p>
        </p:txBody>
      </p:sp>
      <p:sp>
        <p:nvSpPr>
          <p:cNvPr id="3" name="Subtitle 2"/>
          <p:cNvSpPr>
            <a:spLocks noGrp="1"/>
          </p:cNvSpPr>
          <p:nvPr>
            <p:ph type="subTitle" idx="1"/>
          </p:nvPr>
        </p:nvSpPr>
        <p:spPr>
          <a:xfrm>
            <a:off x="627063" y="3486151"/>
            <a:ext cx="7772400" cy="675679"/>
          </a:xfrm>
        </p:spPr>
        <p:txBody>
          <a:bodyPr>
            <a:noAutofit/>
          </a:bodyPr>
          <a:lstStyle>
            <a:lvl1pPr marL="0" indent="0" algn="l">
              <a:buNone/>
              <a:defRPr sz="2000" b="1">
                <a:solidFill>
                  <a:schemeClr val="accent3"/>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pic>
        <p:nvPicPr>
          <p:cNvPr id="6" name="Picture 5" descr="2015_UHC_E&amp;I_Logo_RGB.eps"/>
          <p:cNvPicPr>
            <a:picLocks noChangeAspect="1"/>
          </p:cNvPicPr>
          <p:nvPr userDrawn="1"/>
        </p:nvPicPr>
        <p:blipFill>
          <a:blip r:embed="rId2" cstate="print">
            <a:alphaModFix/>
            <a:extLst>
              <a:ext uri="{28A0092B-C50C-407E-A947-70E740481C1C}">
                <a14:useLocalDpi xmlns:a14="http://schemas.microsoft.com/office/drawing/2010/main" val="0"/>
              </a:ext>
            </a:extLst>
          </a:blip>
          <a:stretch>
            <a:fillRect/>
          </a:stretch>
        </p:blipFill>
        <p:spPr>
          <a:xfrm>
            <a:off x="7255957" y="4506007"/>
            <a:ext cx="1604994" cy="393191"/>
          </a:xfrm>
          <a:prstGeom prst="rect">
            <a:avLst/>
          </a:prstGeom>
        </p:spPr>
      </p:pic>
    </p:spTree>
    <p:extLst>
      <p:ext uri="{BB962C8B-B14F-4D97-AF65-F5344CB8AC3E}">
        <p14:creationId xmlns:p14="http://schemas.microsoft.com/office/powerpoint/2010/main" val="323767951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rtlCol="0" anchor="ctr">
            <a:normAutofit/>
          </a:bodyPr>
          <a:lstStyle>
            <a:lvl1pPr>
              <a:defRPr lang="en-US"/>
            </a:lvl1pPr>
          </a:lstStyle>
          <a:p>
            <a:pPr lvl="0"/>
            <a:r>
              <a:rPr lang="en-US"/>
              <a:t>Click to edit Master title style</a:t>
            </a:r>
          </a:p>
        </p:txBody>
      </p:sp>
      <p:sp>
        <p:nvSpPr>
          <p:cNvPr id="3" name="Content Placeholder 2"/>
          <p:cNvSpPr>
            <a:spLocks noGrp="1"/>
          </p:cNvSpPr>
          <p:nvPr>
            <p:ph idx="1"/>
          </p:nvPr>
        </p:nvSpPr>
        <p:spPr>
          <a:xfrm>
            <a:off x="641349" y="1028700"/>
            <a:ext cx="8212911" cy="3600450"/>
          </a:xfrm>
        </p:spPr>
        <p:txBody>
          <a:bodyPr>
            <a:noAutofit/>
          </a:bodyPr>
          <a:lstStyle>
            <a:lvl2pPr marL="342900" indent="-152400">
              <a:buFont typeface="Arial" panose="020B0604020202020204" pitchFamily="34" charset="0"/>
              <a:buChar char="-"/>
              <a:defRPr/>
            </a:lvl2pPr>
          </a:lstStyle>
          <a:p>
            <a:pPr lvl="0"/>
            <a:r>
              <a:rPr lang="en-US"/>
              <a:t>Click to edit Master text styles</a:t>
            </a:r>
          </a:p>
          <a:p>
            <a:pPr lvl="1"/>
            <a:r>
              <a:rPr lang="en-US"/>
              <a:t>Second level</a:t>
            </a:r>
          </a:p>
        </p:txBody>
      </p:sp>
      <p:sp>
        <p:nvSpPr>
          <p:cNvPr id="6" name="Slide Number Placeholder 5"/>
          <p:cNvSpPr>
            <a:spLocks noGrp="1"/>
          </p:cNvSpPr>
          <p:nvPr>
            <p:ph type="sldNum" sz="quarter" idx="12"/>
          </p:nvPr>
        </p:nvSpPr>
        <p:spPr/>
        <p:txBody>
          <a:bodyPr/>
          <a:lstStyle/>
          <a:p>
            <a:fld id="{90F9BDA0-AF0E-4BA8-B742-3B9C92A3E6FE}" type="slidenum">
              <a:rPr lang="en-US" smtClean="0"/>
              <a:t>‹#›</a:t>
            </a:fld>
            <a:endParaRPr lang="en-US"/>
          </a:p>
        </p:txBody>
      </p:sp>
    </p:spTree>
    <p:extLst>
      <p:ext uri="{BB962C8B-B14F-4D97-AF65-F5344CB8AC3E}">
        <p14:creationId xmlns:p14="http://schemas.microsoft.com/office/powerpoint/2010/main" val="4229070253"/>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Content Photo">
    <p:spTree>
      <p:nvGrpSpPr>
        <p:cNvPr id="1" name=""/>
        <p:cNvGrpSpPr/>
        <p:nvPr/>
      </p:nvGrpSpPr>
      <p:grpSpPr>
        <a:xfrm>
          <a:off x="0" y="0"/>
          <a:ext cx="0" cy="0"/>
          <a:chOff x="0" y="0"/>
          <a:chExt cx="0" cy="0"/>
        </a:xfrm>
      </p:grpSpPr>
      <p:sp>
        <p:nvSpPr>
          <p:cNvPr id="7" name="Picture Placeholder 6"/>
          <p:cNvSpPr>
            <a:spLocks noGrp="1"/>
          </p:cNvSpPr>
          <p:nvPr>
            <p:ph type="pic" sz="quarter" idx="13" hasCustomPrompt="1"/>
          </p:nvPr>
        </p:nvSpPr>
        <p:spPr>
          <a:xfrm>
            <a:off x="6570663" y="747713"/>
            <a:ext cx="2573337" cy="4097337"/>
          </a:xfrm>
        </p:spPr>
        <p:txBody>
          <a:bodyPr anchor="ctr"/>
          <a:lstStyle>
            <a:lvl1pPr marL="0" indent="0" algn="ctr">
              <a:buNone/>
              <a:defRPr baseline="0"/>
            </a:lvl1pPr>
          </a:lstStyle>
          <a:p>
            <a:r>
              <a:rPr lang="en-US"/>
              <a:t>Add photo here</a:t>
            </a:r>
          </a:p>
        </p:txBody>
      </p:sp>
      <p:sp>
        <p:nvSpPr>
          <p:cNvPr id="2" name="Title 1"/>
          <p:cNvSpPr>
            <a:spLocks noGrp="1"/>
          </p:cNvSpPr>
          <p:nvPr>
            <p:ph type="title"/>
          </p:nvPr>
        </p:nvSpPr>
        <p:spPr/>
        <p:txBody>
          <a:bodyPr vert="horz" lIns="91440" tIns="45720" rIns="91440" bIns="45720" rtlCol="0" anchor="ctr">
            <a:normAutofit/>
          </a:bodyPr>
          <a:lstStyle>
            <a:lvl1pPr>
              <a:defRPr lang="en-US"/>
            </a:lvl1pPr>
          </a:lstStyle>
          <a:p>
            <a:pPr lvl="0"/>
            <a:r>
              <a:rPr lang="en-US"/>
              <a:t>Click to edit Master title style</a:t>
            </a:r>
          </a:p>
        </p:txBody>
      </p:sp>
      <p:sp>
        <p:nvSpPr>
          <p:cNvPr id="3" name="Content Placeholder 2"/>
          <p:cNvSpPr>
            <a:spLocks noGrp="1"/>
          </p:cNvSpPr>
          <p:nvPr>
            <p:ph idx="1"/>
          </p:nvPr>
        </p:nvSpPr>
        <p:spPr>
          <a:xfrm>
            <a:off x="641350" y="1028700"/>
            <a:ext cx="5929434" cy="3600450"/>
          </a:xfrm>
        </p:spPr>
        <p:txBody>
          <a:bodyPr>
            <a:noAutofit/>
          </a:bodyPr>
          <a:lstStyle>
            <a:lvl2pPr marL="342900" indent="-152400">
              <a:buFont typeface="Arial" panose="020B0604020202020204" pitchFamily="34" charset="0"/>
              <a:buChar char="-"/>
              <a:defRPr/>
            </a:lvl2pPr>
          </a:lstStyle>
          <a:p>
            <a:pPr lvl="0"/>
            <a:r>
              <a:rPr lang="en-US"/>
              <a:t>Click to edit Master text styles</a:t>
            </a:r>
          </a:p>
          <a:p>
            <a:pPr lvl="1"/>
            <a:r>
              <a:rPr lang="en-US"/>
              <a:t>Second level</a:t>
            </a:r>
          </a:p>
        </p:txBody>
      </p:sp>
      <p:sp>
        <p:nvSpPr>
          <p:cNvPr id="6" name="Slide Number Placeholder 5"/>
          <p:cNvSpPr>
            <a:spLocks noGrp="1"/>
          </p:cNvSpPr>
          <p:nvPr>
            <p:ph type="sldNum" sz="quarter" idx="12"/>
          </p:nvPr>
        </p:nvSpPr>
        <p:spPr/>
        <p:txBody>
          <a:bodyPr/>
          <a:lstStyle/>
          <a:p>
            <a:fld id="{90F9BDA0-AF0E-4BA8-B742-3B9C92A3E6FE}" type="slidenum">
              <a:rPr lang="en-US" smtClean="0"/>
              <a:t>‹#›</a:t>
            </a:fld>
            <a:endParaRPr lang="en-US"/>
          </a:p>
        </p:txBody>
      </p:sp>
    </p:spTree>
    <p:extLst>
      <p:ext uri="{BB962C8B-B14F-4D97-AF65-F5344CB8AC3E}">
        <p14:creationId xmlns:p14="http://schemas.microsoft.com/office/powerpoint/2010/main" val="784460284"/>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rtlCol="0" anchor="ctr">
            <a:normAutofit/>
          </a:bodyPr>
          <a:lstStyle>
            <a:lvl1pPr>
              <a:defRPr lang="en-US"/>
            </a:lvl1pPr>
          </a:lstStyle>
          <a:p>
            <a:pPr lvl="0"/>
            <a:r>
              <a:rPr lang="en-US"/>
              <a:t>Click to edit Master title style</a:t>
            </a:r>
          </a:p>
        </p:txBody>
      </p:sp>
      <p:sp>
        <p:nvSpPr>
          <p:cNvPr id="5" name="Slide Number Placeholder 4"/>
          <p:cNvSpPr>
            <a:spLocks noGrp="1"/>
          </p:cNvSpPr>
          <p:nvPr>
            <p:ph type="sldNum" sz="quarter" idx="12"/>
          </p:nvPr>
        </p:nvSpPr>
        <p:spPr/>
        <p:txBody>
          <a:bodyPr/>
          <a:lstStyle/>
          <a:p>
            <a:fld id="{90F9BDA0-AF0E-4BA8-B742-3B9C92A3E6FE}" type="slidenum">
              <a:rPr lang="en-US" smtClean="0"/>
              <a:t>‹#›</a:t>
            </a:fld>
            <a:endParaRPr lang="en-US"/>
          </a:p>
        </p:txBody>
      </p:sp>
    </p:spTree>
    <p:extLst>
      <p:ext uri="{BB962C8B-B14F-4D97-AF65-F5344CB8AC3E}">
        <p14:creationId xmlns:p14="http://schemas.microsoft.com/office/powerpoint/2010/main" val="699801737"/>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Section Title 1">
    <p:spTree>
      <p:nvGrpSpPr>
        <p:cNvPr id="1" name=""/>
        <p:cNvGrpSpPr/>
        <p:nvPr/>
      </p:nvGrpSpPr>
      <p:grpSpPr>
        <a:xfrm>
          <a:off x="0" y="0"/>
          <a:ext cx="0" cy="0"/>
          <a:chOff x="0" y="0"/>
          <a:chExt cx="0" cy="0"/>
        </a:xfrm>
      </p:grpSpPr>
      <p:sp>
        <p:nvSpPr>
          <p:cNvPr id="2" name="Title 1"/>
          <p:cNvSpPr>
            <a:spLocks noGrp="1"/>
          </p:cNvSpPr>
          <p:nvPr>
            <p:ph type="ctrTitle"/>
          </p:nvPr>
        </p:nvSpPr>
        <p:spPr>
          <a:xfrm>
            <a:off x="628650" y="2020492"/>
            <a:ext cx="7772400" cy="1102519"/>
          </a:xfrm>
        </p:spPr>
        <p:txBody>
          <a:bodyPr anchor="ctr">
            <a:noAutofit/>
          </a:bodyPr>
          <a:lstStyle>
            <a:lvl1pPr>
              <a:defRPr sz="3600"/>
            </a:lvl1pPr>
          </a:lstStyle>
          <a:p>
            <a:r>
              <a:rPr lang="en-US"/>
              <a:t>Click to edit Master title style</a:t>
            </a:r>
          </a:p>
        </p:txBody>
      </p:sp>
      <p:sp>
        <p:nvSpPr>
          <p:cNvPr id="7" name="Rectangle 6"/>
          <p:cNvSpPr/>
          <p:nvPr userDrawn="1"/>
        </p:nvSpPr>
        <p:spPr bwMode="auto">
          <a:xfrm rot="10800000" flipH="1">
            <a:off x="1" y="0"/>
            <a:ext cx="228600" cy="5143500"/>
          </a:xfrm>
          <a:prstGeom prst="rect">
            <a:avLst/>
          </a:prstGeom>
          <a:solidFill>
            <a:srgbClr val="00A8F7"/>
          </a:solidFill>
          <a:ln>
            <a:noFill/>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rgbClr val="00A8F7"/>
              </a:solidFill>
              <a:effectLst/>
              <a:latin typeface="Arial" charset="0"/>
              <a:ea typeface="ＭＳ Ｐゴシック" pitchFamily="34" charset="-128"/>
            </a:endParaRPr>
          </a:p>
        </p:txBody>
      </p:sp>
    </p:spTree>
    <p:extLst>
      <p:ext uri="{BB962C8B-B14F-4D97-AF65-F5344CB8AC3E}">
        <p14:creationId xmlns:p14="http://schemas.microsoft.com/office/powerpoint/2010/main" val="4049851024"/>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Section Title 2">
    <p:spTree>
      <p:nvGrpSpPr>
        <p:cNvPr id="1" name=""/>
        <p:cNvGrpSpPr/>
        <p:nvPr/>
      </p:nvGrpSpPr>
      <p:grpSpPr>
        <a:xfrm>
          <a:off x="0" y="0"/>
          <a:ext cx="0" cy="0"/>
          <a:chOff x="0" y="0"/>
          <a:chExt cx="0" cy="0"/>
        </a:xfrm>
      </p:grpSpPr>
      <p:sp>
        <p:nvSpPr>
          <p:cNvPr id="4" name="Rectangle 3"/>
          <p:cNvSpPr/>
          <p:nvPr userDrawn="1"/>
        </p:nvSpPr>
        <p:spPr>
          <a:xfrm>
            <a:off x="0" y="0"/>
            <a:ext cx="9144000" cy="51435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628650" y="2020492"/>
            <a:ext cx="7772400" cy="1102519"/>
          </a:xfrm>
        </p:spPr>
        <p:txBody>
          <a:bodyPr anchor="ctr">
            <a:noAutofit/>
          </a:bodyPr>
          <a:lstStyle>
            <a:lvl1pPr>
              <a:defRPr sz="3600">
                <a:solidFill>
                  <a:schemeClr val="bg1"/>
                </a:solidFill>
              </a:defRPr>
            </a:lvl1pPr>
          </a:lstStyle>
          <a:p>
            <a:r>
              <a:rPr lang="en-US"/>
              <a:t>Click to edit Master title style</a:t>
            </a:r>
          </a:p>
        </p:txBody>
      </p:sp>
      <p:sp>
        <p:nvSpPr>
          <p:cNvPr id="7" name="Rectangle 6"/>
          <p:cNvSpPr/>
          <p:nvPr userDrawn="1"/>
        </p:nvSpPr>
        <p:spPr bwMode="auto">
          <a:xfrm rot="10800000" flipH="1">
            <a:off x="1" y="0"/>
            <a:ext cx="228600" cy="5143500"/>
          </a:xfrm>
          <a:prstGeom prst="rect">
            <a:avLst/>
          </a:prstGeom>
          <a:solidFill>
            <a:srgbClr val="00A8F7"/>
          </a:solidFill>
          <a:ln>
            <a:noFill/>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rgbClr val="00A8F7"/>
              </a:solidFill>
              <a:effectLst/>
              <a:latin typeface="Arial" charset="0"/>
              <a:ea typeface="ＭＳ Ｐゴシック" pitchFamily="34" charset="-128"/>
            </a:endParaRPr>
          </a:p>
        </p:txBody>
      </p:sp>
    </p:spTree>
    <p:extLst>
      <p:ext uri="{BB962C8B-B14F-4D97-AF65-F5344CB8AC3E}">
        <p14:creationId xmlns:p14="http://schemas.microsoft.com/office/powerpoint/2010/main" val="3500752908"/>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4" name="Slide Number Placeholder 4"/>
          <p:cNvSpPr>
            <a:spLocks noGrp="1"/>
          </p:cNvSpPr>
          <p:nvPr>
            <p:ph type="sldNum" sz="quarter" idx="12"/>
          </p:nvPr>
        </p:nvSpPr>
        <p:spPr>
          <a:xfrm>
            <a:off x="7620000" y="4896196"/>
            <a:ext cx="1066800" cy="125885"/>
          </a:xfrm>
        </p:spPr>
        <p:txBody>
          <a:bodyPr/>
          <a:lstStyle/>
          <a:p>
            <a:fld id="{90F9BDA0-AF0E-4BA8-B742-3B9C92A3E6FE}" type="slidenum">
              <a:rPr lang="en-US" smtClean="0"/>
              <a:t>‹#›</a:t>
            </a:fld>
            <a:endParaRPr lang="en-US"/>
          </a:p>
        </p:txBody>
      </p:sp>
    </p:spTree>
    <p:extLst>
      <p:ext uri="{BB962C8B-B14F-4D97-AF65-F5344CB8AC3E}">
        <p14:creationId xmlns:p14="http://schemas.microsoft.com/office/powerpoint/2010/main" val="609688738"/>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2_Section Title 1">
    <p:spTree>
      <p:nvGrpSpPr>
        <p:cNvPr id="1" name=""/>
        <p:cNvGrpSpPr/>
        <p:nvPr/>
      </p:nvGrpSpPr>
      <p:grpSpPr>
        <a:xfrm>
          <a:off x="0" y="0"/>
          <a:ext cx="0" cy="0"/>
          <a:chOff x="0" y="0"/>
          <a:chExt cx="0" cy="0"/>
        </a:xfrm>
      </p:grpSpPr>
      <p:sp>
        <p:nvSpPr>
          <p:cNvPr id="5" name="Picture Placeholder 4"/>
          <p:cNvSpPr>
            <a:spLocks noGrp="1"/>
          </p:cNvSpPr>
          <p:nvPr>
            <p:ph type="pic" sz="quarter" idx="13" hasCustomPrompt="1"/>
          </p:nvPr>
        </p:nvSpPr>
        <p:spPr>
          <a:xfrm>
            <a:off x="0" y="0"/>
            <a:ext cx="4572000" cy="5153025"/>
          </a:xfrm>
        </p:spPr>
        <p:txBody>
          <a:bodyPr anchor="ctr"/>
          <a:lstStyle>
            <a:lvl1pPr marL="0" indent="0" algn="ctr">
              <a:buNone/>
              <a:defRPr baseline="0"/>
            </a:lvl1pPr>
          </a:lstStyle>
          <a:p>
            <a:r>
              <a:rPr lang="en-US"/>
              <a:t>Add image here</a:t>
            </a:r>
          </a:p>
        </p:txBody>
      </p:sp>
      <p:sp>
        <p:nvSpPr>
          <p:cNvPr id="4" name="Slide Number Placeholder 4"/>
          <p:cNvSpPr>
            <a:spLocks noGrp="1"/>
          </p:cNvSpPr>
          <p:nvPr>
            <p:ph type="sldNum" sz="quarter" idx="12"/>
          </p:nvPr>
        </p:nvSpPr>
        <p:spPr>
          <a:xfrm>
            <a:off x="7620000" y="4896196"/>
            <a:ext cx="1066800" cy="125885"/>
          </a:xfrm>
        </p:spPr>
        <p:txBody>
          <a:bodyPr/>
          <a:lstStyle/>
          <a:p>
            <a:fld id="{90F9BDA0-AF0E-4BA8-B742-3B9C92A3E6FE}" type="slidenum">
              <a:rPr lang="en-US" smtClean="0"/>
              <a:t>‹#›</a:t>
            </a:fld>
            <a:endParaRPr lang="en-US"/>
          </a:p>
        </p:txBody>
      </p:sp>
    </p:spTree>
    <p:extLst>
      <p:ext uri="{BB962C8B-B14F-4D97-AF65-F5344CB8AC3E}">
        <p14:creationId xmlns:p14="http://schemas.microsoft.com/office/powerpoint/2010/main" val="1291162888"/>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Full Page - Blu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FB18392-0FDE-4A9D-8675-682554B980EC}"/>
              </a:ext>
            </a:extLst>
          </p:cNvPr>
          <p:cNvSpPr/>
          <p:nvPr/>
        </p:nvSpPr>
        <p:spPr>
          <a:xfrm>
            <a:off x="0" y="14"/>
            <a:ext cx="9144000" cy="1028700"/>
          </a:xfrm>
          <a:prstGeom prst="rect">
            <a:avLst/>
          </a:prstGeom>
          <a:solidFill>
            <a:schemeClr val="accent1"/>
          </a:solidFill>
          <a:ln>
            <a:noFill/>
          </a:ln>
        </p:spPr>
        <p:style>
          <a:lnRef idx="2">
            <a:schemeClr val="dk1"/>
          </a:lnRef>
          <a:fillRef idx="1">
            <a:schemeClr val="lt1"/>
          </a:fillRef>
          <a:effectRef idx="0">
            <a:schemeClr val="dk1"/>
          </a:effectRef>
          <a:fontRef idx="minor">
            <a:schemeClr val="dk1"/>
          </a:fontRef>
        </p:style>
        <p:txBody>
          <a:bodyPr lIns="91461" tIns="45730" rIns="91461" bIns="45730" rtlCol="0" anchor="ctr"/>
          <a:lstStyle/>
          <a:p>
            <a:pPr algn="ctr" defTabSz="914606"/>
            <a:endParaRPr lang="en-US">
              <a:solidFill>
                <a:srgbClr val="424242"/>
              </a:solidFill>
            </a:endParaRPr>
          </a:p>
        </p:txBody>
      </p:sp>
      <p:sp>
        <p:nvSpPr>
          <p:cNvPr id="2" name="Title 1">
            <a:extLst>
              <a:ext uri="{FF2B5EF4-FFF2-40B4-BE49-F238E27FC236}">
                <a16:creationId xmlns:a16="http://schemas.microsoft.com/office/drawing/2014/main" id="{927E40C9-7517-4B2D-AAB7-5F2E4A6EF518}"/>
              </a:ext>
            </a:extLst>
          </p:cNvPr>
          <p:cNvSpPr>
            <a:spLocks noGrp="1"/>
          </p:cNvSpPr>
          <p:nvPr>
            <p:ph type="title" hasCustomPrompt="1"/>
          </p:nvPr>
        </p:nvSpPr>
        <p:spPr/>
        <p:txBody>
          <a:bodyPr/>
          <a:lstStyle>
            <a:lvl1pPr>
              <a:defRPr/>
            </a:lvl1pPr>
          </a:lstStyle>
          <a:p>
            <a:r>
              <a:rPr lang="en-US"/>
              <a:t>Arial Bold 36pt</a:t>
            </a:r>
          </a:p>
        </p:txBody>
      </p:sp>
      <p:sp>
        <p:nvSpPr>
          <p:cNvPr id="4" name="Content Placeholder 3">
            <a:extLst>
              <a:ext uri="{FF2B5EF4-FFF2-40B4-BE49-F238E27FC236}">
                <a16:creationId xmlns:a16="http://schemas.microsoft.com/office/drawing/2014/main" id="{9636DBF8-2606-48AE-B144-B248B9B846AE}"/>
              </a:ext>
            </a:extLst>
          </p:cNvPr>
          <p:cNvSpPr>
            <a:spLocks noGrp="1"/>
          </p:cNvSpPr>
          <p:nvPr>
            <p:ph sz="quarter" idx="10" hasCustomPrompt="1"/>
          </p:nvPr>
        </p:nvSpPr>
        <p:spPr>
          <a:xfrm>
            <a:off x="704088" y="1285140"/>
            <a:ext cx="7982712" cy="1969770"/>
          </a:xfrm>
        </p:spPr>
        <p:txBody>
          <a:bodyPr>
            <a:spAutoFit/>
          </a:bodyPr>
          <a:lstStyle>
            <a:lvl1pPr>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Arial 24pt </a:t>
            </a:r>
          </a:p>
          <a:p>
            <a:pPr lvl="1"/>
            <a:r>
              <a:rPr lang="en-US"/>
              <a:t>Arial 24pt </a:t>
            </a:r>
          </a:p>
          <a:p>
            <a:pPr lvl="2"/>
            <a:r>
              <a:rPr lang="en-US"/>
              <a:t>Arial 20pt </a:t>
            </a:r>
          </a:p>
          <a:p>
            <a:pPr lvl="3"/>
            <a:r>
              <a:rPr lang="en-US"/>
              <a:t>Arial 20pt </a:t>
            </a:r>
          </a:p>
          <a:p>
            <a:pPr lvl="4"/>
            <a:r>
              <a:rPr lang="en-US"/>
              <a:t>Arial 20pt </a:t>
            </a:r>
          </a:p>
        </p:txBody>
      </p:sp>
      <p:sp>
        <p:nvSpPr>
          <p:cNvPr id="5" name="Slide Number Placeholder 4">
            <a:extLst>
              <a:ext uri="{FF2B5EF4-FFF2-40B4-BE49-F238E27FC236}">
                <a16:creationId xmlns:a16="http://schemas.microsoft.com/office/drawing/2014/main" id="{F838042B-8F0F-4283-A029-A5A4A27BE0DD}"/>
              </a:ext>
            </a:extLst>
          </p:cNvPr>
          <p:cNvSpPr>
            <a:spLocks noGrp="1"/>
          </p:cNvSpPr>
          <p:nvPr>
            <p:ph type="sldNum" sz="quarter" idx="11"/>
          </p:nvPr>
        </p:nvSpPr>
        <p:spPr/>
        <p:txBody>
          <a:bodyPr/>
          <a:lstStyle/>
          <a:p>
            <a:fld id="{6575370D-4E78-C44F-8DB3-41D140BF8DE9}" type="slidenum">
              <a:rPr lang="en-US" smtClean="0">
                <a:solidFill>
                  <a:srgbClr val="424242"/>
                </a:solidFill>
              </a:rPr>
              <a:pPr/>
              <a:t>‹#›</a:t>
            </a:fld>
            <a:endParaRPr lang="en-US">
              <a:solidFill>
                <a:srgbClr val="424242"/>
              </a:solidFill>
            </a:endParaRPr>
          </a:p>
        </p:txBody>
      </p:sp>
      <p:pic>
        <p:nvPicPr>
          <p:cNvPr id="10" name="Picture 9">
            <a:extLst>
              <a:ext uri="{FF2B5EF4-FFF2-40B4-BE49-F238E27FC236}">
                <a16:creationId xmlns:a16="http://schemas.microsoft.com/office/drawing/2014/main" id="{77E75CA7-F867-4BE9-B137-EBA615DB6064}"/>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t="2" r="2147" b="-2"/>
          <a:stretch/>
        </p:blipFill>
        <p:spPr>
          <a:xfrm>
            <a:off x="685816" y="4889755"/>
            <a:ext cx="1366859" cy="102207"/>
          </a:xfrm>
          <a:prstGeom prst="rect">
            <a:avLst/>
          </a:prstGeom>
        </p:spPr>
      </p:pic>
      <p:sp>
        <p:nvSpPr>
          <p:cNvPr id="11" name="TextBox 10">
            <a:extLst>
              <a:ext uri="{FF2B5EF4-FFF2-40B4-BE49-F238E27FC236}">
                <a16:creationId xmlns:a16="http://schemas.microsoft.com/office/drawing/2014/main" id="{E1C65A50-DEA6-4CC9-8E90-5F13B4BCA22B}"/>
              </a:ext>
            </a:extLst>
          </p:cNvPr>
          <p:cNvSpPr txBox="1">
            <a:spLocks noChangeArrowheads="1"/>
          </p:cNvSpPr>
          <p:nvPr/>
        </p:nvSpPr>
        <p:spPr bwMode="auto">
          <a:xfrm>
            <a:off x="3302000" y="4900564"/>
            <a:ext cx="5173133" cy="92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b" anchorCtr="0">
            <a:spAutoFit/>
          </a:bodyPr>
          <a:lstStyle>
            <a:lvl1pPr eaLnBrk="0" hangingPunct="0">
              <a:defRPr sz="1300">
                <a:solidFill>
                  <a:schemeClr val="tx1"/>
                </a:solidFill>
                <a:latin typeface="Arial" pitchFamily="34" charset="0"/>
                <a:ea typeface="ＭＳ Ｐゴシック" pitchFamily="34" charset="-128"/>
              </a:defRPr>
            </a:lvl1pPr>
            <a:lvl2pPr marL="742950" indent="-285750" eaLnBrk="0" hangingPunct="0">
              <a:defRPr sz="1300">
                <a:solidFill>
                  <a:schemeClr val="tx1"/>
                </a:solidFill>
                <a:latin typeface="Arial" pitchFamily="34" charset="0"/>
                <a:ea typeface="ＭＳ Ｐゴシック" pitchFamily="34" charset="-128"/>
              </a:defRPr>
            </a:lvl2pPr>
            <a:lvl3pPr marL="1143000" indent="-228600" eaLnBrk="0" hangingPunct="0">
              <a:defRPr sz="1300">
                <a:solidFill>
                  <a:schemeClr val="tx1"/>
                </a:solidFill>
                <a:latin typeface="Arial" pitchFamily="34" charset="0"/>
                <a:ea typeface="ＭＳ Ｐゴシック" pitchFamily="34" charset="-128"/>
              </a:defRPr>
            </a:lvl3pPr>
            <a:lvl4pPr marL="1600200" indent="-228600" eaLnBrk="0" hangingPunct="0">
              <a:defRPr sz="1300">
                <a:solidFill>
                  <a:schemeClr val="tx1"/>
                </a:solidFill>
                <a:latin typeface="Arial" pitchFamily="34" charset="0"/>
                <a:ea typeface="ＭＳ Ｐゴシック" pitchFamily="34" charset="-128"/>
              </a:defRPr>
            </a:lvl4pPr>
            <a:lvl5pPr marL="2057400" indent="-228600" eaLnBrk="0" hangingPunct="0">
              <a:defRPr sz="13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13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13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13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1300">
                <a:solidFill>
                  <a:schemeClr val="tx1"/>
                </a:solidFill>
                <a:latin typeface="Arial" pitchFamily="34" charset="0"/>
                <a:ea typeface="ＭＳ Ｐゴシック" pitchFamily="34" charset="-128"/>
              </a:defRPr>
            </a:lvl9pPr>
          </a:lstStyle>
          <a:p>
            <a:pPr algn="r" defTabSz="914606">
              <a:defRPr/>
            </a:pPr>
            <a:r>
              <a:rPr lang="en-US" sz="600">
                <a:solidFill>
                  <a:srgbClr val="424242"/>
                </a:solidFill>
              </a:rPr>
              <a:t>© 2019 UnitedHealth Group. Any use, copying or distribution without written permission from UnitedHealth Group is prohibited.</a:t>
            </a:r>
          </a:p>
        </p:txBody>
      </p:sp>
    </p:spTree>
    <p:extLst>
      <p:ext uri="{BB962C8B-B14F-4D97-AF65-F5344CB8AC3E}">
        <p14:creationId xmlns:p14="http://schemas.microsoft.com/office/powerpoint/2010/main" val="32824909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Content with Caption">
    <p:spTree>
      <p:nvGrpSpPr>
        <p:cNvPr id="1" name=""/>
        <p:cNvGrpSpPr/>
        <p:nvPr/>
      </p:nvGrpSpPr>
      <p:grpSpPr>
        <a:xfrm>
          <a:off x="0" y="0"/>
          <a:ext cx="0" cy="0"/>
          <a:chOff x="0" y="0"/>
          <a:chExt cx="0" cy="0"/>
        </a:xfrm>
      </p:grpSpPr>
      <p:sp>
        <p:nvSpPr>
          <p:cNvPr id="8" name="Right Triangle 7">
            <a:extLst>
              <a:ext uri="{FF2B5EF4-FFF2-40B4-BE49-F238E27FC236}">
                <a16:creationId xmlns:a16="http://schemas.microsoft.com/office/drawing/2014/main" id="{11C3F55F-F1F7-4CAF-A623-77093DB4A605}"/>
              </a:ext>
            </a:extLst>
          </p:cNvPr>
          <p:cNvSpPr/>
          <p:nvPr/>
        </p:nvSpPr>
        <p:spPr>
          <a:xfrm rot="5400000">
            <a:off x="387926" y="-387927"/>
            <a:ext cx="4849094" cy="5624948"/>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9" name="Straight Connector 8">
            <a:extLst>
              <a:ext uri="{FF2B5EF4-FFF2-40B4-BE49-F238E27FC236}">
                <a16:creationId xmlns:a16="http://schemas.microsoft.com/office/drawing/2014/main" id="{EA912B06-A6BA-44F3-81D5-8DBD9000A00F}"/>
              </a:ext>
            </a:extLst>
          </p:cNvPr>
          <p:cNvCxnSpPr>
            <a:cxnSpLocks/>
          </p:cNvCxnSpPr>
          <p:nvPr/>
        </p:nvCxnSpPr>
        <p:spPr>
          <a:xfrm flipH="1">
            <a:off x="2382982" y="-6928"/>
            <a:ext cx="2618509" cy="220287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ext Placeholder 11">
            <a:extLst>
              <a:ext uri="{FF2B5EF4-FFF2-40B4-BE49-F238E27FC236}">
                <a16:creationId xmlns:a16="http://schemas.microsoft.com/office/drawing/2014/main" id="{9DA34596-CC80-4091-A7D3-F74BDA97C999}"/>
              </a:ext>
            </a:extLst>
          </p:cNvPr>
          <p:cNvSpPr>
            <a:spLocks noGrp="1"/>
          </p:cNvSpPr>
          <p:nvPr>
            <p:ph type="body" sz="quarter" idx="10"/>
          </p:nvPr>
        </p:nvSpPr>
        <p:spPr>
          <a:xfrm>
            <a:off x="222566" y="294406"/>
            <a:ext cx="2790798" cy="1406129"/>
          </a:xfrm>
          <a:prstGeom prst="rect">
            <a:avLst/>
          </a:prstGeom>
        </p:spPr>
        <p:txBody>
          <a:bodyPr/>
          <a:lstStyle>
            <a:lvl1pPr marL="0" indent="0" algn="l">
              <a:buNone/>
              <a:defRPr sz="3000" b="1">
                <a:solidFill>
                  <a:schemeClr val="bg1"/>
                </a:solidFill>
                <a:latin typeface="+mj-lt"/>
              </a:defRPr>
            </a:lvl1pPr>
            <a:lvl2pPr marL="342900" indent="0">
              <a:buNone/>
              <a:defRPr>
                <a:solidFill>
                  <a:schemeClr val="bg1"/>
                </a:solidFill>
              </a:defRPr>
            </a:lvl2pPr>
            <a:lvl3pPr marL="685800" indent="0">
              <a:buNone/>
              <a:defRPr>
                <a:solidFill>
                  <a:schemeClr val="bg1"/>
                </a:solidFill>
              </a:defRPr>
            </a:lvl3pPr>
            <a:lvl4pPr marL="1028700" indent="0">
              <a:buNone/>
              <a:defRPr>
                <a:solidFill>
                  <a:schemeClr val="bg1"/>
                </a:solidFill>
              </a:defRPr>
            </a:lvl4pPr>
            <a:lvl5pPr marL="1371600" indent="0">
              <a:buNone/>
              <a:defRPr>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28359013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Title, content, and large pic">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A19430-9D19-E74B-A985-0DFB9C995A6C}"/>
              </a:ext>
            </a:extLst>
          </p:cNvPr>
          <p:cNvSpPr>
            <a:spLocks noGrp="1"/>
          </p:cNvSpPr>
          <p:nvPr>
            <p:ph type="title"/>
          </p:nvPr>
        </p:nvSpPr>
        <p:spPr>
          <a:xfrm>
            <a:off x="387925" y="351965"/>
            <a:ext cx="4023360" cy="822631"/>
          </a:xfrm>
        </p:spPr>
        <p:txBody>
          <a:bodyPr/>
          <a:lstStyle>
            <a:lvl1pPr>
              <a:lnSpc>
                <a:spcPct val="100000"/>
              </a:lnSpc>
              <a:defRPr sz="2400"/>
            </a:lvl1pPr>
          </a:lstStyle>
          <a:p>
            <a:r>
              <a:rPr lang="en-US"/>
              <a:t>Click to edit Master title style</a:t>
            </a:r>
          </a:p>
        </p:txBody>
      </p:sp>
      <p:sp>
        <p:nvSpPr>
          <p:cNvPr id="3" name="Content Placeholder 2">
            <a:extLst>
              <a:ext uri="{FF2B5EF4-FFF2-40B4-BE49-F238E27FC236}">
                <a16:creationId xmlns:a16="http://schemas.microsoft.com/office/drawing/2014/main" id="{6FFA7B42-D455-1E4D-9ED5-D09FA229AD73}"/>
              </a:ext>
            </a:extLst>
          </p:cNvPr>
          <p:cNvSpPr>
            <a:spLocks noGrp="1"/>
          </p:cNvSpPr>
          <p:nvPr>
            <p:ph idx="1"/>
          </p:nvPr>
        </p:nvSpPr>
        <p:spPr>
          <a:xfrm>
            <a:off x="374904" y="1371600"/>
            <a:ext cx="4023360" cy="2898522"/>
          </a:xfrm>
        </p:spPr>
        <p:txBody>
          <a:bodyPr/>
          <a:lstStyle>
            <a:lvl1pPr marL="92073" indent="-92073">
              <a:lnSpc>
                <a:spcPct val="100000"/>
              </a:lnSpc>
              <a:spcBef>
                <a:spcPts val="300"/>
              </a:spcBef>
              <a:spcAft>
                <a:spcPts val="600"/>
              </a:spcAft>
              <a:buClr>
                <a:schemeClr val="accent1"/>
              </a:buClr>
              <a:tabLst/>
              <a:defRPr sz="1425">
                <a:solidFill>
                  <a:schemeClr val="accent1"/>
                </a:solidFill>
              </a:defRPr>
            </a:lvl1pPr>
            <a:lvl2pPr marL="201608" indent="-82548">
              <a:lnSpc>
                <a:spcPct val="100000"/>
              </a:lnSpc>
              <a:spcBef>
                <a:spcPts val="0"/>
              </a:spcBef>
              <a:spcAft>
                <a:spcPts val="600"/>
              </a:spcAft>
              <a:buClr>
                <a:schemeClr val="accent1"/>
              </a:buClr>
              <a:buFont typeface="System Font Regular"/>
              <a:buChar char="-"/>
              <a:tabLst/>
              <a:defRPr sz="1425">
                <a:solidFill>
                  <a:schemeClr val="accent1"/>
                </a:solidFill>
              </a:defRPr>
            </a:lvl2pPr>
            <a:lvl3pPr marL="306380" indent="-88898">
              <a:lnSpc>
                <a:spcPct val="100000"/>
              </a:lnSpc>
              <a:spcBef>
                <a:spcPts val="0"/>
              </a:spcBef>
              <a:spcAft>
                <a:spcPts val="600"/>
              </a:spcAft>
              <a:buClr>
                <a:schemeClr val="accent1"/>
              </a:buClr>
              <a:tabLst/>
              <a:defRPr sz="1200">
                <a:solidFill>
                  <a:schemeClr val="accent1"/>
                </a:solidFill>
              </a:defRPr>
            </a:lvl3pPr>
            <a:lvl4pPr marL="395278" indent="-80961">
              <a:lnSpc>
                <a:spcPct val="100000"/>
              </a:lnSpc>
              <a:spcBef>
                <a:spcPts val="0"/>
              </a:spcBef>
              <a:spcAft>
                <a:spcPts val="600"/>
              </a:spcAft>
              <a:buClr>
                <a:schemeClr val="accent1"/>
              </a:buClr>
              <a:buFont typeface="System Font Regular"/>
              <a:buChar char="-"/>
              <a:tabLst/>
              <a:defRPr sz="1125">
                <a:solidFill>
                  <a:schemeClr val="accent1"/>
                </a:solidFill>
              </a:defRPr>
            </a:lvl4pPr>
            <a:lvl5pPr marL="500051" indent="-88898">
              <a:lnSpc>
                <a:spcPct val="100000"/>
              </a:lnSpc>
              <a:spcBef>
                <a:spcPts val="0"/>
              </a:spcBef>
              <a:spcAft>
                <a:spcPts val="600"/>
              </a:spcAft>
              <a:buClr>
                <a:schemeClr val="accent1"/>
              </a:buClr>
              <a:tabLst/>
              <a:defRPr sz="1050">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12">
            <a:extLst>
              <a:ext uri="{FF2B5EF4-FFF2-40B4-BE49-F238E27FC236}">
                <a16:creationId xmlns:a16="http://schemas.microsoft.com/office/drawing/2014/main" id="{548785B2-1A75-0248-A02D-593644343089}"/>
              </a:ext>
            </a:extLst>
          </p:cNvPr>
          <p:cNvSpPr>
            <a:spLocks noGrp="1"/>
          </p:cNvSpPr>
          <p:nvPr>
            <p:ph type="body" sz="quarter" idx="13" hasCustomPrompt="1"/>
          </p:nvPr>
        </p:nvSpPr>
        <p:spPr>
          <a:xfrm>
            <a:off x="386034" y="4270367"/>
            <a:ext cx="4023360" cy="273844"/>
          </a:xfrm>
          <a:prstGeom prst="rect">
            <a:avLst/>
          </a:prstGeom>
        </p:spPr>
        <p:txBody>
          <a:bodyPr anchor="b"/>
          <a:lstStyle>
            <a:lvl1pPr marL="0" indent="0">
              <a:lnSpc>
                <a:spcPct val="100000"/>
              </a:lnSpc>
              <a:buNone/>
              <a:defRPr sz="700">
                <a:solidFill>
                  <a:schemeClr val="tx2"/>
                </a:solidFill>
              </a:defRPr>
            </a:lvl1pPr>
          </a:lstStyle>
          <a:p>
            <a:pPr lvl="0"/>
            <a:r>
              <a:rPr lang="en-US"/>
              <a:t>Click to edit Footnote </a:t>
            </a:r>
          </a:p>
        </p:txBody>
      </p:sp>
      <p:sp>
        <p:nvSpPr>
          <p:cNvPr id="5" name="Picture Placeholder 4">
            <a:extLst>
              <a:ext uri="{FF2B5EF4-FFF2-40B4-BE49-F238E27FC236}">
                <a16:creationId xmlns:a16="http://schemas.microsoft.com/office/drawing/2014/main" id="{C345672C-A430-2248-88EB-1CB311F352A6}"/>
              </a:ext>
            </a:extLst>
          </p:cNvPr>
          <p:cNvSpPr>
            <a:spLocks noGrp="1"/>
          </p:cNvSpPr>
          <p:nvPr>
            <p:ph type="pic" sz="quarter" idx="14"/>
          </p:nvPr>
        </p:nvSpPr>
        <p:spPr>
          <a:xfrm>
            <a:off x="4659465" y="1"/>
            <a:ext cx="4484536" cy="5143499"/>
          </a:xfrm>
          <a:solidFill>
            <a:schemeClr val="tx2"/>
          </a:solidFill>
        </p:spPr>
        <p:txBody>
          <a:bodyPr anchor="ctr"/>
          <a:lstStyle>
            <a:lvl1pPr marL="0" indent="0" algn="ctr">
              <a:buNone/>
              <a:defRPr sz="1200"/>
            </a:lvl1pPr>
          </a:lstStyle>
          <a:p>
            <a:endParaRPr lang="en-US"/>
          </a:p>
        </p:txBody>
      </p:sp>
      <p:sp>
        <p:nvSpPr>
          <p:cNvPr id="9" name="Footer Placeholder 3">
            <a:extLst>
              <a:ext uri="{FF2B5EF4-FFF2-40B4-BE49-F238E27FC236}">
                <a16:creationId xmlns:a16="http://schemas.microsoft.com/office/drawing/2014/main" id="{AA237B01-3300-A94F-955A-022A5B7FCC2D}"/>
              </a:ext>
            </a:extLst>
          </p:cNvPr>
          <p:cNvSpPr>
            <a:spLocks noGrp="1"/>
          </p:cNvSpPr>
          <p:nvPr>
            <p:ph type="ftr" sz="quarter" idx="3"/>
          </p:nvPr>
        </p:nvSpPr>
        <p:spPr>
          <a:xfrm>
            <a:off x="5952259" y="4681174"/>
            <a:ext cx="2462177" cy="274637"/>
          </a:xfrm>
          <a:prstGeom prst="rect">
            <a:avLst/>
          </a:prstGeom>
        </p:spPr>
        <p:txBody>
          <a:bodyPr vert="horz" lIns="91440" tIns="45720" rIns="91440" bIns="45720" rtlCol="0" anchor="ctr"/>
          <a:lstStyle>
            <a:lvl1pPr algn="r">
              <a:defRPr sz="800">
                <a:solidFill>
                  <a:schemeClr val="accent1"/>
                </a:solidFill>
              </a:defRPr>
            </a:lvl1pPr>
          </a:lstStyle>
          <a:p>
            <a:r>
              <a:rPr lang="en-US"/>
              <a:t>Type Division Name here</a:t>
            </a:r>
          </a:p>
        </p:txBody>
      </p:sp>
      <p:sp>
        <p:nvSpPr>
          <p:cNvPr id="6" name="Slide Number Placeholder 5">
            <a:extLst>
              <a:ext uri="{FF2B5EF4-FFF2-40B4-BE49-F238E27FC236}">
                <a16:creationId xmlns:a16="http://schemas.microsoft.com/office/drawing/2014/main" id="{3B6D10EE-3796-1048-8D75-5FE9E3D92D9F}"/>
              </a:ext>
            </a:extLst>
          </p:cNvPr>
          <p:cNvSpPr>
            <a:spLocks noGrp="1"/>
          </p:cNvSpPr>
          <p:nvPr>
            <p:ph type="sldNum" sz="quarter" idx="12"/>
          </p:nvPr>
        </p:nvSpPr>
        <p:spPr>
          <a:xfrm>
            <a:off x="8410097" y="4683170"/>
            <a:ext cx="352985" cy="283464"/>
          </a:xfrm>
        </p:spPr>
        <p:txBody>
          <a:bodyPr/>
          <a:lstStyle>
            <a:lvl1pPr>
              <a:defRPr sz="800">
                <a:solidFill>
                  <a:schemeClr val="bg2"/>
                </a:solidFill>
              </a:defRPr>
            </a:lvl1pPr>
          </a:lstStyle>
          <a:p>
            <a:fld id="{66DE20E4-D496-034F-914D-F7F15B93E95B}" type="slidenum">
              <a:rPr lang="en-US" smtClean="0"/>
              <a:pPr/>
              <a:t>‹#›</a:t>
            </a:fld>
            <a:endParaRPr lang="en-US"/>
          </a:p>
        </p:txBody>
      </p:sp>
    </p:spTree>
    <p:extLst>
      <p:ext uri="{BB962C8B-B14F-4D97-AF65-F5344CB8AC3E}">
        <p14:creationId xmlns:p14="http://schemas.microsoft.com/office/powerpoint/2010/main" val="133742047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2351189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2_Title only">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lvl1pPr algn="r">
              <a:defRPr/>
            </a:lvl1pPr>
          </a:lstStyle>
          <a:p>
            <a:pPr defTabSz="906765">
              <a:defRPr/>
            </a:pPr>
            <a:fld id="{F18F5FCC-583C-47C6-9953-2F6AD74D46AE}" type="slidenum">
              <a:rPr lang="en-US" sz="825" smtClean="0">
                <a:solidFill>
                  <a:srgbClr val="55565A"/>
                </a:solidFill>
              </a:rPr>
              <a:pPr defTabSz="906765">
                <a:defRPr/>
              </a:pPr>
              <a:t>‹#›</a:t>
            </a:fld>
            <a:endParaRPr lang="en-US" sz="825">
              <a:solidFill>
                <a:srgbClr val="55565A"/>
              </a:solidFill>
            </a:endParaRPr>
          </a:p>
        </p:txBody>
      </p:sp>
      <p:sp>
        <p:nvSpPr>
          <p:cNvPr id="3" name="Title 2"/>
          <p:cNvSpPr>
            <a:spLocks noGrp="1"/>
          </p:cNvSpPr>
          <p:nvPr>
            <p:ph type="title"/>
          </p:nvPr>
        </p:nvSpPr>
        <p:spPr>
          <a:xfrm>
            <a:off x="381000" y="49081"/>
            <a:ext cx="8396864" cy="350969"/>
          </a:xfrm>
        </p:spPr>
        <p:txBody>
          <a:bodyPr/>
          <a:lstStyle>
            <a:lvl1pPr>
              <a:defRPr sz="1800"/>
            </a:lvl1pPr>
          </a:lstStyle>
          <a:p>
            <a:r>
              <a:rPr lang="en-US"/>
              <a:t>Click to edit Master title style</a:t>
            </a:r>
          </a:p>
        </p:txBody>
      </p:sp>
      <p:cxnSp>
        <p:nvCxnSpPr>
          <p:cNvPr id="7" name="Straight Connector 6"/>
          <p:cNvCxnSpPr/>
          <p:nvPr userDrawn="1"/>
        </p:nvCxnSpPr>
        <p:spPr>
          <a:xfrm>
            <a:off x="361950" y="430530"/>
            <a:ext cx="8401050"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2640375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userDrawn="1">
  <p:cSld name="1_Title Slide 1">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108743" y="1784063"/>
            <a:ext cx="4762043" cy="1102519"/>
          </a:xfrm>
        </p:spPr>
        <p:txBody>
          <a:bodyPr anchor="ctr">
            <a:noAutofit/>
          </a:bodyPr>
          <a:lstStyle>
            <a:lvl1pPr>
              <a:defRPr sz="3200" spc="-51" baseline="0"/>
            </a:lvl1pPr>
          </a:lstStyle>
          <a:p>
            <a:r>
              <a:rPr lang="en-US"/>
              <a:t>Click to edit title style</a:t>
            </a:r>
          </a:p>
        </p:txBody>
      </p:sp>
      <p:sp>
        <p:nvSpPr>
          <p:cNvPr id="7" name="Rectangle 6"/>
          <p:cNvSpPr/>
          <p:nvPr userDrawn="1"/>
        </p:nvSpPr>
        <p:spPr bwMode="auto">
          <a:xfrm rot="10800000" flipH="1">
            <a:off x="1" y="0"/>
            <a:ext cx="228600" cy="5143500"/>
          </a:xfrm>
          <a:prstGeom prst="rect">
            <a:avLst/>
          </a:prstGeom>
          <a:solidFill>
            <a:srgbClr val="00A8F7"/>
          </a:solidFill>
          <a:ln>
            <a:noFill/>
          </a:ln>
          <a:effectLst/>
        </p:spPr>
        <p:txBody>
          <a:bodyPr vert="horz" wrap="square" lIns="91440" tIns="45720" rIns="91440" bIns="45720" numCol="1" rtlCol="0" anchor="ctr" anchorCtr="0" compatLnSpc="1">
            <a:prstTxWarp prst="textNoShape">
              <a:avLst/>
            </a:prstTxWarp>
          </a:bodyPr>
          <a:lstStyle/>
          <a:p>
            <a:pPr marL="0" marR="0" indent="0" algn="ctr" defTabSz="914377"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rgbClr val="00A8F7"/>
              </a:solidFill>
              <a:effectLst/>
              <a:latin typeface="Arial" charset="0"/>
              <a:ea typeface="ＭＳ Ｐゴシック" pitchFamily="34" charset="-128"/>
            </a:endParaRPr>
          </a:p>
        </p:txBody>
      </p:sp>
      <p:pic>
        <p:nvPicPr>
          <p:cNvPr id="6" name="Picture 5">
            <a:extLst>
              <a:ext uri="{FF2B5EF4-FFF2-40B4-BE49-F238E27FC236}">
                <a16:creationId xmlns:a16="http://schemas.microsoft.com/office/drawing/2014/main" id="{83C1CE73-A306-824E-AF5D-DFABDA223E9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441581" y="4356158"/>
            <a:ext cx="1509131" cy="473641"/>
          </a:xfrm>
          <a:prstGeom prst="rect">
            <a:avLst/>
          </a:prstGeom>
        </p:spPr>
      </p:pic>
      <p:grpSp>
        <p:nvGrpSpPr>
          <p:cNvPr id="13" name="Group 12">
            <a:extLst>
              <a:ext uri="{FF2B5EF4-FFF2-40B4-BE49-F238E27FC236}">
                <a16:creationId xmlns:a16="http://schemas.microsoft.com/office/drawing/2014/main" id="{26962A78-5F90-E849-926E-E27C20197959}"/>
              </a:ext>
            </a:extLst>
          </p:cNvPr>
          <p:cNvGrpSpPr/>
          <p:nvPr userDrawn="1"/>
        </p:nvGrpSpPr>
        <p:grpSpPr>
          <a:xfrm>
            <a:off x="679539" y="1"/>
            <a:ext cx="3815548" cy="5144568"/>
            <a:chOff x="679539" y="1"/>
            <a:chExt cx="3815548" cy="5144568"/>
          </a:xfrm>
        </p:grpSpPr>
        <p:sp>
          <p:nvSpPr>
            <p:cNvPr id="14" name="Chevron 13">
              <a:extLst>
                <a:ext uri="{FF2B5EF4-FFF2-40B4-BE49-F238E27FC236}">
                  <a16:creationId xmlns:a16="http://schemas.microsoft.com/office/drawing/2014/main" id="{673B59A0-63BC-0F46-8B19-44FD67D42D94}"/>
                </a:ext>
              </a:extLst>
            </p:cNvPr>
            <p:cNvSpPr/>
            <p:nvPr/>
          </p:nvSpPr>
          <p:spPr>
            <a:xfrm>
              <a:off x="679539" y="1"/>
              <a:ext cx="3193569" cy="2999574"/>
            </a:xfrm>
            <a:prstGeom prst="chevron">
              <a:avLst>
                <a:gd name="adj" fmla="val 4614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15" name="Chevron 14">
              <a:extLst>
                <a:ext uri="{FF2B5EF4-FFF2-40B4-BE49-F238E27FC236}">
                  <a16:creationId xmlns:a16="http://schemas.microsoft.com/office/drawing/2014/main" id="{8DDFA2FC-9DC8-3D4B-8217-398D230F5C57}"/>
                </a:ext>
              </a:extLst>
            </p:cNvPr>
            <p:cNvSpPr/>
            <p:nvPr/>
          </p:nvSpPr>
          <p:spPr>
            <a:xfrm>
              <a:off x="696634" y="1576855"/>
              <a:ext cx="3798453" cy="3567714"/>
            </a:xfrm>
            <a:prstGeom prst="chevron">
              <a:avLst>
                <a:gd name="adj" fmla="val 46148"/>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16" name="Chevron 15">
              <a:extLst>
                <a:ext uri="{FF2B5EF4-FFF2-40B4-BE49-F238E27FC236}">
                  <a16:creationId xmlns:a16="http://schemas.microsoft.com/office/drawing/2014/main" id="{C54180A5-7756-E048-A966-59067574F7BA}"/>
                </a:ext>
              </a:extLst>
            </p:cNvPr>
            <p:cNvSpPr/>
            <p:nvPr/>
          </p:nvSpPr>
          <p:spPr>
            <a:xfrm>
              <a:off x="1500375" y="1166614"/>
              <a:ext cx="2488584" cy="2337414"/>
            </a:xfrm>
            <a:prstGeom prst="chevron">
              <a:avLst>
                <a:gd name="adj" fmla="val 46148"/>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grpSp>
      <p:grpSp>
        <p:nvGrpSpPr>
          <p:cNvPr id="17" name="Group 16">
            <a:extLst>
              <a:ext uri="{FF2B5EF4-FFF2-40B4-BE49-F238E27FC236}">
                <a16:creationId xmlns:a16="http://schemas.microsoft.com/office/drawing/2014/main" id="{CB27F661-382B-BC47-B53A-37C814026FC3}"/>
              </a:ext>
            </a:extLst>
          </p:cNvPr>
          <p:cNvGrpSpPr/>
          <p:nvPr userDrawn="1"/>
        </p:nvGrpSpPr>
        <p:grpSpPr>
          <a:xfrm>
            <a:off x="4001696" y="4653856"/>
            <a:ext cx="2609341" cy="230049"/>
            <a:chOff x="744483" y="4848998"/>
            <a:chExt cx="2609341" cy="230049"/>
          </a:xfrm>
        </p:grpSpPr>
        <p:sp>
          <p:nvSpPr>
            <p:cNvPr id="18" name="TextBox 17">
              <a:extLst>
                <a:ext uri="{FF2B5EF4-FFF2-40B4-BE49-F238E27FC236}">
                  <a16:creationId xmlns:a16="http://schemas.microsoft.com/office/drawing/2014/main" id="{C24A353D-2250-8848-B6A0-16BF03C42779}"/>
                </a:ext>
              </a:extLst>
            </p:cNvPr>
            <p:cNvSpPr txBox="1"/>
            <p:nvPr userDrawn="1"/>
          </p:nvSpPr>
          <p:spPr>
            <a:xfrm>
              <a:off x="2184981" y="4875393"/>
              <a:ext cx="1168843" cy="161711"/>
            </a:xfrm>
            <a:prstGeom prst="rect">
              <a:avLst/>
            </a:prstGeom>
            <a:noFill/>
          </p:spPr>
          <p:txBody>
            <a:bodyPr wrap="square" lIns="0" tIns="0" rIns="0" bIns="0" rtlCol="0" anchor="ctr">
              <a:spAutoFit/>
            </a:bodyPr>
            <a:lstStyle/>
            <a:p>
              <a:pPr algn="l"/>
              <a:r>
                <a:rPr lang="en-US" sz="1051" b="1">
                  <a:solidFill>
                    <a:schemeClr val="tx1">
                      <a:lumMod val="50000"/>
                    </a:schemeClr>
                  </a:solidFill>
                  <a:latin typeface="+mn-lt"/>
                  <a:cs typeface="Arial"/>
                </a:rPr>
                <a:t>Better Together</a:t>
              </a:r>
            </a:p>
          </p:txBody>
        </p:sp>
        <p:sp>
          <p:nvSpPr>
            <p:cNvPr id="19" name="Title 3">
              <a:extLst>
                <a:ext uri="{FF2B5EF4-FFF2-40B4-BE49-F238E27FC236}">
                  <a16:creationId xmlns:a16="http://schemas.microsoft.com/office/drawing/2014/main" id="{64EB3198-E83E-A24B-AA77-090BB5B1A606}"/>
                </a:ext>
              </a:extLst>
            </p:cNvPr>
            <p:cNvSpPr txBox="1">
              <a:spLocks/>
            </p:cNvSpPr>
            <p:nvPr userDrawn="1"/>
          </p:nvSpPr>
          <p:spPr>
            <a:xfrm>
              <a:off x="744483" y="4848998"/>
              <a:ext cx="1342523" cy="230049"/>
            </a:xfrm>
            <a:prstGeom prst="rect">
              <a:avLst/>
            </a:prstGeom>
          </p:spPr>
          <p:txBody>
            <a:bodyPr anchor="ctr"/>
            <a:lstStyle>
              <a:lvl1pPr algn="l" defTabSz="914400" rtl="0" eaLnBrk="1" latinLnBrk="0" hangingPunct="1">
                <a:lnSpc>
                  <a:spcPct val="90000"/>
                </a:lnSpc>
                <a:spcBef>
                  <a:spcPct val="0"/>
                </a:spcBef>
                <a:buNone/>
                <a:defRPr sz="2400" b="1" kern="1200">
                  <a:solidFill>
                    <a:schemeClr val="tx1">
                      <a:lumMod val="50000"/>
                    </a:schemeClr>
                  </a:solidFill>
                  <a:latin typeface="+mj-lt"/>
                  <a:ea typeface="+mj-ea"/>
                  <a:cs typeface="+mj-cs"/>
                </a:defRPr>
              </a:lvl1pPr>
            </a:lstStyle>
            <a:p>
              <a:pPr algn="r"/>
              <a:r>
                <a:rPr lang="en-US" sz="1051">
                  <a:solidFill>
                    <a:schemeClr val="accent1"/>
                  </a:solidFill>
                  <a:latin typeface="+mn-lt"/>
                </a:rPr>
                <a:t>UHC</a:t>
              </a:r>
              <a:r>
                <a:rPr lang="en-US" sz="1051">
                  <a:solidFill>
                    <a:schemeClr val="accent2"/>
                  </a:solidFill>
                  <a:latin typeface="+mn-lt"/>
                </a:rPr>
                <a:t>Technology</a:t>
              </a:r>
            </a:p>
          </p:txBody>
        </p:sp>
        <p:cxnSp>
          <p:nvCxnSpPr>
            <p:cNvPr id="20" name="Straight Connector 19">
              <a:extLst>
                <a:ext uri="{FF2B5EF4-FFF2-40B4-BE49-F238E27FC236}">
                  <a16:creationId xmlns:a16="http://schemas.microsoft.com/office/drawing/2014/main" id="{A37B8663-024F-8F4F-82F1-488E09622219}"/>
                </a:ext>
              </a:extLst>
            </p:cNvPr>
            <p:cNvCxnSpPr/>
            <p:nvPr userDrawn="1"/>
          </p:nvCxnSpPr>
          <p:spPr>
            <a:xfrm>
              <a:off x="2087006" y="4874877"/>
              <a:ext cx="0" cy="1814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749372279"/>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_Title (2-line) and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87926" y="351965"/>
            <a:ext cx="8480502" cy="587488"/>
          </a:xfrm>
        </p:spPr>
        <p:txBody>
          <a:bodyPr vert="horz" lIns="91440" tIns="45720" rIns="91440" bIns="45720" rtlCol="0" anchor="t" anchorCtr="0">
            <a:noAutofit/>
          </a:bodyPr>
          <a:lstStyle>
            <a:lvl1pPr>
              <a:lnSpc>
                <a:spcPct val="100000"/>
              </a:lnSpc>
              <a:defRPr lang="en-US"/>
            </a:lvl1pPr>
          </a:lstStyle>
          <a:p>
            <a:pPr lvl="0"/>
            <a:r>
              <a:rPr lang="en-US"/>
              <a:t>Click to add a title style with a one-line headline</a:t>
            </a:r>
          </a:p>
        </p:txBody>
      </p:sp>
      <p:sp>
        <p:nvSpPr>
          <p:cNvPr id="6" name="Slide Number Placeholder 5"/>
          <p:cNvSpPr>
            <a:spLocks noGrp="1"/>
          </p:cNvSpPr>
          <p:nvPr>
            <p:ph type="sldNum" sz="quarter" idx="12"/>
          </p:nvPr>
        </p:nvSpPr>
        <p:spPr/>
        <p:txBody>
          <a:bodyPr/>
          <a:lstStyle/>
          <a:p>
            <a:fld id="{90F9BDA0-AF0E-4BA8-B742-3B9C92A3E6FE}" type="slidenum">
              <a:rPr lang="en-US" smtClean="0"/>
              <a:t>‹#›</a:t>
            </a:fld>
            <a:endParaRPr lang="en-US"/>
          </a:p>
        </p:txBody>
      </p:sp>
      <p:sp>
        <p:nvSpPr>
          <p:cNvPr id="5" name="Footer Placeholder 3">
            <a:extLst>
              <a:ext uri="{FF2B5EF4-FFF2-40B4-BE49-F238E27FC236}">
                <a16:creationId xmlns:a16="http://schemas.microsoft.com/office/drawing/2014/main" id="{C6DFF85B-602D-9846-8AE0-BE3B4117F97C}"/>
              </a:ext>
            </a:extLst>
          </p:cNvPr>
          <p:cNvSpPr>
            <a:spLocks noGrp="1"/>
          </p:cNvSpPr>
          <p:nvPr>
            <p:ph type="ftr" sz="quarter" idx="3"/>
          </p:nvPr>
        </p:nvSpPr>
        <p:spPr>
          <a:xfrm>
            <a:off x="5955354" y="4681174"/>
            <a:ext cx="2455394" cy="274637"/>
          </a:xfrm>
          <a:prstGeom prst="rect">
            <a:avLst/>
          </a:prstGeom>
        </p:spPr>
        <p:txBody>
          <a:bodyPr vert="horz" lIns="91440" tIns="45720" rIns="91440" bIns="45720" rtlCol="0" anchor="ctr"/>
          <a:lstStyle>
            <a:lvl1pPr algn="r">
              <a:defRPr sz="800">
                <a:solidFill>
                  <a:schemeClr val="accent1"/>
                </a:solidFill>
              </a:defRPr>
            </a:lvl1pPr>
          </a:lstStyle>
          <a:p>
            <a:r>
              <a:rPr lang="en-US"/>
              <a:t>Type Division Name here</a:t>
            </a:r>
          </a:p>
        </p:txBody>
      </p:sp>
      <p:sp>
        <p:nvSpPr>
          <p:cNvPr id="8" name="Text Placeholder 7">
            <a:extLst>
              <a:ext uri="{FF2B5EF4-FFF2-40B4-BE49-F238E27FC236}">
                <a16:creationId xmlns:a16="http://schemas.microsoft.com/office/drawing/2014/main" id="{A6BCF2EF-1A2E-5644-AD14-82E90D22A694}"/>
              </a:ext>
            </a:extLst>
          </p:cNvPr>
          <p:cNvSpPr>
            <a:spLocks noGrp="1"/>
          </p:cNvSpPr>
          <p:nvPr>
            <p:ph type="body" sz="quarter" idx="13"/>
          </p:nvPr>
        </p:nvSpPr>
        <p:spPr>
          <a:xfrm>
            <a:off x="374905" y="1122566"/>
            <a:ext cx="8493523" cy="3079305"/>
          </a:xfrm>
        </p:spPr>
        <p:txBody>
          <a:bodyPr/>
          <a:lstStyle>
            <a:lvl1pPr marL="114297" indent="-114297">
              <a:lnSpc>
                <a:spcPct val="100000"/>
              </a:lnSpc>
              <a:spcBef>
                <a:spcPts val="300"/>
              </a:spcBef>
              <a:spcAft>
                <a:spcPts val="600"/>
              </a:spcAft>
              <a:buClr>
                <a:schemeClr val="accent1"/>
              </a:buClr>
              <a:tabLst/>
              <a:defRPr sz="1425"/>
            </a:lvl1pPr>
            <a:lvl2pPr marL="217483" indent="-98423">
              <a:lnSpc>
                <a:spcPct val="100000"/>
              </a:lnSpc>
              <a:spcBef>
                <a:spcPts val="0"/>
              </a:spcBef>
              <a:spcAft>
                <a:spcPts val="600"/>
              </a:spcAft>
              <a:buClr>
                <a:schemeClr val="accent1"/>
              </a:buClr>
              <a:tabLst/>
              <a:defRPr sz="1425"/>
            </a:lvl2pPr>
            <a:lvl3pPr marL="314318" indent="-82548">
              <a:lnSpc>
                <a:spcPct val="100000"/>
              </a:lnSpc>
              <a:spcBef>
                <a:spcPts val="0"/>
              </a:spcBef>
              <a:spcAft>
                <a:spcPts val="600"/>
              </a:spcAft>
              <a:buClr>
                <a:schemeClr val="accent1"/>
              </a:buClr>
              <a:tabLst/>
              <a:defRPr sz="1200"/>
            </a:lvl3pPr>
            <a:lvl4pPr marL="404803" indent="-90486">
              <a:lnSpc>
                <a:spcPct val="100000"/>
              </a:lnSpc>
              <a:spcBef>
                <a:spcPts val="0"/>
              </a:spcBef>
              <a:spcAft>
                <a:spcPts val="600"/>
              </a:spcAft>
              <a:buClr>
                <a:schemeClr val="accent1"/>
              </a:buClr>
              <a:tabLst/>
              <a:defRPr sz="1125"/>
            </a:lvl4pPr>
            <a:lvl5pPr marL="493701" indent="-80961">
              <a:lnSpc>
                <a:spcPct val="100000"/>
              </a:lnSpc>
              <a:spcBef>
                <a:spcPts val="0"/>
              </a:spcBef>
              <a:spcAft>
                <a:spcPts val="600"/>
              </a:spcAft>
              <a:buClr>
                <a:schemeClr val="accent1"/>
              </a:buClr>
              <a:tabLst/>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12">
            <a:extLst>
              <a:ext uri="{FF2B5EF4-FFF2-40B4-BE49-F238E27FC236}">
                <a16:creationId xmlns:a16="http://schemas.microsoft.com/office/drawing/2014/main" id="{6752AC4C-5C97-6749-9FC8-151AAF91E784}"/>
              </a:ext>
            </a:extLst>
          </p:cNvPr>
          <p:cNvSpPr>
            <a:spLocks noGrp="1"/>
          </p:cNvSpPr>
          <p:nvPr>
            <p:ph type="body" sz="quarter" idx="14" hasCustomPrompt="1"/>
          </p:nvPr>
        </p:nvSpPr>
        <p:spPr>
          <a:xfrm>
            <a:off x="386034" y="4270367"/>
            <a:ext cx="8074552" cy="273844"/>
          </a:xfrm>
          <a:prstGeom prst="rect">
            <a:avLst/>
          </a:prstGeom>
        </p:spPr>
        <p:txBody>
          <a:bodyPr anchor="b"/>
          <a:lstStyle>
            <a:lvl1pPr marL="0" indent="0">
              <a:lnSpc>
                <a:spcPct val="100000"/>
              </a:lnSpc>
              <a:buNone/>
              <a:defRPr sz="700">
                <a:solidFill>
                  <a:schemeClr val="tx2"/>
                </a:solidFill>
              </a:defRPr>
            </a:lvl1pPr>
          </a:lstStyle>
          <a:p>
            <a:pPr lvl="0"/>
            <a:r>
              <a:rPr lang="en-US"/>
              <a:t>Click to edit Footnote </a:t>
            </a:r>
          </a:p>
        </p:txBody>
      </p:sp>
    </p:spTree>
    <p:extLst>
      <p:ext uri="{BB962C8B-B14F-4D97-AF65-F5344CB8AC3E}">
        <p14:creationId xmlns:p14="http://schemas.microsoft.com/office/powerpoint/2010/main" val="661015013"/>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18"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slideLayout" Target="../slideLayouts/slideLayout29.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10" Type="http://schemas.openxmlformats.org/officeDocument/2006/relationships/slideLayout" Target="../slideLayouts/slideLayout22.xml"/><Relationship Id="rId19" Type="http://schemas.openxmlformats.org/officeDocument/2006/relationships/image" Target="../media/image6.emf"/><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00101" y="221850"/>
            <a:ext cx="5770684" cy="525319"/>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800101" y="1028700"/>
            <a:ext cx="5770684" cy="360045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p:txBody>
      </p:sp>
      <p:sp>
        <p:nvSpPr>
          <p:cNvPr id="6" name="Slide Number Placeholder 5"/>
          <p:cNvSpPr>
            <a:spLocks noGrp="1"/>
          </p:cNvSpPr>
          <p:nvPr>
            <p:ph type="sldNum" sz="quarter" idx="4"/>
          </p:nvPr>
        </p:nvSpPr>
        <p:spPr>
          <a:xfrm>
            <a:off x="7620000" y="4896210"/>
            <a:ext cx="1066800" cy="125885"/>
          </a:xfrm>
          <a:prstGeom prst="rect">
            <a:avLst/>
          </a:prstGeom>
        </p:spPr>
        <p:txBody>
          <a:bodyPr vert="horz" lIns="0" tIns="0" rIns="0" bIns="0" rtlCol="0" anchor="b"/>
          <a:lstStyle>
            <a:lvl1pPr algn="r">
              <a:defRPr sz="900">
                <a:solidFill>
                  <a:schemeClr val="tx1"/>
                </a:solidFill>
              </a:defRPr>
            </a:lvl1pPr>
          </a:lstStyle>
          <a:p>
            <a:fld id="{90F9BDA0-AF0E-4BA8-B742-3B9C92A3E6FE}" type="slidenum">
              <a:rPr lang="en-US" smtClean="0"/>
              <a:pPr/>
              <a:t>‹#›</a:t>
            </a:fld>
            <a:endParaRPr lang="en-US"/>
          </a:p>
        </p:txBody>
      </p:sp>
      <p:cxnSp>
        <p:nvCxnSpPr>
          <p:cNvPr id="7" name="Straight Connector 6"/>
          <p:cNvCxnSpPr>
            <a:cxnSpLocks/>
          </p:cNvCxnSpPr>
          <p:nvPr/>
        </p:nvCxnSpPr>
        <p:spPr bwMode="auto">
          <a:xfrm>
            <a:off x="914401" y="742950"/>
            <a:ext cx="8229612" cy="0"/>
          </a:xfrm>
          <a:prstGeom prst="line">
            <a:avLst/>
          </a:prstGeom>
          <a:solidFill>
            <a:srgbClr val="798387"/>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TextBox 9"/>
          <p:cNvSpPr txBox="1"/>
          <p:nvPr/>
        </p:nvSpPr>
        <p:spPr>
          <a:xfrm>
            <a:off x="3590089" y="4945155"/>
            <a:ext cx="3998932" cy="76944"/>
          </a:xfrm>
          <a:prstGeom prst="rect">
            <a:avLst/>
          </a:prstGeom>
          <a:noFill/>
        </p:spPr>
        <p:txBody>
          <a:bodyPr wrap="square" lIns="0" tIns="0" rIns="0" bIns="0" rtlCol="0" anchor="b">
            <a:spAutoFit/>
          </a:bodyPr>
          <a:lstStyle/>
          <a:p>
            <a:pPr algn="ctr"/>
            <a:r>
              <a:rPr lang="en-US" sz="500">
                <a:solidFill>
                  <a:schemeClr val="bg1">
                    <a:lumMod val="65000"/>
                  </a:schemeClr>
                </a:solidFill>
                <a:latin typeface="Arial"/>
                <a:cs typeface="Arial"/>
              </a:rPr>
              <a:t>Proprietary information of UnitedHealth Group. Do not distribute or reproduce without express permission of UnitedHealth Group.</a:t>
            </a:r>
          </a:p>
        </p:txBody>
      </p:sp>
      <p:cxnSp>
        <p:nvCxnSpPr>
          <p:cNvPr id="11" name="Straight Connector 10"/>
          <p:cNvCxnSpPr>
            <a:cxnSpLocks/>
          </p:cNvCxnSpPr>
          <p:nvPr/>
        </p:nvCxnSpPr>
        <p:spPr bwMode="auto">
          <a:xfrm>
            <a:off x="926214" y="4795917"/>
            <a:ext cx="8217799" cy="0"/>
          </a:xfrm>
          <a:prstGeom prst="line">
            <a:avLst/>
          </a:prstGeom>
          <a:solidFill>
            <a:schemeClr val="accent1"/>
          </a:solidFill>
          <a:ln w="6350" cap="flat" cmpd="sng" algn="ctr">
            <a:solidFill>
              <a:srgbClr val="8C9599"/>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 name="Rectangle 11"/>
          <p:cNvSpPr/>
          <p:nvPr/>
        </p:nvSpPr>
        <p:spPr bwMode="auto">
          <a:xfrm rot="10800000" flipH="1">
            <a:off x="1" y="0"/>
            <a:ext cx="228600" cy="5143500"/>
          </a:xfrm>
          <a:prstGeom prst="rect">
            <a:avLst/>
          </a:prstGeom>
          <a:solidFill>
            <a:schemeClr val="accent3"/>
          </a:solidFill>
          <a:ln>
            <a:noFill/>
          </a:ln>
          <a:effectLst/>
        </p:spPr>
        <p:txBody>
          <a:bodyPr vert="horz" wrap="square" lIns="91440" tIns="45720" rIns="91440" bIns="45720" numCol="1" rtlCol="0" anchor="ctr" anchorCtr="0" compatLnSpc="1">
            <a:prstTxWarp prst="textNoShape">
              <a:avLst/>
            </a:prstTxWarp>
          </a:bodyPr>
          <a:lstStyle/>
          <a:p>
            <a:pPr marL="0" marR="0" indent="0" algn="ctr" defTabSz="914377"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rgbClr val="00A8F7"/>
              </a:solidFill>
              <a:effectLst/>
              <a:latin typeface="Arial" charset="0"/>
              <a:ea typeface="ＭＳ Ｐゴシック" pitchFamily="34" charset="-128"/>
            </a:endParaRPr>
          </a:p>
        </p:txBody>
      </p:sp>
      <p:pic>
        <p:nvPicPr>
          <p:cNvPr id="13" name="Picture 12">
            <a:extLst>
              <a:ext uri="{FF2B5EF4-FFF2-40B4-BE49-F238E27FC236}">
                <a16:creationId xmlns:a16="http://schemas.microsoft.com/office/drawing/2014/main" id="{FEBBB795-6B12-8143-BD39-224A5014408A}"/>
              </a:ext>
            </a:extLst>
          </p:cNvPr>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7463883" y="180410"/>
            <a:ext cx="1509131" cy="473641"/>
          </a:xfrm>
          <a:prstGeom prst="rect">
            <a:avLst/>
          </a:prstGeom>
        </p:spPr>
      </p:pic>
      <p:grpSp>
        <p:nvGrpSpPr>
          <p:cNvPr id="5" name="Group 4">
            <a:extLst>
              <a:ext uri="{FF2B5EF4-FFF2-40B4-BE49-F238E27FC236}">
                <a16:creationId xmlns:a16="http://schemas.microsoft.com/office/drawing/2014/main" id="{E0C84591-42A7-CD48-8BF3-E973F9116F26}"/>
              </a:ext>
            </a:extLst>
          </p:cNvPr>
          <p:cNvGrpSpPr/>
          <p:nvPr userDrawn="1"/>
        </p:nvGrpSpPr>
        <p:grpSpPr>
          <a:xfrm>
            <a:off x="330123" y="221852"/>
            <a:ext cx="477731" cy="644131"/>
            <a:chOff x="679539" y="1"/>
            <a:chExt cx="3815548" cy="5144568"/>
          </a:xfrm>
        </p:grpSpPr>
        <p:sp>
          <p:nvSpPr>
            <p:cNvPr id="15" name="Chevron 14">
              <a:extLst>
                <a:ext uri="{FF2B5EF4-FFF2-40B4-BE49-F238E27FC236}">
                  <a16:creationId xmlns:a16="http://schemas.microsoft.com/office/drawing/2014/main" id="{6B50E7A6-06FD-7C42-8BA6-11059A2E76FE}"/>
                </a:ext>
              </a:extLst>
            </p:cNvPr>
            <p:cNvSpPr/>
            <p:nvPr userDrawn="1"/>
          </p:nvSpPr>
          <p:spPr>
            <a:xfrm>
              <a:off x="679539" y="1"/>
              <a:ext cx="3193569" cy="2999574"/>
            </a:xfrm>
            <a:prstGeom prst="chevron">
              <a:avLst>
                <a:gd name="adj" fmla="val 4614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16" name="Chevron 15">
              <a:extLst>
                <a:ext uri="{FF2B5EF4-FFF2-40B4-BE49-F238E27FC236}">
                  <a16:creationId xmlns:a16="http://schemas.microsoft.com/office/drawing/2014/main" id="{B505635B-F8A4-0A4D-B76F-B38ACD2EFA0A}"/>
                </a:ext>
              </a:extLst>
            </p:cNvPr>
            <p:cNvSpPr/>
            <p:nvPr userDrawn="1"/>
          </p:nvSpPr>
          <p:spPr>
            <a:xfrm>
              <a:off x="696634" y="1576855"/>
              <a:ext cx="3798453" cy="3567714"/>
            </a:xfrm>
            <a:prstGeom prst="chevron">
              <a:avLst>
                <a:gd name="adj" fmla="val 46148"/>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17" name="Chevron 16">
              <a:extLst>
                <a:ext uri="{FF2B5EF4-FFF2-40B4-BE49-F238E27FC236}">
                  <a16:creationId xmlns:a16="http://schemas.microsoft.com/office/drawing/2014/main" id="{45CD8845-FF64-784F-97B0-A9EC406E4027}"/>
                </a:ext>
              </a:extLst>
            </p:cNvPr>
            <p:cNvSpPr/>
            <p:nvPr userDrawn="1"/>
          </p:nvSpPr>
          <p:spPr>
            <a:xfrm>
              <a:off x="1500375" y="1166614"/>
              <a:ext cx="2488584" cy="2337414"/>
            </a:xfrm>
            <a:prstGeom prst="chevron">
              <a:avLst>
                <a:gd name="adj" fmla="val 46148"/>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grpSp>
      <p:grpSp>
        <p:nvGrpSpPr>
          <p:cNvPr id="4" name="Group 3">
            <a:extLst>
              <a:ext uri="{FF2B5EF4-FFF2-40B4-BE49-F238E27FC236}">
                <a16:creationId xmlns:a16="http://schemas.microsoft.com/office/drawing/2014/main" id="{A35946B5-B7F7-3847-880B-D8559EFA6D30}"/>
              </a:ext>
            </a:extLst>
          </p:cNvPr>
          <p:cNvGrpSpPr/>
          <p:nvPr userDrawn="1"/>
        </p:nvGrpSpPr>
        <p:grpSpPr>
          <a:xfrm>
            <a:off x="701196" y="4848999"/>
            <a:ext cx="2609341" cy="230049"/>
            <a:chOff x="744483" y="4848998"/>
            <a:chExt cx="2609341" cy="230049"/>
          </a:xfrm>
        </p:grpSpPr>
        <p:sp>
          <p:nvSpPr>
            <p:cNvPr id="18" name="TextBox 17">
              <a:extLst>
                <a:ext uri="{FF2B5EF4-FFF2-40B4-BE49-F238E27FC236}">
                  <a16:creationId xmlns:a16="http://schemas.microsoft.com/office/drawing/2014/main" id="{EF7686B8-9398-AB44-9F8B-556F17CC646D}"/>
                </a:ext>
              </a:extLst>
            </p:cNvPr>
            <p:cNvSpPr txBox="1"/>
            <p:nvPr userDrawn="1"/>
          </p:nvSpPr>
          <p:spPr>
            <a:xfrm>
              <a:off x="2184981" y="4875393"/>
              <a:ext cx="1168843" cy="161711"/>
            </a:xfrm>
            <a:prstGeom prst="rect">
              <a:avLst/>
            </a:prstGeom>
            <a:noFill/>
          </p:spPr>
          <p:txBody>
            <a:bodyPr wrap="square" lIns="0" tIns="0" rIns="0" bIns="0" rtlCol="0" anchor="ctr">
              <a:spAutoFit/>
            </a:bodyPr>
            <a:lstStyle/>
            <a:p>
              <a:pPr algn="l"/>
              <a:r>
                <a:rPr lang="en-US" sz="1051" b="1">
                  <a:solidFill>
                    <a:schemeClr val="tx1">
                      <a:lumMod val="50000"/>
                    </a:schemeClr>
                  </a:solidFill>
                  <a:latin typeface="+mn-lt"/>
                  <a:cs typeface="Arial"/>
                </a:rPr>
                <a:t>Better Together</a:t>
              </a:r>
            </a:p>
          </p:txBody>
        </p:sp>
        <p:sp>
          <p:nvSpPr>
            <p:cNvPr id="19" name="Title 3">
              <a:extLst>
                <a:ext uri="{FF2B5EF4-FFF2-40B4-BE49-F238E27FC236}">
                  <a16:creationId xmlns:a16="http://schemas.microsoft.com/office/drawing/2014/main" id="{7895A49F-04D5-5E48-88BF-10579EB5E39B}"/>
                </a:ext>
              </a:extLst>
            </p:cNvPr>
            <p:cNvSpPr txBox="1">
              <a:spLocks/>
            </p:cNvSpPr>
            <p:nvPr userDrawn="1"/>
          </p:nvSpPr>
          <p:spPr>
            <a:xfrm>
              <a:off x="744483" y="4848998"/>
              <a:ext cx="1342523" cy="230049"/>
            </a:xfrm>
            <a:prstGeom prst="rect">
              <a:avLst/>
            </a:prstGeom>
          </p:spPr>
          <p:txBody>
            <a:bodyPr anchor="ctr"/>
            <a:lstStyle>
              <a:lvl1pPr algn="l" defTabSz="914400" rtl="0" eaLnBrk="1" latinLnBrk="0" hangingPunct="1">
                <a:lnSpc>
                  <a:spcPct val="90000"/>
                </a:lnSpc>
                <a:spcBef>
                  <a:spcPct val="0"/>
                </a:spcBef>
                <a:buNone/>
                <a:defRPr sz="2400" b="1" kern="1200">
                  <a:solidFill>
                    <a:schemeClr val="tx1">
                      <a:lumMod val="50000"/>
                    </a:schemeClr>
                  </a:solidFill>
                  <a:latin typeface="+mj-lt"/>
                  <a:ea typeface="+mj-ea"/>
                  <a:cs typeface="+mj-cs"/>
                </a:defRPr>
              </a:lvl1pPr>
            </a:lstStyle>
            <a:p>
              <a:pPr algn="r"/>
              <a:r>
                <a:rPr lang="en-US" sz="1051">
                  <a:solidFill>
                    <a:schemeClr val="accent1"/>
                  </a:solidFill>
                  <a:latin typeface="+mn-lt"/>
                </a:rPr>
                <a:t>UHC</a:t>
              </a:r>
              <a:r>
                <a:rPr lang="en-US" sz="1051">
                  <a:solidFill>
                    <a:schemeClr val="accent2"/>
                  </a:solidFill>
                  <a:latin typeface="+mn-lt"/>
                </a:rPr>
                <a:t>Technology</a:t>
              </a:r>
            </a:p>
          </p:txBody>
        </p:sp>
        <p:cxnSp>
          <p:nvCxnSpPr>
            <p:cNvPr id="8" name="Straight Connector 7"/>
            <p:cNvCxnSpPr/>
            <p:nvPr userDrawn="1"/>
          </p:nvCxnSpPr>
          <p:spPr>
            <a:xfrm>
              <a:off x="2087006" y="4874877"/>
              <a:ext cx="0" cy="1814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26656894"/>
      </p:ext>
    </p:extLst>
  </p:cSld>
  <p:clrMap bg1="lt1" tx1="dk1" bg2="lt2" tx2="dk2" accent1="accent1" accent2="accent2" accent3="accent3" accent4="accent4" accent5="accent5" accent6="accent6" hlink="hlink" folHlink="folHlink"/>
  <p:sldLayoutIdLst>
    <p:sldLayoutId id="2147483671" r:id="rId1"/>
    <p:sldLayoutId id="2147483714" r:id="rId2"/>
    <p:sldLayoutId id="2147483682" r:id="rId3"/>
    <p:sldLayoutId id="2147483709" r:id="rId4"/>
    <p:sldLayoutId id="2147483672" r:id="rId5"/>
    <p:sldLayoutId id="2147483676" r:id="rId6"/>
    <p:sldLayoutId id="2147483683" r:id="rId7"/>
    <p:sldLayoutId id="2147483713" r:id="rId8"/>
    <p:sldLayoutId id="2147483710" r:id="rId9"/>
    <p:sldLayoutId id="2147483712" r:id="rId10"/>
    <p:sldLayoutId id="2147483711" r:id="rId11"/>
    <p:sldLayoutId id="2147483708" r:id="rId12"/>
  </p:sldLayoutIdLst>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hf hdr="0" ftr="0" dt="0"/>
  <p:txStyles>
    <p:titleStyle>
      <a:lvl1pPr algn="l" defTabSz="914377" rtl="0" eaLnBrk="1" latinLnBrk="0" hangingPunct="1">
        <a:lnSpc>
          <a:spcPct val="90000"/>
        </a:lnSpc>
        <a:spcBef>
          <a:spcPct val="0"/>
        </a:spcBef>
        <a:buNone/>
        <a:defRPr sz="2400" b="1" kern="1200">
          <a:solidFill>
            <a:schemeClr val="tx1">
              <a:lumMod val="50000"/>
            </a:schemeClr>
          </a:solidFill>
          <a:latin typeface="+mj-lt"/>
          <a:ea typeface="+mj-ea"/>
          <a:cs typeface="+mj-cs"/>
        </a:defRPr>
      </a:lvl1pPr>
    </p:titleStyle>
    <p:bodyStyle>
      <a:lvl1pPr marL="176209" indent="-176209" algn="l" defTabSz="914377" rtl="0" eaLnBrk="1" latinLnBrk="0" hangingPunct="1">
        <a:spcBef>
          <a:spcPts val="0"/>
        </a:spcBef>
        <a:spcAft>
          <a:spcPts val="400"/>
        </a:spcAft>
        <a:buClr>
          <a:schemeClr val="accent3"/>
        </a:buClr>
        <a:buFont typeface="Arial" panose="020B0604020202020204" pitchFamily="34" charset="0"/>
        <a:buChar char="•"/>
        <a:defRPr sz="1800" kern="1200">
          <a:solidFill>
            <a:srgbClr val="4D4D4D"/>
          </a:solidFill>
          <a:latin typeface="+mn-lt"/>
          <a:ea typeface="+mn-ea"/>
          <a:cs typeface="+mn-cs"/>
        </a:defRPr>
      </a:lvl1pPr>
      <a:lvl2pPr marL="342891" indent="-152396" algn="l" defTabSz="914377" rtl="0" eaLnBrk="1" latinLnBrk="0" hangingPunct="1">
        <a:spcBef>
          <a:spcPts val="0"/>
        </a:spcBef>
        <a:spcAft>
          <a:spcPts val="400"/>
        </a:spcAft>
        <a:buClr>
          <a:schemeClr val="accent3"/>
        </a:buClr>
        <a:buFont typeface="Arial" panose="020B0604020202020204" pitchFamily="34" charset="0"/>
        <a:buChar char="-"/>
        <a:defRPr sz="1800" kern="1200">
          <a:solidFill>
            <a:srgbClr val="4D4D4D"/>
          </a:solidFill>
          <a:latin typeface="+mn-lt"/>
          <a:ea typeface="+mn-ea"/>
          <a:cs typeface="+mn-cs"/>
        </a:defRPr>
      </a:lvl2pPr>
      <a:lvl3pPr marL="404802" indent="0" algn="l" defTabSz="914377" rtl="0" eaLnBrk="1" latinLnBrk="0" hangingPunct="1">
        <a:spcBef>
          <a:spcPts val="0"/>
        </a:spcBef>
        <a:spcAft>
          <a:spcPts val="400"/>
        </a:spcAft>
        <a:buClr>
          <a:schemeClr val="accent3"/>
        </a:buClr>
        <a:buFont typeface="Arial" panose="020B0604020202020204" pitchFamily="34" charset="0"/>
        <a:buNone/>
        <a:defRPr sz="1800" kern="1200">
          <a:solidFill>
            <a:srgbClr val="4D4D4D"/>
          </a:solidFill>
          <a:latin typeface="+mn-lt"/>
          <a:ea typeface="+mn-ea"/>
          <a:cs typeface="+mn-cs"/>
        </a:defRPr>
      </a:lvl3pPr>
      <a:lvl4pPr marL="747695" indent="-176209" algn="l" defTabSz="914377" rtl="0" eaLnBrk="1" latinLnBrk="0" hangingPunct="1">
        <a:spcBef>
          <a:spcPts val="0"/>
        </a:spcBef>
        <a:spcAft>
          <a:spcPts val="400"/>
        </a:spcAft>
        <a:buClr>
          <a:schemeClr val="accent3"/>
        </a:buClr>
        <a:buFont typeface="Arial" panose="020B0604020202020204" pitchFamily="34" charset="0"/>
        <a:buChar char="–"/>
        <a:defRPr sz="1800" kern="1200">
          <a:solidFill>
            <a:srgbClr val="4D4D4D"/>
          </a:solidFill>
          <a:latin typeface="+mn-lt"/>
          <a:ea typeface="+mn-ea"/>
          <a:cs typeface="+mn-cs"/>
        </a:defRPr>
      </a:lvl4pPr>
      <a:lvl5pPr marL="976289" indent="-228594" algn="l" defTabSz="914377" rtl="0" eaLnBrk="1" latinLnBrk="0" hangingPunct="1">
        <a:spcBef>
          <a:spcPts val="0"/>
        </a:spcBef>
        <a:spcAft>
          <a:spcPts val="400"/>
        </a:spcAft>
        <a:buClr>
          <a:schemeClr val="accent3"/>
        </a:buClr>
        <a:buFont typeface="Arial" panose="020B0604020202020204" pitchFamily="34" charset="0"/>
        <a:buChar char="»"/>
        <a:defRPr sz="1800" kern="1200">
          <a:solidFill>
            <a:srgbClr val="4D4D4D"/>
          </a:solidFill>
          <a:latin typeface="+mn-lt"/>
          <a:ea typeface="+mn-ea"/>
          <a:cs typeface="+mn-cs"/>
        </a:defRPr>
      </a:lvl5pPr>
      <a:lvl6pPr marL="2514537" indent="-228594" algn="l" defTabSz="914377" rtl="0" eaLnBrk="1" latinLnBrk="0" hangingPunct="1">
        <a:spcBef>
          <a:spcPct val="20000"/>
        </a:spcBef>
        <a:buClr>
          <a:schemeClr val="accent3"/>
        </a:buClr>
        <a:buFont typeface="Arial" panose="020B0604020202020204" pitchFamily="34" charset="0"/>
        <a:buChar char="•"/>
        <a:defRPr sz="1800" kern="1200">
          <a:solidFill>
            <a:srgbClr val="4D4D4D"/>
          </a:solidFill>
          <a:latin typeface="+mn-lt"/>
          <a:ea typeface="+mn-ea"/>
          <a:cs typeface="+mn-cs"/>
        </a:defRPr>
      </a:lvl6pPr>
      <a:lvl7pPr marL="2971726" indent="-228594" algn="l" defTabSz="914377" rtl="0" eaLnBrk="1" latinLnBrk="0" hangingPunct="1">
        <a:spcBef>
          <a:spcPct val="20000"/>
        </a:spcBef>
        <a:buClr>
          <a:schemeClr val="accent3"/>
        </a:buClr>
        <a:buFont typeface="Arial" panose="020B0604020202020204" pitchFamily="34" charset="0"/>
        <a:buChar char="•"/>
        <a:defRPr sz="1800" kern="1200">
          <a:solidFill>
            <a:srgbClr val="4D4D4D"/>
          </a:solidFill>
          <a:latin typeface="+mn-lt"/>
          <a:ea typeface="+mn-ea"/>
          <a:cs typeface="+mn-cs"/>
        </a:defRPr>
      </a:lvl7pPr>
      <a:lvl8pPr marL="3428914" indent="-228594" algn="l" defTabSz="914377" rtl="0" eaLnBrk="1" latinLnBrk="0" hangingPunct="1">
        <a:spcBef>
          <a:spcPct val="20000"/>
        </a:spcBef>
        <a:buClr>
          <a:schemeClr val="accent3"/>
        </a:buClr>
        <a:buFont typeface="Arial" panose="020B0604020202020204" pitchFamily="34" charset="0"/>
        <a:buChar char="•"/>
        <a:defRPr sz="1800" kern="1200">
          <a:solidFill>
            <a:srgbClr val="4D4D4D"/>
          </a:solidFill>
          <a:latin typeface="+mn-lt"/>
          <a:ea typeface="+mn-ea"/>
          <a:cs typeface="+mn-cs"/>
        </a:defRPr>
      </a:lvl8pPr>
      <a:lvl9pPr marL="3657509" indent="0" algn="l" defTabSz="914377" rtl="0" eaLnBrk="1" latinLnBrk="0" hangingPunct="1">
        <a:spcBef>
          <a:spcPct val="20000"/>
        </a:spcBef>
        <a:buClr>
          <a:schemeClr val="accent3"/>
        </a:buClr>
        <a:buFont typeface="Arial" panose="020B0604020202020204" pitchFamily="34" charset="0"/>
        <a:buNone/>
        <a:defRPr sz="1800" kern="1200" baseline="0">
          <a:solidFill>
            <a:srgbClr val="4D4D4D"/>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6" userDrawn="1">
          <p15:clr>
            <a:srgbClr val="F26B43"/>
          </p15:clr>
        </p15:guide>
        <p15:guide id="2" pos="504" userDrawn="1">
          <p15:clr>
            <a:srgbClr val="F26B43"/>
          </p15:clr>
        </p15:guide>
        <p15:guide id="3" pos="576" userDrawn="1">
          <p15:clr>
            <a:srgbClr val="F26B43"/>
          </p15:clr>
        </p15:guide>
        <p15:guide id="4" orient="horz" pos="1476" userDrawn="1">
          <p15:clr>
            <a:srgbClr val="F26B43"/>
          </p15:clr>
        </p15:guide>
        <p15:guide id="5" pos="2592" userDrawn="1">
          <p15:clr>
            <a:srgbClr val="F26B43"/>
          </p15:clr>
        </p15:guide>
        <p15:guide id="6" orient="horz" pos="3156" userDrawn="1">
          <p15:clr>
            <a:srgbClr val="F26B43"/>
          </p15:clr>
        </p15:guide>
        <p15:guide id="7" pos="2976" userDrawn="1">
          <p15:clr>
            <a:srgbClr val="F26B43"/>
          </p15:clr>
        </p15:guide>
        <p15:guide id="8" orient="horz" pos="1548" userDrawn="1">
          <p15:clr>
            <a:srgbClr val="F26B43"/>
          </p15:clr>
        </p15:guide>
        <p15:guide id="9" orient="horz" pos="3036" userDrawn="1">
          <p15:clr>
            <a:srgbClr val="F26B43"/>
          </p15:clr>
        </p15:guide>
        <p15:guide id="10" pos="266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7184" y="171451"/>
            <a:ext cx="5943600" cy="592934"/>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41350" y="1028700"/>
            <a:ext cx="8045450" cy="360045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p:txBody>
      </p:sp>
      <p:sp>
        <p:nvSpPr>
          <p:cNvPr id="6" name="Slide Number Placeholder 5"/>
          <p:cNvSpPr>
            <a:spLocks noGrp="1"/>
          </p:cNvSpPr>
          <p:nvPr>
            <p:ph type="sldNum" sz="quarter" idx="4"/>
          </p:nvPr>
        </p:nvSpPr>
        <p:spPr>
          <a:xfrm>
            <a:off x="7620000" y="4896196"/>
            <a:ext cx="1066800" cy="125885"/>
          </a:xfrm>
          <a:prstGeom prst="rect">
            <a:avLst/>
          </a:prstGeom>
        </p:spPr>
        <p:txBody>
          <a:bodyPr vert="horz" lIns="0" tIns="0" rIns="0" bIns="0" rtlCol="0" anchor="b"/>
          <a:lstStyle>
            <a:lvl1pPr algn="r">
              <a:defRPr sz="900">
                <a:solidFill>
                  <a:schemeClr val="tx1"/>
                </a:solidFill>
              </a:defRPr>
            </a:lvl1pPr>
          </a:lstStyle>
          <a:p>
            <a:fld id="{90F9BDA0-AF0E-4BA8-B742-3B9C92A3E6FE}" type="slidenum">
              <a:rPr lang="en-US" smtClean="0"/>
              <a:pPr/>
              <a:t>‹#›</a:t>
            </a:fld>
            <a:endParaRPr lang="en-US"/>
          </a:p>
        </p:txBody>
      </p:sp>
      <p:cxnSp>
        <p:nvCxnSpPr>
          <p:cNvPr id="7" name="Straight Connector 6"/>
          <p:cNvCxnSpPr/>
          <p:nvPr/>
        </p:nvCxnSpPr>
        <p:spPr bwMode="auto">
          <a:xfrm>
            <a:off x="746128" y="742950"/>
            <a:ext cx="8397875" cy="0"/>
          </a:xfrm>
          <a:prstGeom prst="line">
            <a:avLst/>
          </a:prstGeom>
          <a:solidFill>
            <a:srgbClr val="798387"/>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TextBox 9"/>
          <p:cNvSpPr txBox="1"/>
          <p:nvPr/>
        </p:nvSpPr>
        <p:spPr>
          <a:xfrm>
            <a:off x="744220" y="4929749"/>
            <a:ext cx="5842000" cy="92333"/>
          </a:xfrm>
          <a:prstGeom prst="rect">
            <a:avLst/>
          </a:prstGeom>
          <a:noFill/>
        </p:spPr>
        <p:txBody>
          <a:bodyPr wrap="square" lIns="0" tIns="0" rIns="0" bIns="0" rtlCol="0" anchor="b">
            <a:spAutoFit/>
          </a:bodyPr>
          <a:lstStyle/>
          <a:p>
            <a:r>
              <a:rPr lang="en-US" sz="600">
                <a:solidFill>
                  <a:schemeClr val="tx1"/>
                </a:solidFill>
                <a:latin typeface="Arial"/>
                <a:cs typeface="Arial"/>
              </a:rPr>
              <a:t>Proprietary information of UnitedHealth Group. Do not distribute or reproduce without express permission of UnitedHealth Group.</a:t>
            </a:r>
          </a:p>
        </p:txBody>
      </p:sp>
      <p:cxnSp>
        <p:nvCxnSpPr>
          <p:cNvPr id="11" name="Straight Connector 10"/>
          <p:cNvCxnSpPr/>
          <p:nvPr/>
        </p:nvCxnSpPr>
        <p:spPr bwMode="auto">
          <a:xfrm>
            <a:off x="746128" y="4850027"/>
            <a:ext cx="8397875" cy="0"/>
          </a:xfrm>
          <a:prstGeom prst="line">
            <a:avLst/>
          </a:prstGeom>
          <a:solidFill>
            <a:schemeClr val="accent1"/>
          </a:solidFill>
          <a:ln w="6350" cap="flat" cmpd="sng" algn="ctr">
            <a:solidFill>
              <a:srgbClr val="8C9599"/>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 name="Rectangle 11"/>
          <p:cNvSpPr/>
          <p:nvPr/>
        </p:nvSpPr>
        <p:spPr bwMode="auto">
          <a:xfrm rot="10800000" flipH="1">
            <a:off x="1" y="0"/>
            <a:ext cx="228600" cy="5143500"/>
          </a:xfrm>
          <a:prstGeom prst="rect">
            <a:avLst/>
          </a:prstGeom>
          <a:solidFill>
            <a:schemeClr val="accent3"/>
          </a:solidFill>
          <a:ln>
            <a:noFill/>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200" b="0" i="0" u="none" strike="noStrike" cap="none" normalizeH="0" baseline="0">
              <a:ln>
                <a:noFill/>
              </a:ln>
              <a:solidFill>
                <a:srgbClr val="00A8F7"/>
              </a:solidFill>
              <a:effectLst/>
              <a:latin typeface="Arial" charset="0"/>
              <a:ea typeface="ＭＳ Ｐゴシック" pitchFamily="34" charset="-128"/>
            </a:endParaRPr>
          </a:p>
        </p:txBody>
      </p:sp>
      <p:pic>
        <p:nvPicPr>
          <p:cNvPr id="13" name="Picture 12" descr="2015_UHC_E&amp;I_Logo_RGB.eps"/>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7255874" y="287007"/>
            <a:ext cx="1604994" cy="393191"/>
          </a:xfrm>
          <a:prstGeom prst="rect">
            <a:avLst/>
          </a:prstGeom>
        </p:spPr>
      </p:pic>
    </p:spTree>
    <p:extLst>
      <p:ext uri="{BB962C8B-B14F-4D97-AF65-F5344CB8AC3E}">
        <p14:creationId xmlns:p14="http://schemas.microsoft.com/office/powerpoint/2010/main" val="1077228984"/>
      </p:ext>
    </p:extLst>
  </p:cSld>
  <p:clrMap bg1="lt1" tx1="dk1" bg2="lt2" tx2="dk2" accent1="accent1" accent2="accent2" accent3="accent3" accent4="accent4" accent5="accent5" accent6="accent6" hlink="hlink" folHlink="folHlink"/>
  <p:sldLayoutIdLst>
    <p:sldLayoutId id="2147483718" r:id="rId1"/>
    <p:sldLayoutId id="2147483719" r:id="rId2"/>
    <p:sldLayoutId id="2147483720" r:id="rId3"/>
    <p:sldLayoutId id="2147483721" r:id="rId4"/>
    <p:sldLayoutId id="2147483722" r:id="rId5"/>
    <p:sldLayoutId id="2147483723" r:id="rId6"/>
    <p:sldLayoutId id="2147483724" r:id="rId7"/>
    <p:sldLayoutId id="2147483725" r:id="rId8"/>
    <p:sldLayoutId id="2147483726" r:id="rId9"/>
    <p:sldLayoutId id="2147483727" r:id="rId10"/>
    <p:sldLayoutId id="2147483728" r:id="rId11"/>
    <p:sldLayoutId id="2147483730" r:id="rId12"/>
    <p:sldLayoutId id="2147483732" r:id="rId13"/>
    <p:sldLayoutId id="2147483760" r:id="rId14"/>
    <p:sldLayoutId id="2147483761" r:id="rId15"/>
    <p:sldLayoutId id="2147483762" r:id="rId16"/>
    <p:sldLayoutId id="2147483765" r:id="rId17"/>
  </p:sldLayoutIdLst>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hf hdr="0" ftr="0" dt="0"/>
  <p:txStyles>
    <p:titleStyle>
      <a:lvl1pPr algn="l" defTabSz="914400" rtl="0" eaLnBrk="1" latinLnBrk="0" hangingPunct="1">
        <a:lnSpc>
          <a:spcPct val="90000"/>
        </a:lnSpc>
        <a:spcBef>
          <a:spcPct val="0"/>
        </a:spcBef>
        <a:buNone/>
        <a:defRPr sz="2400" b="1" kern="1200">
          <a:solidFill>
            <a:schemeClr val="accent1"/>
          </a:solidFill>
          <a:latin typeface="+mj-lt"/>
          <a:ea typeface="+mj-ea"/>
          <a:cs typeface="+mj-cs"/>
        </a:defRPr>
      </a:lvl1pPr>
    </p:titleStyle>
    <p:bodyStyle>
      <a:lvl1pPr marL="176213" indent="-176213" algn="l" defTabSz="914400" rtl="0" eaLnBrk="1" latinLnBrk="0" hangingPunct="1">
        <a:spcBef>
          <a:spcPts val="0"/>
        </a:spcBef>
        <a:spcAft>
          <a:spcPts val="400"/>
        </a:spcAft>
        <a:buClr>
          <a:schemeClr val="accent3"/>
        </a:buClr>
        <a:buFont typeface="Arial" panose="020B0604020202020204" pitchFamily="34" charset="0"/>
        <a:buChar char="•"/>
        <a:defRPr sz="1800" kern="1200">
          <a:solidFill>
            <a:srgbClr val="4D4D4D"/>
          </a:solidFill>
          <a:latin typeface="+mn-lt"/>
          <a:ea typeface="+mn-ea"/>
          <a:cs typeface="+mn-cs"/>
        </a:defRPr>
      </a:lvl1pPr>
      <a:lvl2pPr marL="342900" indent="-152400" algn="l" defTabSz="914400" rtl="0" eaLnBrk="1" latinLnBrk="0" hangingPunct="1">
        <a:spcBef>
          <a:spcPts val="0"/>
        </a:spcBef>
        <a:spcAft>
          <a:spcPts val="400"/>
        </a:spcAft>
        <a:buClr>
          <a:schemeClr val="accent3"/>
        </a:buClr>
        <a:buFont typeface="Arial" panose="020B0604020202020204" pitchFamily="34" charset="0"/>
        <a:buChar char="-"/>
        <a:defRPr sz="1800" kern="1200">
          <a:solidFill>
            <a:srgbClr val="4D4D4D"/>
          </a:solidFill>
          <a:latin typeface="+mn-lt"/>
          <a:ea typeface="+mn-ea"/>
          <a:cs typeface="+mn-cs"/>
        </a:defRPr>
      </a:lvl2pPr>
      <a:lvl3pPr marL="404812" indent="0" algn="l" defTabSz="914400" rtl="0" eaLnBrk="1" latinLnBrk="0" hangingPunct="1">
        <a:spcBef>
          <a:spcPts val="0"/>
        </a:spcBef>
        <a:spcAft>
          <a:spcPts val="400"/>
        </a:spcAft>
        <a:buClr>
          <a:schemeClr val="accent3"/>
        </a:buClr>
        <a:buFont typeface="Arial" panose="020B0604020202020204" pitchFamily="34" charset="0"/>
        <a:buNone/>
        <a:defRPr sz="1800" kern="1200">
          <a:solidFill>
            <a:srgbClr val="4D4D4D"/>
          </a:solidFill>
          <a:latin typeface="+mn-lt"/>
          <a:ea typeface="+mn-ea"/>
          <a:cs typeface="+mn-cs"/>
        </a:defRPr>
      </a:lvl3pPr>
      <a:lvl4pPr marL="747713" indent="-176213" algn="l" defTabSz="914400" rtl="0" eaLnBrk="1" latinLnBrk="0" hangingPunct="1">
        <a:spcBef>
          <a:spcPts val="0"/>
        </a:spcBef>
        <a:spcAft>
          <a:spcPts val="400"/>
        </a:spcAft>
        <a:buClr>
          <a:schemeClr val="accent3"/>
        </a:buClr>
        <a:buFont typeface="Arial" panose="020B0604020202020204" pitchFamily="34" charset="0"/>
        <a:buChar char="–"/>
        <a:defRPr sz="1800" kern="1200">
          <a:solidFill>
            <a:srgbClr val="4D4D4D"/>
          </a:solidFill>
          <a:latin typeface="+mn-lt"/>
          <a:ea typeface="+mn-ea"/>
          <a:cs typeface="+mn-cs"/>
        </a:defRPr>
      </a:lvl4pPr>
      <a:lvl5pPr marL="976313" indent="-228600" algn="l" defTabSz="914400" rtl="0" eaLnBrk="1" latinLnBrk="0" hangingPunct="1">
        <a:spcBef>
          <a:spcPts val="0"/>
        </a:spcBef>
        <a:spcAft>
          <a:spcPts val="400"/>
        </a:spcAft>
        <a:buClr>
          <a:schemeClr val="accent3"/>
        </a:buClr>
        <a:buFont typeface="Arial" panose="020B0604020202020204" pitchFamily="34" charset="0"/>
        <a:buChar char="»"/>
        <a:defRPr sz="1800" kern="1200">
          <a:solidFill>
            <a:srgbClr val="4D4D4D"/>
          </a:solidFill>
          <a:latin typeface="+mn-lt"/>
          <a:ea typeface="+mn-ea"/>
          <a:cs typeface="+mn-cs"/>
        </a:defRPr>
      </a:lvl5pPr>
      <a:lvl6pPr marL="2514600" indent="-228600" algn="l" defTabSz="914400" rtl="0" eaLnBrk="1" latinLnBrk="0" hangingPunct="1">
        <a:spcBef>
          <a:spcPct val="20000"/>
        </a:spcBef>
        <a:buClr>
          <a:schemeClr val="accent3"/>
        </a:buClr>
        <a:buFont typeface="Arial" panose="020B0604020202020204" pitchFamily="34" charset="0"/>
        <a:buChar char="•"/>
        <a:defRPr sz="1800" kern="1200">
          <a:solidFill>
            <a:srgbClr val="4D4D4D"/>
          </a:solidFill>
          <a:latin typeface="+mn-lt"/>
          <a:ea typeface="+mn-ea"/>
          <a:cs typeface="+mn-cs"/>
        </a:defRPr>
      </a:lvl6pPr>
      <a:lvl7pPr marL="2971800" indent="-228600" algn="l" defTabSz="914400" rtl="0" eaLnBrk="1" latinLnBrk="0" hangingPunct="1">
        <a:spcBef>
          <a:spcPct val="20000"/>
        </a:spcBef>
        <a:buClr>
          <a:schemeClr val="accent3"/>
        </a:buClr>
        <a:buFont typeface="Arial" panose="020B0604020202020204" pitchFamily="34" charset="0"/>
        <a:buChar char="•"/>
        <a:defRPr sz="1800" kern="1200">
          <a:solidFill>
            <a:srgbClr val="4D4D4D"/>
          </a:solidFill>
          <a:latin typeface="+mn-lt"/>
          <a:ea typeface="+mn-ea"/>
          <a:cs typeface="+mn-cs"/>
        </a:defRPr>
      </a:lvl7pPr>
      <a:lvl8pPr marL="3429000" indent="-228600" algn="l" defTabSz="914400" rtl="0" eaLnBrk="1" latinLnBrk="0" hangingPunct="1">
        <a:spcBef>
          <a:spcPct val="20000"/>
        </a:spcBef>
        <a:buClr>
          <a:schemeClr val="accent3"/>
        </a:buClr>
        <a:buFont typeface="Arial" panose="020B0604020202020204" pitchFamily="34" charset="0"/>
        <a:buChar char="•"/>
        <a:defRPr sz="1800" kern="1200">
          <a:solidFill>
            <a:srgbClr val="4D4D4D"/>
          </a:solidFill>
          <a:latin typeface="+mn-lt"/>
          <a:ea typeface="+mn-ea"/>
          <a:cs typeface="+mn-cs"/>
        </a:defRPr>
      </a:lvl8pPr>
      <a:lvl9pPr marL="3657600" indent="0" algn="l" defTabSz="914400" rtl="0" eaLnBrk="1" latinLnBrk="0" hangingPunct="1">
        <a:spcBef>
          <a:spcPct val="20000"/>
        </a:spcBef>
        <a:buClr>
          <a:schemeClr val="accent3"/>
        </a:buClr>
        <a:buFont typeface="Arial" panose="020B0604020202020204" pitchFamily="34" charset="0"/>
        <a:buNone/>
        <a:defRPr sz="1800" kern="1200" baseline="0">
          <a:solidFill>
            <a:srgbClr val="4D4D4D"/>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4.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9.xml"/><Relationship Id="rId7" Type="http://schemas.openxmlformats.org/officeDocument/2006/relationships/image" Target="../media/image13.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12.emf"/><Relationship Id="rId5" Type="http://schemas.openxmlformats.org/officeDocument/2006/relationships/oleObject" Target="../embeddings/oleObject1.bin"/><Relationship Id="rId4"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8.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16.xml"/></Relationships>
</file>

<file path=ppt/slides/_rels/slide4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16.xml"/></Relationships>
</file>

<file path=ppt/slides/_rels/slide4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16.xml"/></Relationships>
</file>

<file path=ppt/slides/_rels/slide4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3.xml"/><Relationship Id="rId1" Type="http://schemas.openxmlformats.org/officeDocument/2006/relationships/slideLayout" Target="../slideLayouts/slideLayout1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16.xml"/></Relationships>
</file>

<file path=ppt/slides/_rels/slide5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_rels/slide5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16.xml"/></Relationships>
</file>

<file path=ppt/slides/_rels/slide5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7.xml"/><Relationship Id="rId1" Type="http://schemas.openxmlformats.org/officeDocument/2006/relationships/slideLayout" Target="../slideLayouts/slideLayout16.xml"/></Relationships>
</file>

<file path=ppt/slides/_rels/slide5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8.xml"/><Relationship Id="rId1" Type="http://schemas.openxmlformats.org/officeDocument/2006/relationships/slideLayout" Target="../slideLayouts/slideLayout1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6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9.xml"/><Relationship Id="rId1" Type="http://schemas.openxmlformats.org/officeDocument/2006/relationships/slideLayout" Target="../slideLayouts/slideLayout16.xml"/></Relationships>
</file>

<file path=ppt/slides/_rels/slide6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0.xml"/><Relationship Id="rId1" Type="http://schemas.openxmlformats.org/officeDocument/2006/relationships/slideLayout" Target="../slideLayouts/slideLayout16.xml"/></Relationships>
</file>

<file path=ppt/slides/_rels/slide6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1.xml"/><Relationship Id="rId1" Type="http://schemas.openxmlformats.org/officeDocument/2006/relationships/slideLayout" Target="../slideLayouts/slideLayout16.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931DC14-714E-4EC9-AD6D-3BF89EE43721}"/>
              </a:ext>
            </a:extLst>
          </p:cNvPr>
          <p:cNvSpPr/>
          <p:nvPr/>
        </p:nvSpPr>
        <p:spPr>
          <a:xfrm>
            <a:off x="4108465" y="4384136"/>
            <a:ext cx="1920141" cy="338554"/>
          </a:xfrm>
          <a:prstGeom prst="rect">
            <a:avLst/>
          </a:prstGeom>
        </p:spPr>
        <p:txBody>
          <a:bodyPr wrap="none">
            <a:spAutoFit/>
          </a:bodyPr>
          <a:lstStyle/>
          <a:p>
            <a:r>
              <a:rPr lang="en-US" sz="1600" b="1" spc="-51">
                <a:solidFill>
                  <a:schemeClr val="tx2"/>
                </a:solidFill>
                <a:latin typeface="+mj-lt"/>
                <a:ea typeface="+mj-ea"/>
                <a:cs typeface="+mj-cs"/>
              </a:rPr>
              <a:t>Rajeev Mandi, ESA</a:t>
            </a:r>
          </a:p>
        </p:txBody>
      </p:sp>
      <p:sp>
        <p:nvSpPr>
          <p:cNvPr id="4" name="Rectangle 3">
            <a:extLst>
              <a:ext uri="{FF2B5EF4-FFF2-40B4-BE49-F238E27FC236}">
                <a16:creationId xmlns:a16="http://schemas.microsoft.com/office/drawing/2014/main" id="{40464B41-9453-4D8C-B420-D200D9B033B9}"/>
              </a:ext>
            </a:extLst>
          </p:cNvPr>
          <p:cNvSpPr/>
          <p:nvPr/>
        </p:nvSpPr>
        <p:spPr>
          <a:xfrm>
            <a:off x="4357815" y="1749761"/>
            <a:ext cx="4716163" cy="2215991"/>
          </a:xfrm>
          <a:prstGeom prst="rect">
            <a:avLst/>
          </a:prstGeom>
        </p:spPr>
        <p:txBody>
          <a:bodyPr wrap="square">
            <a:spAutoFit/>
          </a:bodyPr>
          <a:lstStyle/>
          <a:p>
            <a:r>
              <a:rPr lang="en-US" sz="2400" b="1" spc="-51" dirty="0">
                <a:solidFill>
                  <a:schemeClr val="tx1">
                    <a:lumMod val="50000"/>
                  </a:schemeClr>
                </a:solidFill>
                <a:latin typeface="+mj-lt"/>
                <a:ea typeface="+mj-ea"/>
                <a:cs typeface="+mj-cs"/>
              </a:rPr>
              <a:t>Benefit Ally Market Expansion for FI 51-99 on USP</a:t>
            </a:r>
            <a:br>
              <a:rPr lang="en-US" b="1" spc="-51" dirty="0">
                <a:solidFill>
                  <a:schemeClr val="tx1">
                    <a:lumMod val="50000"/>
                  </a:schemeClr>
                </a:solidFill>
                <a:latin typeface="+mj-lt"/>
                <a:ea typeface="+mj-ea"/>
                <a:cs typeface="+mj-cs"/>
              </a:rPr>
            </a:br>
            <a:r>
              <a:rPr lang="en-US" b="1" spc="-51" dirty="0">
                <a:solidFill>
                  <a:schemeClr val="accent1"/>
                </a:solidFill>
                <a:latin typeface="+mj-lt"/>
                <a:ea typeface="+mj-ea"/>
                <a:cs typeface="+mj-cs"/>
              </a:rPr>
              <a:t>Phase 2 – Release 1</a:t>
            </a:r>
            <a:br>
              <a:rPr lang="en-US" b="1" spc="-51" dirty="0">
                <a:solidFill>
                  <a:schemeClr val="tx1">
                    <a:lumMod val="50000"/>
                  </a:schemeClr>
                </a:solidFill>
                <a:latin typeface="+mj-lt"/>
                <a:ea typeface="+mj-ea"/>
                <a:cs typeface="+mj-cs"/>
              </a:rPr>
            </a:br>
            <a:r>
              <a:rPr lang="en-US" b="1" spc="-51" dirty="0">
                <a:solidFill>
                  <a:schemeClr val="tx1">
                    <a:lumMod val="50000"/>
                  </a:schemeClr>
                </a:solidFill>
                <a:latin typeface="+mj-lt"/>
                <a:ea typeface="+mj-ea"/>
                <a:cs typeface="+mj-cs"/>
              </a:rPr>
              <a:t>Solution Intent version 2.0</a:t>
            </a:r>
          </a:p>
          <a:p>
            <a:r>
              <a:rPr lang="en-US" b="1" spc="-51" dirty="0">
                <a:solidFill>
                  <a:schemeClr val="tx1">
                    <a:lumMod val="50000"/>
                  </a:schemeClr>
                </a:solidFill>
                <a:latin typeface="+mj-lt"/>
                <a:ea typeface="+mj-ea"/>
                <a:cs typeface="+mj-cs"/>
              </a:rPr>
              <a:t>2.11.26</a:t>
            </a:r>
          </a:p>
          <a:p>
            <a:endParaRPr lang="en-US" b="1" spc="-51" dirty="0">
              <a:solidFill>
                <a:schemeClr val="tx1">
                  <a:lumMod val="50000"/>
                </a:schemeClr>
              </a:solidFill>
              <a:latin typeface="+mj-lt"/>
              <a:ea typeface="+mj-ea"/>
              <a:cs typeface="+mj-cs"/>
            </a:endParaRPr>
          </a:p>
          <a:p>
            <a:endParaRPr lang="en-US" b="1" spc="-51" dirty="0">
              <a:solidFill>
                <a:schemeClr val="tx1">
                  <a:lumMod val="50000"/>
                </a:schemeClr>
              </a:solidFill>
              <a:latin typeface="+mj-lt"/>
              <a:ea typeface="+mj-ea"/>
              <a:cs typeface="+mj-cs"/>
            </a:endParaRPr>
          </a:p>
        </p:txBody>
      </p:sp>
      <p:sp>
        <p:nvSpPr>
          <p:cNvPr id="5" name="Rectangle 4">
            <a:extLst>
              <a:ext uri="{FF2B5EF4-FFF2-40B4-BE49-F238E27FC236}">
                <a16:creationId xmlns:a16="http://schemas.microsoft.com/office/drawing/2014/main" id="{D385AB32-D969-4E3F-A7BB-41E58F16F12B}"/>
              </a:ext>
            </a:extLst>
          </p:cNvPr>
          <p:cNvSpPr/>
          <p:nvPr/>
        </p:nvSpPr>
        <p:spPr>
          <a:xfrm>
            <a:off x="4960942" y="931267"/>
            <a:ext cx="2531462" cy="400110"/>
          </a:xfrm>
          <a:prstGeom prst="rect">
            <a:avLst/>
          </a:prstGeom>
          <a:noFill/>
        </p:spPr>
        <p:txBody>
          <a:bodyPr wrap="square" lIns="91440" tIns="45720" rIns="91440" bIns="45720">
            <a:spAutoFit/>
          </a:bodyPr>
          <a:lstStyle/>
          <a:p>
            <a:pPr algn="ctr"/>
            <a:r>
              <a:rPr lang="en-US" sz="2000" b="1" cap="none" spc="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rPr>
              <a:t>DRAFT</a:t>
            </a:r>
          </a:p>
        </p:txBody>
      </p:sp>
    </p:spTree>
    <p:extLst>
      <p:ext uri="{BB962C8B-B14F-4D97-AF65-F5344CB8AC3E}">
        <p14:creationId xmlns:p14="http://schemas.microsoft.com/office/powerpoint/2010/main" val="2925854755"/>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90F9BDA0-AF0E-4BA8-B742-3B9C92A3E6FE}" type="slidenum">
              <a:rPr lang="en-US" smtClean="0"/>
              <a:t>2</a:t>
            </a:fld>
            <a:endParaRPr lang="en-US"/>
          </a:p>
        </p:txBody>
      </p:sp>
      <p:sp>
        <p:nvSpPr>
          <p:cNvPr id="4" name="Title 3"/>
          <p:cNvSpPr>
            <a:spLocks noGrp="1"/>
          </p:cNvSpPr>
          <p:nvPr>
            <p:ph type="title"/>
          </p:nvPr>
        </p:nvSpPr>
        <p:spPr/>
        <p:txBody>
          <a:bodyPr/>
          <a:lstStyle/>
          <a:p>
            <a:r>
              <a:rPr lang="en-US">
                <a:cs typeface="Arial"/>
              </a:rPr>
              <a:t>Change History</a:t>
            </a:r>
            <a:endParaRPr lang="en-US"/>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4021800529"/>
              </p:ext>
            </p:extLst>
          </p:nvPr>
        </p:nvGraphicFramePr>
        <p:xfrm>
          <a:off x="800100" y="1028700"/>
          <a:ext cx="7886693" cy="1417320"/>
        </p:xfrm>
        <a:graphic>
          <a:graphicData uri="http://schemas.openxmlformats.org/drawingml/2006/table">
            <a:tbl>
              <a:tblPr firstRow="1" bandRow="1">
                <a:tableStyleId>{5C22544A-7EE6-4342-B048-85BDC9FD1C3A}</a:tableStyleId>
              </a:tblPr>
              <a:tblGrid>
                <a:gridCol w="1056608">
                  <a:extLst>
                    <a:ext uri="{9D8B030D-6E8A-4147-A177-3AD203B41FA5}">
                      <a16:colId xmlns:a16="http://schemas.microsoft.com/office/drawing/2014/main" val="1305860279"/>
                    </a:ext>
                  </a:extLst>
                </a:gridCol>
                <a:gridCol w="1734436">
                  <a:extLst>
                    <a:ext uri="{9D8B030D-6E8A-4147-A177-3AD203B41FA5}">
                      <a16:colId xmlns:a16="http://schemas.microsoft.com/office/drawing/2014/main" val="2408194344"/>
                    </a:ext>
                  </a:extLst>
                </a:gridCol>
                <a:gridCol w="695505">
                  <a:extLst>
                    <a:ext uri="{9D8B030D-6E8A-4147-A177-3AD203B41FA5}">
                      <a16:colId xmlns:a16="http://schemas.microsoft.com/office/drawing/2014/main" val="985945266"/>
                    </a:ext>
                  </a:extLst>
                </a:gridCol>
                <a:gridCol w="4400144">
                  <a:extLst>
                    <a:ext uri="{9D8B030D-6E8A-4147-A177-3AD203B41FA5}">
                      <a16:colId xmlns:a16="http://schemas.microsoft.com/office/drawing/2014/main" val="4005189412"/>
                    </a:ext>
                  </a:extLst>
                </a:gridCol>
              </a:tblGrid>
              <a:tr h="204966">
                <a:tc>
                  <a:txBody>
                    <a:bodyPr/>
                    <a:lstStyle/>
                    <a:p>
                      <a:r>
                        <a:rPr lang="en-US" sz="1050"/>
                        <a:t>Date</a:t>
                      </a:r>
                    </a:p>
                  </a:txBody>
                  <a:tcPr/>
                </a:tc>
                <a:tc>
                  <a:txBody>
                    <a:bodyPr/>
                    <a:lstStyle/>
                    <a:p>
                      <a:r>
                        <a:rPr lang="en-US" sz="1050"/>
                        <a:t>Author</a:t>
                      </a:r>
                    </a:p>
                  </a:txBody>
                  <a:tcPr/>
                </a:tc>
                <a:tc>
                  <a:txBody>
                    <a:bodyPr/>
                    <a:lstStyle/>
                    <a:p>
                      <a:r>
                        <a:rPr lang="en-US" sz="1050"/>
                        <a:t>Version</a:t>
                      </a:r>
                    </a:p>
                  </a:txBody>
                  <a:tcPr/>
                </a:tc>
                <a:tc>
                  <a:txBody>
                    <a:bodyPr/>
                    <a:lstStyle/>
                    <a:p>
                      <a:r>
                        <a:rPr lang="en-US" sz="1050"/>
                        <a:t>Description</a:t>
                      </a:r>
                    </a:p>
                  </a:txBody>
                  <a:tcPr/>
                </a:tc>
                <a:extLst>
                  <a:ext uri="{0D108BD9-81ED-4DB2-BD59-A6C34878D82A}">
                    <a16:rowId xmlns:a16="http://schemas.microsoft.com/office/drawing/2014/main" val="4190776762"/>
                  </a:ext>
                </a:extLst>
              </a:tr>
              <a:tr h="203440">
                <a:tc>
                  <a:txBody>
                    <a:bodyPr/>
                    <a:lstStyle/>
                    <a:p>
                      <a:r>
                        <a:rPr lang="en-US" sz="1050" dirty="0">
                          <a:solidFill>
                            <a:srgbClr val="000000"/>
                          </a:solidFill>
                        </a:rPr>
                        <a:t>12/15/2025</a:t>
                      </a:r>
                    </a:p>
                  </a:txBody>
                  <a:tcPr/>
                </a:tc>
                <a:tc>
                  <a:txBody>
                    <a:bodyPr/>
                    <a:lstStyle/>
                    <a:p>
                      <a:pPr lvl="0">
                        <a:buNone/>
                      </a:pPr>
                      <a:r>
                        <a:rPr lang="en-US" sz="1050">
                          <a:solidFill>
                            <a:srgbClr val="000000"/>
                          </a:solidFill>
                        </a:rPr>
                        <a:t>Rajeev Mandi</a:t>
                      </a:r>
                    </a:p>
                  </a:txBody>
                  <a:tcPr/>
                </a:tc>
                <a:tc>
                  <a:txBody>
                    <a:bodyPr/>
                    <a:lstStyle/>
                    <a:p>
                      <a:pPr lvl="0" algn="ctr">
                        <a:buNone/>
                      </a:pPr>
                      <a:r>
                        <a:rPr lang="en-US" sz="1050">
                          <a:solidFill>
                            <a:srgbClr val="000000"/>
                          </a:solidFill>
                        </a:rPr>
                        <a:t>1.0</a:t>
                      </a:r>
                    </a:p>
                  </a:txBody>
                  <a:tcPr/>
                </a:tc>
                <a:tc>
                  <a:txBody>
                    <a:bodyPr/>
                    <a:lstStyle/>
                    <a:p>
                      <a:r>
                        <a:rPr lang="en-US" sz="1050">
                          <a:solidFill>
                            <a:srgbClr val="000000"/>
                          </a:solidFill>
                        </a:rPr>
                        <a:t>Initial Draft</a:t>
                      </a:r>
                      <a:r>
                        <a:rPr lang="en-US" sz="1050" baseline="0">
                          <a:solidFill>
                            <a:srgbClr val="000000"/>
                          </a:solidFill>
                        </a:rPr>
                        <a:t> </a:t>
                      </a:r>
                      <a:endParaRPr lang="en-US" sz="1050">
                        <a:solidFill>
                          <a:srgbClr val="000000"/>
                        </a:solidFill>
                      </a:endParaRPr>
                    </a:p>
                  </a:txBody>
                  <a:tcPr/>
                </a:tc>
                <a:extLst>
                  <a:ext uri="{0D108BD9-81ED-4DB2-BD59-A6C34878D82A}">
                    <a16:rowId xmlns:a16="http://schemas.microsoft.com/office/drawing/2014/main" val="2501023574"/>
                  </a:ext>
                </a:extLst>
              </a:tr>
              <a:tr h="203440">
                <a:tc>
                  <a:txBody>
                    <a:bodyPr/>
                    <a:lstStyle/>
                    <a:p>
                      <a:r>
                        <a:rPr lang="en-US" sz="1050" dirty="0">
                          <a:solidFill>
                            <a:srgbClr val="000000"/>
                          </a:solidFill>
                        </a:rPr>
                        <a:t>02/11/2026</a:t>
                      </a:r>
                    </a:p>
                  </a:txBody>
                  <a:tcPr/>
                </a:tc>
                <a:tc>
                  <a:txBody>
                    <a:bodyPr/>
                    <a:lstStyle/>
                    <a:p>
                      <a:pPr lvl="0">
                        <a:buNone/>
                      </a:pPr>
                      <a:r>
                        <a:rPr lang="en-US" sz="1050" dirty="0">
                          <a:solidFill>
                            <a:srgbClr val="000000"/>
                          </a:solidFill>
                        </a:rPr>
                        <a:t>Rajeev Mandi</a:t>
                      </a:r>
                    </a:p>
                  </a:txBody>
                  <a:tcPr/>
                </a:tc>
                <a:tc>
                  <a:txBody>
                    <a:bodyPr/>
                    <a:lstStyle/>
                    <a:p>
                      <a:pPr algn="ctr"/>
                      <a:r>
                        <a:rPr lang="en-US" sz="1050" dirty="0">
                          <a:solidFill>
                            <a:srgbClr val="000000"/>
                          </a:solidFill>
                        </a:rPr>
                        <a:t>2.0</a:t>
                      </a: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050" dirty="0">
                          <a:solidFill>
                            <a:srgbClr val="000000"/>
                          </a:solidFill>
                        </a:rPr>
                        <a:t>Updates to incorporate feedback &amp; inputs from JAD sessions for FI51-99</a:t>
                      </a:r>
                    </a:p>
                  </a:txBody>
                  <a:tcPr/>
                </a:tc>
                <a:extLst>
                  <a:ext uri="{0D108BD9-81ED-4DB2-BD59-A6C34878D82A}">
                    <a16:rowId xmlns:a16="http://schemas.microsoft.com/office/drawing/2014/main" val="590552516"/>
                  </a:ext>
                </a:extLst>
              </a:tr>
              <a:tr h="203440">
                <a:tc>
                  <a:txBody>
                    <a:bodyPr/>
                    <a:lstStyle/>
                    <a:p>
                      <a:endParaRPr lang="en-US" sz="1050">
                        <a:solidFill>
                          <a:srgbClr val="000000"/>
                        </a:solidFill>
                      </a:endParaRPr>
                    </a:p>
                  </a:txBody>
                  <a:tcPr/>
                </a:tc>
                <a:tc>
                  <a:txBody>
                    <a:bodyPr/>
                    <a:lstStyle/>
                    <a:p>
                      <a:pPr lvl="0">
                        <a:buNone/>
                      </a:pPr>
                      <a:endParaRPr lang="en-US" sz="1050">
                        <a:solidFill>
                          <a:srgbClr val="000000"/>
                        </a:solidFill>
                      </a:endParaRPr>
                    </a:p>
                  </a:txBody>
                  <a:tcPr/>
                </a:tc>
                <a:tc>
                  <a:txBody>
                    <a:bodyPr/>
                    <a:lstStyle/>
                    <a:p>
                      <a:pPr algn="ctr"/>
                      <a:endParaRPr lang="en-US" sz="1050">
                        <a:solidFill>
                          <a:srgbClr val="000000"/>
                        </a:solidFill>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lang="en-US" sz="1050">
                        <a:solidFill>
                          <a:srgbClr val="000000"/>
                        </a:solidFill>
                      </a:endParaRPr>
                    </a:p>
                  </a:txBody>
                  <a:tcPr/>
                </a:tc>
                <a:extLst>
                  <a:ext uri="{0D108BD9-81ED-4DB2-BD59-A6C34878D82A}">
                    <a16:rowId xmlns:a16="http://schemas.microsoft.com/office/drawing/2014/main" val="2347989875"/>
                  </a:ext>
                </a:extLst>
              </a:tr>
              <a:tr h="203440">
                <a:tc>
                  <a:txBody>
                    <a:bodyPr/>
                    <a:lstStyle/>
                    <a:p>
                      <a:endParaRPr lang="en-US" sz="1050">
                        <a:solidFill>
                          <a:srgbClr val="000000"/>
                        </a:solidFill>
                      </a:endParaRPr>
                    </a:p>
                  </a:txBody>
                  <a:tcPr/>
                </a:tc>
                <a:tc>
                  <a:txBody>
                    <a:bodyPr/>
                    <a:lstStyle/>
                    <a:p>
                      <a:pPr lvl="0">
                        <a:buNone/>
                      </a:pPr>
                      <a:endParaRPr lang="en-US" sz="1050">
                        <a:solidFill>
                          <a:srgbClr val="000000"/>
                        </a:solidFill>
                      </a:endParaRPr>
                    </a:p>
                  </a:txBody>
                  <a:tcPr/>
                </a:tc>
                <a:tc>
                  <a:txBody>
                    <a:bodyPr/>
                    <a:lstStyle/>
                    <a:p>
                      <a:pPr algn="ctr"/>
                      <a:endParaRPr lang="en-US" sz="1050">
                        <a:solidFill>
                          <a:srgbClr val="000000"/>
                        </a:solidFill>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lang="en-US" sz="1050" dirty="0">
                        <a:solidFill>
                          <a:srgbClr val="000000"/>
                        </a:solidFill>
                      </a:endParaRPr>
                    </a:p>
                  </a:txBody>
                  <a:tcPr/>
                </a:tc>
                <a:extLst>
                  <a:ext uri="{0D108BD9-81ED-4DB2-BD59-A6C34878D82A}">
                    <a16:rowId xmlns:a16="http://schemas.microsoft.com/office/drawing/2014/main" val="4228778728"/>
                  </a:ext>
                </a:extLst>
              </a:tr>
            </a:tbl>
          </a:graphicData>
        </a:graphic>
      </p:graphicFrame>
    </p:spTree>
    <p:extLst>
      <p:ext uri="{BB962C8B-B14F-4D97-AF65-F5344CB8AC3E}">
        <p14:creationId xmlns:p14="http://schemas.microsoft.com/office/powerpoint/2010/main" val="2140589194"/>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6C37A01-B7CF-48AD-B7A9-584FEF7174D6}"/>
              </a:ext>
            </a:extLst>
          </p:cNvPr>
          <p:cNvSpPr>
            <a:spLocks noGrp="1"/>
          </p:cNvSpPr>
          <p:nvPr>
            <p:ph idx="1"/>
          </p:nvPr>
        </p:nvSpPr>
        <p:spPr>
          <a:xfrm>
            <a:off x="443344" y="747169"/>
            <a:ext cx="8543637" cy="4037267"/>
          </a:xfrm>
        </p:spPr>
        <p:txBody>
          <a:bodyPr vert="horz" lIns="91440" tIns="45720" rIns="91440" bIns="45720" rtlCol="0" anchor="t">
            <a:noAutofit/>
          </a:bodyPr>
          <a:lstStyle/>
          <a:p>
            <a:pPr marL="452432" lvl="1" indent="-285750">
              <a:buFont typeface="Wingdings" panose="05000000000000000000" pitchFamily="2" charset="2"/>
              <a:buChar char="Ø"/>
            </a:pPr>
            <a:r>
              <a:rPr lang="en-US" sz="1400" b="1">
                <a:ea typeface="+mn-lt"/>
                <a:cs typeface="+mn-lt"/>
              </a:rPr>
              <a:t>Business Context:</a:t>
            </a:r>
          </a:p>
          <a:p>
            <a:pPr marL="342577" lvl="1" indent="-175895"/>
            <a:endParaRPr lang="en-US" sz="800" b="1">
              <a:ea typeface="+mn-lt"/>
              <a:cs typeface="+mn-lt"/>
            </a:endParaRPr>
          </a:p>
          <a:p>
            <a:pPr marL="857236" lvl="3" indent="-285750">
              <a:buFont typeface="Wingdings" panose="05000000000000000000" pitchFamily="2" charset="2"/>
              <a:buChar char="§"/>
            </a:pPr>
            <a:r>
              <a:rPr lang="en-US" sz="1400" b="1">
                <a:ea typeface="+mn-lt"/>
                <a:cs typeface="+mn-lt"/>
              </a:rPr>
              <a:t>What is BA, Why are we implementing BA, how does it Work</a:t>
            </a:r>
          </a:p>
          <a:p>
            <a:pPr marL="857236" lvl="3" indent="-285750">
              <a:buFont typeface="Wingdings" panose="05000000000000000000" pitchFamily="2" charset="2"/>
              <a:buChar char="§"/>
            </a:pPr>
            <a:r>
              <a:rPr lang="en-US" sz="1400" b="1">
                <a:ea typeface="+mn-lt"/>
                <a:cs typeface="+mn-lt"/>
              </a:rPr>
              <a:t>BA Markets by numbers</a:t>
            </a:r>
          </a:p>
          <a:p>
            <a:pPr marL="857236" lvl="3" indent="-285750">
              <a:buFont typeface="Wingdings" panose="05000000000000000000" pitchFamily="2" charset="2"/>
              <a:buChar char="§"/>
            </a:pPr>
            <a:r>
              <a:rPr lang="en-US" sz="1400" b="1">
                <a:ea typeface="+mn-lt"/>
                <a:cs typeface="+mn-lt"/>
              </a:rPr>
              <a:t>BA Scope FI 51-99</a:t>
            </a:r>
          </a:p>
          <a:p>
            <a:pPr marL="857236" lvl="3" indent="-285750">
              <a:buFont typeface="Wingdings" panose="05000000000000000000" pitchFamily="2" charset="2"/>
              <a:buChar char="§"/>
            </a:pPr>
            <a:r>
              <a:rPr lang="en-US" sz="1400" b="1">
                <a:ea typeface="+mn-lt"/>
                <a:cs typeface="+mn-lt"/>
              </a:rPr>
              <a:t>BA High Level Requirements by Phases</a:t>
            </a:r>
          </a:p>
          <a:p>
            <a:pPr marL="857236" lvl="3" indent="-285750">
              <a:buFont typeface="Wingdings" panose="05000000000000000000" pitchFamily="2" charset="2"/>
              <a:buChar char="§"/>
            </a:pPr>
            <a:r>
              <a:rPr lang="en-US" sz="1400" b="1">
                <a:ea typeface="+mn-lt"/>
                <a:cs typeface="+mn-lt"/>
              </a:rPr>
              <a:t>UHC Product Model v2.1 Impacts</a:t>
            </a:r>
          </a:p>
          <a:p>
            <a:pPr marL="571486" lvl="3" indent="0">
              <a:buNone/>
            </a:pPr>
            <a:endParaRPr lang="en-US" sz="800" b="1">
              <a:ea typeface="+mn-lt"/>
              <a:cs typeface="+mn-lt"/>
            </a:endParaRPr>
          </a:p>
          <a:p>
            <a:pPr marL="452432" lvl="1" indent="-285750">
              <a:buFont typeface="Wingdings" panose="05000000000000000000" pitchFamily="2" charset="2"/>
              <a:buChar char="Ø"/>
            </a:pPr>
            <a:r>
              <a:rPr lang="en-US" sz="1400" b="1">
                <a:ea typeface="+mn-lt"/>
                <a:cs typeface="+mn-lt"/>
              </a:rPr>
              <a:t>Architecture Context:</a:t>
            </a:r>
          </a:p>
          <a:p>
            <a:pPr marL="857236" lvl="3" indent="-285750">
              <a:buFont typeface="Wingdings" panose="05000000000000000000" pitchFamily="2" charset="2"/>
              <a:buChar char="§"/>
            </a:pPr>
            <a:r>
              <a:rPr lang="en-US" sz="1400" b="1">
                <a:ea typeface="+mn-lt"/>
                <a:cs typeface="+mn-lt"/>
              </a:rPr>
              <a:t>Business Capabilities</a:t>
            </a:r>
          </a:p>
          <a:p>
            <a:pPr marL="857236" lvl="3" indent="-285750">
              <a:buFont typeface="Wingdings" panose="05000000000000000000" pitchFamily="2" charset="2"/>
              <a:buChar char="§"/>
            </a:pPr>
            <a:r>
              <a:rPr lang="en-US" sz="1400" b="1">
                <a:ea typeface="+mn-lt"/>
                <a:cs typeface="+mn-lt"/>
              </a:rPr>
              <a:t>Current State</a:t>
            </a:r>
          </a:p>
          <a:p>
            <a:pPr marL="571486" lvl="3" indent="0">
              <a:buNone/>
            </a:pPr>
            <a:endParaRPr lang="en-US" sz="800" b="1">
              <a:ea typeface="+mn-lt"/>
              <a:cs typeface="+mn-lt"/>
            </a:endParaRPr>
          </a:p>
          <a:p>
            <a:pPr marL="452432" lvl="1" indent="-285750">
              <a:buFont typeface="Wingdings" panose="05000000000000000000" pitchFamily="2" charset="2"/>
              <a:buChar char="Ø"/>
            </a:pPr>
            <a:r>
              <a:rPr lang="en-US" sz="1400" b="1">
                <a:ea typeface="+mn-lt"/>
                <a:cs typeface="+mn-lt"/>
              </a:rPr>
              <a:t>Solution Capabilities: </a:t>
            </a:r>
          </a:p>
          <a:p>
            <a:pPr marL="857236" lvl="3" indent="-285750">
              <a:buFont typeface="Wingdings" panose="05000000000000000000" pitchFamily="2" charset="2"/>
              <a:buChar char="§"/>
            </a:pPr>
            <a:r>
              <a:rPr lang="en-US" sz="1400" b="1">
                <a:ea typeface="+mn-lt"/>
                <a:cs typeface="+mn-lt"/>
              </a:rPr>
              <a:t>Solution Approach</a:t>
            </a:r>
          </a:p>
          <a:p>
            <a:pPr marL="857236" lvl="3" indent="-285750">
              <a:buFont typeface="Wingdings" panose="05000000000000000000" pitchFamily="2" charset="2"/>
              <a:buChar char="§"/>
            </a:pPr>
            <a:r>
              <a:rPr lang="en-US" sz="1400" b="1">
                <a:ea typeface="+mn-lt"/>
                <a:cs typeface="+mn-lt"/>
              </a:rPr>
              <a:t>Application Impacts</a:t>
            </a:r>
          </a:p>
          <a:p>
            <a:pPr marL="452432" lvl="1" indent="-285750">
              <a:buFont typeface="Wingdings" panose="05000000000000000000" pitchFamily="2" charset="2"/>
              <a:buChar char="Ø"/>
            </a:pPr>
            <a:r>
              <a:rPr lang="en-US" sz="1400" b="1">
                <a:ea typeface="+mn-lt"/>
                <a:cs typeface="+mn-lt"/>
              </a:rPr>
              <a:t>Appendix</a:t>
            </a:r>
          </a:p>
        </p:txBody>
      </p:sp>
      <p:sp>
        <p:nvSpPr>
          <p:cNvPr id="3" name="Slide Number Placeholder 2">
            <a:extLst>
              <a:ext uri="{FF2B5EF4-FFF2-40B4-BE49-F238E27FC236}">
                <a16:creationId xmlns:a16="http://schemas.microsoft.com/office/drawing/2014/main" id="{FA9ABF99-5DB3-49CC-8CB1-F5C887616983}"/>
              </a:ext>
            </a:extLst>
          </p:cNvPr>
          <p:cNvSpPr>
            <a:spLocks noGrp="1"/>
          </p:cNvSpPr>
          <p:nvPr>
            <p:ph type="sldNum" sz="quarter" idx="12"/>
          </p:nvPr>
        </p:nvSpPr>
        <p:spPr/>
        <p:txBody>
          <a:bodyPr/>
          <a:lstStyle/>
          <a:p>
            <a:fld id="{90F9BDA0-AF0E-4BA8-B742-3B9C92A3E6FE}" type="slidenum">
              <a:rPr lang="en-US" smtClean="0"/>
              <a:t>3</a:t>
            </a:fld>
            <a:endParaRPr lang="en-US"/>
          </a:p>
        </p:txBody>
      </p:sp>
      <p:sp>
        <p:nvSpPr>
          <p:cNvPr id="4" name="Title 3">
            <a:extLst>
              <a:ext uri="{FF2B5EF4-FFF2-40B4-BE49-F238E27FC236}">
                <a16:creationId xmlns:a16="http://schemas.microsoft.com/office/drawing/2014/main" id="{27A650EE-D079-423C-AA95-7554C6B87124}"/>
              </a:ext>
            </a:extLst>
          </p:cNvPr>
          <p:cNvSpPr>
            <a:spLocks noGrp="1"/>
          </p:cNvSpPr>
          <p:nvPr>
            <p:ph type="title"/>
          </p:nvPr>
        </p:nvSpPr>
        <p:spPr>
          <a:xfrm>
            <a:off x="800101" y="100668"/>
            <a:ext cx="6552044" cy="646501"/>
          </a:xfrm>
        </p:spPr>
        <p:txBody>
          <a:bodyPr>
            <a:normAutofit fontScale="90000"/>
          </a:bodyPr>
          <a:lstStyle/>
          <a:p>
            <a:br>
              <a:rPr lang="en-US" sz="1800">
                <a:solidFill>
                  <a:schemeClr val="accent1"/>
                </a:solidFill>
              </a:rPr>
            </a:br>
            <a:br>
              <a:rPr lang="en-US" sz="1800">
                <a:solidFill>
                  <a:schemeClr val="accent1"/>
                </a:solidFill>
              </a:rPr>
            </a:br>
            <a:br>
              <a:rPr lang="en-US" sz="1800">
                <a:solidFill>
                  <a:schemeClr val="accent1"/>
                </a:solidFill>
              </a:rPr>
            </a:br>
            <a:br>
              <a:rPr lang="en-US" sz="1800">
                <a:solidFill>
                  <a:schemeClr val="accent1"/>
                </a:solidFill>
              </a:rPr>
            </a:br>
            <a:br>
              <a:rPr lang="en-US" sz="1800">
                <a:solidFill>
                  <a:schemeClr val="accent1"/>
                </a:solidFill>
              </a:rPr>
            </a:br>
            <a:br>
              <a:rPr lang="en-US" sz="1800">
                <a:solidFill>
                  <a:schemeClr val="accent1"/>
                </a:solidFill>
              </a:rPr>
            </a:br>
            <a:br>
              <a:rPr lang="en-US" sz="1800">
                <a:solidFill>
                  <a:schemeClr val="accent1"/>
                </a:solidFill>
              </a:rPr>
            </a:br>
            <a:br>
              <a:rPr lang="en-US" sz="1800">
                <a:solidFill>
                  <a:schemeClr val="accent1"/>
                </a:solidFill>
              </a:rPr>
            </a:br>
            <a:br>
              <a:rPr lang="en-US" sz="1800">
                <a:solidFill>
                  <a:schemeClr val="accent1"/>
                </a:solidFill>
              </a:rPr>
            </a:br>
            <a:br>
              <a:rPr lang="en-US" sz="1800">
                <a:solidFill>
                  <a:schemeClr val="accent1"/>
                </a:solidFill>
              </a:rPr>
            </a:br>
            <a:br>
              <a:rPr lang="en-US" sz="1800">
                <a:solidFill>
                  <a:schemeClr val="accent1"/>
                </a:solidFill>
              </a:rPr>
            </a:br>
            <a:br>
              <a:rPr lang="en-US" sz="1800">
                <a:solidFill>
                  <a:schemeClr val="accent1"/>
                </a:solidFill>
              </a:rPr>
            </a:br>
            <a:br>
              <a:rPr lang="en-US" sz="1800">
                <a:solidFill>
                  <a:schemeClr val="accent1"/>
                </a:solidFill>
              </a:rPr>
            </a:br>
            <a:br>
              <a:rPr lang="en-US" sz="1800">
                <a:solidFill>
                  <a:schemeClr val="accent1"/>
                </a:solidFill>
              </a:rPr>
            </a:br>
            <a:br>
              <a:rPr lang="en-US" sz="1800">
                <a:solidFill>
                  <a:schemeClr val="accent1"/>
                </a:solidFill>
              </a:rPr>
            </a:br>
            <a:br>
              <a:rPr lang="en-US" sz="1800">
                <a:solidFill>
                  <a:schemeClr val="accent1"/>
                </a:solidFill>
              </a:rPr>
            </a:br>
            <a:br>
              <a:rPr lang="en-US" sz="1800">
                <a:solidFill>
                  <a:schemeClr val="accent1"/>
                </a:solidFill>
              </a:rPr>
            </a:br>
            <a:br>
              <a:rPr lang="en-US" sz="1800">
                <a:solidFill>
                  <a:schemeClr val="accent1"/>
                </a:solidFill>
              </a:rPr>
            </a:br>
            <a:br>
              <a:rPr lang="en-US" sz="1800">
                <a:solidFill>
                  <a:schemeClr val="accent1"/>
                </a:solidFill>
              </a:rPr>
            </a:br>
            <a:br>
              <a:rPr lang="en-US" sz="1800">
                <a:solidFill>
                  <a:schemeClr val="accent1"/>
                </a:solidFill>
              </a:rPr>
            </a:br>
            <a:br>
              <a:rPr lang="en-US" sz="1800">
                <a:solidFill>
                  <a:schemeClr val="accent1"/>
                </a:solidFill>
              </a:rPr>
            </a:br>
            <a:br>
              <a:rPr lang="en-US" sz="1800">
                <a:solidFill>
                  <a:schemeClr val="accent1"/>
                </a:solidFill>
              </a:rPr>
            </a:br>
            <a:br>
              <a:rPr lang="en-US" sz="1800">
                <a:solidFill>
                  <a:schemeClr val="accent1"/>
                </a:solidFill>
              </a:rPr>
            </a:br>
            <a:br>
              <a:rPr lang="en-US" sz="2200">
                <a:solidFill>
                  <a:schemeClr val="accent1"/>
                </a:solidFill>
              </a:rPr>
            </a:br>
            <a:br>
              <a:rPr lang="en-US" sz="2200">
                <a:solidFill>
                  <a:schemeClr val="accent1"/>
                </a:solidFill>
              </a:rPr>
            </a:br>
            <a:endParaRPr lang="en-US" sz="2200"/>
          </a:p>
        </p:txBody>
      </p:sp>
      <p:sp>
        <p:nvSpPr>
          <p:cNvPr id="5" name="Rectangle 4">
            <a:extLst>
              <a:ext uri="{FF2B5EF4-FFF2-40B4-BE49-F238E27FC236}">
                <a16:creationId xmlns:a16="http://schemas.microsoft.com/office/drawing/2014/main" id="{2397D47E-66E1-4061-97A7-FE581EE78C7B}"/>
              </a:ext>
            </a:extLst>
          </p:cNvPr>
          <p:cNvSpPr/>
          <p:nvPr/>
        </p:nvSpPr>
        <p:spPr>
          <a:xfrm>
            <a:off x="8040656" y="82227"/>
            <a:ext cx="1056700" cy="400110"/>
          </a:xfrm>
          <a:prstGeom prst="rect">
            <a:avLst/>
          </a:prstGeom>
          <a:noFill/>
        </p:spPr>
        <p:txBody>
          <a:bodyPr wrap="none" lIns="91440" tIns="45720" rIns="91440" bIns="45720">
            <a:spAutoFit/>
          </a:bodyPr>
          <a:lstStyle/>
          <a:p>
            <a:pPr algn="ctr"/>
            <a:r>
              <a:rPr lang="en-US" sz="2000" b="1" cap="none" spc="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rPr>
              <a:t>DRAFT</a:t>
            </a:r>
          </a:p>
        </p:txBody>
      </p:sp>
      <p:sp>
        <p:nvSpPr>
          <p:cNvPr id="6" name="Rectangle 5">
            <a:extLst>
              <a:ext uri="{FF2B5EF4-FFF2-40B4-BE49-F238E27FC236}">
                <a16:creationId xmlns:a16="http://schemas.microsoft.com/office/drawing/2014/main" id="{A48D3BD7-C7A1-4E41-8CD4-569868C92045}"/>
              </a:ext>
            </a:extLst>
          </p:cNvPr>
          <p:cNvSpPr/>
          <p:nvPr/>
        </p:nvSpPr>
        <p:spPr>
          <a:xfrm>
            <a:off x="975592" y="276199"/>
            <a:ext cx="1609736" cy="338554"/>
          </a:xfrm>
          <a:prstGeom prst="rect">
            <a:avLst/>
          </a:prstGeom>
        </p:spPr>
        <p:txBody>
          <a:bodyPr wrap="none">
            <a:spAutoFit/>
          </a:bodyPr>
          <a:lstStyle/>
          <a:p>
            <a:r>
              <a:rPr lang="en-US" sz="1600" b="1">
                <a:solidFill>
                  <a:schemeClr val="accent1"/>
                </a:solidFill>
              </a:rPr>
              <a:t>Content Index </a:t>
            </a:r>
          </a:p>
        </p:txBody>
      </p:sp>
    </p:spTree>
    <p:extLst>
      <p:ext uri="{BB962C8B-B14F-4D97-AF65-F5344CB8AC3E}">
        <p14:creationId xmlns:p14="http://schemas.microsoft.com/office/powerpoint/2010/main" val="4209790887"/>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8906777-E18C-4F45-9DD8-008E3DDBD053}"/>
              </a:ext>
            </a:extLst>
          </p:cNvPr>
          <p:cNvSpPr/>
          <p:nvPr/>
        </p:nvSpPr>
        <p:spPr>
          <a:xfrm>
            <a:off x="0" y="845128"/>
            <a:ext cx="9144000" cy="39970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FFFFFF"/>
              </a:solidFill>
              <a:effectLst/>
              <a:uLnTx/>
              <a:uFillTx/>
              <a:latin typeface="Arial"/>
              <a:ea typeface="+mn-ea"/>
              <a:cs typeface="+mn-cs"/>
            </a:endParaRPr>
          </a:p>
        </p:txBody>
      </p:sp>
      <p:sp>
        <p:nvSpPr>
          <p:cNvPr id="2" name="Text Placeholder 1">
            <a:extLst>
              <a:ext uri="{FF2B5EF4-FFF2-40B4-BE49-F238E27FC236}">
                <a16:creationId xmlns:a16="http://schemas.microsoft.com/office/drawing/2014/main" id="{855978A7-E9CB-4EE2-AB5A-216354F6B622}"/>
              </a:ext>
            </a:extLst>
          </p:cNvPr>
          <p:cNvSpPr>
            <a:spLocks noGrp="1"/>
          </p:cNvSpPr>
          <p:nvPr>
            <p:ph type="body" sz="quarter" idx="10"/>
          </p:nvPr>
        </p:nvSpPr>
        <p:spPr>
          <a:xfrm>
            <a:off x="222566" y="225134"/>
            <a:ext cx="3698271" cy="1406129"/>
          </a:xfrm>
        </p:spPr>
        <p:txBody>
          <a:bodyPr/>
          <a:lstStyle/>
          <a:p>
            <a:r>
              <a:rPr lang="en-US" sz="2400"/>
              <a:t>What is Benefit Ally?</a:t>
            </a:r>
          </a:p>
        </p:txBody>
      </p:sp>
      <p:sp>
        <p:nvSpPr>
          <p:cNvPr id="3" name="Content Placeholder 7">
            <a:extLst>
              <a:ext uri="{FF2B5EF4-FFF2-40B4-BE49-F238E27FC236}">
                <a16:creationId xmlns:a16="http://schemas.microsoft.com/office/drawing/2014/main" id="{D34E3845-AD37-4926-AC17-F0E698FBD9DA}"/>
              </a:ext>
            </a:extLst>
          </p:cNvPr>
          <p:cNvSpPr txBox="1">
            <a:spLocks/>
          </p:cNvSpPr>
          <p:nvPr/>
        </p:nvSpPr>
        <p:spPr>
          <a:xfrm>
            <a:off x="360219" y="1359480"/>
            <a:ext cx="8686799" cy="82263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8C9599"/>
                </a:solidFill>
                <a:effectLst/>
                <a:uLnTx/>
                <a:uFillTx/>
                <a:latin typeface="Arial"/>
                <a:ea typeface="+mn-ea"/>
                <a:cs typeface="+mn-cs"/>
              </a:rPr>
              <a:t>Benefit Ally </a:t>
            </a:r>
            <a:r>
              <a:rPr kumimoji="0" lang="en-US" sz="1800" b="1" i="1" u="none" strike="noStrike" kern="1200" cap="none" spc="0" normalizeH="0" baseline="0" noProof="0">
                <a:ln>
                  <a:noFill/>
                </a:ln>
                <a:solidFill>
                  <a:srgbClr val="00B0F0"/>
                </a:solidFill>
                <a:effectLst/>
                <a:uLnTx/>
                <a:uFillTx/>
                <a:latin typeface="Arial"/>
                <a:ea typeface="+mn-ea"/>
                <a:cs typeface="+mn-cs"/>
              </a:rPr>
              <a:t>bundles medical and supplemental coverage </a:t>
            </a:r>
            <a:r>
              <a:rPr kumimoji="0" lang="en-US" sz="1800" b="0" i="0" u="none" strike="noStrike" kern="1200" cap="none" spc="0" normalizeH="0" baseline="0" noProof="0">
                <a:ln>
                  <a:noFill/>
                </a:ln>
                <a:solidFill>
                  <a:srgbClr val="8C9599"/>
                </a:solidFill>
                <a:effectLst/>
                <a:uLnTx/>
                <a:uFillTx/>
                <a:latin typeface="Arial"/>
                <a:ea typeface="+mn-ea"/>
                <a:cs typeface="+mn-cs"/>
              </a:rPr>
              <a:t>to help reduce the financial impact of catastrophic health events. The plan </a:t>
            </a:r>
            <a:r>
              <a:rPr kumimoji="0" lang="en-US" sz="1800" b="1" i="1" u="none" strike="noStrike" kern="1200" cap="none" spc="0" normalizeH="0" baseline="0" noProof="0">
                <a:ln>
                  <a:noFill/>
                </a:ln>
                <a:solidFill>
                  <a:srgbClr val="00B0F0"/>
                </a:solidFill>
                <a:effectLst/>
                <a:uLnTx/>
                <a:uFillTx/>
                <a:latin typeface="Arial"/>
                <a:ea typeface="+mn-ea"/>
                <a:cs typeface="+mn-cs"/>
              </a:rPr>
              <a:t>automatically sends cash payments directly</a:t>
            </a:r>
            <a:r>
              <a:rPr kumimoji="0" lang="en-US" sz="1800" b="0" i="0" u="none" strike="noStrike" kern="1200" cap="none" spc="0" normalizeH="0" baseline="0" noProof="0">
                <a:ln>
                  <a:noFill/>
                </a:ln>
                <a:solidFill>
                  <a:srgbClr val="8C9599"/>
                </a:solidFill>
                <a:effectLst/>
                <a:uLnTx/>
                <a:uFillTx/>
                <a:latin typeface="Arial"/>
                <a:ea typeface="+mn-ea"/>
                <a:cs typeface="+mn-cs"/>
              </a:rPr>
              <a:t> to employees for medical events, including:</a:t>
            </a:r>
          </a:p>
        </p:txBody>
      </p:sp>
      <p:sp>
        <p:nvSpPr>
          <p:cNvPr id="4" name="Content Placeholder 7">
            <a:extLst>
              <a:ext uri="{FF2B5EF4-FFF2-40B4-BE49-F238E27FC236}">
                <a16:creationId xmlns:a16="http://schemas.microsoft.com/office/drawing/2014/main" id="{B3715044-FB70-4CFE-A7F3-C133C4197B58}"/>
              </a:ext>
            </a:extLst>
          </p:cNvPr>
          <p:cNvSpPr txBox="1">
            <a:spLocks/>
          </p:cNvSpPr>
          <p:nvPr/>
        </p:nvSpPr>
        <p:spPr>
          <a:xfrm>
            <a:off x="1226283" y="3171336"/>
            <a:ext cx="2146555" cy="882853"/>
          </a:xfrm>
          <a:prstGeom prst="rect">
            <a:avLst/>
          </a:prstGeom>
        </p:spPr>
        <p:txBody>
          <a:bodyPr vert="horz" lIns="68580" tIns="34290" rIns="68580" bIns="34290" rtlCol="0">
            <a:noAutofit/>
          </a:bodyPr>
          <a:lstStyle>
            <a:lvl1pPr marL="152396" indent="-152396" algn="l" defTabSz="914377" rtl="0" eaLnBrk="1" latinLnBrk="0" hangingPunct="1">
              <a:lnSpc>
                <a:spcPct val="100000"/>
              </a:lnSpc>
              <a:spcBef>
                <a:spcPts val="400"/>
              </a:spcBef>
              <a:spcAft>
                <a:spcPts val="800"/>
              </a:spcAft>
              <a:buClr>
                <a:schemeClr val="accent1"/>
              </a:buClr>
              <a:buFont typeface="Arial" panose="020B0604020202020204" pitchFamily="34" charset="0"/>
              <a:buChar char="•"/>
              <a:tabLst/>
              <a:defRPr sz="1900" b="0" i="0" kern="1200">
                <a:solidFill>
                  <a:schemeClr val="accent1"/>
                </a:solidFill>
                <a:latin typeface="+mn-lt"/>
                <a:ea typeface="+mn-ea"/>
                <a:cs typeface="Arial" panose="020B0604020202020204" pitchFamily="34" charset="0"/>
              </a:defRPr>
            </a:lvl1pPr>
            <a:lvl2pPr marL="289977" indent="-131230" algn="l" defTabSz="914377" rtl="0" eaLnBrk="1" latinLnBrk="0" hangingPunct="1">
              <a:lnSpc>
                <a:spcPct val="100000"/>
              </a:lnSpc>
              <a:spcBef>
                <a:spcPts val="0"/>
              </a:spcBef>
              <a:spcAft>
                <a:spcPts val="800"/>
              </a:spcAft>
              <a:buClr>
                <a:schemeClr val="accent1"/>
              </a:buClr>
              <a:buFont typeface="System Font Regular"/>
              <a:buChar char="-"/>
              <a:tabLst/>
              <a:defRPr sz="1900" b="0" i="0" kern="1200">
                <a:solidFill>
                  <a:schemeClr val="accent1"/>
                </a:solidFill>
                <a:latin typeface="+mn-lt"/>
                <a:ea typeface="+mn-ea"/>
                <a:cs typeface="Arial" panose="020B0604020202020204" pitchFamily="34" charset="0"/>
              </a:defRPr>
            </a:lvl2pPr>
            <a:lvl3pPr marL="419090" indent="-110064" algn="l" defTabSz="914377" rtl="0" eaLnBrk="1" latinLnBrk="0" hangingPunct="1">
              <a:lnSpc>
                <a:spcPct val="100000"/>
              </a:lnSpc>
              <a:spcBef>
                <a:spcPts val="0"/>
              </a:spcBef>
              <a:spcAft>
                <a:spcPts val="800"/>
              </a:spcAft>
              <a:buClr>
                <a:schemeClr val="accent1"/>
              </a:buClr>
              <a:buFont typeface="Arial" panose="020B0604020202020204" pitchFamily="34" charset="0"/>
              <a:buChar char="•"/>
              <a:tabLst/>
              <a:defRPr sz="1600" b="0" i="0" kern="1200">
                <a:solidFill>
                  <a:schemeClr val="accent1"/>
                </a:solidFill>
                <a:latin typeface="+mn-lt"/>
                <a:ea typeface="+mn-ea"/>
                <a:cs typeface="Arial" panose="020B0604020202020204" pitchFamily="34" charset="0"/>
              </a:defRPr>
            </a:lvl3pPr>
            <a:lvl4pPr marL="539737" indent="-120648" algn="l" defTabSz="914377" rtl="0" eaLnBrk="1" latinLnBrk="0" hangingPunct="1">
              <a:lnSpc>
                <a:spcPct val="100000"/>
              </a:lnSpc>
              <a:spcBef>
                <a:spcPts val="0"/>
              </a:spcBef>
              <a:spcAft>
                <a:spcPts val="800"/>
              </a:spcAft>
              <a:buClr>
                <a:schemeClr val="accent1"/>
              </a:buClr>
              <a:buFont typeface="System Font Regular"/>
              <a:buChar char="-"/>
              <a:tabLst/>
              <a:defRPr sz="1500" b="0" i="0" kern="1200">
                <a:solidFill>
                  <a:schemeClr val="accent1"/>
                </a:solidFill>
                <a:latin typeface="+mn-lt"/>
                <a:ea typeface="+mn-ea"/>
                <a:cs typeface="Arial" panose="020B0604020202020204" pitchFamily="34" charset="0"/>
              </a:defRPr>
            </a:lvl4pPr>
            <a:lvl5pPr marL="658268" indent="-107948" algn="l" defTabSz="914377" rtl="0" eaLnBrk="1" latinLnBrk="0" hangingPunct="1">
              <a:lnSpc>
                <a:spcPct val="100000"/>
              </a:lnSpc>
              <a:spcBef>
                <a:spcPts val="0"/>
              </a:spcBef>
              <a:spcAft>
                <a:spcPts val="800"/>
              </a:spcAft>
              <a:buClr>
                <a:schemeClr val="accent1"/>
              </a:buClr>
              <a:buFont typeface="Arial" panose="020B0604020202020204" pitchFamily="34" charset="0"/>
              <a:buChar char="•"/>
              <a:tabLst/>
              <a:defRPr sz="1400" b="0" i="0" kern="1200">
                <a:solidFill>
                  <a:schemeClr val="accent1"/>
                </a:solidFill>
                <a:latin typeface="+mn-lt"/>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377" rtl="0" eaLnBrk="1" fontAlgn="auto" latinLnBrk="0" hangingPunct="1">
              <a:lnSpc>
                <a:spcPct val="100000"/>
              </a:lnSpc>
              <a:spcBef>
                <a:spcPts val="400"/>
              </a:spcBef>
              <a:spcAft>
                <a:spcPts val="800"/>
              </a:spcAft>
              <a:buClr>
                <a:srgbClr val="003DA1"/>
              </a:buClr>
              <a:buSzTx/>
              <a:buFont typeface="Arial" panose="020B0604020202020204" pitchFamily="34" charset="0"/>
              <a:buNone/>
              <a:tabLst/>
              <a:defRPr/>
            </a:pPr>
            <a:r>
              <a:rPr kumimoji="0" lang="en-US" sz="1425" b="1" i="0" u="none" strike="noStrike" kern="1200" cap="none" spc="0" normalizeH="0" baseline="0" noProof="0">
                <a:ln>
                  <a:noFill/>
                </a:ln>
                <a:solidFill>
                  <a:srgbClr val="003DA1"/>
                </a:solidFill>
                <a:effectLst/>
                <a:uLnTx/>
                <a:uFillTx/>
                <a:latin typeface="Arial"/>
                <a:ea typeface="+mn-ea"/>
                <a:cs typeface="Arial" panose="020B0604020202020204" pitchFamily="34" charset="0"/>
              </a:rPr>
              <a:t>Accidents</a:t>
            </a:r>
            <a:r>
              <a:rPr kumimoji="0" lang="en-US" sz="1425" b="1" i="0" u="none" strike="noStrike" kern="1200" cap="none" spc="225" normalizeH="0" baseline="0" noProof="0">
                <a:ln>
                  <a:noFill/>
                </a:ln>
                <a:solidFill>
                  <a:srgbClr val="003DA1"/>
                </a:solidFill>
                <a:effectLst/>
                <a:uLnTx/>
                <a:uFillTx/>
                <a:latin typeface="Arial"/>
                <a:ea typeface="+mn-ea"/>
                <a:cs typeface="Arial" panose="020B0604020202020204" pitchFamily="34" charset="0"/>
              </a:rPr>
              <a:t>*</a:t>
            </a:r>
            <a:r>
              <a:rPr kumimoji="0" lang="en-US" sz="1425" b="0" i="0" u="none" strike="noStrike" kern="1200" cap="none" spc="225" normalizeH="0" baseline="0" noProof="0">
                <a:ln>
                  <a:noFill/>
                </a:ln>
                <a:solidFill>
                  <a:srgbClr val="003DA1"/>
                </a:solidFill>
                <a:effectLst/>
                <a:uLnTx/>
                <a:uFillTx/>
                <a:latin typeface="Arial"/>
                <a:ea typeface="+mn-ea"/>
                <a:cs typeface="Arial" panose="020B0604020202020204" pitchFamily="34" charset="0"/>
              </a:rPr>
              <a:t>–</a:t>
            </a:r>
            <a:br>
              <a:rPr kumimoji="0" lang="en-US" sz="1425" b="1" i="0" u="none" strike="noStrike" kern="1200" cap="none" spc="225" normalizeH="0" baseline="0" noProof="0">
                <a:ln>
                  <a:noFill/>
                </a:ln>
                <a:solidFill>
                  <a:srgbClr val="003DA1"/>
                </a:solidFill>
                <a:effectLst/>
                <a:uLnTx/>
                <a:uFillTx/>
                <a:latin typeface="Arial"/>
                <a:ea typeface="+mn-ea"/>
                <a:cs typeface="Arial" panose="020B0604020202020204" pitchFamily="34" charset="0"/>
              </a:rPr>
            </a:br>
            <a:r>
              <a:rPr kumimoji="0" lang="en-US" sz="1425" b="0" i="0" u="none" strike="noStrike" kern="1200" cap="none" spc="0" normalizeH="0" baseline="0" noProof="0">
                <a:ln>
                  <a:noFill/>
                </a:ln>
                <a:solidFill>
                  <a:srgbClr val="003DA1"/>
                </a:solidFill>
                <a:effectLst/>
                <a:uLnTx/>
                <a:uFillTx/>
                <a:latin typeface="Arial"/>
                <a:ea typeface="+mn-ea"/>
                <a:cs typeface="Arial" panose="020B0604020202020204" pitchFamily="34" charset="0"/>
              </a:rPr>
              <a:t>dislocations, fractures </a:t>
            </a:r>
            <a:br>
              <a:rPr kumimoji="0" lang="en-US" sz="1425" b="0" i="0" u="none" strike="noStrike" kern="1200" cap="none" spc="0" normalizeH="0" baseline="0" noProof="0">
                <a:ln>
                  <a:noFill/>
                </a:ln>
                <a:solidFill>
                  <a:srgbClr val="003DA1"/>
                </a:solidFill>
                <a:effectLst/>
                <a:uLnTx/>
                <a:uFillTx/>
                <a:latin typeface="Arial"/>
                <a:ea typeface="+mn-ea"/>
                <a:cs typeface="Arial" panose="020B0604020202020204" pitchFamily="34" charset="0"/>
              </a:rPr>
            </a:br>
            <a:r>
              <a:rPr kumimoji="0" lang="en-US" sz="1425" b="0" i="0" u="none" strike="noStrike" kern="1200" cap="none" spc="0" normalizeH="0" baseline="0" noProof="0">
                <a:ln>
                  <a:noFill/>
                </a:ln>
                <a:solidFill>
                  <a:srgbClr val="003DA1"/>
                </a:solidFill>
                <a:effectLst/>
                <a:uLnTx/>
                <a:uFillTx/>
                <a:latin typeface="Arial"/>
                <a:ea typeface="+mn-ea"/>
                <a:cs typeface="Arial" panose="020B0604020202020204" pitchFamily="34" charset="0"/>
              </a:rPr>
              <a:t>and eye injuries</a:t>
            </a:r>
          </a:p>
        </p:txBody>
      </p:sp>
      <p:sp>
        <p:nvSpPr>
          <p:cNvPr id="5" name="Content Placeholder 7">
            <a:extLst>
              <a:ext uri="{FF2B5EF4-FFF2-40B4-BE49-F238E27FC236}">
                <a16:creationId xmlns:a16="http://schemas.microsoft.com/office/drawing/2014/main" id="{451D8D95-104D-4E87-8D7D-E573D4903C30}"/>
              </a:ext>
            </a:extLst>
          </p:cNvPr>
          <p:cNvSpPr txBox="1">
            <a:spLocks/>
          </p:cNvSpPr>
          <p:nvPr/>
        </p:nvSpPr>
        <p:spPr>
          <a:xfrm>
            <a:off x="3830691" y="3171336"/>
            <a:ext cx="2146555" cy="882853"/>
          </a:xfrm>
          <a:prstGeom prst="rect">
            <a:avLst/>
          </a:prstGeom>
        </p:spPr>
        <p:txBody>
          <a:bodyPr vert="horz" lIns="68580" tIns="34290" rIns="68580" bIns="34290" rtlCol="0">
            <a:noAutofit/>
          </a:bodyPr>
          <a:lstStyle>
            <a:lvl1pPr marL="152396" indent="-152396" algn="l" defTabSz="914377" rtl="0" eaLnBrk="1" latinLnBrk="0" hangingPunct="1">
              <a:lnSpc>
                <a:spcPct val="100000"/>
              </a:lnSpc>
              <a:spcBef>
                <a:spcPts val="400"/>
              </a:spcBef>
              <a:spcAft>
                <a:spcPts val="800"/>
              </a:spcAft>
              <a:buClr>
                <a:schemeClr val="accent1"/>
              </a:buClr>
              <a:buFont typeface="Arial" panose="020B0604020202020204" pitchFamily="34" charset="0"/>
              <a:buChar char="•"/>
              <a:tabLst/>
              <a:defRPr sz="1900" b="0" i="0" kern="1200">
                <a:solidFill>
                  <a:schemeClr val="accent1"/>
                </a:solidFill>
                <a:latin typeface="+mn-lt"/>
                <a:ea typeface="+mn-ea"/>
                <a:cs typeface="Arial" panose="020B0604020202020204" pitchFamily="34" charset="0"/>
              </a:defRPr>
            </a:lvl1pPr>
            <a:lvl2pPr marL="289977" indent="-131230" algn="l" defTabSz="914377" rtl="0" eaLnBrk="1" latinLnBrk="0" hangingPunct="1">
              <a:lnSpc>
                <a:spcPct val="100000"/>
              </a:lnSpc>
              <a:spcBef>
                <a:spcPts val="0"/>
              </a:spcBef>
              <a:spcAft>
                <a:spcPts val="800"/>
              </a:spcAft>
              <a:buClr>
                <a:schemeClr val="accent1"/>
              </a:buClr>
              <a:buFont typeface="System Font Regular"/>
              <a:buChar char="-"/>
              <a:tabLst/>
              <a:defRPr sz="1900" b="0" i="0" kern="1200">
                <a:solidFill>
                  <a:schemeClr val="accent1"/>
                </a:solidFill>
                <a:latin typeface="+mn-lt"/>
                <a:ea typeface="+mn-ea"/>
                <a:cs typeface="Arial" panose="020B0604020202020204" pitchFamily="34" charset="0"/>
              </a:defRPr>
            </a:lvl2pPr>
            <a:lvl3pPr marL="419090" indent="-110064" algn="l" defTabSz="914377" rtl="0" eaLnBrk="1" latinLnBrk="0" hangingPunct="1">
              <a:lnSpc>
                <a:spcPct val="100000"/>
              </a:lnSpc>
              <a:spcBef>
                <a:spcPts val="0"/>
              </a:spcBef>
              <a:spcAft>
                <a:spcPts val="800"/>
              </a:spcAft>
              <a:buClr>
                <a:schemeClr val="accent1"/>
              </a:buClr>
              <a:buFont typeface="Arial" panose="020B0604020202020204" pitchFamily="34" charset="0"/>
              <a:buChar char="•"/>
              <a:tabLst/>
              <a:defRPr sz="1600" b="0" i="0" kern="1200">
                <a:solidFill>
                  <a:schemeClr val="accent1"/>
                </a:solidFill>
                <a:latin typeface="+mn-lt"/>
                <a:ea typeface="+mn-ea"/>
                <a:cs typeface="Arial" panose="020B0604020202020204" pitchFamily="34" charset="0"/>
              </a:defRPr>
            </a:lvl3pPr>
            <a:lvl4pPr marL="539737" indent="-120648" algn="l" defTabSz="914377" rtl="0" eaLnBrk="1" latinLnBrk="0" hangingPunct="1">
              <a:lnSpc>
                <a:spcPct val="100000"/>
              </a:lnSpc>
              <a:spcBef>
                <a:spcPts val="0"/>
              </a:spcBef>
              <a:spcAft>
                <a:spcPts val="800"/>
              </a:spcAft>
              <a:buClr>
                <a:schemeClr val="accent1"/>
              </a:buClr>
              <a:buFont typeface="System Font Regular"/>
              <a:buChar char="-"/>
              <a:tabLst/>
              <a:defRPr sz="1500" b="0" i="0" kern="1200">
                <a:solidFill>
                  <a:schemeClr val="accent1"/>
                </a:solidFill>
                <a:latin typeface="+mn-lt"/>
                <a:ea typeface="+mn-ea"/>
                <a:cs typeface="Arial" panose="020B0604020202020204" pitchFamily="34" charset="0"/>
              </a:defRPr>
            </a:lvl4pPr>
            <a:lvl5pPr marL="658268" indent="-107948" algn="l" defTabSz="914377" rtl="0" eaLnBrk="1" latinLnBrk="0" hangingPunct="1">
              <a:lnSpc>
                <a:spcPct val="100000"/>
              </a:lnSpc>
              <a:spcBef>
                <a:spcPts val="0"/>
              </a:spcBef>
              <a:spcAft>
                <a:spcPts val="800"/>
              </a:spcAft>
              <a:buClr>
                <a:schemeClr val="accent1"/>
              </a:buClr>
              <a:buFont typeface="Arial" panose="020B0604020202020204" pitchFamily="34" charset="0"/>
              <a:buChar char="•"/>
              <a:tabLst/>
              <a:defRPr sz="1400" b="0" i="0" kern="1200">
                <a:solidFill>
                  <a:schemeClr val="accent1"/>
                </a:solidFill>
                <a:latin typeface="+mn-lt"/>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377" rtl="0" eaLnBrk="1" fontAlgn="auto" latinLnBrk="0" hangingPunct="1">
              <a:lnSpc>
                <a:spcPct val="100000"/>
              </a:lnSpc>
              <a:spcBef>
                <a:spcPts val="400"/>
              </a:spcBef>
              <a:spcAft>
                <a:spcPts val="800"/>
              </a:spcAft>
              <a:buClr>
                <a:srgbClr val="003DA1"/>
              </a:buClr>
              <a:buSzTx/>
              <a:buFont typeface="Arial" panose="020B0604020202020204" pitchFamily="34" charset="0"/>
              <a:buNone/>
              <a:tabLst/>
              <a:defRPr/>
            </a:pPr>
            <a:r>
              <a:rPr kumimoji="0" lang="en-US" sz="1425" b="1" i="0" u="none" strike="noStrike" kern="1200" cap="none" spc="0" normalizeH="0" baseline="0" noProof="0">
                <a:ln>
                  <a:noFill/>
                </a:ln>
                <a:solidFill>
                  <a:srgbClr val="003DA1"/>
                </a:solidFill>
                <a:effectLst/>
                <a:uLnTx/>
                <a:uFillTx/>
                <a:latin typeface="Arial"/>
                <a:ea typeface="+mn-ea"/>
                <a:cs typeface="Arial" panose="020B0604020202020204" pitchFamily="34" charset="0"/>
              </a:rPr>
              <a:t>Critical illnesse</a:t>
            </a:r>
            <a:r>
              <a:rPr kumimoji="0" lang="en-US" sz="1425" b="1" i="0" u="none" strike="noStrike" kern="1200" cap="none" spc="225" normalizeH="0" baseline="0" noProof="0">
                <a:ln>
                  <a:noFill/>
                </a:ln>
                <a:solidFill>
                  <a:srgbClr val="003DA1"/>
                </a:solidFill>
                <a:effectLst/>
                <a:uLnTx/>
                <a:uFillTx/>
                <a:latin typeface="Arial"/>
                <a:ea typeface="+mn-ea"/>
                <a:cs typeface="Arial" panose="020B0604020202020204" pitchFamily="34" charset="0"/>
              </a:rPr>
              <a:t>s</a:t>
            </a:r>
            <a:r>
              <a:rPr kumimoji="0" lang="en-US" sz="1425" b="0" i="0" u="none" strike="noStrike" kern="1200" cap="none" spc="225" normalizeH="0" baseline="0" noProof="0">
                <a:ln>
                  <a:noFill/>
                </a:ln>
                <a:solidFill>
                  <a:srgbClr val="003DA1"/>
                </a:solidFill>
                <a:effectLst/>
                <a:uLnTx/>
                <a:uFillTx/>
                <a:latin typeface="Arial"/>
                <a:ea typeface="+mn-ea"/>
                <a:cs typeface="Arial" panose="020B0604020202020204" pitchFamily="34" charset="0"/>
              </a:rPr>
              <a:t>–</a:t>
            </a:r>
            <a:br>
              <a:rPr kumimoji="0" lang="en-US" sz="1425" b="1" i="0" u="none" strike="noStrike" kern="1200" cap="none" spc="225" normalizeH="0" baseline="0" noProof="0">
                <a:ln>
                  <a:noFill/>
                </a:ln>
                <a:solidFill>
                  <a:srgbClr val="003DA1"/>
                </a:solidFill>
                <a:effectLst/>
                <a:uLnTx/>
                <a:uFillTx/>
                <a:latin typeface="Arial"/>
                <a:ea typeface="+mn-ea"/>
                <a:cs typeface="Arial" panose="020B0604020202020204" pitchFamily="34" charset="0"/>
              </a:rPr>
            </a:br>
            <a:r>
              <a:rPr kumimoji="0" lang="en-US" sz="1425" b="0" i="0" u="none" strike="noStrike" kern="1200" cap="none" spc="0" normalizeH="0" baseline="0" noProof="0">
                <a:ln>
                  <a:noFill/>
                </a:ln>
                <a:solidFill>
                  <a:srgbClr val="003DA1"/>
                </a:solidFill>
                <a:effectLst/>
                <a:uLnTx/>
                <a:uFillTx/>
                <a:latin typeface="Arial"/>
                <a:ea typeface="+mn-ea"/>
                <a:cs typeface="Arial" panose="020B0604020202020204" pitchFamily="34" charset="0"/>
              </a:rPr>
              <a:t>cancer, heart attacks </a:t>
            </a:r>
            <a:br>
              <a:rPr kumimoji="0" lang="en-US" sz="1425" b="0" i="0" u="none" strike="noStrike" kern="1200" cap="none" spc="0" normalizeH="0" baseline="0" noProof="0">
                <a:ln>
                  <a:noFill/>
                </a:ln>
                <a:solidFill>
                  <a:srgbClr val="003DA1"/>
                </a:solidFill>
                <a:effectLst/>
                <a:uLnTx/>
                <a:uFillTx/>
                <a:latin typeface="Arial"/>
                <a:ea typeface="+mn-ea"/>
                <a:cs typeface="Arial" panose="020B0604020202020204" pitchFamily="34" charset="0"/>
              </a:rPr>
            </a:br>
            <a:r>
              <a:rPr kumimoji="0" lang="en-US" sz="1425" b="0" i="0" u="none" strike="noStrike" kern="1200" cap="none" spc="0" normalizeH="0" baseline="0" noProof="0">
                <a:ln>
                  <a:noFill/>
                </a:ln>
                <a:solidFill>
                  <a:srgbClr val="003DA1"/>
                </a:solidFill>
                <a:effectLst/>
                <a:uLnTx/>
                <a:uFillTx/>
                <a:latin typeface="Arial"/>
                <a:ea typeface="+mn-ea"/>
                <a:cs typeface="Arial" panose="020B0604020202020204" pitchFamily="34" charset="0"/>
              </a:rPr>
              <a:t>and strokes</a:t>
            </a:r>
          </a:p>
        </p:txBody>
      </p:sp>
      <p:sp>
        <p:nvSpPr>
          <p:cNvPr id="6" name="Content Placeholder 7">
            <a:extLst>
              <a:ext uri="{FF2B5EF4-FFF2-40B4-BE49-F238E27FC236}">
                <a16:creationId xmlns:a16="http://schemas.microsoft.com/office/drawing/2014/main" id="{A503DCE5-BA73-4867-8CAE-65C92F001FC3}"/>
              </a:ext>
            </a:extLst>
          </p:cNvPr>
          <p:cNvSpPr txBox="1">
            <a:spLocks/>
          </p:cNvSpPr>
          <p:nvPr/>
        </p:nvSpPr>
        <p:spPr>
          <a:xfrm>
            <a:off x="6443262" y="3171336"/>
            <a:ext cx="2146555" cy="882853"/>
          </a:xfrm>
          <a:prstGeom prst="rect">
            <a:avLst/>
          </a:prstGeom>
        </p:spPr>
        <p:txBody>
          <a:bodyPr vert="horz" lIns="68580" tIns="34290" rIns="68580" bIns="34290" rtlCol="0">
            <a:noAutofit/>
          </a:bodyPr>
          <a:lstStyle>
            <a:lvl1pPr marL="152396" indent="-152396" algn="l" defTabSz="914377" rtl="0" eaLnBrk="1" latinLnBrk="0" hangingPunct="1">
              <a:lnSpc>
                <a:spcPct val="100000"/>
              </a:lnSpc>
              <a:spcBef>
                <a:spcPts val="400"/>
              </a:spcBef>
              <a:spcAft>
                <a:spcPts val="800"/>
              </a:spcAft>
              <a:buClr>
                <a:schemeClr val="accent1"/>
              </a:buClr>
              <a:buFont typeface="Arial" panose="020B0604020202020204" pitchFamily="34" charset="0"/>
              <a:buChar char="•"/>
              <a:tabLst/>
              <a:defRPr sz="1900" b="0" i="0" kern="1200">
                <a:solidFill>
                  <a:schemeClr val="accent1"/>
                </a:solidFill>
                <a:latin typeface="+mn-lt"/>
                <a:ea typeface="+mn-ea"/>
                <a:cs typeface="Arial" panose="020B0604020202020204" pitchFamily="34" charset="0"/>
              </a:defRPr>
            </a:lvl1pPr>
            <a:lvl2pPr marL="289977" indent="-131230" algn="l" defTabSz="914377" rtl="0" eaLnBrk="1" latinLnBrk="0" hangingPunct="1">
              <a:lnSpc>
                <a:spcPct val="100000"/>
              </a:lnSpc>
              <a:spcBef>
                <a:spcPts val="0"/>
              </a:spcBef>
              <a:spcAft>
                <a:spcPts val="800"/>
              </a:spcAft>
              <a:buClr>
                <a:schemeClr val="accent1"/>
              </a:buClr>
              <a:buFont typeface="System Font Regular"/>
              <a:buChar char="-"/>
              <a:tabLst/>
              <a:defRPr sz="1900" b="0" i="0" kern="1200">
                <a:solidFill>
                  <a:schemeClr val="accent1"/>
                </a:solidFill>
                <a:latin typeface="+mn-lt"/>
                <a:ea typeface="+mn-ea"/>
                <a:cs typeface="Arial" panose="020B0604020202020204" pitchFamily="34" charset="0"/>
              </a:defRPr>
            </a:lvl2pPr>
            <a:lvl3pPr marL="419090" indent="-110064" algn="l" defTabSz="914377" rtl="0" eaLnBrk="1" latinLnBrk="0" hangingPunct="1">
              <a:lnSpc>
                <a:spcPct val="100000"/>
              </a:lnSpc>
              <a:spcBef>
                <a:spcPts val="0"/>
              </a:spcBef>
              <a:spcAft>
                <a:spcPts val="800"/>
              </a:spcAft>
              <a:buClr>
                <a:schemeClr val="accent1"/>
              </a:buClr>
              <a:buFont typeface="Arial" panose="020B0604020202020204" pitchFamily="34" charset="0"/>
              <a:buChar char="•"/>
              <a:tabLst/>
              <a:defRPr sz="1600" b="0" i="0" kern="1200">
                <a:solidFill>
                  <a:schemeClr val="accent1"/>
                </a:solidFill>
                <a:latin typeface="+mn-lt"/>
                <a:ea typeface="+mn-ea"/>
                <a:cs typeface="Arial" panose="020B0604020202020204" pitchFamily="34" charset="0"/>
              </a:defRPr>
            </a:lvl3pPr>
            <a:lvl4pPr marL="539737" indent="-120648" algn="l" defTabSz="914377" rtl="0" eaLnBrk="1" latinLnBrk="0" hangingPunct="1">
              <a:lnSpc>
                <a:spcPct val="100000"/>
              </a:lnSpc>
              <a:spcBef>
                <a:spcPts val="0"/>
              </a:spcBef>
              <a:spcAft>
                <a:spcPts val="800"/>
              </a:spcAft>
              <a:buClr>
                <a:schemeClr val="accent1"/>
              </a:buClr>
              <a:buFont typeface="System Font Regular"/>
              <a:buChar char="-"/>
              <a:tabLst/>
              <a:defRPr sz="1500" b="0" i="0" kern="1200">
                <a:solidFill>
                  <a:schemeClr val="accent1"/>
                </a:solidFill>
                <a:latin typeface="+mn-lt"/>
                <a:ea typeface="+mn-ea"/>
                <a:cs typeface="Arial" panose="020B0604020202020204" pitchFamily="34" charset="0"/>
              </a:defRPr>
            </a:lvl4pPr>
            <a:lvl5pPr marL="658268" indent="-107948" algn="l" defTabSz="914377" rtl="0" eaLnBrk="1" latinLnBrk="0" hangingPunct="1">
              <a:lnSpc>
                <a:spcPct val="100000"/>
              </a:lnSpc>
              <a:spcBef>
                <a:spcPts val="0"/>
              </a:spcBef>
              <a:spcAft>
                <a:spcPts val="800"/>
              </a:spcAft>
              <a:buClr>
                <a:schemeClr val="accent1"/>
              </a:buClr>
              <a:buFont typeface="Arial" panose="020B0604020202020204" pitchFamily="34" charset="0"/>
              <a:buChar char="•"/>
              <a:tabLst/>
              <a:defRPr sz="1400" b="0" i="0" kern="1200">
                <a:solidFill>
                  <a:schemeClr val="accent1"/>
                </a:solidFill>
                <a:latin typeface="+mn-lt"/>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377" rtl="0" eaLnBrk="1" fontAlgn="auto" latinLnBrk="0" hangingPunct="1">
              <a:lnSpc>
                <a:spcPct val="100000"/>
              </a:lnSpc>
              <a:spcBef>
                <a:spcPts val="400"/>
              </a:spcBef>
              <a:spcAft>
                <a:spcPts val="800"/>
              </a:spcAft>
              <a:buClr>
                <a:srgbClr val="003DA1"/>
              </a:buClr>
              <a:buSzTx/>
              <a:buFont typeface="Arial" panose="020B0604020202020204" pitchFamily="34" charset="0"/>
              <a:buNone/>
              <a:tabLst/>
              <a:defRPr/>
            </a:pPr>
            <a:r>
              <a:rPr kumimoji="0" lang="en-US" sz="1425" b="1" i="0" u="none" strike="noStrike" kern="1200" cap="none" spc="0" normalizeH="0" baseline="0" noProof="0">
                <a:ln>
                  <a:noFill/>
                </a:ln>
                <a:solidFill>
                  <a:srgbClr val="003DA1"/>
                </a:solidFill>
                <a:effectLst/>
                <a:uLnTx/>
                <a:uFillTx/>
                <a:latin typeface="Arial"/>
                <a:ea typeface="+mn-ea"/>
                <a:cs typeface="Arial" panose="020B0604020202020204" pitchFamily="34" charset="0"/>
              </a:rPr>
              <a:t>Hospital indemnit</a:t>
            </a:r>
            <a:r>
              <a:rPr kumimoji="0" lang="en-US" sz="1425" b="1" i="0" u="none" strike="noStrike" kern="1200" cap="none" spc="225" normalizeH="0" baseline="0" noProof="0">
                <a:ln>
                  <a:noFill/>
                </a:ln>
                <a:solidFill>
                  <a:srgbClr val="003DA1"/>
                </a:solidFill>
                <a:effectLst/>
                <a:uLnTx/>
                <a:uFillTx/>
                <a:latin typeface="Arial"/>
                <a:ea typeface="+mn-ea"/>
                <a:cs typeface="Arial" panose="020B0604020202020204" pitchFamily="34" charset="0"/>
              </a:rPr>
              <a:t>y</a:t>
            </a:r>
            <a:r>
              <a:rPr kumimoji="0" lang="en-US" sz="1425" b="0" i="0" u="none" strike="noStrike" kern="1200" cap="none" spc="225" normalizeH="0" baseline="0" noProof="0">
                <a:ln>
                  <a:noFill/>
                </a:ln>
                <a:solidFill>
                  <a:srgbClr val="003DA1"/>
                </a:solidFill>
                <a:effectLst/>
                <a:uLnTx/>
                <a:uFillTx/>
                <a:latin typeface="Arial"/>
                <a:ea typeface="+mn-ea"/>
                <a:cs typeface="Arial" panose="020B0604020202020204" pitchFamily="34" charset="0"/>
              </a:rPr>
              <a:t>–</a:t>
            </a:r>
            <a:br>
              <a:rPr kumimoji="0" lang="en-US" sz="1425" b="1" i="0" u="none" strike="noStrike" kern="1200" cap="none" spc="0" normalizeH="0" baseline="0" noProof="0">
                <a:ln>
                  <a:noFill/>
                </a:ln>
                <a:solidFill>
                  <a:srgbClr val="003DA1"/>
                </a:solidFill>
                <a:effectLst/>
                <a:uLnTx/>
                <a:uFillTx/>
                <a:latin typeface="Arial"/>
                <a:ea typeface="+mn-ea"/>
                <a:cs typeface="Arial" panose="020B0604020202020204" pitchFamily="34" charset="0"/>
              </a:rPr>
            </a:br>
            <a:r>
              <a:rPr kumimoji="0" lang="en-US" sz="1425" b="0" i="0" u="none" strike="noStrike" kern="1200" cap="none" spc="0" normalizeH="0" baseline="0" noProof="0">
                <a:ln>
                  <a:noFill/>
                </a:ln>
                <a:solidFill>
                  <a:srgbClr val="003DA1"/>
                </a:solidFill>
                <a:effectLst/>
                <a:uLnTx/>
                <a:uFillTx/>
                <a:latin typeface="Arial"/>
                <a:ea typeface="+mn-ea"/>
                <a:cs typeface="Arial" panose="020B0604020202020204" pitchFamily="34" charset="0"/>
              </a:rPr>
              <a:t>hospital and ICU </a:t>
            </a:r>
            <a:br>
              <a:rPr kumimoji="0" lang="en-US" sz="1425" b="0" i="0" u="none" strike="noStrike" kern="1200" cap="none" spc="0" normalizeH="0" baseline="0" noProof="0">
                <a:ln>
                  <a:noFill/>
                </a:ln>
                <a:solidFill>
                  <a:srgbClr val="003DA1"/>
                </a:solidFill>
                <a:effectLst/>
                <a:uLnTx/>
                <a:uFillTx/>
                <a:latin typeface="Arial"/>
                <a:ea typeface="+mn-ea"/>
                <a:cs typeface="Arial" panose="020B0604020202020204" pitchFamily="34" charset="0"/>
              </a:rPr>
            </a:br>
            <a:r>
              <a:rPr kumimoji="0" lang="en-US" sz="1425" b="0" i="0" u="none" strike="noStrike" kern="1200" cap="none" spc="0" normalizeH="0" baseline="0" noProof="0">
                <a:ln>
                  <a:noFill/>
                </a:ln>
                <a:solidFill>
                  <a:srgbClr val="003DA1"/>
                </a:solidFill>
                <a:effectLst/>
                <a:uLnTx/>
                <a:uFillTx/>
                <a:latin typeface="Arial"/>
                <a:ea typeface="+mn-ea"/>
                <a:cs typeface="Arial" panose="020B0604020202020204" pitchFamily="34" charset="0"/>
              </a:rPr>
              <a:t>admissions and stays</a:t>
            </a:r>
          </a:p>
        </p:txBody>
      </p:sp>
      <p:pic>
        <p:nvPicPr>
          <p:cNvPr id="7" name="Picture 6">
            <a:extLst>
              <a:ext uri="{FF2B5EF4-FFF2-40B4-BE49-F238E27FC236}">
                <a16:creationId xmlns:a16="http://schemas.microsoft.com/office/drawing/2014/main" id="{A80CF7A3-D807-479E-A147-D04E76FDC21D}"/>
              </a:ext>
            </a:extLst>
          </p:cNvPr>
          <p:cNvPicPr>
            <a:picLocks noChangeAspect="1"/>
          </p:cNvPicPr>
          <p:nvPr/>
        </p:nvPicPr>
        <p:blipFill>
          <a:blip r:embed="rId2"/>
          <a:srcRect/>
          <a:stretch/>
        </p:blipFill>
        <p:spPr>
          <a:xfrm>
            <a:off x="1274198" y="2517051"/>
            <a:ext cx="596646" cy="596646"/>
          </a:xfrm>
          <a:prstGeom prst="rect">
            <a:avLst/>
          </a:prstGeom>
        </p:spPr>
      </p:pic>
      <p:pic>
        <p:nvPicPr>
          <p:cNvPr id="8" name="Picture 7">
            <a:extLst>
              <a:ext uri="{FF2B5EF4-FFF2-40B4-BE49-F238E27FC236}">
                <a16:creationId xmlns:a16="http://schemas.microsoft.com/office/drawing/2014/main" id="{FD4D0327-4904-4968-9411-D25DE80CAE03}"/>
              </a:ext>
            </a:extLst>
          </p:cNvPr>
          <p:cNvPicPr>
            <a:picLocks noChangeAspect="1"/>
          </p:cNvPicPr>
          <p:nvPr/>
        </p:nvPicPr>
        <p:blipFill>
          <a:blip r:embed="rId3"/>
          <a:srcRect/>
          <a:stretch/>
        </p:blipFill>
        <p:spPr>
          <a:xfrm>
            <a:off x="3904170" y="2517052"/>
            <a:ext cx="597134" cy="597134"/>
          </a:xfrm>
          <a:prstGeom prst="rect">
            <a:avLst/>
          </a:prstGeom>
        </p:spPr>
      </p:pic>
      <p:pic>
        <p:nvPicPr>
          <p:cNvPr id="9" name="Picture 8">
            <a:extLst>
              <a:ext uri="{FF2B5EF4-FFF2-40B4-BE49-F238E27FC236}">
                <a16:creationId xmlns:a16="http://schemas.microsoft.com/office/drawing/2014/main" id="{A4867443-744A-41B6-A0A5-147780FEE521}"/>
              </a:ext>
            </a:extLst>
          </p:cNvPr>
          <p:cNvPicPr>
            <a:picLocks noChangeAspect="1"/>
          </p:cNvPicPr>
          <p:nvPr/>
        </p:nvPicPr>
        <p:blipFill>
          <a:blip r:embed="rId4"/>
          <a:srcRect/>
          <a:stretch/>
        </p:blipFill>
        <p:spPr>
          <a:xfrm>
            <a:off x="6507436" y="2512531"/>
            <a:ext cx="597134" cy="597134"/>
          </a:xfrm>
          <a:prstGeom prst="rect">
            <a:avLst/>
          </a:prstGeom>
        </p:spPr>
      </p:pic>
      <p:cxnSp>
        <p:nvCxnSpPr>
          <p:cNvPr id="12" name="Straight Connector 11">
            <a:extLst>
              <a:ext uri="{FF2B5EF4-FFF2-40B4-BE49-F238E27FC236}">
                <a16:creationId xmlns:a16="http://schemas.microsoft.com/office/drawing/2014/main" id="{A6A3BF82-4015-42EB-B36B-680F58A6219E}"/>
              </a:ext>
            </a:extLst>
          </p:cNvPr>
          <p:cNvCxnSpPr/>
          <p:nvPr/>
        </p:nvCxnSpPr>
        <p:spPr>
          <a:xfrm>
            <a:off x="0" y="852056"/>
            <a:ext cx="9144000" cy="0"/>
          </a:xfrm>
          <a:prstGeom prst="line">
            <a:avLst/>
          </a:prstGeom>
          <a:ln w="381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69554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881A91-A50C-DEEA-3D71-959B2BC927FC}"/>
            </a:ext>
          </a:extLst>
        </p:cNvPr>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818F7C2E-C2F7-EE0E-95C1-7352946CE867}"/>
              </a:ext>
            </a:extLst>
          </p:cNvPr>
          <p:cNvGraphicFramePr>
            <a:graphicFrameLocks noChangeAspect="1"/>
          </p:cNvGraphicFramePr>
          <p:nvPr>
            <p:custDataLst>
              <p:tags r:id="rId1"/>
            </p:custDataLst>
          </p:nvPr>
        </p:nvGraphicFramePr>
        <p:xfrm>
          <a:off x="1144589" y="1589"/>
          <a:ext cx="1588" cy="1588"/>
        </p:xfrm>
        <a:graphic>
          <a:graphicData uri="http://schemas.openxmlformats.org/presentationml/2006/ole">
            <mc:AlternateContent xmlns:mc="http://schemas.openxmlformats.org/markup-compatibility/2006">
              <mc:Choice xmlns:v="urn:schemas-microsoft-com:vml" Requires="v">
                <p:oleObj name="think-cell Slide" r:id="rId5" imgW="360" imgH="360" progId="TCLayout.ActiveDocument.1">
                  <p:embed/>
                </p:oleObj>
              </mc:Choice>
              <mc:Fallback>
                <p:oleObj name="think-cell Slide" r:id="rId5" imgW="360" imgH="360" progId="TCLayout.ActiveDocument.1">
                  <p:embed/>
                  <p:pic>
                    <p:nvPicPr>
                      <p:cNvPr id="3" name="Object 2" hidden="1">
                        <a:extLst>
                          <a:ext uri="{FF2B5EF4-FFF2-40B4-BE49-F238E27FC236}">
                            <a16:creationId xmlns:a16="http://schemas.microsoft.com/office/drawing/2014/main" id="{818F7C2E-C2F7-EE0E-95C1-7352946CE867}"/>
                          </a:ext>
                        </a:extLst>
                      </p:cNvPr>
                      <p:cNvPicPr/>
                      <p:nvPr/>
                    </p:nvPicPr>
                    <p:blipFill>
                      <a:blip r:embed="rId6"/>
                      <a:stretch>
                        <a:fillRect/>
                      </a:stretch>
                    </p:blipFill>
                    <p:spPr>
                      <a:xfrm>
                        <a:off x="1144589" y="1589"/>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346A521C-4E3B-0537-75A6-517113409979}"/>
              </a:ext>
            </a:extLst>
          </p:cNvPr>
          <p:cNvSpPr/>
          <p:nvPr>
            <p:custDataLst>
              <p:tags r:id="rId2"/>
            </p:custDataLst>
          </p:nvPr>
        </p:nvSpPr>
        <p:spPr>
          <a:xfrm>
            <a:off x="1143001" y="1"/>
            <a:ext cx="158750" cy="1587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vert="horz" wrap="none" lIns="0" tIns="0" rIns="0" bIns="0" numCol="1" spcCol="0" rtlCol="0" anchor="ctr" anchorCtr="0">
            <a:noAutofit/>
          </a:bodyPr>
          <a:lstStyle/>
          <a:p>
            <a:pPr algn="ctr" defTabSz="685800">
              <a:lnSpc>
                <a:spcPct val="95000"/>
              </a:lnSpc>
              <a:spcBef>
                <a:spcPct val="0"/>
              </a:spcBef>
              <a:spcAft>
                <a:spcPct val="0"/>
              </a:spcAft>
              <a:defRPr/>
            </a:pPr>
            <a:endParaRPr lang="en-US">
              <a:solidFill>
                <a:srgbClr val="595959"/>
              </a:solidFill>
              <a:latin typeface="Century Gothic" panose="020B0502020202020204" pitchFamily="34" charset="0"/>
              <a:sym typeface="Century Gothic" panose="020B0502020202020204" pitchFamily="34" charset="0"/>
            </a:endParaRPr>
          </a:p>
        </p:txBody>
      </p:sp>
      <p:sp>
        <p:nvSpPr>
          <p:cNvPr id="5" name="Title 4">
            <a:extLst>
              <a:ext uri="{FF2B5EF4-FFF2-40B4-BE49-F238E27FC236}">
                <a16:creationId xmlns:a16="http://schemas.microsoft.com/office/drawing/2014/main" id="{1A4045DB-DE4B-D170-6ED4-060136AC170F}"/>
              </a:ext>
            </a:extLst>
          </p:cNvPr>
          <p:cNvSpPr>
            <a:spLocks noGrp="1"/>
          </p:cNvSpPr>
          <p:nvPr>
            <p:ph type="title"/>
          </p:nvPr>
        </p:nvSpPr>
        <p:spPr/>
        <p:txBody>
          <a:bodyPr/>
          <a:lstStyle/>
          <a:p>
            <a:pPr>
              <a:spcBef>
                <a:spcPts val="0"/>
              </a:spcBef>
              <a:defRPr/>
            </a:pPr>
            <a:r>
              <a:rPr lang="en-US">
                <a:solidFill>
                  <a:srgbClr val="002477"/>
                </a:solidFill>
                <a:latin typeface="Georgia"/>
                <a:ea typeface="+mn-ea"/>
                <a:cs typeface="+mn-cs"/>
              </a:rPr>
              <a:t>UnitedHealthcare Benefit Ally by the numbers</a:t>
            </a:r>
            <a:endParaRPr lang="en-US" baseline="30000">
              <a:solidFill>
                <a:srgbClr val="002477"/>
              </a:solidFill>
              <a:latin typeface="Georgia"/>
              <a:ea typeface="+mn-ea"/>
              <a:cs typeface="+mn-cs"/>
            </a:endParaRPr>
          </a:p>
        </p:txBody>
      </p:sp>
      <p:sp>
        <p:nvSpPr>
          <p:cNvPr id="18" name="Slide Number Placeholder 17">
            <a:extLst>
              <a:ext uri="{FF2B5EF4-FFF2-40B4-BE49-F238E27FC236}">
                <a16:creationId xmlns:a16="http://schemas.microsoft.com/office/drawing/2014/main" id="{19FD3F16-D96D-862C-43B3-8CEC99662DCF}"/>
              </a:ext>
            </a:extLst>
          </p:cNvPr>
          <p:cNvSpPr>
            <a:spLocks noGrp="1"/>
          </p:cNvSpPr>
          <p:nvPr>
            <p:ph type="sldNum" sz="quarter" idx="12"/>
          </p:nvPr>
        </p:nvSpPr>
        <p:spPr/>
        <p:txBody>
          <a:bodyPr/>
          <a:lstStyle/>
          <a:p>
            <a:fld id="{90F9BDA0-AF0E-4BA8-B742-3B9C92A3E6FE}" type="slidenum">
              <a:rPr lang="en-US" smtClean="0"/>
              <a:t>5</a:t>
            </a:fld>
            <a:endParaRPr lang="en-US"/>
          </a:p>
        </p:txBody>
      </p:sp>
      <p:sp>
        <p:nvSpPr>
          <p:cNvPr id="4" name="Text Placeholder 3">
            <a:extLst>
              <a:ext uri="{FF2B5EF4-FFF2-40B4-BE49-F238E27FC236}">
                <a16:creationId xmlns:a16="http://schemas.microsoft.com/office/drawing/2014/main" id="{E5F14410-197A-127C-5525-B6E6C4BD50A1}"/>
              </a:ext>
            </a:extLst>
          </p:cNvPr>
          <p:cNvSpPr>
            <a:spLocks noGrp="1"/>
          </p:cNvSpPr>
          <p:nvPr>
            <p:ph type="body" sz="quarter" idx="14"/>
          </p:nvPr>
        </p:nvSpPr>
        <p:spPr>
          <a:xfrm>
            <a:off x="386034" y="4231331"/>
            <a:ext cx="8243616" cy="312880"/>
          </a:xfrm>
        </p:spPr>
        <p:txBody>
          <a:bodyPr/>
          <a:lstStyle/>
          <a:p>
            <a:r>
              <a:rPr lang="en-US"/>
              <a:t>Net Promoter, Net Promoter System, Net Promoter Score, NPS and the NPS-related emoticons are registered trademarks of Bain &amp; Company, Inc., Fred Reichheld and </a:t>
            </a:r>
            <a:r>
              <a:rPr lang="en-US" err="1"/>
              <a:t>Satmetrix</a:t>
            </a:r>
            <a:r>
              <a:rPr lang="en-US"/>
              <a:t> Systems, Inc. Source: UnitedHealthcare Key Account Fully Insured Book of Business, 2020-3/31/2025.  </a:t>
            </a:r>
          </a:p>
        </p:txBody>
      </p:sp>
      <p:sp>
        <p:nvSpPr>
          <p:cNvPr id="93" name="TextBox 92">
            <a:extLst>
              <a:ext uri="{FF2B5EF4-FFF2-40B4-BE49-F238E27FC236}">
                <a16:creationId xmlns:a16="http://schemas.microsoft.com/office/drawing/2014/main" id="{6CB4B6BA-CAE2-8772-7A73-344E0297FD0B}"/>
              </a:ext>
            </a:extLst>
          </p:cNvPr>
          <p:cNvSpPr txBox="1"/>
          <p:nvPr/>
        </p:nvSpPr>
        <p:spPr>
          <a:xfrm>
            <a:off x="3540757" y="779856"/>
            <a:ext cx="3077679" cy="415498"/>
          </a:xfrm>
          <a:prstGeom prst="rect">
            <a:avLst/>
          </a:prstGeom>
        </p:spPr>
        <p:txBody>
          <a:bodyPr wrap="square">
            <a:spAutoFit/>
          </a:bodyPr>
          <a:lstStyle>
            <a:defPPr>
              <a:defRPr lang="en-US"/>
            </a:defPPr>
            <a:lvl2pPr marL="182880" lvl="1" indent="-182880">
              <a:spcAft>
                <a:spcPts val="1200"/>
              </a:spcAft>
              <a:buClr>
                <a:schemeClr val="accent1">
                  <a:lumMod val="50000"/>
                </a:schemeClr>
              </a:buClr>
              <a:buFont typeface="Wingdings" pitchFamily="2" charset="2"/>
              <a:buChar char="§"/>
              <a:defRPr>
                <a:solidFill>
                  <a:schemeClr val="accent4"/>
                </a:solidFill>
              </a:defRPr>
            </a:lvl2pPr>
          </a:lstStyle>
          <a:p>
            <a:pPr algn="ctr" defTabSz="685800">
              <a:defRPr/>
            </a:pPr>
            <a:r>
              <a:rPr lang="en-US" sz="1050" b="1">
                <a:solidFill>
                  <a:srgbClr val="002477"/>
                </a:solidFill>
              </a:rPr>
              <a:t>Operations in 48 states including DC and growing </a:t>
            </a:r>
          </a:p>
        </p:txBody>
      </p:sp>
      <p:sp>
        <p:nvSpPr>
          <p:cNvPr id="432" name="Text Box 159">
            <a:extLst>
              <a:ext uri="{FF2B5EF4-FFF2-40B4-BE49-F238E27FC236}">
                <a16:creationId xmlns:a16="http://schemas.microsoft.com/office/drawing/2014/main" id="{18729E1A-CC92-86A0-295A-1F5D9BE3674F}"/>
              </a:ext>
            </a:extLst>
          </p:cNvPr>
          <p:cNvSpPr txBox="1">
            <a:spLocks noChangeArrowheads="1"/>
          </p:cNvSpPr>
          <p:nvPr/>
        </p:nvSpPr>
        <p:spPr bwMode="auto">
          <a:xfrm>
            <a:off x="3695547" y="3630319"/>
            <a:ext cx="1034183" cy="317779"/>
          </a:xfrm>
          <a:prstGeom prst="rect">
            <a:avLst/>
          </a:prstGeom>
          <a:noFill/>
          <a:ln>
            <a:noFill/>
          </a:ln>
          <a:effectLst/>
        </p:spPr>
        <p:txBody>
          <a:bodyPr wrap="square" lIns="0" tIns="34290" rIns="0" bIns="34290">
            <a:spAutoFit/>
          </a:bodyPr>
          <a:lstStyle>
            <a:lvl1pPr algn="l" eaLnBrk="0" hangingPunct="0">
              <a:defRPr sz="2400">
                <a:solidFill>
                  <a:schemeClr val="tx1"/>
                </a:solidFill>
                <a:latin typeface="Arial" charset="0"/>
                <a:ea typeface="ＭＳ Ｐゴシック" pitchFamily="34" charset="-128"/>
              </a:defRPr>
            </a:lvl1pPr>
            <a:lvl2pPr marL="742950" indent="-285750" algn="l" eaLnBrk="0" hangingPunct="0">
              <a:defRPr sz="2400">
                <a:solidFill>
                  <a:schemeClr val="tx1"/>
                </a:solidFill>
                <a:latin typeface="Arial" charset="0"/>
                <a:ea typeface="ＭＳ Ｐゴシック" pitchFamily="34" charset="-128"/>
              </a:defRPr>
            </a:lvl2pPr>
            <a:lvl3pPr marL="1143000" indent="-228600" algn="l" eaLnBrk="0" hangingPunct="0">
              <a:defRPr sz="2400">
                <a:solidFill>
                  <a:schemeClr val="tx1"/>
                </a:solidFill>
                <a:latin typeface="Arial" charset="0"/>
                <a:ea typeface="ＭＳ Ｐゴシック" pitchFamily="34" charset="-128"/>
              </a:defRPr>
            </a:lvl3pPr>
            <a:lvl4pPr marL="1600200" indent="-228600" algn="l" eaLnBrk="0" hangingPunct="0">
              <a:defRPr sz="2400">
                <a:solidFill>
                  <a:schemeClr val="tx1"/>
                </a:solidFill>
                <a:latin typeface="Arial" charset="0"/>
                <a:ea typeface="ＭＳ Ｐゴシック" pitchFamily="34" charset="-128"/>
              </a:defRPr>
            </a:lvl4pPr>
            <a:lvl5pPr marL="2057400" indent="-228600" algn="l" eaLnBrk="0" hangingPunct="0">
              <a:defRPr sz="2400">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charset="0"/>
                <a:ea typeface="ＭＳ Ｐゴシック" pitchFamily="34" charset="-128"/>
              </a:defRPr>
            </a:lvl9pPr>
          </a:lstStyle>
          <a:p>
            <a:pPr defTabSz="685793" fontAlgn="base">
              <a:lnSpc>
                <a:spcPts val="1013"/>
              </a:lnSpc>
              <a:spcBef>
                <a:spcPct val="0"/>
              </a:spcBef>
              <a:spcAft>
                <a:spcPct val="0"/>
              </a:spcAft>
              <a:defRPr/>
            </a:pPr>
            <a:r>
              <a:rPr lang="en-US" sz="825" b="1" kern="0">
                <a:solidFill>
                  <a:srgbClr val="002477"/>
                </a:solidFill>
                <a:ea typeface="MS PGothic"/>
              </a:rPr>
              <a:t>Benefit Ally </a:t>
            </a:r>
          </a:p>
          <a:p>
            <a:pPr defTabSz="685793" fontAlgn="base">
              <a:lnSpc>
                <a:spcPts val="1013"/>
              </a:lnSpc>
              <a:spcBef>
                <a:spcPct val="0"/>
              </a:spcBef>
              <a:spcAft>
                <a:spcPct val="0"/>
              </a:spcAft>
              <a:defRPr/>
            </a:pPr>
            <a:r>
              <a:rPr lang="en-US" sz="825" b="1" kern="0">
                <a:solidFill>
                  <a:srgbClr val="002477"/>
                </a:solidFill>
                <a:ea typeface="MS PGothic"/>
              </a:rPr>
              <a:t>Markets by region</a:t>
            </a:r>
          </a:p>
        </p:txBody>
      </p:sp>
      <p:sp>
        <p:nvSpPr>
          <p:cNvPr id="435" name="Rectangle 434">
            <a:extLst>
              <a:ext uri="{FF2B5EF4-FFF2-40B4-BE49-F238E27FC236}">
                <a16:creationId xmlns:a16="http://schemas.microsoft.com/office/drawing/2014/main" id="{8BE08CF9-D9A1-E713-E4DD-28BB919307D4}"/>
              </a:ext>
            </a:extLst>
          </p:cNvPr>
          <p:cNvSpPr/>
          <p:nvPr/>
        </p:nvSpPr>
        <p:spPr>
          <a:xfrm>
            <a:off x="5967198" y="3643456"/>
            <a:ext cx="137160" cy="137160"/>
          </a:xfrm>
          <a:prstGeom prst="rect">
            <a:avLst/>
          </a:prstGeom>
          <a:solidFill>
            <a:schemeClr val="accent4"/>
          </a:solidFill>
          <a:ln w="9525" cap="flat" cmpd="sng" algn="ctr">
            <a:noFill/>
            <a:prstDash val="solid"/>
          </a:ln>
          <a:effectLst/>
        </p:spPr>
        <p:txBody>
          <a:bodyPr rtlCol="0" anchor="ctr"/>
          <a:lstStyle/>
          <a:p>
            <a:pPr algn="ctr" defTabSz="685800">
              <a:defRPr/>
            </a:pPr>
            <a:endParaRPr lang="en-US" sz="1350" kern="0">
              <a:solidFill>
                <a:srgbClr val="FFFFFF"/>
              </a:solidFill>
              <a:latin typeface="Arial"/>
            </a:endParaRPr>
          </a:p>
        </p:txBody>
      </p:sp>
      <p:sp>
        <p:nvSpPr>
          <p:cNvPr id="437" name="Rectangle 436">
            <a:extLst>
              <a:ext uri="{FF2B5EF4-FFF2-40B4-BE49-F238E27FC236}">
                <a16:creationId xmlns:a16="http://schemas.microsoft.com/office/drawing/2014/main" id="{F7AE2519-8EF7-320F-1091-592B6D81DAF6}"/>
              </a:ext>
            </a:extLst>
          </p:cNvPr>
          <p:cNvSpPr/>
          <p:nvPr/>
        </p:nvSpPr>
        <p:spPr>
          <a:xfrm>
            <a:off x="5279975" y="3646625"/>
            <a:ext cx="137160" cy="137160"/>
          </a:xfrm>
          <a:prstGeom prst="rect">
            <a:avLst/>
          </a:prstGeom>
          <a:solidFill>
            <a:schemeClr val="accent1"/>
          </a:solidFill>
          <a:ln w="9525" cap="flat" cmpd="sng" algn="ctr">
            <a:noFill/>
            <a:prstDash val="solid"/>
          </a:ln>
          <a:effectLst/>
        </p:spPr>
        <p:txBody>
          <a:bodyPr rtlCol="0" anchor="ctr"/>
          <a:lstStyle/>
          <a:p>
            <a:pPr algn="ctr" defTabSz="685800">
              <a:defRPr/>
            </a:pPr>
            <a:endParaRPr lang="en-US" sz="1350" kern="0">
              <a:solidFill>
                <a:srgbClr val="FFFFFF"/>
              </a:solidFill>
              <a:latin typeface="Arial"/>
            </a:endParaRPr>
          </a:p>
        </p:txBody>
      </p:sp>
      <p:sp>
        <p:nvSpPr>
          <p:cNvPr id="438" name="Rectangle 437">
            <a:extLst>
              <a:ext uri="{FF2B5EF4-FFF2-40B4-BE49-F238E27FC236}">
                <a16:creationId xmlns:a16="http://schemas.microsoft.com/office/drawing/2014/main" id="{C03E6FEA-186D-6FDA-5F5D-9CAE8D161885}"/>
              </a:ext>
            </a:extLst>
          </p:cNvPr>
          <p:cNvSpPr/>
          <p:nvPr/>
        </p:nvSpPr>
        <p:spPr>
          <a:xfrm>
            <a:off x="4748642" y="3644033"/>
            <a:ext cx="137160" cy="137160"/>
          </a:xfrm>
          <a:prstGeom prst="rect">
            <a:avLst/>
          </a:prstGeom>
          <a:solidFill>
            <a:schemeClr val="accent2"/>
          </a:solidFill>
          <a:ln w="9525" cap="flat" cmpd="sng" algn="ctr">
            <a:noFill/>
            <a:prstDash val="solid"/>
          </a:ln>
          <a:effectLst/>
        </p:spPr>
        <p:txBody>
          <a:bodyPr rtlCol="0" anchor="ctr"/>
          <a:lstStyle/>
          <a:p>
            <a:pPr algn="ctr" defTabSz="685800">
              <a:defRPr/>
            </a:pPr>
            <a:endParaRPr lang="en-US" sz="1350" kern="0">
              <a:solidFill>
                <a:srgbClr val="FFFFFF"/>
              </a:solidFill>
              <a:latin typeface="Arial"/>
            </a:endParaRPr>
          </a:p>
        </p:txBody>
      </p:sp>
      <p:sp>
        <p:nvSpPr>
          <p:cNvPr id="439" name="Text Box 159">
            <a:extLst>
              <a:ext uri="{FF2B5EF4-FFF2-40B4-BE49-F238E27FC236}">
                <a16:creationId xmlns:a16="http://schemas.microsoft.com/office/drawing/2014/main" id="{DAA0F10B-BB22-8F15-CF33-309A94A5CA3F}"/>
              </a:ext>
            </a:extLst>
          </p:cNvPr>
          <p:cNvSpPr txBox="1">
            <a:spLocks noChangeArrowheads="1"/>
          </p:cNvSpPr>
          <p:nvPr/>
        </p:nvSpPr>
        <p:spPr bwMode="auto">
          <a:xfrm>
            <a:off x="4902377" y="3628399"/>
            <a:ext cx="333548" cy="170070"/>
          </a:xfrm>
          <a:prstGeom prst="rect">
            <a:avLst/>
          </a:prstGeom>
          <a:noFill/>
          <a:ln>
            <a:noFill/>
          </a:ln>
          <a:effectLst/>
        </p:spPr>
        <p:txBody>
          <a:bodyPr wrap="square" lIns="51456" tIns="25729" rIns="51456" bIns="25729" anchor="ctr">
            <a:spAutoFit/>
          </a:bodyPr>
          <a:lstStyle>
            <a:lvl1pPr algn="l" eaLnBrk="0" hangingPunct="0">
              <a:defRPr sz="2400">
                <a:solidFill>
                  <a:schemeClr val="tx1"/>
                </a:solidFill>
                <a:latin typeface="Arial" charset="0"/>
                <a:ea typeface="ＭＳ Ｐゴシック" pitchFamily="34" charset="-128"/>
              </a:defRPr>
            </a:lvl1pPr>
            <a:lvl2pPr marL="742950" indent="-285750" algn="l" eaLnBrk="0" hangingPunct="0">
              <a:defRPr sz="2400">
                <a:solidFill>
                  <a:schemeClr val="tx1"/>
                </a:solidFill>
                <a:latin typeface="Arial" charset="0"/>
                <a:ea typeface="ＭＳ Ｐゴシック" pitchFamily="34" charset="-128"/>
              </a:defRPr>
            </a:lvl2pPr>
            <a:lvl3pPr marL="1143000" indent="-228600" algn="l" eaLnBrk="0" hangingPunct="0">
              <a:defRPr sz="2400">
                <a:solidFill>
                  <a:schemeClr val="tx1"/>
                </a:solidFill>
                <a:latin typeface="Arial" charset="0"/>
                <a:ea typeface="ＭＳ Ｐゴシック" pitchFamily="34" charset="-128"/>
              </a:defRPr>
            </a:lvl3pPr>
            <a:lvl4pPr marL="1600200" indent="-228600" algn="l" eaLnBrk="0" hangingPunct="0">
              <a:defRPr sz="2400">
                <a:solidFill>
                  <a:schemeClr val="tx1"/>
                </a:solidFill>
                <a:latin typeface="Arial" charset="0"/>
                <a:ea typeface="ＭＳ Ｐゴシック" pitchFamily="34" charset="-128"/>
              </a:defRPr>
            </a:lvl4pPr>
            <a:lvl5pPr marL="2057400" indent="-228600" algn="l" eaLnBrk="0" hangingPunct="0">
              <a:defRPr sz="2400">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charset="0"/>
                <a:ea typeface="ＭＳ Ｐゴシック" pitchFamily="34" charset="-128"/>
              </a:defRPr>
            </a:lvl9pPr>
          </a:lstStyle>
          <a:p>
            <a:pPr defTabSz="685793" fontAlgn="base">
              <a:lnSpc>
                <a:spcPts val="1013"/>
              </a:lnSpc>
              <a:spcBef>
                <a:spcPct val="0"/>
              </a:spcBef>
              <a:spcAft>
                <a:spcPct val="0"/>
              </a:spcAft>
              <a:defRPr/>
            </a:pPr>
            <a:r>
              <a:rPr lang="en-US" sz="750" kern="0">
                <a:solidFill>
                  <a:srgbClr val="002477"/>
                </a:solidFill>
                <a:ea typeface="MS PGothic"/>
              </a:rPr>
              <a:t>West</a:t>
            </a:r>
          </a:p>
        </p:txBody>
      </p:sp>
      <p:sp>
        <p:nvSpPr>
          <p:cNvPr id="440" name="Text Box 159">
            <a:extLst>
              <a:ext uri="{FF2B5EF4-FFF2-40B4-BE49-F238E27FC236}">
                <a16:creationId xmlns:a16="http://schemas.microsoft.com/office/drawing/2014/main" id="{92214444-C4D0-0E39-2504-53046518C117}"/>
              </a:ext>
            </a:extLst>
          </p:cNvPr>
          <p:cNvSpPr txBox="1">
            <a:spLocks noChangeArrowheads="1"/>
          </p:cNvSpPr>
          <p:nvPr/>
        </p:nvSpPr>
        <p:spPr bwMode="auto">
          <a:xfrm>
            <a:off x="6120933" y="3626972"/>
            <a:ext cx="542740" cy="170070"/>
          </a:xfrm>
          <a:prstGeom prst="rect">
            <a:avLst/>
          </a:prstGeom>
          <a:noFill/>
          <a:ln>
            <a:noFill/>
          </a:ln>
          <a:effectLst/>
        </p:spPr>
        <p:txBody>
          <a:bodyPr wrap="square" lIns="51456" tIns="25729" rIns="51456" bIns="25729" anchor="ctr">
            <a:spAutoFit/>
          </a:bodyPr>
          <a:lstStyle>
            <a:lvl1pPr algn="l" eaLnBrk="0" hangingPunct="0">
              <a:defRPr sz="2400">
                <a:solidFill>
                  <a:schemeClr val="tx1"/>
                </a:solidFill>
                <a:latin typeface="Arial" charset="0"/>
                <a:ea typeface="ＭＳ Ｐゴシック" pitchFamily="34" charset="-128"/>
              </a:defRPr>
            </a:lvl1pPr>
            <a:lvl2pPr marL="742950" indent="-285750" algn="l" eaLnBrk="0" hangingPunct="0">
              <a:defRPr sz="2400">
                <a:solidFill>
                  <a:schemeClr val="tx1"/>
                </a:solidFill>
                <a:latin typeface="Arial" charset="0"/>
                <a:ea typeface="ＭＳ Ｐゴシック" pitchFamily="34" charset="-128"/>
              </a:defRPr>
            </a:lvl2pPr>
            <a:lvl3pPr marL="1143000" indent="-228600" algn="l" eaLnBrk="0" hangingPunct="0">
              <a:defRPr sz="2400">
                <a:solidFill>
                  <a:schemeClr val="tx1"/>
                </a:solidFill>
                <a:latin typeface="Arial" charset="0"/>
                <a:ea typeface="ＭＳ Ｐゴシック" pitchFamily="34" charset="-128"/>
              </a:defRPr>
            </a:lvl3pPr>
            <a:lvl4pPr marL="1600200" indent="-228600" algn="l" eaLnBrk="0" hangingPunct="0">
              <a:defRPr sz="2400">
                <a:solidFill>
                  <a:schemeClr val="tx1"/>
                </a:solidFill>
                <a:latin typeface="Arial" charset="0"/>
                <a:ea typeface="ＭＳ Ｐゴシック" pitchFamily="34" charset="-128"/>
              </a:defRPr>
            </a:lvl4pPr>
            <a:lvl5pPr marL="2057400" indent="-228600" algn="l" eaLnBrk="0" hangingPunct="0">
              <a:defRPr sz="2400">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charset="0"/>
                <a:ea typeface="ＭＳ Ｐゴシック" pitchFamily="34" charset="-128"/>
              </a:defRPr>
            </a:lvl9pPr>
          </a:lstStyle>
          <a:p>
            <a:pPr defTabSz="685793" fontAlgn="base">
              <a:lnSpc>
                <a:spcPts val="1013"/>
              </a:lnSpc>
              <a:spcBef>
                <a:spcPct val="0"/>
              </a:spcBef>
              <a:spcAft>
                <a:spcPct val="0"/>
              </a:spcAft>
              <a:defRPr/>
            </a:pPr>
            <a:r>
              <a:rPr lang="en-US" sz="750" kern="0">
                <a:solidFill>
                  <a:srgbClr val="002477"/>
                </a:solidFill>
                <a:ea typeface="MS PGothic"/>
              </a:rPr>
              <a:t>E</a:t>
            </a:r>
            <a:r>
              <a:rPr lang="en-US" sz="750" kern="0" err="1">
                <a:solidFill>
                  <a:srgbClr val="002477"/>
                </a:solidFill>
                <a:ea typeface="MS PGothic"/>
              </a:rPr>
              <a:t>ast</a:t>
            </a:r>
            <a:endParaRPr lang="en-US" sz="750" kern="0">
              <a:solidFill>
                <a:srgbClr val="002477"/>
              </a:solidFill>
              <a:ea typeface="MS PGothic"/>
            </a:endParaRPr>
          </a:p>
        </p:txBody>
      </p:sp>
      <p:sp>
        <p:nvSpPr>
          <p:cNvPr id="442" name="Text Box 159">
            <a:extLst>
              <a:ext uri="{FF2B5EF4-FFF2-40B4-BE49-F238E27FC236}">
                <a16:creationId xmlns:a16="http://schemas.microsoft.com/office/drawing/2014/main" id="{EBE2C363-1418-6809-569F-9BC194DDD9CE}"/>
              </a:ext>
            </a:extLst>
          </p:cNvPr>
          <p:cNvSpPr txBox="1">
            <a:spLocks noChangeArrowheads="1"/>
          </p:cNvSpPr>
          <p:nvPr/>
        </p:nvSpPr>
        <p:spPr bwMode="auto">
          <a:xfrm>
            <a:off x="5433710" y="3630707"/>
            <a:ext cx="430930" cy="170070"/>
          </a:xfrm>
          <a:prstGeom prst="rect">
            <a:avLst/>
          </a:prstGeom>
          <a:noFill/>
          <a:ln>
            <a:noFill/>
          </a:ln>
          <a:effectLst/>
        </p:spPr>
        <p:txBody>
          <a:bodyPr wrap="square" lIns="51456" tIns="25729" rIns="51456" bIns="25729" anchor="ctr">
            <a:spAutoFit/>
          </a:bodyPr>
          <a:lstStyle>
            <a:lvl1pPr algn="l" eaLnBrk="0" hangingPunct="0">
              <a:defRPr sz="2400">
                <a:solidFill>
                  <a:schemeClr val="tx1"/>
                </a:solidFill>
                <a:latin typeface="Arial" charset="0"/>
                <a:ea typeface="ＭＳ Ｐゴシック" pitchFamily="34" charset="-128"/>
              </a:defRPr>
            </a:lvl1pPr>
            <a:lvl2pPr marL="742950" indent="-285750" algn="l" eaLnBrk="0" hangingPunct="0">
              <a:defRPr sz="2400">
                <a:solidFill>
                  <a:schemeClr val="tx1"/>
                </a:solidFill>
                <a:latin typeface="Arial" charset="0"/>
                <a:ea typeface="ＭＳ Ｐゴシック" pitchFamily="34" charset="-128"/>
              </a:defRPr>
            </a:lvl2pPr>
            <a:lvl3pPr marL="1143000" indent="-228600" algn="l" eaLnBrk="0" hangingPunct="0">
              <a:defRPr sz="2400">
                <a:solidFill>
                  <a:schemeClr val="tx1"/>
                </a:solidFill>
                <a:latin typeface="Arial" charset="0"/>
                <a:ea typeface="ＭＳ Ｐゴシック" pitchFamily="34" charset="-128"/>
              </a:defRPr>
            </a:lvl3pPr>
            <a:lvl4pPr marL="1600200" indent="-228600" algn="l" eaLnBrk="0" hangingPunct="0">
              <a:defRPr sz="2400">
                <a:solidFill>
                  <a:schemeClr val="tx1"/>
                </a:solidFill>
                <a:latin typeface="Arial" charset="0"/>
                <a:ea typeface="ＭＳ Ｐゴシック" pitchFamily="34" charset="-128"/>
              </a:defRPr>
            </a:lvl4pPr>
            <a:lvl5pPr marL="2057400" indent="-228600" algn="l" eaLnBrk="0" hangingPunct="0">
              <a:defRPr sz="2400">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charset="0"/>
                <a:ea typeface="ＭＳ Ｐゴシック" pitchFamily="34" charset="-128"/>
              </a:defRPr>
            </a:lvl9pPr>
          </a:lstStyle>
          <a:p>
            <a:pPr defTabSz="685793" fontAlgn="base">
              <a:lnSpc>
                <a:spcPts val="1013"/>
              </a:lnSpc>
              <a:spcBef>
                <a:spcPct val="0"/>
              </a:spcBef>
              <a:spcAft>
                <a:spcPct val="0"/>
              </a:spcAft>
              <a:defRPr/>
            </a:pPr>
            <a:r>
              <a:rPr lang="en-US" sz="750" kern="0">
                <a:solidFill>
                  <a:srgbClr val="002477"/>
                </a:solidFill>
                <a:ea typeface="MS PGothic"/>
              </a:rPr>
              <a:t>Central</a:t>
            </a:r>
          </a:p>
        </p:txBody>
      </p:sp>
      <p:sp>
        <p:nvSpPr>
          <p:cNvPr id="444" name="Rectangle 443">
            <a:extLst>
              <a:ext uri="{FF2B5EF4-FFF2-40B4-BE49-F238E27FC236}">
                <a16:creationId xmlns:a16="http://schemas.microsoft.com/office/drawing/2014/main" id="{A06338D9-B3DF-4FDD-2416-0F73D4B96774}"/>
              </a:ext>
            </a:extLst>
          </p:cNvPr>
          <p:cNvSpPr/>
          <p:nvPr/>
        </p:nvSpPr>
        <p:spPr>
          <a:xfrm>
            <a:off x="4748642" y="3860309"/>
            <a:ext cx="137160" cy="137160"/>
          </a:xfrm>
          <a:prstGeom prst="rect">
            <a:avLst/>
          </a:prstGeom>
          <a:solidFill>
            <a:schemeClr val="accent3">
              <a:lumMod val="60000"/>
              <a:lumOff val="40000"/>
            </a:schemeClr>
          </a:solidFill>
          <a:ln w="9525" cap="flat" cmpd="sng" algn="ctr">
            <a:noFill/>
            <a:prstDash val="solid"/>
          </a:ln>
          <a:effectLst/>
        </p:spPr>
        <p:txBody>
          <a:bodyPr rtlCol="0" anchor="ctr"/>
          <a:lstStyle/>
          <a:p>
            <a:pPr algn="ctr" defTabSz="685800">
              <a:defRPr/>
            </a:pPr>
            <a:endParaRPr lang="en-US" sz="1350" kern="0">
              <a:solidFill>
                <a:srgbClr val="FFFFFF"/>
              </a:solidFill>
              <a:latin typeface="Arial"/>
            </a:endParaRPr>
          </a:p>
        </p:txBody>
      </p:sp>
      <p:sp>
        <p:nvSpPr>
          <p:cNvPr id="445" name="Text Box 159">
            <a:extLst>
              <a:ext uri="{FF2B5EF4-FFF2-40B4-BE49-F238E27FC236}">
                <a16:creationId xmlns:a16="http://schemas.microsoft.com/office/drawing/2014/main" id="{6032D92B-41DB-19B9-C70B-5B6CD1D14641}"/>
              </a:ext>
            </a:extLst>
          </p:cNvPr>
          <p:cNvSpPr txBox="1">
            <a:spLocks noChangeArrowheads="1"/>
          </p:cNvSpPr>
          <p:nvPr/>
        </p:nvSpPr>
        <p:spPr bwMode="auto">
          <a:xfrm>
            <a:off x="4902377" y="3843255"/>
            <a:ext cx="970742" cy="170070"/>
          </a:xfrm>
          <a:prstGeom prst="rect">
            <a:avLst/>
          </a:prstGeom>
          <a:noFill/>
          <a:ln>
            <a:noFill/>
          </a:ln>
          <a:effectLst/>
        </p:spPr>
        <p:txBody>
          <a:bodyPr wrap="square" lIns="51456" tIns="25729" rIns="51456" bIns="25729" anchor="ctr">
            <a:spAutoFit/>
          </a:bodyPr>
          <a:lstStyle>
            <a:lvl1pPr algn="l" eaLnBrk="0" hangingPunct="0">
              <a:defRPr sz="2400">
                <a:solidFill>
                  <a:schemeClr val="tx1"/>
                </a:solidFill>
                <a:latin typeface="Arial" charset="0"/>
                <a:ea typeface="ＭＳ Ｐゴシック" pitchFamily="34" charset="-128"/>
              </a:defRPr>
            </a:lvl1pPr>
            <a:lvl2pPr marL="742950" indent="-285750" algn="l" eaLnBrk="0" hangingPunct="0">
              <a:defRPr sz="2400">
                <a:solidFill>
                  <a:schemeClr val="tx1"/>
                </a:solidFill>
                <a:latin typeface="Arial" charset="0"/>
                <a:ea typeface="ＭＳ Ｐゴシック" pitchFamily="34" charset="-128"/>
              </a:defRPr>
            </a:lvl2pPr>
            <a:lvl3pPr marL="1143000" indent="-228600" algn="l" eaLnBrk="0" hangingPunct="0">
              <a:defRPr sz="2400">
                <a:solidFill>
                  <a:schemeClr val="tx1"/>
                </a:solidFill>
                <a:latin typeface="Arial" charset="0"/>
                <a:ea typeface="ＭＳ Ｐゴシック" pitchFamily="34" charset="-128"/>
              </a:defRPr>
            </a:lvl3pPr>
            <a:lvl4pPr marL="1600200" indent="-228600" algn="l" eaLnBrk="0" hangingPunct="0">
              <a:defRPr sz="2400">
                <a:solidFill>
                  <a:schemeClr val="tx1"/>
                </a:solidFill>
                <a:latin typeface="Arial" charset="0"/>
                <a:ea typeface="ＭＳ Ｐゴシック" pitchFamily="34" charset="-128"/>
              </a:defRPr>
            </a:lvl4pPr>
            <a:lvl5pPr marL="2057400" indent="-228600" algn="l" eaLnBrk="0" hangingPunct="0">
              <a:defRPr sz="2400">
                <a:solidFill>
                  <a:schemeClr val="tx1"/>
                </a:solidFill>
                <a:latin typeface="Arial"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charset="0"/>
                <a:ea typeface="ＭＳ Ｐゴシック" pitchFamily="34" charset="-128"/>
              </a:defRPr>
            </a:lvl9pPr>
          </a:lstStyle>
          <a:p>
            <a:pPr defTabSz="685793" fontAlgn="base">
              <a:lnSpc>
                <a:spcPts val="1013"/>
              </a:lnSpc>
              <a:spcBef>
                <a:spcPct val="0"/>
              </a:spcBef>
              <a:spcAft>
                <a:spcPct val="0"/>
              </a:spcAft>
              <a:defRPr/>
            </a:pPr>
            <a:r>
              <a:rPr lang="en-US" sz="750" kern="0">
                <a:solidFill>
                  <a:srgbClr val="002477"/>
                </a:solidFill>
                <a:ea typeface="MS PGothic"/>
              </a:rPr>
              <a:t>Not filed/approved</a:t>
            </a:r>
          </a:p>
        </p:txBody>
      </p:sp>
      <p:graphicFrame>
        <p:nvGraphicFramePr>
          <p:cNvPr id="14" name="Table 14">
            <a:extLst>
              <a:ext uri="{FF2B5EF4-FFF2-40B4-BE49-F238E27FC236}">
                <a16:creationId xmlns:a16="http://schemas.microsoft.com/office/drawing/2014/main" id="{A0FAB19F-3C4F-F24F-4C23-E7F350FE92C9}"/>
              </a:ext>
            </a:extLst>
          </p:cNvPr>
          <p:cNvGraphicFramePr>
            <a:graphicFrameLocks noGrp="1"/>
          </p:cNvGraphicFramePr>
          <p:nvPr/>
        </p:nvGraphicFramePr>
        <p:xfrm>
          <a:off x="285751" y="917626"/>
          <a:ext cx="2924003" cy="3313704"/>
        </p:xfrm>
        <a:graphic>
          <a:graphicData uri="http://schemas.openxmlformats.org/drawingml/2006/table">
            <a:tbl>
              <a:tblPr firstRow="1" bandRow="1">
                <a:tableStyleId>{5C22544A-7EE6-4342-B048-85BDC9FD1C3A}</a:tableStyleId>
              </a:tblPr>
              <a:tblGrid>
                <a:gridCol w="1002690">
                  <a:extLst>
                    <a:ext uri="{9D8B030D-6E8A-4147-A177-3AD203B41FA5}">
                      <a16:colId xmlns:a16="http://schemas.microsoft.com/office/drawing/2014/main" val="4169565649"/>
                    </a:ext>
                  </a:extLst>
                </a:gridCol>
                <a:gridCol w="1921313">
                  <a:extLst>
                    <a:ext uri="{9D8B030D-6E8A-4147-A177-3AD203B41FA5}">
                      <a16:colId xmlns:a16="http://schemas.microsoft.com/office/drawing/2014/main" val="2382083383"/>
                    </a:ext>
                  </a:extLst>
                </a:gridCol>
              </a:tblGrid>
              <a:tr h="552284">
                <a:tc>
                  <a:txBody>
                    <a:bodyPr/>
                    <a:lstStyle/>
                    <a:p>
                      <a:pPr algn="r"/>
                      <a:r>
                        <a:rPr lang="en-US" sz="1800" b="1">
                          <a:solidFill>
                            <a:schemeClr val="accent1"/>
                          </a:solidFill>
                        </a:rPr>
                        <a:t>48</a:t>
                      </a:r>
                    </a:p>
                  </a:txBody>
                  <a:tcPr marL="68580" marR="68580" marT="34290" marB="3429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2477"/>
                          </a:solidFill>
                          <a:effectLst/>
                          <a:uLnTx/>
                          <a:uFillTx/>
                          <a:latin typeface="+mn-lt"/>
                          <a:ea typeface="+mn-ea"/>
                          <a:cs typeface="+mn-cs"/>
                        </a:rPr>
                        <a:t>Active markets where we sell UnitedHealthcare Benefit Ally</a:t>
                      </a:r>
                      <a:r>
                        <a:rPr kumimoji="0" lang="en-US" sz="800" b="0" i="0" u="none" strike="noStrike" kern="1200" cap="none" spc="0" normalizeH="0" baseline="30000" noProof="0">
                          <a:ln>
                            <a:noFill/>
                          </a:ln>
                          <a:solidFill>
                            <a:srgbClr val="002477"/>
                          </a:solidFill>
                          <a:effectLst/>
                          <a:uLnTx/>
                          <a:uFillTx/>
                          <a:latin typeface="+mn-lt"/>
                          <a:ea typeface="+mn-ea"/>
                          <a:cs typeface="+mn-cs"/>
                        </a:rPr>
                        <a:t>®</a:t>
                      </a:r>
                      <a:r>
                        <a:rPr kumimoji="0" lang="en-US" sz="800" b="0" i="0" u="none" strike="noStrike" kern="1200" cap="none" spc="0" normalizeH="0" baseline="0" noProof="0">
                          <a:ln>
                            <a:noFill/>
                          </a:ln>
                          <a:solidFill>
                            <a:srgbClr val="002477"/>
                          </a:solidFill>
                          <a:effectLst/>
                          <a:uLnTx/>
                          <a:uFillTx/>
                          <a:latin typeface="+mn-lt"/>
                          <a:ea typeface="+mn-ea"/>
                          <a:cs typeface="+mn-cs"/>
                        </a:rPr>
                        <a:t> </a:t>
                      </a:r>
                    </a:p>
                  </a:txBody>
                  <a:tcPr marL="68580" marR="68580" marT="34290" marB="3429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2220548156"/>
                  </a:ext>
                </a:extLst>
              </a:tr>
              <a:tr h="552284">
                <a:tc>
                  <a:txBody>
                    <a:bodyPr/>
                    <a:lstStyle/>
                    <a:p>
                      <a:pPr algn="r"/>
                      <a:r>
                        <a:rPr lang="en-US" sz="1800" b="1">
                          <a:solidFill>
                            <a:schemeClr val="accent1"/>
                          </a:solidFill>
                        </a:rPr>
                        <a:t>&gt;300</a:t>
                      </a:r>
                    </a:p>
                  </a:txBody>
                  <a:tcPr marL="68580" marR="68580" marT="34290" marB="3429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2477"/>
                          </a:solidFill>
                          <a:effectLst/>
                          <a:uLnTx/>
                          <a:uFillTx/>
                          <a:latin typeface="+mn-lt"/>
                          <a:ea typeface="+mn-ea"/>
                          <a:cs typeface="+mn-cs"/>
                        </a:rPr>
                        <a:t>Active clients who have</a:t>
                      </a:r>
                      <a:br>
                        <a:rPr kumimoji="0" lang="en-US" sz="800" b="0" i="0" u="none" strike="noStrike" kern="1200" cap="none" spc="0" normalizeH="0" baseline="0" noProof="0">
                          <a:ln>
                            <a:noFill/>
                          </a:ln>
                          <a:solidFill>
                            <a:srgbClr val="002477"/>
                          </a:solidFill>
                          <a:effectLst/>
                          <a:uLnTx/>
                          <a:uFillTx/>
                          <a:latin typeface="+mn-lt"/>
                          <a:ea typeface="+mn-ea"/>
                          <a:cs typeface="+mn-cs"/>
                        </a:rPr>
                      </a:br>
                      <a:r>
                        <a:rPr kumimoji="0" lang="en-US" sz="800" b="0" i="0" u="none" strike="noStrike" kern="1200" cap="none" spc="0" normalizeH="0" baseline="0" noProof="0">
                          <a:ln>
                            <a:noFill/>
                          </a:ln>
                          <a:solidFill>
                            <a:srgbClr val="002477"/>
                          </a:solidFill>
                          <a:effectLst/>
                          <a:uLnTx/>
                          <a:uFillTx/>
                          <a:latin typeface="+mn-lt"/>
                          <a:ea typeface="+mn-ea"/>
                          <a:cs typeface="+mn-cs"/>
                        </a:rPr>
                        <a:t>purchased Benefit Ally </a:t>
                      </a:r>
                    </a:p>
                  </a:txBody>
                  <a:tcPr marL="68580" marR="68580" marT="34290" marB="3429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1831000555"/>
                  </a:ext>
                </a:extLst>
              </a:tr>
              <a:tr h="552284">
                <a:tc>
                  <a:txBody>
                    <a:bodyPr/>
                    <a:lstStyle/>
                    <a:p>
                      <a:pPr algn="r"/>
                      <a:r>
                        <a:rPr lang="en-US" sz="1800" b="1">
                          <a:solidFill>
                            <a:schemeClr val="accent1"/>
                          </a:solidFill>
                        </a:rPr>
                        <a:t>&gt;75</a:t>
                      </a:r>
                      <a:r>
                        <a:rPr lang="en-US" sz="1400" b="1" kern="1200">
                          <a:solidFill>
                            <a:schemeClr val="accent1"/>
                          </a:solidFill>
                          <a:latin typeface="+mn-lt"/>
                          <a:ea typeface="+mn-ea"/>
                          <a:cs typeface="+mn-cs"/>
                        </a:rPr>
                        <a:t>K</a:t>
                      </a:r>
                    </a:p>
                  </a:txBody>
                  <a:tcPr marL="68580" marR="68580" marT="34290" marB="3429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2477"/>
                          </a:solidFill>
                          <a:effectLst/>
                          <a:uLnTx/>
                          <a:uFillTx/>
                          <a:latin typeface="+mn-lt"/>
                          <a:ea typeface="+mn-ea"/>
                          <a:cs typeface="+mn-cs"/>
                        </a:rPr>
                        <a:t>Members who are active within</a:t>
                      </a:r>
                      <a:br>
                        <a:rPr kumimoji="0" lang="en-US" sz="800" b="0" i="0" u="none" strike="noStrike" kern="1200" cap="none" spc="0" normalizeH="0" baseline="0" noProof="0">
                          <a:ln>
                            <a:noFill/>
                          </a:ln>
                          <a:solidFill>
                            <a:srgbClr val="002477"/>
                          </a:solidFill>
                          <a:effectLst/>
                          <a:uLnTx/>
                          <a:uFillTx/>
                          <a:latin typeface="+mn-lt"/>
                          <a:ea typeface="+mn-ea"/>
                          <a:cs typeface="+mn-cs"/>
                        </a:rPr>
                      </a:br>
                      <a:r>
                        <a:rPr kumimoji="0" lang="en-US" sz="800" b="0" i="0" u="none" strike="noStrike" kern="1200" cap="none" spc="0" normalizeH="0" baseline="0" noProof="0">
                          <a:ln>
                            <a:noFill/>
                          </a:ln>
                          <a:solidFill>
                            <a:srgbClr val="002477"/>
                          </a:solidFill>
                          <a:effectLst/>
                          <a:uLnTx/>
                          <a:uFillTx/>
                          <a:latin typeface="+mn-lt"/>
                          <a:ea typeface="+mn-ea"/>
                          <a:cs typeface="+mn-cs"/>
                        </a:rPr>
                        <a:t>the Benefit Ally program</a:t>
                      </a:r>
                    </a:p>
                  </a:txBody>
                  <a:tcPr marL="68580" marR="68580" marT="34290" marB="3429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2988362627"/>
                  </a:ext>
                </a:extLst>
              </a:tr>
              <a:tr h="552284">
                <a:tc>
                  <a:txBody>
                    <a:bodyPr/>
                    <a:lstStyle/>
                    <a:p>
                      <a:pPr algn="r"/>
                      <a:r>
                        <a:rPr lang="en-US" sz="1800" b="1">
                          <a:solidFill>
                            <a:schemeClr val="accent1"/>
                          </a:solidFill>
                        </a:rPr>
                        <a:t>$10.8</a:t>
                      </a:r>
                      <a:r>
                        <a:rPr lang="en-US" sz="1400" b="1">
                          <a:solidFill>
                            <a:schemeClr val="accent1"/>
                          </a:solidFill>
                        </a:rPr>
                        <a:t>M</a:t>
                      </a:r>
                      <a:endParaRPr lang="en-US" sz="1800" b="1">
                        <a:solidFill>
                          <a:schemeClr val="accent1"/>
                        </a:solidFill>
                      </a:endParaRPr>
                    </a:p>
                  </a:txBody>
                  <a:tcPr marL="68580" marR="68580" marT="34290" marB="3429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2477"/>
                          </a:solidFill>
                          <a:effectLst/>
                          <a:uLnTx/>
                          <a:uFillTx/>
                          <a:latin typeface="+mn-lt"/>
                          <a:ea typeface="+mn-ea"/>
                          <a:cs typeface="+mn-cs"/>
                        </a:rPr>
                        <a:t>In Benefit Ally benefits that have been made since program inception</a:t>
                      </a:r>
                    </a:p>
                  </a:txBody>
                  <a:tcPr marL="68580" marR="68580" marT="34290" marB="3429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2164320102"/>
                  </a:ext>
                </a:extLst>
              </a:tr>
              <a:tr h="552284">
                <a:tc>
                  <a:txBody>
                    <a:bodyPr/>
                    <a:lstStyle/>
                    <a:p>
                      <a:pPr algn="r"/>
                      <a:r>
                        <a:rPr lang="en-US" sz="1800" b="1">
                          <a:solidFill>
                            <a:schemeClr val="accent1"/>
                          </a:solidFill>
                        </a:rPr>
                        <a:t>70</a:t>
                      </a:r>
                    </a:p>
                  </a:txBody>
                  <a:tcPr marL="68580" marR="68580" marT="34290" marB="3429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2477"/>
                          </a:solidFill>
                          <a:effectLst/>
                          <a:uLnTx/>
                          <a:uFillTx/>
                          <a:latin typeface="+mn-lt"/>
                          <a:ea typeface="+mn-ea"/>
                          <a:cs typeface="+mn-cs"/>
                        </a:rPr>
                        <a:t>Net Promoter Score</a:t>
                      </a:r>
                      <a:r>
                        <a:rPr kumimoji="0" lang="en-US" sz="800" b="0" i="0" u="none" strike="noStrike" kern="1200" cap="none" spc="0" normalizeH="0" baseline="30000" noProof="0">
                          <a:ln>
                            <a:noFill/>
                          </a:ln>
                          <a:solidFill>
                            <a:srgbClr val="002477"/>
                          </a:solidFill>
                          <a:effectLst/>
                          <a:uLnTx/>
                          <a:uFillTx/>
                          <a:latin typeface="+mn-lt"/>
                          <a:ea typeface="+mn-ea"/>
                          <a:cs typeface="+mn-cs"/>
                        </a:rPr>
                        <a:t>®</a:t>
                      </a:r>
                      <a:r>
                        <a:rPr kumimoji="0" lang="en-US" sz="800" b="0" i="0" u="none" strike="noStrike" kern="1200" cap="none" spc="0" normalizeH="0" baseline="0" noProof="0">
                          <a:ln>
                            <a:noFill/>
                          </a:ln>
                          <a:solidFill>
                            <a:srgbClr val="002477"/>
                          </a:solidFill>
                          <a:effectLst/>
                          <a:uLnTx/>
                          <a:uFillTx/>
                          <a:latin typeface="+mn-lt"/>
                          <a:ea typeface="+mn-ea"/>
                          <a:cs typeface="+mn-cs"/>
                        </a:rPr>
                        <a:t> (NPS</a:t>
                      </a:r>
                      <a:r>
                        <a:rPr kumimoji="0" lang="en-US" sz="800" b="0" i="0" u="none" strike="noStrike" kern="1200" cap="none" spc="0" normalizeH="0" baseline="30000" noProof="0">
                          <a:ln>
                            <a:noFill/>
                          </a:ln>
                          <a:solidFill>
                            <a:srgbClr val="002477"/>
                          </a:solidFill>
                          <a:effectLst/>
                          <a:uLnTx/>
                          <a:uFillTx/>
                          <a:latin typeface="+mn-lt"/>
                          <a:ea typeface="+mn-ea"/>
                          <a:cs typeface="+mn-cs"/>
                        </a:rPr>
                        <a:t>®</a:t>
                      </a:r>
                      <a:r>
                        <a:rPr kumimoji="0" lang="en-US" sz="800" b="0" i="0" u="none" strike="noStrike" kern="1200" cap="none" spc="0" normalizeH="0" baseline="0" noProof="0">
                          <a:ln>
                            <a:noFill/>
                          </a:ln>
                          <a:solidFill>
                            <a:srgbClr val="002477"/>
                          </a:solidFill>
                          <a:effectLst/>
                          <a:uLnTx/>
                          <a:uFillTx/>
                          <a:latin typeface="+mn-lt"/>
                          <a:ea typeface="+mn-ea"/>
                          <a:cs typeface="+mn-cs"/>
                        </a:rPr>
                        <a:t>)</a:t>
                      </a:r>
                    </a:p>
                  </a:txBody>
                  <a:tcPr marL="68580" marR="68580" marT="34290" marB="3429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1024738559"/>
                  </a:ext>
                </a:extLst>
              </a:tr>
              <a:tr h="552284">
                <a:tc>
                  <a:txBody>
                    <a:bodyPr/>
                    <a:lstStyle/>
                    <a:p>
                      <a:pPr algn="r"/>
                      <a:r>
                        <a:rPr lang="en-US" sz="1800" b="1">
                          <a:solidFill>
                            <a:schemeClr val="accent1"/>
                          </a:solidFill>
                        </a:rPr>
                        <a:t>1-3</a:t>
                      </a:r>
                      <a:r>
                        <a:rPr lang="en-US" sz="1800" b="1" baseline="23000">
                          <a:solidFill>
                            <a:schemeClr val="accent1"/>
                          </a:solidFill>
                        </a:rPr>
                        <a:t>%</a:t>
                      </a:r>
                    </a:p>
                  </a:txBody>
                  <a:tcPr marL="68580" marR="68580" marT="34290" marB="3429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2477"/>
                          </a:solidFill>
                          <a:effectLst/>
                          <a:uLnTx/>
                          <a:uFillTx/>
                          <a:latin typeface="+mn-lt"/>
                          <a:ea typeface="+mn-ea"/>
                          <a:cs typeface="+mn-cs"/>
                        </a:rPr>
                        <a:t>Or less of the FI medical premium;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2477"/>
                          </a:solidFill>
                          <a:effectLst/>
                          <a:uLnTx/>
                          <a:uFillTx/>
                          <a:latin typeface="+mn-lt"/>
                          <a:ea typeface="+mn-ea"/>
                          <a:cs typeface="+mn-cs"/>
                        </a:rPr>
                        <a:t>Value: $10.75 PMPM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2477"/>
                          </a:solidFill>
                          <a:effectLst/>
                          <a:uLnTx/>
                          <a:uFillTx/>
                          <a:latin typeface="+mn-lt"/>
                          <a:ea typeface="+mn-ea"/>
                          <a:cs typeface="+mn-cs"/>
                        </a:rPr>
                        <a:t>Enhanced: $15.09 PMPM</a:t>
                      </a:r>
                    </a:p>
                  </a:txBody>
                  <a:tcPr marL="68580" marR="68580" marT="34290" marB="3429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2698452727"/>
                  </a:ext>
                </a:extLst>
              </a:tr>
            </a:tbl>
          </a:graphicData>
        </a:graphic>
      </p:graphicFrame>
      <p:sp>
        <p:nvSpPr>
          <p:cNvPr id="17" name="Rectangle 16">
            <a:extLst>
              <a:ext uri="{FF2B5EF4-FFF2-40B4-BE49-F238E27FC236}">
                <a16:creationId xmlns:a16="http://schemas.microsoft.com/office/drawing/2014/main" id="{45BC4547-E25A-AC78-8B35-D8003B1C04ED}"/>
              </a:ext>
            </a:extLst>
          </p:cNvPr>
          <p:cNvSpPr/>
          <p:nvPr/>
        </p:nvSpPr>
        <p:spPr>
          <a:xfrm>
            <a:off x="6949440" y="917628"/>
            <a:ext cx="1760585" cy="323934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 name="TextBox 9">
            <a:extLst>
              <a:ext uri="{FF2B5EF4-FFF2-40B4-BE49-F238E27FC236}">
                <a16:creationId xmlns:a16="http://schemas.microsoft.com/office/drawing/2014/main" id="{46EB0BDC-09E1-432D-0E9F-E139AD8CB7FB}"/>
              </a:ext>
            </a:extLst>
          </p:cNvPr>
          <p:cNvSpPr txBox="1"/>
          <p:nvPr/>
        </p:nvSpPr>
        <p:spPr>
          <a:xfrm>
            <a:off x="7025332" y="1028700"/>
            <a:ext cx="1737512" cy="3277820"/>
          </a:xfrm>
          <a:prstGeom prst="rect">
            <a:avLst/>
          </a:prstGeom>
          <a:noFill/>
        </p:spPr>
        <p:txBody>
          <a:bodyPr wrap="square" rtlCol="0">
            <a:spAutoFit/>
          </a:bodyPr>
          <a:lstStyle/>
          <a:p>
            <a:pPr>
              <a:spcBef>
                <a:spcPts val="900"/>
              </a:spcBef>
            </a:pPr>
            <a:r>
              <a:rPr lang="en-US" sz="1200" b="1">
                <a:solidFill>
                  <a:schemeClr val="accent1"/>
                </a:solidFill>
              </a:rPr>
              <a:t>You may hear </a:t>
            </a:r>
            <a:br>
              <a:rPr lang="en-US" sz="1200" b="1">
                <a:solidFill>
                  <a:schemeClr val="accent1"/>
                </a:solidFill>
              </a:rPr>
            </a:br>
            <a:r>
              <a:rPr lang="en-US" sz="1200" b="1">
                <a:solidFill>
                  <a:schemeClr val="accent1"/>
                </a:solidFill>
              </a:rPr>
              <a:t>feedback like:</a:t>
            </a:r>
            <a:endParaRPr lang="en-US" sz="1200" b="1" baseline="30000">
              <a:solidFill>
                <a:schemeClr val="accent1"/>
              </a:solidFill>
            </a:endParaRPr>
          </a:p>
          <a:p>
            <a:pPr>
              <a:spcBef>
                <a:spcPts val="900"/>
              </a:spcBef>
            </a:pPr>
            <a:r>
              <a:rPr lang="en-US" sz="1050">
                <a:solidFill>
                  <a:schemeClr val="accent1"/>
                </a:solidFill>
              </a:rPr>
              <a:t>Great program. Especially when facing a serious health crises and need to meet a deductible.</a:t>
            </a:r>
          </a:p>
          <a:p>
            <a:pPr>
              <a:spcBef>
                <a:spcPts val="900"/>
              </a:spcBef>
            </a:pPr>
            <a:r>
              <a:rPr lang="en-US" sz="1050">
                <a:solidFill>
                  <a:schemeClr val="accent1"/>
                </a:solidFill>
              </a:rPr>
              <a:t>It was the perfect time. Thank you for helping.</a:t>
            </a:r>
          </a:p>
          <a:p>
            <a:pPr>
              <a:spcBef>
                <a:spcPts val="900"/>
              </a:spcBef>
            </a:pPr>
            <a:r>
              <a:rPr lang="en-US" sz="1050">
                <a:solidFill>
                  <a:schemeClr val="accent1"/>
                </a:solidFill>
              </a:rPr>
              <a:t>It certainly helped cover medical bills.</a:t>
            </a:r>
          </a:p>
          <a:p>
            <a:pPr>
              <a:spcBef>
                <a:spcPts val="900"/>
              </a:spcBef>
            </a:pPr>
            <a:r>
              <a:rPr lang="en-US" sz="1050">
                <a:solidFill>
                  <a:schemeClr val="accent1"/>
                </a:solidFill>
              </a:rPr>
              <a:t>This payment was unexpected but very appreciated, as it was definitely helpful while recovering.</a:t>
            </a:r>
          </a:p>
          <a:p>
            <a:pPr>
              <a:spcBef>
                <a:spcPts val="900"/>
              </a:spcBef>
            </a:pPr>
            <a:endParaRPr lang="en-US" sz="900">
              <a:solidFill>
                <a:schemeClr val="accent1"/>
              </a:solidFill>
            </a:endParaRPr>
          </a:p>
        </p:txBody>
      </p:sp>
      <p:sp>
        <p:nvSpPr>
          <p:cNvPr id="6" name="Content Placeholder 3">
            <a:extLst>
              <a:ext uri="{FF2B5EF4-FFF2-40B4-BE49-F238E27FC236}">
                <a16:creationId xmlns:a16="http://schemas.microsoft.com/office/drawing/2014/main" id="{36197B08-E40D-8B61-470C-95CD9C66E8AB}"/>
              </a:ext>
            </a:extLst>
          </p:cNvPr>
          <p:cNvSpPr txBox="1">
            <a:spLocks/>
          </p:cNvSpPr>
          <p:nvPr/>
        </p:nvSpPr>
        <p:spPr>
          <a:xfrm>
            <a:off x="5935705" y="139317"/>
            <a:ext cx="3012443" cy="256571"/>
          </a:xfrm>
          <a:prstGeom prst="rect">
            <a:avLst/>
          </a:prstGeom>
        </p:spPr>
        <p:txBody>
          <a:bodyPr/>
          <a:lstStyle>
            <a:lvl1pPr marL="0" indent="0" algn="r" defTabSz="914377" rtl="0" eaLnBrk="1" latinLnBrk="0" hangingPunct="1">
              <a:lnSpc>
                <a:spcPct val="90000"/>
              </a:lnSpc>
              <a:spcBef>
                <a:spcPts val="400"/>
              </a:spcBef>
              <a:spcAft>
                <a:spcPts val="800"/>
              </a:spcAft>
              <a:buClr>
                <a:schemeClr val="accent1"/>
              </a:buClr>
              <a:buFont typeface="Arial" panose="020B0604020202020204" pitchFamily="34" charset="0"/>
              <a:buNone/>
              <a:tabLst/>
              <a:defRPr sz="800" b="0" i="0" kern="1200">
                <a:solidFill>
                  <a:schemeClr val="accent1"/>
                </a:solidFill>
                <a:latin typeface="+mn-lt"/>
                <a:ea typeface="+mn-ea"/>
                <a:cs typeface="Arial" panose="020B0604020202020204" pitchFamily="34" charset="0"/>
              </a:defRPr>
            </a:lvl1pPr>
            <a:lvl2pPr marL="156630" indent="0" algn="l" defTabSz="914377" rtl="0" eaLnBrk="1" latinLnBrk="0" hangingPunct="1">
              <a:lnSpc>
                <a:spcPct val="90000"/>
              </a:lnSpc>
              <a:spcBef>
                <a:spcPts val="0"/>
              </a:spcBef>
              <a:spcAft>
                <a:spcPts val="800"/>
              </a:spcAft>
              <a:buClr>
                <a:schemeClr val="accent1"/>
              </a:buClr>
              <a:buFont typeface="System Font Regular"/>
              <a:buNone/>
              <a:tabLst/>
              <a:defRPr sz="800" b="0" i="0" kern="1200">
                <a:solidFill>
                  <a:schemeClr val="accent1"/>
                </a:solidFill>
                <a:latin typeface="+mn-lt"/>
                <a:ea typeface="+mn-ea"/>
                <a:cs typeface="Arial" panose="020B0604020202020204" pitchFamily="34" charset="0"/>
              </a:defRPr>
            </a:lvl2pPr>
            <a:lvl3pPr marL="302677" indent="0" algn="l" defTabSz="914377" rtl="0" eaLnBrk="1" latinLnBrk="0" hangingPunct="1">
              <a:lnSpc>
                <a:spcPct val="90000"/>
              </a:lnSpc>
              <a:spcBef>
                <a:spcPts val="0"/>
              </a:spcBef>
              <a:spcAft>
                <a:spcPts val="800"/>
              </a:spcAft>
              <a:buClr>
                <a:schemeClr val="accent1"/>
              </a:buClr>
              <a:buFont typeface="Arial" panose="020B0604020202020204" pitchFamily="34" charset="0"/>
              <a:buNone/>
              <a:tabLst/>
              <a:defRPr sz="800" b="0" i="0" kern="1200">
                <a:solidFill>
                  <a:schemeClr val="accent1"/>
                </a:solidFill>
                <a:latin typeface="+mn-lt"/>
                <a:ea typeface="+mn-ea"/>
                <a:cs typeface="Arial" panose="020B0604020202020204" pitchFamily="34" charset="0"/>
              </a:defRPr>
            </a:lvl3pPr>
            <a:lvl4pPr marL="438140" indent="0" algn="l" defTabSz="914377" rtl="0" eaLnBrk="1" latinLnBrk="0" hangingPunct="1">
              <a:lnSpc>
                <a:spcPct val="90000"/>
              </a:lnSpc>
              <a:spcBef>
                <a:spcPts val="0"/>
              </a:spcBef>
              <a:spcAft>
                <a:spcPts val="800"/>
              </a:spcAft>
              <a:buClr>
                <a:schemeClr val="accent1"/>
              </a:buClr>
              <a:buFont typeface="System Font Regular"/>
              <a:buNone/>
              <a:tabLst/>
              <a:defRPr sz="800" b="0" i="0" kern="1200">
                <a:solidFill>
                  <a:schemeClr val="accent1"/>
                </a:solidFill>
                <a:latin typeface="+mn-lt"/>
                <a:ea typeface="+mn-ea"/>
                <a:cs typeface="Arial" panose="020B0604020202020204" pitchFamily="34" charset="0"/>
              </a:defRPr>
            </a:lvl4pPr>
            <a:lvl5pPr marL="558786" indent="0" algn="l" defTabSz="914377" rtl="0" eaLnBrk="1" latinLnBrk="0" hangingPunct="1">
              <a:lnSpc>
                <a:spcPct val="90000"/>
              </a:lnSpc>
              <a:spcBef>
                <a:spcPts val="0"/>
              </a:spcBef>
              <a:spcAft>
                <a:spcPts val="800"/>
              </a:spcAft>
              <a:buClr>
                <a:schemeClr val="accent1"/>
              </a:buClr>
              <a:buFont typeface="Arial" panose="020B0604020202020204" pitchFamily="34" charset="0"/>
              <a:buNone/>
              <a:tabLst/>
              <a:defRPr sz="800" b="0" i="0" kern="1200">
                <a:solidFill>
                  <a:schemeClr val="accent1"/>
                </a:solidFill>
                <a:latin typeface="+mn-lt"/>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defRPr/>
            </a:pPr>
            <a:r>
              <a:rPr lang="en-US" sz="600"/>
              <a:t>Health Plans  |  Benefit Ally</a:t>
            </a:r>
            <a:endParaRPr lang="en-US" sz="100"/>
          </a:p>
        </p:txBody>
      </p:sp>
      <p:pic>
        <p:nvPicPr>
          <p:cNvPr id="9" name="Picture 8">
            <a:extLst>
              <a:ext uri="{FF2B5EF4-FFF2-40B4-BE49-F238E27FC236}">
                <a16:creationId xmlns:a16="http://schemas.microsoft.com/office/drawing/2014/main" id="{827B8A28-350D-31C2-8DFE-BD0C0C48EC5C}"/>
              </a:ext>
            </a:extLst>
          </p:cNvPr>
          <p:cNvPicPr>
            <a:picLocks noChangeAspect="1"/>
          </p:cNvPicPr>
          <p:nvPr/>
        </p:nvPicPr>
        <p:blipFill>
          <a:blip r:embed="rId7"/>
          <a:srcRect l="33750" t="35555" r="29375" b="24948"/>
          <a:stretch/>
        </p:blipFill>
        <p:spPr>
          <a:xfrm>
            <a:off x="3363493" y="1184197"/>
            <a:ext cx="3551657" cy="2139841"/>
          </a:xfrm>
          <a:prstGeom prst="rect">
            <a:avLst/>
          </a:prstGeom>
        </p:spPr>
      </p:pic>
    </p:spTree>
    <p:extLst>
      <p:ext uri="{BB962C8B-B14F-4D97-AF65-F5344CB8AC3E}">
        <p14:creationId xmlns:p14="http://schemas.microsoft.com/office/powerpoint/2010/main" val="674947181"/>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4">
            <a:extLst>
              <a:ext uri="{FF2B5EF4-FFF2-40B4-BE49-F238E27FC236}">
                <a16:creationId xmlns:a16="http://schemas.microsoft.com/office/drawing/2014/main" id="{78CCD076-A900-7E41-A78D-1608FAC499C5}"/>
              </a:ext>
            </a:extLst>
          </p:cNvPr>
          <p:cNvSpPr>
            <a:spLocks noGrp="1"/>
          </p:cNvSpPr>
          <p:nvPr>
            <p:ph type="title"/>
          </p:nvPr>
        </p:nvSpPr>
        <p:spPr>
          <a:xfrm>
            <a:off x="389535" y="171450"/>
            <a:ext cx="4982566" cy="822631"/>
          </a:xfrm>
        </p:spPr>
        <p:txBody>
          <a:bodyPr/>
          <a:lstStyle/>
          <a:p>
            <a:r>
              <a:rPr lang="en-US">
                <a:solidFill>
                  <a:schemeClr val="accent1"/>
                </a:solidFill>
              </a:rPr>
              <a:t>Here’s how it works…</a:t>
            </a:r>
          </a:p>
        </p:txBody>
      </p:sp>
      <p:grpSp>
        <p:nvGrpSpPr>
          <p:cNvPr id="2" name="Group 1">
            <a:extLst>
              <a:ext uri="{FF2B5EF4-FFF2-40B4-BE49-F238E27FC236}">
                <a16:creationId xmlns:a16="http://schemas.microsoft.com/office/drawing/2014/main" id="{49C94631-CEE2-4B82-B453-8A5D1566A2D6}"/>
              </a:ext>
            </a:extLst>
          </p:cNvPr>
          <p:cNvGrpSpPr/>
          <p:nvPr/>
        </p:nvGrpSpPr>
        <p:grpSpPr>
          <a:xfrm>
            <a:off x="342900" y="911092"/>
            <a:ext cx="5029200" cy="3741142"/>
            <a:chOff x="457200" y="1214789"/>
            <a:chExt cx="6705600" cy="4988188"/>
          </a:xfrm>
        </p:grpSpPr>
        <p:cxnSp>
          <p:nvCxnSpPr>
            <p:cNvPr id="53" name="Straight Connector 52">
              <a:extLst>
                <a:ext uri="{FF2B5EF4-FFF2-40B4-BE49-F238E27FC236}">
                  <a16:creationId xmlns:a16="http://schemas.microsoft.com/office/drawing/2014/main" id="{5038C16E-84CF-134D-8249-EF669CC6C70B}"/>
                </a:ext>
              </a:extLst>
            </p:cNvPr>
            <p:cNvCxnSpPr>
              <a:cxnSpLocks/>
              <a:endCxn id="28" idx="0"/>
            </p:cNvCxnSpPr>
            <p:nvPr/>
          </p:nvCxnSpPr>
          <p:spPr>
            <a:xfrm>
              <a:off x="653906" y="1325441"/>
              <a:ext cx="0" cy="4323539"/>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519B8BEF-DE88-744A-A21A-331100FB4501}"/>
                </a:ext>
              </a:extLst>
            </p:cNvPr>
            <p:cNvSpPr txBox="1"/>
            <p:nvPr/>
          </p:nvSpPr>
          <p:spPr>
            <a:xfrm>
              <a:off x="1029885" y="2767946"/>
              <a:ext cx="6132915" cy="33855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300"/>
                </a:spcAft>
                <a:buClr>
                  <a:srgbClr val="00A8F7"/>
                </a:buClr>
                <a:buSzTx/>
                <a:buFontTx/>
                <a:buNone/>
                <a:tabLst/>
                <a:defRPr/>
              </a:pPr>
              <a:r>
                <a:rPr kumimoji="0" lang="en-US" sz="1050" b="1" i="0" u="none" strike="noStrike" kern="1200" cap="none" spc="0" normalizeH="0" baseline="0" noProof="0">
                  <a:ln>
                    <a:noFill/>
                  </a:ln>
                  <a:solidFill>
                    <a:srgbClr val="003DA1"/>
                  </a:solidFill>
                  <a:effectLst/>
                  <a:uLnTx/>
                  <a:uFillTx/>
                  <a:latin typeface="Arial"/>
                  <a:ea typeface="+mn-ea"/>
                  <a:cs typeface="+mn-cs"/>
                </a:rPr>
                <a:t>Employee/Member</a:t>
              </a:r>
              <a:r>
                <a:rPr kumimoji="0" lang="en-US" sz="1050" b="0" i="0" u="none" strike="noStrike" kern="1200" cap="none" spc="0" normalizeH="0" baseline="0" noProof="0">
                  <a:ln>
                    <a:noFill/>
                  </a:ln>
                  <a:solidFill>
                    <a:srgbClr val="003DA1"/>
                  </a:solidFill>
                  <a:effectLst/>
                  <a:uLnTx/>
                  <a:uFillTx/>
                  <a:latin typeface="Arial"/>
                  <a:ea typeface="+mn-ea"/>
                  <a:cs typeface="+mn-cs"/>
                </a:rPr>
                <a:t> has qualifying medical event</a:t>
              </a:r>
            </a:p>
          </p:txBody>
        </p:sp>
        <p:sp>
          <p:nvSpPr>
            <p:cNvPr id="61" name="Oval 60">
              <a:extLst>
                <a:ext uri="{FF2B5EF4-FFF2-40B4-BE49-F238E27FC236}">
                  <a16:creationId xmlns:a16="http://schemas.microsoft.com/office/drawing/2014/main" id="{805279AC-6EE2-1D45-A728-AECF6CCDDD67}"/>
                </a:ext>
              </a:extLst>
            </p:cNvPr>
            <p:cNvSpPr/>
            <p:nvPr/>
          </p:nvSpPr>
          <p:spPr bwMode="auto">
            <a:xfrm>
              <a:off x="457200" y="2735705"/>
              <a:ext cx="372262" cy="372259"/>
            </a:xfrm>
            <a:prstGeom prst="ellipse">
              <a:avLst/>
            </a:prstGeom>
            <a:solidFill>
              <a:srgbClr val="002060"/>
            </a:solidFill>
            <a:ln w="19050" cap="flat" cmpd="sng" algn="ctr">
              <a:noFill/>
              <a:prstDash val="solid"/>
              <a:round/>
              <a:headEnd type="none" w="med" len="med"/>
              <a:tailEnd type="none" w="med" len="med"/>
            </a:ln>
            <a:effectLst/>
          </p:spPr>
          <p:txBody>
            <a:bodyPr vert="horz" wrap="square" lIns="68580" tIns="34290" rIns="68580" bIns="34290" numCol="1" rtlCol="0" anchor="ctr" anchorCtr="0" compatLnSpc="1">
              <a:prstTxWarp prst="textNoShape">
                <a:avLst/>
              </a:prstTxWarp>
            </a:bodyPr>
            <a:lstStyle>
              <a:defPPr>
                <a:defRPr lang="en-US"/>
              </a:defP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sz="1350" b="1" i="0" u="none" strike="noStrike" kern="0" cap="none" spc="0" normalizeH="0" baseline="0" noProof="0">
                  <a:ln>
                    <a:noFill/>
                  </a:ln>
                  <a:solidFill>
                    <a:srgbClr val="FFFFFF"/>
                  </a:solidFill>
                  <a:effectLst/>
                  <a:uLnTx/>
                  <a:uFillTx/>
                  <a:latin typeface="Arial"/>
                  <a:ea typeface="ＭＳ Ｐゴシック" pitchFamily="34" charset="-128"/>
                  <a:cs typeface="+mn-cs"/>
                </a:rPr>
                <a:t>1</a:t>
              </a:r>
            </a:p>
          </p:txBody>
        </p:sp>
        <p:sp>
          <p:nvSpPr>
            <p:cNvPr id="50" name="TextBox 49">
              <a:extLst>
                <a:ext uri="{FF2B5EF4-FFF2-40B4-BE49-F238E27FC236}">
                  <a16:creationId xmlns:a16="http://schemas.microsoft.com/office/drawing/2014/main" id="{7047C179-39C3-2D45-8974-2A7F2FF24A7D}"/>
                </a:ext>
              </a:extLst>
            </p:cNvPr>
            <p:cNvSpPr txBox="1"/>
            <p:nvPr/>
          </p:nvSpPr>
          <p:spPr>
            <a:xfrm>
              <a:off x="1029885" y="3331141"/>
              <a:ext cx="5231045" cy="7694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300"/>
                </a:spcAft>
                <a:buClr>
                  <a:srgbClr val="00A8F7"/>
                </a:buClr>
                <a:buSzTx/>
                <a:buFontTx/>
                <a:buNone/>
                <a:tabLst/>
                <a:defRPr/>
              </a:pPr>
              <a:r>
                <a:rPr kumimoji="0" lang="en-US" sz="1050" b="0" i="0" u="none" strike="noStrike" kern="1200" cap="none" spc="0" normalizeH="0" baseline="0" noProof="0">
                  <a:ln>
                    <a:noFill/>
                  </a:ln>
                  <a:solidFill>
                    <a:srgbClr val="003DA1"/>
                  </a:solidFill>
                  <a:effectLst/>
                  <a:uLnTx/>
                  <a:uFillTx/>
                  <a:latin typeface="Arial"/>
                  <a:ea typeface="+mn-ea"/>
                  <a:cs typeface="+mn-cs"/>
                </a:rPr>
                <a:t>The system monitors claims to identify the ones that are eligible for supplemental benefits, automatically triggering payments* </a:t>
              </a:r>
            </a:p>
          </p:txBody>
        </p:sp>
        <p:sp>
          <p:nvSpPr>
            <p:cNvPr id="62" name="Oval 61">
              <a:extLst>
                <a:ext uri="{FF2B5EF4-FFF2-40B4-BE49-F238E27FC236}">
                  <a16:creationId xmlns:a16="http://schemas.microsoft.com/office/drawing/2014/main" id="{F641DBF7-4505-6B4D-AA6F-E6308CC115B5}"/>
                </a:ext>
              </a:extLst>
            </p:cNvPr>
            <p:cNvSpPr/>
            <p:nvPr/>
          </p:nvSpPr>
          <p:spPr bwMode="auto">
            <a:xfrm>
              <a:off x="467775" y="3331141"/>
              <a:ext cx="372262" cy="372259"/>
            </a:xfrm>
            <a:prstGeom prst="ellipse">
              <a:avLst/>
            </a:prstGeom>
            <a:solidFill>
              <a:srgbClr val="002060"/>
            </a:solidFill>
            <a:ln w="19050" cap="flat" cmpd="sng" algn="ctr">
              <a:noFill/>
              <a:prstDash val="solid"/>
              <a:round/>
              <a:headEnd type="none" w="med" len="med"/>
              <a:tailEnd type="none" w="med" len="med"/>
            </a:ln>
            <a:effectLst/>
          </p:spPr>
          <p:txBody>
            <a:bodyPr vert="horz" wrap="square" lIns="68580" tIns="34290" rIns="68580" bIns="34290" numCol="1" rtlCol="0" anchor="ctr" anchorCtr="0" compatLnSpc="1">
              <a:prstTxWarp prst="textNoShape">
                <a:avLst/>
              </a:prstTxWarp>
            </a:bodyPr>
            <a:lstStyle>
              <a:defPPr>
                <a:defRPr lang="en-US"/>
              </a:defP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sz="1350" b="1" i="0" u="none" strike="noStrike" kern="0" cap="none" spc="0" normalizeH="0" baseline="0" noProof="0">
                  <a:ln>
                    <a:noFill/>
                  </a:ln>
                  <a:solidFill>
                    <a:srgbClr val="FFFFFF"/>
                  </a:solidFill>
                  <a:effectLst/>
                  <a:uLnTx/>
                  <a:uFillTx/>
                  <a:latin typeface="Arial"/>
                  <a:ea typeface="ＭＳ Ｐゴシック" pitchFamily="34" charset="-128"/>
                  <a:cs typeface="+mn-cs"/>
                </a:rPr>
                <a:t>2</a:t>
              </a:r>
            </a:p>
          </p:txBody>
        </p:sp>
        <p:sp>
          <p:nvSpPr>
            <p:cNvPr id="51" name="TextBox 50">
              <a:extLst>
                <a:ext uri="{FF2B5EF4-FFF2-40B4-BE49-F238E27FC236}">
                  <a16:creationId xmlns:a16="http://schemas.microsoft.com/office/drawing/2014/main" id="{C7B97AAD-C0E4-7D4C-B639-FB2E72DC5A21}"/>
                </a:ext>
              </a:extLst>
            </p:cNvPr>
            <p:cNvSpPr txBox="1"/>
            <p:nvPr/>
          </p:nvSpPr>
          <p:spPr>
            <a:xfrm>
              <a:off x="1029885" y="4038601"/>
              <a:ext cx="4687047" cy="553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300"/>
                </a:spcAft>
                <a:buClr>
                  <a:srgbClr val="00A8F7"/>
                </a:buClr>
                <a:buSzTx/>
                <a:buFontTx/>
                <a:buNone/>
                <a:tabLst/>
                <a:defRPr/>
              </a:pPr>
              <a:r>
                <a:rPr kumimoji="0" lang="en-US" sz="1050" b="1" i="0" u="none" strike="noStrike" kern="1200" cap="none" spc="0" normalizeH="0" baseline="0" noProof="0">
                  <a:ln>
                    <a:noFill/>
                  </a:ln>
                  <a:solidFill>
                    <a:srgbClr val="003DA1"/>
                  </a:solidFill>
                  <a:effectLst/>
                  <a:uLnTx/>
                  <a:uFillTx/>
                  <a:latin typeface="Arial"/>
                  <a:ea typeface="+mn-ea"/>
                  <a:cs typeface="+mn-cs"/>
                </a:rPr>
                <a:t>Employee</a:t>
              </a:r>
              <a:r>
                <a:rPr kumimoji="0" lang="en-US" sz="1050" b="0" i="0" u="none" strike="noStrike" kern="1200" cap="none" spc="0" normalizeH="0" baseline="0" noProof="0">
                  <a:ln>
                    <a:noFill/>
                  </a:ln>
                  <a:solidFill>
                    <a:srgbClr val="003DA1"/>
                  </a:solidFill>
                  <a:effectLst/>
                  <a:uLnTx/>
                  <a:uFillTx/>
                  <a:latin typeface="Arial"/>
                  <a:ea typeface="+mn-ea"/>
                  <a:cs typeface="+mn-cs"/>
                </a:rPr>
                <a:t> continues to pay their share of the costs, as defined by their plan </a:t>
              </a:r>
            </a:p>
          </p:txBody>
        </p:sp>
        <p:sp>
          <p:nvSpPr>
            <p:cNvPr id="63" name="Oval 62">
              <a:extLst>
                <a:ext uri="{FF2B5EF4-FFF2-40B4-BE49-F238E27FC236}">
                  <a16:creationId xmlns:a16="http://schemas.microsoft.com/office/drawing/2014/main" id="{6E34BC78-1BE1-0E4E-9363-1BC7BC9E4AA2}"/>
                </a:ext>
              </a:extLst>
            </p:cNvPr>
            <p:cNvSpPr/>
            <p:nvPr/>
          </p:nvSpPr>
          <p:spPr bwMode="auto">
            <a:xfrm>
              <a:off x="467775" y="4038600"/>
              <a:ext cx="372262" cy="372259"/>
            </a:xfrm>
            <a:prstGeom prst="ellipse">
              <a:avLst/>
            </a:prstGeom>
            <a:solidFill>
              <a:srgbClr val="002060"/>
            </a:solidFill>
            <a:ln w="19050" cap="flat" cmpd="sng" algn="ctr">
              <a:noFill/>
              <a:prstDash val="solid"/>
              <a:round/>
              <a:headEnd type="none" w="med" len="med"/>
              <a:tailEnd type="none" w="med" len="med"/>
            </a:ln>
            <a:effectLst/>
          </p:spPr>
          <p:txBody>
            <a:bodyPr vert="horz" wrap="square" lIns="68580" tIns="34290" rIns="68580" bIns="34290" numCol="1" rtlCol="0" anchor="ctr" anchorCtr="0" compatLnSpc="1">
              <a:prstTxWarp prst="textNoShape">
                <a:avLst/>
              </a:prstTxWarp>
            </a:bodyPr>
            <a:lstStyle>
              <a:defPPr>
                <a:defRPr lang="en-US"/>
              </a:defP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sz="1350" b="1" i="0" u="none" strike="noStrike" kern="0" cap="none" spc="0" normalizeH="0" baseline="0" noProof="0">
                  <a:ln>
                    <a:noFill/>
                  </a:ln>
                  <a:solidFill>
                    <a:srgbClr val="FFFFFF"/>
                  </a:solidFill>
                  <a:effectLst/>
                  <a:uLnTx/>
                  <a:uFillTx/>
                  <a:latin typeface="Arial"/>
                  <a:ea typeface="ＭＳ Ｐゴシック" pitchFamily="34" charset="-128"/>
                  <a:cs typeface="+mn-cs"/>
                </a:rPr>
                <a:t>3</a:t>
              </a:r>
            </a:p>
          </p:txBody>
        </p:sp>
        <p:sp>
          <p:nvSpPr>
            <p:cNvPr id="52" name="TextBox 51">
              <a:extLst>
                <a:ext uri="{FF2B5EF4-FFF2-40B4-BE49-F238E27FC236}">
                  <a16:creationId xmlns:a16="http://schemas.microsoft.com/office/drawing/2014/main" id="{70EE9A76-01A5-C84D-AB0E-138BC6E72ACE}"/>
                </a:ext>
              </a:extLst>
            </p:cNvPr>
            <p:cNvSpPr txBox="1"/>
            <p:nvPr/>
          </p:nvSpPr>
          <p:spPr>
            <a:xfrm>
              <a:off x="1029885" y="4734581"/>
              <a:ext cx="5062371" cy="553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300"/>
                </a:spcAft>
                <a:buClr>
                  <a:srgbClr val="00A8F7"/>
                </a:buClr>
                <a:buSzTx/>
                <a:buFontTx/>
                <a:buNone/>
                <a:tabLst/>
                <a:defRPr/>
              </a:pPr>
              <a:r>
                <a:rPr kumimoji="0" lang="en-US" sz="1050" b="1" i="0" u="none" strike="noStrike" kern="1200" cap="none" spc="0" normalizeH="0" baseline="0" noProof="0">
                  <a:ln>
                    <a:noFill/>
                  </a:ln>
                  <a:solidFill>
                    <a:srgbClr val="003DA1"/>
                  </a:solidFill>
                  <a:effectLst/>
                  <a:uLnTx/>
                  <a:uFillTx/>
                  <a:latin typeface="Arial"/>
                  <a:ea typeface="+mn-ea"/>
                  <a:cs typeface="+mn-cs"/>
                </a:rPr>
                <a:t>Employee</a:t>
              </a:r>
              <a:r>
                <a:rPr kumimoji="0" lang="en-US" sz="1050" b="0" i="0" u="none" strike="noStrike" kern="1200" cap="none" spc="0" normalizeH="0" baseline="0" noProof="0">
                  <a:ln>
                    <a:noFill/>
                  </a:ln>
                  <a:solidFill>
                    <a:srgbClr val="003DA1"/>
                  </a:solidFill>
                  <a:effectLst/>
                  <a:uLnTx/>
                  <a:uFillTx/>
                  <a:latin typeface="Arial"/>
                  <a:ea typeface="+mn-ea"/>
                  <a:cs typeface="+mn-cs"/>
                </a:rPr>
                <a:t> automatically receives a supplemental benefit payment for qualified medical events</a:t>
              </a:r>
              <a:endParaRPr kumimoji="0" lang="en-US" sz="1050" b="0" i="0" u="none" strike="noStrike" kern="1200" cap="none" spc="0" normalizeH="0" baseline="0" noProof="0">
                <a:ln>
                  <a:noFill/>
                </a:ln>
                <a:solidFill>
                  <a:srgbClr val="FF0000"/>
                </a:solidFill>
                <a:effectLst/>
                <a:uLnTx/>
                <a:uFillTx/>
                <a:latin typeface="Arial"/>
                <a:ea typeface="+mn-ea"/>
                <a:cs typeface="+mn-cs"/>
              </a:endParaRPr>
            </a:p>
          </p:txBody>
        </p:sp>
        <p:sp>
          <p:nvSpPr>
            <p:cNvPr id="64" name="Oval 63">
              <a:extLst>
                <a:ext uri="{FF2B5EF4-FFF2-40B4-BE49-F238E27FC236}">
                  <a16:creationId xmlns:a16="http://schemas.microsoft.com/office/drawing/2014/main" id="{7A22B965-1F2C-E04F-AC36-51DF4DE3FE37}"/>
                </a:ext>
              </a:extLst>
            </p:cNvPr>
            <p:cNvSpPr/>
            <p:nvPr/>
          </p:nvSpPr>
          <p:spPr bwMode="auto">
            <a:xfrm>
              <a:off x="467775" y="4734580"/>
              <a:ext cx="372262" cy="372259"/>
            </a:xfrm>
            <a:prstGeom prst="ellipse">
              <a:avLst/>
            </a:prstGeom>
            <a:solidFill>
              <a:srgbClr val="002060"/>
            </a:solidFill>
            <a:ln w="19050" cap="flat" cmpd="sng" algn="ctr">
              <a:noFill/>
              <a:prstDash val="solid"/>
              <a:round/>
              <a:headEnd type="none" w="med" len="med"/>
              <a:tailEnd type="none" w="med" len="med"/>
            </a:ln>
            <a:effectLst/>
          </p:spPr>
          <p:txBody>
            <a:bodyPr vert="horz" wrap="square" lIns="68580" tIns="34290" rIns="68580" bIns="34290" numCol="1" rtlCol="0" anchor="ctr" anchorCtr="0" compatLnSpc="1">
              <a:prstTxWarp prst="textNoShape">
                <a:avLst/>
              </a:prstTxWarp>
            </a:bodyPr>
            <a:lstStyle>
              <a:defPPr>
                <a:defRPr lang="en-US"/>
              </a:defP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sz="1350" b="1" i="0" u="none" strike="noStrike" kern="0" cap="none" spc="0" normalizeH="0" baseline="0" noProof="0">
                  <a:ln>
                    <a:noFill/>
                  </a:ln>
                  <a:solidFill>
                    <a:srgbClr val="FFFFFF"/>
                  </a:solidFill>
                  <a:effectLst/>
                  <a:uLnTx/>
                  <a:uFillTx/>
                  <a:latin typeface="Arial"/>
                  <a:ea typeface="ＭＳ Ｐゴシック" pitchFamily="34" charset="-128"/>
                  <a:cs typeface="+mn-cs"/>
                </a:rPr>
                <a:t>4</a:t>
              </a:r>
            </a:p>
          </p:txBody>
        </p:sp>
        <p:sp>
          <p:nvSpPr>
            <p:cNvPr id="15" name="Oval 14">
              <a:extLst>
                <a:ext uri="{FF2B5EF4-FFF2-40B4-BE49-F238E27FC236}">
                  <a16:creationId xmlns:a16="http://schemas.microsoft.com/office/drawing/2014/main" id="{696D85B4-3005-46EA-A046-64E1AE0F1CDC}"/>
                </a:ext>
              </a:extLst>
            </p:cNvPr>
            <p:cNvSpPr/>
            <p:nvPr/>
          </p:nvSpPr>
          <p:spPr bwMode="auto">
            <a:xfrm>
              <a:off x="467775" y="1214789"/>
              <a:ext cx="372262" cy="372259"/>
            </a:xfrm>
            <a:prstGeom prst="ellipse">
              <a:avLst/>
            </a:prstGeom>
            <a:solidFill>
              <a:srgbClr val="00B0F0"/>
            </a:solidFill>
            <a:ln w="19050" cap="flat" cmpd="sng" algn="ctr">
              <a:noFill/>
              <a:prstDash val="solid"/>
              <a:round/>
              <a:headEnd type="none" w="med" len="med"/>
              <a:tailEnd type="none" w="med" len="med"/>
            </a:ln>
            <a:effectLst/>
          </p:spPr>
          <p:txBody>
            <a:bodyPr vert="horz" wrap="square" lIns="68580" tIns="34290" rIns="68580" bIns="34290" numCol="1" rtlCol="0" anchor="ctr" anchorCtr="0" compatLnSpc="1">
              <a:prstTxWarp prst="textNoShape">
                <a:avLst/>
              </a:prstTxWarp>
            </a:bodyPr>
            <a:lstStyle>
              <a:defPPr>
                <a:defRPr lang="en-US"/>
              </a:defP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sz="1350" b="1" i="0" u="none" strike="noStrike" kern="0" cap="none" spc="0" normalizeH="0" baseline="0" noProof="0">
                  <a:ln>
                    <a:noFill/>
                  </a:ln>
                  <a:solidFill>
                    <a:srgbClr val="FFFFFF"/>
                  </a:solidFill>
                  <a:effectLst/>
                  <a:uLnTx/>
                  <a:uFillTx/>
                  <a:latin typeface="Arial"/>
                  <a:ea typeface="ＭＳ Ｐゴシック" pitchFamily="34" charset="-128"/>
                  <a:cs typeface="+mn-cs"/>
                </a:rPr>
                <a:t>A</a:t>
              </a:r>
            </a:p>
          </p:txBody>
        </p:sp>
        <p:sp>
          <p:nvSpPr>
            <p:cNvPr id="16" name="TextBox 15">
              <a:extLst>
                <a:ext uri="{FF2B5EF4-FFF2-40B4-BE49-F238E27FC236}">
                  <a16:creationId xmlns:a16="http://schemas.microsoft.com/office/drawing/2014/main" id="{92D468BA-7D65-4186-94ED-F2A247A85B8C}"/>
                </a:ext>
              </a:extLst>
            </p:cNvPr>
            <p:cNvSpPr txBox="1"/>
            <p:nvPr/>
          </p:nvSpPr>
          <p:spPr>
            <a:xfrm>
              <a:off x="1029885" y="1214789"/>
              <a:ext cx="5166159" cy="553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300"/>
                </a:spcAft>
                <a:buClr>
                  <a:srgbClr val="00A8F7"/>
                </a:buClr>
                <a:buSzTx/>
                <a:buFontTx/>
                <a:buNone/>
                <a:tabLst/>
                <a:defRPr/>
              </a:pPr>
              <a:r>
                <a:rPr kumimoji="0" lang="en-US" sz="1050" b="1" i="0" u="none" strike="noStrike" kern="1200" cap="none" spc="0" normalizeH="0" baseline="0" noProof="0">
                  <a:ln>
                    <a:noFill/>
                  </a:ln>
                  <a:solidFill>
                    <a:srgbClr val="00B0F0"/>
                  </a:solidFill>
                  <a:effectLst/>
                  <a:uLnTx/>
                  <a:uFillTx/>
                  <a:latin typeface="Arial"/>
                  <a:ea typeface="+mn-ea"/>
                  <a:cs typeface="+mn-cs"/>
                </a:rPr>
                <a:t>Employer</a:t>
              </a:r>
              <a:r>
                <a:rPr kumimoji="0" lang="en-US" sz="1050" b="0" i="0" u="none" strike="noStrike" kern="1200" cap="none" spc="0" normalizeH="0" baseline="0" noProof="0">
                  <a:ln>
                    <a:noFill/>
                  </a:ln>
                  <a:solidFill>
                    <a:srgbClr val="003DA1"/>
                  </a:solidFill>
                  <a:effectLst/>
                  <a:uLnTx/>
                  <a:uFillTx/>
                  <a:latin typeface="Arial"/>
                  <a:ea typeface="+mn-ea"/>
                  <a:cs typeface="+mn-cs"/>
                </a:rPr>
                <a:t> includes Benefit Ally on one or more medical plans </a:t>
              </a:r>
              <a:r>
                <a:rPr kumimoji="0" lang="en-US" sz="788" b="0" i="0" u="none" strike="noStrike" kern="1200" cap="none" spc="0" normalizeH="0" baseline="0" noProof="0">
                  <a:ln>
                    <a:noFill/>
                  </a:ln>
                  <a:solidFill>
                    <a:srgbClr val="003DA1"/>
                  </a:solidFill>
                  <a:effectLst/>
                  <a:uLnTx/>
                  <a:uFillTx/>
                  <a:latin typeface="Arial"/>
                  <a:ea typeface="+mn-ea"/>
                  <a:cs typeface="+mn-cs"/>
                </a:rPr>
                <a:t>(included in medical quote, no FP implementation, no FP enrollment or eligibility)</a:t>
              </a:r>
              <a:r>
                <a:rPr kumimoji="0" lang="en-US" sz="1050" b="0" i="0" u="none" strike="noStrike" kern="1200" cap="none" spc="0" normalizeH="0" baseline="0" noProof="0">
                  <a:ln>
                    <a:noFill/>
                  </a:ln>
                  <a:solidFill>
                    <a:srgbClr val="003DA1"/>
                  </a:solidFill>
                  <a:effectLst/>
                  <a:uLnTx/>
                  <a:uFillTx/>
                  <a:latin typeface="Arial"/>
                  <a:ea typeface="+mn-ea"/>
                  <a:cs typeface="+mn-cs"/>
                </a:rPr>
                <a:t> </a:t>
              </a:r>
            </a:p>
          </p:txBody>
        </p:sp>
        <p:sp>
          <p:nvSpPr>
            <p:cNvPr id="19" name="TextBox 18">
              <a:extLst>
                <a:ext uri="{FF2B5EF4-FFF2-40B4-BE49-F238E27FC236}">
                  <a16:creationId xmlns:a16="http://schemas.microsoft.com/office/drawing/2014/main" id="{CE3D1098-B95C-4AB2-8772-5A020F551951}"/>
                </a:ext>
              </a:extLst>
            </p:cNvPr>
            <p:cNvSpPr txBox="1"/>
            <p:nvPr/>
          </p:nvSpPr>
          <p:spPr>
            <a:xfrm>
              <a:off x="1029885" y="1931416"/>
              <a:ext cx="5255787" cy="553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300"/>
                </a:spcAft>
                <a:buClr>
                  <a:srgbClr val="00A8F7"/>
                </a:buClr>
                <a:buSzTx/>
                <a:buFontTx/>
                <a:buNone/>
                <a:tabLst/>
                <a:defRPr/>
              </a:pPr>
              <a:r>
                <a:rPr kumimoji="0" lang="en-US" sz="1050" b="1" i="0" u="none" strike="noStrike" kern="1200" cap="none" spc="0" normalizeH="0" baseline="0" noProof="0">
                  <a:ln>
                    <a:noFill/>
                  </a:ln>
                  <a:solidFill>
                    <a:srgbClr val="00B0F0"/>
                  </a:solidFill>
                  <a:effectLst/>
                  <a:uLnTx/>
                  <a:uFillTx/>
                  <a:latin typeface="Arial"/>
                  <a:ea typeface="+mn-ea"/>
                  <a:cs typeface="+mn-cs"/>
                </a:rPr>
                <a:t>Employee</a:t>
              </a:r>
              <a:r>
                <a:rPr kumimoji="0" lang="en-US" sz="1050" b="0" i="0" u="none" strike="noStrike" kern="1200" cap="none" spc="0" normalizeH="0" baseline="0" noProof="0">
                  <a:ln>
                    <a:noFill/>
                  </a:ln>
                  <a:solidFill>
                    <a:srgbClr val="003DA1"/>
                  </a:solidFill>
                  <a:effectLst/>
                  <a:uLnTx/>
                  <a:uFillTx/>
                  <a:latin typeface="Arial"/>
                  <a:ea typeface="+mn-ea"/>
                  <a:cs typeface="+mn-cs"/>
                </a:rPr>
                <a:t> enrolls in medical plan with Benefit Ally during Open Enrollment</a:t>
              </a:r>
            </a:p>
          </p:txBody>
        </p:sp>
        <p:sp>
          <p:nvSpPr>
            <p:cNvPr id="20" name="Oval 19">
              <a:extLst>
                <a:ext uri="{FF2B5EF4-FFF2-40B4-BE49-F238E27FC236}">
                  <a16:creationId xmlns:a16="http://schemas.microsoft.com/office/drawing/2014/main" id="{0D36F394-FD92-4749-A34C-1D1C792BF584}"/>
                </a:ext>
              </a:extLst>
            </p:cNvPr>
            <p:cNvSpPr/>
            <p:nvPr/>
          </p:nvSpPr>
          <p:spPr bwMode="auto">
            <a:xfrm>
              <a:off x="467775" y="1931416"/>
              <a:ext cx="372262" cy="372259"/>
            </a:xfrm>
            <a:prstGeom prst="ellipse">
              <a:avLst/>
            </a:prstGeom>
            <a:solidFill>
              <a:srgbClr val="00B0F0"/>
            </a:solidFill>
            <a:ln w="19050" cap="flat" cmpd="sng" algn="ctr">
              <a:noFill/>
              <a:prstDash val="solid"/>
              <a:round/>
              <a:headEnd type="none" w="med" len="med"/>
              <a:tailEnd type="none" w="med" len="med"/>
            </a:ln>
            <a:effectLst/>
          </p:spPr>
          <p:txBody>
            <a:bodyPr vert="horz" wrap="square" lIns="68580" tIns="34290" rIns="68580" bIns="34290" numCol="1" rtlCol="0" anchor="ctr" anchorCtr="0" compatLnSpc="1">
              <a:prstTxWarp prst="textNoShape">
                <a:avLst/>
              </a:prstTxWarp>
            </a:bodyPr>
            <a:lstStyle>
              <a:defPPr>
                <a:defRPr lang="en-US"/>
              </a:defP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sz="1350" b="1" i="0" u="none" strike="noStrike" kern="0" cap="none" spc="0" normalizeH="0" baseline="0" noProof="0">
                  <a:ln>
                    <a:noFill/>
                  </a:ln>
                  <a:solidFill>
                    <a:srgbClr val="FFFFFF"/>
                  </a:solidFill>
                  <a:effectLst/>
                  <a:uLnTx/>
                  <a:uFillTx/>
                  <a:latin typeface="Arial"/>
                  <a:ea typeface="ＭＳ Ｐゴシック" pitchFamily="34" charset="-128"/>
                  <a:cs typeface="+mn-cs"/>
                </a:rPr>
                <a:t>B</a:t>
              </a:r>
            </a:p>
          </p:txBody>
        </p:sp>
        <p:sp>
          <p:nvSpPr>
            <p:cNvPr id="27" name="TextBox 26">
              <a:extLst>
                <a:ext uri="{FF2B5EF4-FFF2-40B4-BE49-F238E27FC236}">
                  <a16:creationId xmlns:a16="http://schemas.microsoft.com/office/drawing/2014/main" id="{BEB36158-2198-435F-9381-E244CCB7EABB}"/>
                </a:ext>
              </a:extLst>
            </p:cNvPr>
            <p:cNvSpPr txBox="1"/>
            <p:nvPr/>
          </p:nvSpPr>
          <p:spPr>
            <a:xfrm>
              <a:off x="1029885" y="5648980"/>
              <a:ext cx="5053291" cy="553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300"/>
                </a:spcAft>
                <a:buClr>
                  <a:srgbClr val="00A8F7"/>
                </a:buClr>
                <a:buSzTx/>
                <a:buFontTx/>
                <a:buNone/>
                <a:tabLst/>
                <a:defRPr/>
              </a:pPr>
              <a:r>
                <a:rPr kumimoji="0" lang="en-US" sz="1050" b="1" i="0" u="none" strike="noStrike" kern="1200" cap="none" spc="0" normalizeH="0" baseline="0" noProof="0">
                  <a:ln>
                    <a:noFill/>
                  </a:ln>
                  <a:solidFill>
                    <a:srgbClr val="00B0F0"/>
                  </a:solidFill>
                  <a:effectLst/>
                  <a:uLnTx/>
                  <a:uFillTx/>
                  <a:latin typeface="Arial"/>
                  <a:ea typeface="+mn-ea"/>
                  <a:cs typeface="+mn-cs"/>
                </a:rPr>
                <a:t>Employer</a:t>
              </a:r>
              <a:r>
                <a:rPr kumimoji="0" lang="en-US" sz="1050" b="0" i="0" u="none" strike="noStrike" kern="1200" cap="none" spc="0" normalizeH="0" baseline="0" noProof="0">
                  <a:ln>
                    <a:noFill/>
                  </a:ln>
                  <a:solidFill>
                    <a:srgbClr val="003DA1"/>
                  </a:solidFill>
                  <a:effectLst/>
                  <a:uLnTx/>
                  <a:uFillTx/>
                  <a:latin typeface="Arial"/>
                  <a:ea typeface="+mn-ea"/>
                  <a:cs typeface="+mn-cs"/>
                </a:rPr>
                <a:t> receives one invoice (medical bill includes Benefit Ally premium)</a:t>
              </a:r>
            </a:p>
          </p:txBody>
        </p:sp>
        <p:sp>
          <p:nvSpPr>
            <p:cNvPr id="28" name="Oval 27">
              <a:extLst>
                <a:ext uri="{FF2B5EF4-FFF2-40B4-BE49-F238E27FC236}">
                  <a16:creationId xmlns:a16="http://schemas.microsoft.com/office/drawing/2014/main" id="{498844DD-D05F-4DBF-91FB-023525397F5E}"/>
                </a:ext>
              </a:extLst>
            </p:cNvPr>
            <p:cNvSpPr/>
            <p:nvPr/>
          </p:nvSpPr>
          <p:spPr bwMode="auto">
            <a:xfrm>
              <a:off x="467775" y="5648980"/>
              <a:ext cx="372262" cy="372259"/>
            </a:xfrm>
            <a:prstGeom prst="ellipse">
              <a:avLst/>
            </a:prstGeom>
            <a:solidFill>
              <a:srgbClr val="00B0F0"/>
            </a:solidFill>
            <a:ln w="19050" cap="flat" cmpd="sng" algn="ctr">
              <a:noFill/>
              <a:prstDash val="solid"/>
              <a:round/>
              <a:headEnd type="none" w="med" len="med"/>
              <a:tailEnd type="none" w="med" len="med"/>
            </a:ln>
            <a:effectLst/>
          </p:spPr>
          <p:txBody>
            <a:bodyPr vert="horz" wrap="square" lIns="68580" tIns="34290" rIns="68580" bIns="34290" numCol="1" rtlCol="0" anchor="ctr" anchorCtr="0" compatLnSpc="1">
              <a:prstTxWarp prst="textNoShape">
                <a:avLst/>
              </a:prstTxWarp>
            </a:bodyPr>
            <a:lstStyle>
              <a:defPPr>
                <a:defRPr lang="en-US"/>
              </a:defP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sz="1350" b="1" i="0" u="none" strike="noStrike" kern="0" cap="none" spc="0" normalizeH="0" baseline="0" noProof="0">
                  <a:ln>
                    <a:noFill/>
                  </a:ln>
                  <a:solidFill>
                    <a:srgbClr val="FFFFFF"/>
                  </a:solidFill>
                  <a:effectLst/>
                  <a:uLnTx/>
                  <a:uFillTx/>
                  <a:latin typeface="Arial"/>
                  <a:ea typeface="ＭＳ Ｐゴシック" pitchFamily="34" charset="-128"/>
                  <a:cs typeface="+mn-cs"/>
                </a:rPr>
                <a:t>C</a:t>
              </a:r>
            </a:p>
          </p:txBody>
        </p:sp>
        <p:cxnSp>
          <p:nvCxnSpPr>
            <p:cNvPr id="17" name="Straight Connector 16">
              <a:extLst>
                <a:ext uri="{FF2B5EF4-FFF2-40B4-BE49-F238E27FC236}">
                  <a16:creationId xmlns:a16="http://schemas.microsoft.com/office/drawing/2014/main" id="{3475D278-AFA6-464B-BBA6-3CD994545176}"/>
                </a:ext>
              </a:extLst>
            </p:cNvPr>
            <p:cNvCxnSpPr/>
            <p:nvPr/>
          </p:nvCxnSpPr>
          <p:spPr>
            <a:xfrm>
              <a:off x="1257300" y="2590800"/>
              <a:ext cx="4421532" cy="0"/>
            </a:xfrm>
            <a:prstGeom prst="line">
              <a:avLst/>
            </a:prstGeom>
            <a:ln w="9525">
              <a:solidFill>
                <a:schemeClr val="tx2">
                  <a:lumMod val="40000"/>
                  <a:lumOff val="6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7BF9A848-2252-4353-B7AA-F150B3E7EF62}"/>
                </a:ext>
              </a:extLst>
            </p:cNvPr>
            <p:cNvCxnSpPr/>
            <p:nvPr/>
          </p:nvCxnSpPr>
          <p:spPr>
            <a:xfrm>
              <a:off x="1257300" y="5486400"/>
              <a:ext cx="4421532" cy="0"/>
            </a:xfrm>
            <a:prstGeom prst="line">
              <a:avLst/>
            </a:prstGeom>
            <a:ln w="9525">
              <a:solidFill>
                <a:schemeClr val="tx2">
                  <a:lumMod val="40000"/>
                  <a:lumOff val="60000"/>
                </a:schemeClr>
              </a:solidFill>
              <a:prstDash val="dash"/>
            </a:ln>
          </p:spPr>
          <p:style>
            <a:lnRef idx="1">
              <a:schemeClr val="accent1"/>
            </a:lnRef>
            <a:fillRef idx="0">
              <a:schemeClr val="accent1"/>
            </a:fillRef>
            <a:effectRef idx="0">
              <a:schemeClr val="accent1"/>
            </a:effectRef>
            <a:fontRef idx="minor">
              <a:schemeClr val="tx1"/>
            </a:fontRef>
          </p:style>
        </p:cxnSp>
      </p:grpSp>
      <p:pic>
        <p:nvPicPr>
          <p:cNvPr id="13" name="Picture 12" descr="Two people playing video games&#10;&#10;Description automatically generated">
            <a:extLst>
              <a:ext uri="{FF2B5EF4-FFF2-40B4-BE49-F238E27FC236}">
                <a16:creationId xmlns:a16="http://schemas.microsoft.com/office/drawing/2014/main" id="{CD98ED4C-C013-4C55-B5F2-59F9DD5F3E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35249" y="0"/>
            <a:ext cx="4100173" cy="4786743"/>
          </a:xfrm>
          <a:prstGeom prst="rect">
            <a:avLst/>
          </a:prstGeom>
        </p:spPr>
      </p:pic>
    </p:spTree>
    <p:extLst>
      <p:ext uri="{BB962C8B-B14F-4D97-AF65-F5344CB8AC3E}">
        <p14:creationId xmlns:p14="http://schemas.microsoft.com/office/powerpoint/2010/main" val="6084611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97339ED5-DF57-CCF2-2FD1-B58DA0FC15A8}"/>
              </a:ext>
            </a:extLst>
          </p:cNvPr>
          <p:cNvGraphicFramePr>
            <a:graphicFrameLocks noGrp="1"/>
          </p:cNvGraphicFramePr>
          <p:nvPr>
            <p:ph idx="1"/>
            <p:extLst>
              <p:ext uri="{D42A27DB-BD31-4B8C-83A1-F6EECF244321}">
                <p14:modId xmlns:p14="http://schemas.microsoft.com/office/powerpoint/2010/main" val="2200680432"/>
              </p:ext>
            </p:extLst>
          </p:nvPr>
        </p:nvGraphicFramePr>
        <p:xfrm>
          <a:off x="230736" y="755766"/>
          <a:ext cx="8913264" cy="4006734"/>
        </p:xfrm>
        <a:graphic>
          <a:graphicData uri="http://schemas.openxmlformats.org/drawingml/2006/table">
            <a:tbl>
              <a:tblPr firstRow="1" bandRow="1">
                <a:tableStyleId>{5C22544A-7EE6-4342-B048-85BDC9FD1C3A}</a:tableStyleId>
              </a:tblPr>
              <a:tblGrid>
                <a:gridCol w="2547504">
                  <a:extLst>
                    <a:ext uri="{9D8B030D-6E8A-4147-A177-3AD203B41FA5}">
                      <a16:colId xmlns:a16="http://schemas.microsoft.com/office/drawing/2014/main" val="2929707245"/>
                    </a:ext>
                  </a:extLst>
                </a:gridCol>
                <a:gridCol w="6365760">
                  <a:extLst>
                    <a:ext uri="{9D8B030D-6E8A-4147-A177-3AD203B41FA5}">
                      <a16:colId xmlns:a16="http://schemas.microsoft.com/office/drawing/2014/main" val="1596906477"/>
                    </a:ext>
                  </a:extLst>
                </a:gridCol>
              </a:tblGrid>
              <a:tr h="324059">
                <a:tc>
                  <a:txBody>
                    <a:bodyPr/>
                    <a:lstStyle/>
                    <a:p>
                      <a:pPr algn="ctr"/>
                      <a:r>
                        <a:rPr lang="en-US" sz="1400" b="1">
                          <a:solidFill>
                            <a:schemeClr val="bg1"/>
                          </a:solidFill>
                          <a:latin typeface="Arial Body"/>
                        </a:rPr>
                        <a:t>Impact</a:t>
                      </a:r>
                    </a:p>
                  </a:txBody>
                  <a:tcPr marL="68580" marR="68580" marT="34290" marB="34290"/>
                </a:tc>
                <a:tc>
                  <a:txBody>
                    <a:bodyPr/>
                    <a:lstStyle/>
                    <a:p>
                      <a:pPr algn="ctr"/>
                      <a:r>
                        <a:rPr lang="en-US" sz="1400" b="1">
                          <a:solidFill>
                            <a:schemeClr val="bg1"/>
                          </a:solidFill>
                          <a:latin typeface="Arial Body"/>
                        </a:rPr>
                        <a:t>Output</a:t>
                      </a:r>
                    </a:p>
                  </a:txBody>
                  <a:tcPr marL="68580" marR="68580" marT="34290" marB="34290"/>
                </a:tc>
                <a:extLst>
                  <a:ext uri="{0D108BD9-81ED-4DB2-BD59-A6C34878D82A}">
                    <a16:rowId xmlns:a16="http://schemas.microsoft.com/office/drawing/2014/main" val="4083075912"/>
                  </a:ext>
                </a:extLst>
              </a:tr>
              <a:tr h="522786">
                <a:tc>
                  <a:txBody>
                    <a:bodyPr/>
                    <a:lstStyle/>
                    <a:p>
                      <a:pPr marL="0" indent="0" algn="l" defTabSz="914400" rtl="0" eaLnBrk="1" latinLnBrk="0" hangingPunct="1">
                        <a:buFontTx/>
                        <a:buNone/>
                      </a:pPr>
                      <a:r>
                        <a:rPr lang="en-US" sz="1200" b="1" kern="1200">
                          <a:solidFill>
                            <a:schemeClr val="tx2"/>
                          </a:solidFill>
                          <a:latin typeface="Arial Body"/>
                          <a:ea typeface="+mn-ea"/>
                          <a:cs typeface="+mn-cs"/>
                        </a:rPr>
                        <a:t>Launch Date</a:t>
                      </a:r>
                    </a:p>
                  </a:txBody>
                  <a:tcPr marL="68580" marR="68580" marT="34290" marB="34290"/>
                </a:tc>
                <a:tc>
                  <a:txBody>
                    <a:bodyPr/>
                    <a:lstStyle/>
                    <a:p>
                      <a:pPr marL="285750" indent="-285750" algn="l" defTabSz="914400" rtl="0" eaLnBrk="1" latinLnBrk="0" hangingPunct="1">
                        <a:buFont typeface="Arial" panose="020B0604020202020204" pitchFamily="34" charset="0"/>
                        <a:buChar char="•"/>
                      </a:pPr>
                      <a:r>
                        <a:rPr lang="en-US" sz="1200" kern="1200" dirty="0">
                          <a:solidFill>
                            <a:schemeClr val="tx2"/>
                          </a:solidFill>
                          <a:latin typeface="Arial Body"/>
                          <a:ea typeface="+mn-ea"/>
                          <a:cs typeface="+mn-cs"/>
                        </a:rPr>
                        <a:t>Launching </a:t>
                      </a:r>
                      <a:r>
                        <a:rPr lang="en-US" sz="1200" b="1" kern="1200" dirty="0">
                          <a:solidFill>
                            <a:schemeClr val="tx2"/>
                          </a:solidFill>
                          <a:latin typeface="Arial Body"/>
                          <a:ea typeface="+mn-ea"/>
                          <a:cs typeface="+mn-cs"/>
                        </a:rPr>
                        <a:t>4/1/2027 Quote Ready </a:t>
                      </a:r>
                      <a:r>
                        <a:rPr lang="en-US" sz="1200" kern="1200" dirty="0">
                          <a:solidFill>
                            <a:schemeClr val="tx2"/>
                          </a:solidFill>
                          <a:latin typeface="Arial Body"/>
                          <a:ea typeface="+mn-ea"/>
                          <a:cs typeface="+mn-cs"/>
                        </a:rPr>
                        <a:t>for </a:t>
                      </a:r>
                      <a:r>
                        <a:rPr lang="en-US" sz="1200" b="1" kern="1200" dirty="0">
                          <a:solidFill>
                            <a:schemeClr val="tx2"/>
                          </a:solidFill>
                          <a:latin typeface="Arial Body"/>
                          <a:ea typeface="+mn-ea"/>
                          <a:cs typeface="+mn-cs"/>
                        </a:rPr>
                        <a:t>7/1/2027 Case Effective - New Business</a:t>
                      </a:r>
                    </a:p>
                  </a:txBody>
                  <a:tcPr marL="68580" marR="68580" marT="34290" marB="34290"/>
                </a:tc>
                <a:extLst>
                  <a:ext uri="{0D108BD9-81ED-4DB2-BD59-A6C34878D82A}">
                    <a16:rowId xmlns:a16="http://schemas.microsoft.com/office/drawing/2014/main" val="1078615714"/>
                  </a:ext>
                </a:extLst>
              </a:tr>
              <a:tr h="747986">
                <a:tc>
                  <a:txBody>
                    <a:bodyPr/>
                    <a:lstStyle/>
                    <a:p>
                      <a:pPr marL="0" indent="0" algn="l" defTabSz="914400" rtl="0" eaLnBrk="1" latinLnBrk="0" hangingPunct="1">
                        <a:buFontTx/>
                        <a:buNone/>
                      </a:pPr>
                      <a:r>
                        <a:rPr lang="en-US" sz="1200" b="1" kern="1200">
                          <a:solidFill>
                            <a:schemeClr val="tx2"/>
                          </a:solidFill>
                          <a:latin typeface="Arial Body"/>
                          <a:ea typeface="+mn-ea"/>
                          <a:cs typeface="+mn-cs"/>
                        </a:rPr>
                        <a:t>Business Partners / Business Capabilities</a:t>
                      </a:r>
                    </a:p>
                  </a:txBody>
                  <a:tcPr marL="68580" marR="68580" marT="34290" marB="34290"/>
                </a:tc>
                <a:tc>
                  <a:txBody>
                    <a:bodyPr/>
                    <a:lstStyle/>
                    <a:p>
                      <a:pPr marL="285750" indent="-285750" algn="l" defTabSz="914400" rtl="0" eaLnBrk="1" latinLnBrk="0" hangingPunct="1">
                        <a:buFont typeface="Arial" panose="020B0604020202020204" pitchFamily="34" charset="0"/>
                        <a:buChar char="•"/>
                      </a:pPr>
                      <a:r>
                        <a:rPr lang="en-US" sz="1200" kern="1200">
                          <a:solidFill>
                            <a:schemeClr val="tx2"/>
                          </a:solidFill>
                          <a:latin typeface="Arial Body"/>
                          <a:ea typeface="+mn-ea"/>
                          <a:cs typeface="+mn-cs"/>
                        </a:rPr>
                        <a:t>Sales, UW, Case Install, Supplemental Health, Marketing, Customer Service, Billing, Comp/Commissions, Member Enrollment, Fulfillment, Finance, Reporting, and Portals </a:t>
                      </a:r>
                    </a:p>
                  </a:txBody>
                  <a:tcPr marL="68580" marR="68580" marT="34290" marB="34290"/>
                </a:tc>
                <a:extLst>
                  <a:ext uri="{0D108BD9-81ED-4DB2-BD59-A6C34878D82A}">
                    <a16:rowId xmlns:a16="http://schemas.microsoft.com/office/drawing/2014/main" val="105231063"/>
                  </a:ext>
                </a:extLst>
              </a:tr>
              <a:tr h="1198385">
                <a:tc>
                  <a:txBody>
                    <a:bodyPr/>
                    <a:lstStyle/>
                    <a:p>
                      <a:pPr marL="0" indent="0" algn="l" defTabSz="914400" rtl="0" eaLnBrk="1" latinLnBrk="0" hangingPunct="1">
                        <a:buFontTx/>
                        <a:buNone/>
                      </a:pPr>
                      <a:r>
                        <a:rPr lang="en-US" sz="1200" b="1" kern="1200" dirty="0">
                          <a:solidFill>
                            <a:schemeClr val="tx2"/>
                          </a:solidFill>
                          <a:latin typeface="Arial Body"/>
                          <a:ea typeface="+mn-ea"/>
                          <a:cs typeface="+mn-cs"/>
                        </a:rPr>
                        <a:t>Funding Type and Line of Business </a:t>
                      </a:r>
                    </a:p>
                  </a:txBody>
                  <a:tcPr marL="68580" marR="68580" marT="34290" marB="34290"/>
                </a:tc>
                <a:tc>
                  <a:txBody>
                    <a:bodyPr/>
                    <a:lstStyle/>
                    <a:p>
                      <a:pPr marL="285750" indent="-285750" algn="l" defTabSz="914400" rtl="0" eaLnBrk="1" latinLnBrk="0" hangingPunct="1">
                        <a:buFont typeface="Arial" panose="020B0604020202020204" pitchFamily="34" charset="0"/>
                        <a:buChar char="•"/>
                      </a:pPr>
                      <a:r>
                        <a:rPr lang="en-US" sz="1200" b="1" kern="1200" dirty="0">
                          <a:solidFill>
                            <a:schemeClr val="tx2"/>
                          </a:solidFill>
                          <a:latin typeface="Arial Body"/>
                          <a:ea typeface="+mn-ea"/>
                          <a:cs typeface="+mn-cs"/>
                        </a:rPr>
                        <a:t>Funding Type/LOB: </a:t>
                      </a:r>
                      <a:r>
                        <a:rPr lang="en-US" sz="1200" kern="1200" dirty="0">
                          <a:solidFill>
                            <a:schemeClr val="tx2"/>
                          </a:solidFill>
                          <a:latin typeface="Arial Body"/>
                          <a:ea typeface="+mn-ea"/>
                          <a:cs typeface="+mn-cs"/>
                        </a:rPr>
                        <a:t>FI, LG 51-99</a:t>
                      </a:r>
                    </a:p>
                    <a:p>
                      <a:pPr marL="285750" indent="-285750" algn="l" defTabSz="914400" rtl="0" eaLnBrk="1" latinLnBrk="0" hangingPunct="1">
                        <a:buFont typeface="Arial" panose="020B0604020202020204" pitchFamily="34" charset="0"/>
                        <a:buChar char="•"/>
                      </a:pPr>
                      <a:r>
                        <a:rPr lang="en-US" sz="1200" b="1" kern="1200" dirty="0">
                          <a:solidFill>
                            <a:schemeClr val="tx2"/>
                          </a:solidFill>
                          <a:latin typeface="Arial Body"/>
                          <a:ea typeface="+mn-ea"/>
                          <a:cs typeface="+mn-cs"/>
                        </a:rPr>
                        <a:t>Plans: </a:t>
                      </a:r>
                      <a:r>
                        <a:rPr lang="en-US" sz="1200" kern="1200" dirty="0">
                          <a:solidFill>
                            <a:schemeClr val="tx2"/>
                          </a:solidFill>
                          <a:latin typeface="Arial Body"/>
                          <a:ea typeface="+mn-ea"/>
                          <a:cs typeface="+mn-cs"/>
                        </a:rPr>
                        <a:t>Includes UHC, and Oxford </a:t>
                      </a:r>
                    </a:p>
                    <a:p>
                      <a:pPr marL="285750" indent="-285750" algn="l" defTabSz="914400" rtl="0" eaLnBrk="1" latinLnBrk="0" hangingPunct="1">
                        <a:buFont typeface="Arial" panose="020B0604020202020204" pitchFamily="34" charset="0"/>
                        <a:buChar char="•"/>
                      </a:pPr>
                      <a:r>
                        <a:rPr lang="en-US" sz="1200" b="1" kern="1200" dirty="0">
                          <a:solidFill>
                            <a:schemeClr val="tx2"/>
                          </a:solidFill>
                          <a:latin typeface="Arial Body"/>
                          <a:ea typeface="+mn-ea"/>
                          <a:cs typeface="+mn-cs"/>
                        </a:rPr>
                        <a:t>Markets Excluded: </a:t>
                      </a:r>
                      <a:r>
                        <a:rPr lang="en-US" sz="1200" kern="1200" dirty="0">
                          <a:solidFill>
                            <a:schemeClr val="tx2"/>
                          </a:solidFill>
                          <a:latin typeface="Arial Body"/>
                          <a:ea typeface="+mn-ea"/>
                          <a:cs typeface="+mn-cs"/>
                        </a:rPr>
                        <a:t>CT, VT, NM, CA, NY</a:t>
                      </a:r>
                    </a:p>
                    <a:p>
                      <a:pPr marL="285750" indent="-285750" algn="l" defTabSz="914400" rtl="0" eaLnBrk="1" latinLnBrk="0" hangingPunct="1">
                        <a:buFont typeface="Arial" panose="020B0604020202020204" pitchFamily="34" charset="0"/>
                        <a:buChar char="•"/>
                      </a:pPr>
                      <a:r>
                        <a:rPr lang="en-US" sz="1200" b="1" kern="1200" dirty="0">
                          <a:solidFill>
                            <a:schemeClr val="tx2"/>
                          </a:solidFill>
                          <a:latin typeface="Arial Body"/>
                          <a:ea typeface="+mn-ea"/>
                          <a:cs typeface="+mn-cs"/>
                        </a:rPr>
                        <a:t>Plans Excluded: </a:t>
                      </a:r>
                      <a:r>
                        <a:rPr lang="en-US" sz="1200" kern="1200" dirty="0">
                          <a:solidFill>
                            <a:schemeClr val="tx2"/>
                          </a:solidFill>
                          <a:latin typeface="Arial Body"/>
                          <a:ea typeface="+mn-ea"/>
                          <a:cs typeface="+mn-cs"/>
                        </a:rPr>
                        <a:t>NICE, Level Funded, Sierra, UMR, Grandfathered plans, Transitional Groups and Surest. ( note: Cannabis Groups are included and can be offered BA)</a:t>
                      </a:r>
                    </a:p>
                  </a:txBody>
                  <a:tcPr marL="68580" marR="68580" marT="34290" marB="34290"/>
                </a:tc>
                <a:extLst>
                  <a:ext uri="{0D108BD9-81ED-4DB2-BD59-A6C34878D82A}">
                    <a16:rowId xmlns:a16="http://schemas.microsoft.com/office/drawing/2014/main" val="1794109032"/>
                  </a:ext>
                </a:extLst>
              </a:tr>
              <a:tr h="320760">
                <a:tc>
                  <a:txBody>
                    <a:bodyPr/>
                    <a:lstStyle/>
                    <a:p>
                      <a:pPr marL="0" indent="0" algn="l" defTabSz="914400" rtl="0" eaLnBrk="1" latinLnBrk="0" hangingPunct="1">
                        <a:buFontTx/>
                        <a:buNone/>
                      </a:pPr>
                      <a:r>
                        <a:rPr lang="en-US" sz="1200" b="1" kern="1200">
                          <a:solidFill>
                            <a:schemeClr val="tx2"/>
                          </a:solidFill>
                          <a:latin typeface="Arial Body"/>
                          <a:ea typeface="+mn-ea"/>
                          <a:cs typeface="+mn-cs"/>
                        </a:rPr>
                        <a:t>Medical Products/Network</a:t>
                      </a:r>
                    </a:p>
                  </a:txBody>
                  <a:tcPr marL="68580" marR="68580" marT="34290" marB="34290"/>
                </a:tc>
                <a:tc>
                  <a:txBody>
                    <a:bodyPr/>
                    <a:lstStyle/>
                    <a:p>
                      <a:pPr marL="285750" indent="-285750" algn="l" defTabSz="914400" rtl="0" eaLnBrk="1" latinLnBrk="0" hangingPunct="1">
                        <a:buFont typeface="Arial" panose="020B0604020202020204" pitchFamily="34" charset="0"/>
                        <a:buChar char="•"/>
                      </a:pPr>
                      <a:r>
                        <a:rPr lang="en-US" sz="1200" kern="1200">
                          <a:solidFill>
                            <a:schemeClr val="tx2"/>
                          </a:solidFill>
                          <a:latin typeface="Arial Body"/>
                          <a:ea typeface="+mn-ea"/>
                          <a:cs typeface="+mn-cs"/>
                        </a:rPr>
                        <a:t>All UHC/Oxford</a:t>
                      </a:r>
                      <a:r>
                        <a:rPr lang="en-US" sz="1200" strike="noStrike" kern="1200" baseline="0">
                          <a:solidFill>
                            <a:schemeClr val="tx2"/>
                          </a:solidFill>
                          <a:latin typeface="Arial Body"/>
                          <a:ea typeface="+mn-ea"/>
                          <a:cs typeface="+mn-cs"/>
                        </a:rPr>
                        <a:t> </a:t>
                      </a:r>
                      <a:r>
                        <a:rPr lang="en-US" sz="1200" kern="1200">
                          <a:solidFill>
                            <a:schemeClr val="tx2"/>
                          </a:solidFill>
                          <a:latin typeface="Arial Body"/>
                          <a:ea typeface="+mn-ea"/>
                          <a:cs typeface="+mn-cs"/>
                        </a:rPr>
                        <a:t>FI 51-99 </a:t>
                      </a:r>
                    </a:p>
                  </a:txBody>
                  <a:tcPr marL="68580" marR="68580" marT="34290" marB="34290"/>
                </a:tc>
                <a:extLst>
                  <a:ext uri="{0D108BD9-81ED-4DB2-BD59-A6C34878D82A}">
                    <a16:rowId xmlns:a16="http://schemas.microsoft.com/office/drawing/2014/main" val="504249240"/>
                  </a:ext>
                </a:extLst>
              </a:tr>
              <a:tr h="297586">
                <a:tc>
                  <a:txBody>
                    <a:bodyPr/>
                    <a:lstStyle/>
                    <a:p>
                      <a:pPr marL="0" indent="0" algn="l" defTabSz="914400" rtl="0" eaLnBrk="1" latinLnBrk="0" hangingPunct="1">
                        <a:buFontTx/>
                        <a:buNone/>
                      </a:pPr>
                      <a:r>
                        <a:rPr lang="en-US" sz="1200" b="1" kern="1200">
                          <a:solidFill>
                            <a:schemeClr val="tx2"/>
                          </a:solidFill>
                          <a:latin typeface="Arial Body"/>
                          <a:ea typeface="+mn-ea"/>
                          <a:cs typeface="+mn-cs"/>
                        </a:rPr>
                        <a:t>Platform</a:t>
                      </a:r>
                    </a:p>
                  </a:txBody>
                  <a:tcPr marL="68580" marR="68580" marT="34290" marB="34290"/>
                </a:tc>
                <a:tc>
                  <a:txBody>
                    <a:bodyPr/>
                    <a:lstStyle/>
                    <a:p>
                      <a:pPr marL="285750" indent="-285750" algn="l" defTabSz="914400" rtl="0" eaLnBrk="1" latinLnBrk="0" hangingPunct="1">
                        <a:buFont typeface="Arial" panose="020B0604020202020204" pitchFamily="34" charset="0"/>
                        <a:buChar char="•"/>
                      </a:pPr>
                      <a:r>
                        <a:rPr lang="en-US" sz="1200" kern="1200">
                          <a:solidFill>
                            <a:schemeClr val="tx2"/>
                          </a:solidFill>
                          <a:latin typeface="Arial Body"/>
                          <a:ea typeface="+mn-ea"/>
                          <a:cs typeface="+mn-cs"/>
                        </a:rPr>
                        <a:t>USP </a:t>
                      </a:r>
                    </a:p>
                  </a:txBody>
                  <a:tcPr marL="68580" marR="68580" marT="34290" marB="34290"/>
                </a:tc>
                <a:extLst>
                  <a:ext uri="{0D108BD9-81ED-4DB2-BD59-A6C34878D82A}">
                    <a16:rowId xmlns:a16="http://schemas.microsoft.com/office/drawing/2014/main" val="2790739481"/>
                  </a:ext>
                </a:extLst>
              </a:tr>
              <a:tr h="297586">
                <a:tc>
                  <a:txBody>
                    <a:bodyPr/>
                    <a:lstStyle/>
                    <a:p>
                      <a:pPr marL="0" indent="0" algn="l" defTabSz="914400" rtl="0" eaLnBrk="1" latinLnBrk="0" hangingPunct="1">
                        <a:buFontTx/>
                        <a:buNone/>
                      </a:pPr>
                      <a:r>
                        <a:rPr lang="en-US" sz="1200" b="1" kern="1200">
                          <a:solidFill>
                            <a:schemeClr val="tx2"/>
                          </a:solidFill>
                          <a:latin typeface="Arial Body"/>
                          <a:ea typeface="+mn-ea"/>
                          <a:cs typeface="+mn-cs"/>
                        </a:rPr>
                        <a:t>MVP Markets</a:t>
                      </a:r>
                    </a:p>
                  </a:txBody>
                  <a:tcPr marL="68580" marR="68580" marT="34290" marB="34290"/>
                </a:tc>
                <a:tc>
                  <a:txBody>
                    <a:bodyPr/>
                    <a:lstStyle/>
                    <a:p>
                      <a:pPr marL="285750" indent="-285750" algn="l" defTabSz="914400" rtl="0" eaLnBrk="1" latinLnBrk="0" hangingPunct="1">
                        <a:buFont typeface="Arial" panose="020B0604020202020204" pitchFamily="34" charset="0"/>
                        <a:buChar char="•"/>
                      </a:pPr>
                      <a:r>
                        <a:rPr lang="en-US" sz="1200" kern="1200">
                          <a:solidFill>
                            <a:schemeClr val="tx2"/>
                          </a:solidFill>
                          <a:latin typeface="Arial Body"/>
                          <a:ea typeface="+mn-ea"/>
                          <a:cs typeface="+mn-cs"/>
                        </a:rPr>
                        <a:t>All Except NM, CT, VT, CA, NY</a:t>
                      </a:r>
                    </a:p>
                  </a:txBody>
                  <a:tcPr marL="68580" marR="68580" marT="34290" marB="34290"/>
                </a:tc>
                <a:extLst>
                  <a:ext uri="{0D108BD9-81ED-4DB2-BD59-A6C34878D82A}">
                    <a16:rowId xmlns:a16="http://schemas.microsoft.com/office/drawing/2014/main" val="3629273745"/>
                  </a:ext>
                </a:extLst>
              </a:tr>
              <a:tr h="297586">
                <a:tc>
                  <a:txBody>
                    <a:bodyPr/>
                    <a:lstStyle/>
                    <a:p>
                      <a:pPr marL="0" indent="0" algn="l" defTabSz="914400" rtl="0" eaLnBrk="1" latinLnBrk="0" hangingPunct="1">
                        <a:buFontTx/>
                        <a:buNone/>
                      </a:pPr>
                      <a:r>
                        <a:rPr lang="en-US" sz="1200" b="1" kern="1200">
                          <a:solidFill>
                            <a:schemeClr val="tx2"/>
                          </a:solidFill>
                          <a:latin typeface="Arial Body"/>
                          <a:ea typeface="+mn-ea"/>
                          <a:cs typeface="+mn-cs"/>
                        </a:rPr>
                        <a:t>Membership</a:t>
                      </a:r>
                    </a:p>
                  </a:txBody>
                  <a:tcPr marL="68580" marR="68580" marT="34290" marB="34290"/>
                </a:tc>
                <a:tc>
                  <a:txBody>
                    <a:bodyPr/>
                    <a:lstStyle/>
                    <a:p>
                      <a:pPr marL="285750" indent="-285750" algn="l" defTabSz="914400" rtl="0" eaLnBrk="1" latinLnBrk="0" hangingPunct="1">
                        <a:buFont typeface="Arial" panose="020B0604020202020204" pitchFamily="34" charset="0"/>
                        <a:buChar char="•"/>
                      </a:pPr>
                      <a:r>
                        <a:rPr lang="en-US" sz="1200" kern="1200" dirty="0">
                          <a:solidFill>
                            <a:schemeClr val="tx2"/>
                          </a:solidFill>
                          <a:latin typeface="Arial Body"/>
                          <a:ea typeface="+mn-ea"/>
                          <a:cs typeface="+mn-cs"/>
                        </a:rPr>
                        <a:t>20K+ </a:t>
                      </a:r>
                    </a:p>
                  </a:txBody>
                  <a:tcPr marL="68580" marR="68580" marT="34290" marB="34290"/>
                </a:tc>
                <a:extLst>
                  <a:ext uri="{0D108BD9-81ED-4DB2-BD59-A6C34878D82A}">
                    <a16:rowId xmlns:a16="http://schemas.microsoft.com/office/drawing/2014/main" val="4177842453"/>
                  </a:ext>
                </a:extLst>
              </a:tr>
            </a:tbl>
          </a:graphicData>
        </a:graphic>
      </p:graphicFrame>
      <p:sp>
        <p:nvSpPr>
          <p:cNvPr id="3" name="Title 2">
            <a:extLst>
              <a:ext uri="{FF2B5EF4-FFF2-40B4-BE49-F238E27FC236}">
                <a16:creationId xmlns:a16="http://schemas.microsoft.com/office/drawing/2014/main" id="{79339E5E-8789-75E7-EE61-9A4E1BEAF7C9}"/>
              </a:ext>
            </a:extLst>
          </p:cNvPr>
          <p:cNvSpPr>
            <a:spLocks noGrp="1"/>
          </p:cNvSpPr>
          <p:nvPr>
            <p:ph type="title"/>
          </p:nvPr>
        </p:nvSpPr>
        <p:spPr>
          <a:xfrm>
            <a:off x="230736" y="106309"/>
            <a:ext cx="7260336" cy="549381"/>
          </a:xfrm>
        </p:spPr>
        <p:txBody>
          <a:bodyPr>
            <a:normAutofit/>
          </a:bodyPr>
          <a:lstStyle/>
          <a:p>
            <a:r>
              <a:rPr lang="en-US"/>
              <a:t>Benefit Ally LG 51-99 Market Expansion - Scope </a:t>
            </a:r>
          </a:p>
        </p:txBody>
      </p:sp>
    </p:spTree>
    <p:extLst>
      <p:ext uri="{BB962C8B-B14F-4D97-AF65-F5344CB8AC3E}">
        <p14:creationId xmlns:p14="http://schemas.microsoft.com/office/powerpoint/2010/main" val="11942046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F91371-BE32-EA34-1421-D244813B93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795589-457C-34EE-054E-852ACD351E01}"/>
              </a:ext>
            </a:extLst>
          </p:cNvPr>
          <p:cNvSpPr>
            <a:spLocks noGrp="1"/>
          </p:cNvSpPr>
          <p:nvPr>
            <p:ph type="title"/>
          </p:nvPr>
        </p:nvSpPr>
        <p:spPr>
          <a:xfrm>
            <a:off x="226814" y="64116"/>
            <a:ext cx="7260336" cy="549381"/>
          </a:xfrm>
        </p:spPr>
        <p:txBody>
          <a:bodyPr>
            <a:normAutofit fontScale="90000"/>
          </a:bodyPr>
          <a:lstStyle/>
          <a:p>
            <a:r>
              <a:rPr lang="en-US"/>
              <a:t>Capability Overview – Phase 1 &amp; 2</a:t>
            </a:r>
            <a:br>
              <a:rPr lang="en-US"/>
            </a:br>
            <a:r>
              <a:rPr lang="en-US" sz="1800"/>
              <a:t>(High Level requirements for FI 51-99)</a:t>
            </a:r>
          </a:p>
        </p:txBody>
      </p:sp>
      <p:graphicFrame>
        <p:nvGraphicFramePr>
          <p:cNvPr id="8" name="Table 7">
            <a:extLst>
              <a:ext uri="{FF2B5EF4-FFF2-40B4-BE49-F238E27FC236}">
                <a16:creationId xmlns:a16="http://schemas.microsoft.com/office/drawing/2014/main" id="{D65297C7-D01D-9351-4469-D124B89815E5}"/>
              </a:ext>
            </a:extLst>
          </p:cNvPr>
          <p:cNvGraphicFramePr>
            <a:graphicFrameLocks noGrp="1"/>
          </p:cNvGraphicFramePr>
          <p:nvPr>
            <p:extLst>
              <p:ext uri="{D42A27DB-BD31-4B8C-83A1-F6EECF244321}">
                <p14:modId xmlns:p14="http://schemas.microsoft.com/office/powerpoint/2010/main" val="1530691094"/>
              </p:ext>
            </p:extLst>
          </p:nvPr>
        </p:nvGraphicFramePr>
        <p:xfrm>
          <a:off x="204244" y="920576"/>
          <a:ext cx="8690373" cy="3762310"/>
        </p:xfrm>
        <a:graphic>
          <a:graphicData uri="http://schemas.openxmlformats.org/drawingml/2006/table">
            <a:tbl>
              <a:tblPr/>
              <a:tblGrid>
                <a:gridCol w="1487686">
                  <a:extLst>
                    <a:ext uri="{9D8B030D-6E8A-4147-A177-3AD203B41FA5}">
                      <a16:colId xmlns:a16="http://schemas.microsoft.com/office/drawing/2014/main" val="1962179033"/>
                    </a:ext>
                  </a:extLst>
                </a:gridCol>
                <a:gridCol w="4336166">
                  <a:extLst>
                    <a:ext uri="{9D8B030D-6E8A-4147-A177-3AD203B41FA5}">
                      <a16:colId xmlns:a16="http://schemas.microsoft.com/office/drawing/2014/main" val="130540882"/>
                    </a:ext>
                  </a:extLst>
                </a:gridCol>
                <a:gridCol w="1343116">
                  <a:extLst>
                    <a:ext uri="{9D8B030D-6E8A-4147-A177-3AD203B41FA5}">
                      <a16:colId xmlns:a16="http://schemas.microsoft.com/office/drawing/2014/main" val="751610378"/>
                    </a:ext>
                  </a:extLst>
                </a:gridCol>
                <a:gridCol w="592751">
                  <a:extLst>
                    <a:ext uri="{9D8B030D-6E8A-4147-A177-3AD203B41FA5}">
                      <a16:colId xmlns:a16="http://schemas.microsoft.com/office/drawing/2014/main" val="2701245817"/>
                    </a:ext>
                  </a:extLst>
                </a:gridCol>
                <a:gridCol w="930654">
                  <a:extLst>
                    <a:ext uri="{9D8B030D-6E8A-4147-A177-3AD203B41FA5}">
                      <a16:colId xmlns:a16="http://schemas.microsoft.com/office/drawing/2014/main" val="1145494209"/>
                    </a:ext>
                  </a:extLst>
                </a:gridCol>
              </a:tblGrid>
              <a:tr h="147530">
                <a:tc>
                  <a:txBody>
                    <a:bodyPr/>
                    <a:lstStyle/>
                    <a:p>
                      <a:pPr algn="ctr" fontAlgn="b"/>
                      <a:r>
                        <a:rPr lang="en-US" sz="800" b="1" i="0" u="none" strike="noStrike">
                          <a:solidFill>
                            <a:srgbClr val="FFFFFF"/>
                          </a:solidFill>
                          <a:effectLst/>
                          <a:latin typeface="Calibri" panose="020F0502020204030204" pitchFamily="34" charset="0"/>
                        </a:rPr>
                        <a:t>Name</a:t>
                      </a:r>
                    </a:p>
                  </a:txBody>
                  <a:tcPr marL="725" marR="725" marT="7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en-US" sz="800" b="1" i="0" u="none" strike="noStrike">
                          <a:solidFill>
                            <a:srgbClr val="FFFFFF"/>
                          </a:solidFill>
                          <a:effectLst/>
                          <a:latin typeface="Calibri" panose="020F0502020204030204" pitchFamily="34" charset="0"/>
                        </a:rPr>
                        <a:t>Functionality Required</a:t>
                      </a:r>
                    </a:p>
                  </a:txBody>
                  <a:tcPr marL="725" marR="725" marT="7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en-US" sz="800" b="1" i="0" u="none" strike="noStrike">
                          <a:solidFill>
                            <a:srgbClr val="FFFFFF"/>
                          </a:solidFill>
                          <a:effectLst/>
                          <a:latin typeface="Calibri" panose="020F0502020204030204" pitchFamily="34" charset="0"/>
                        </a:rPr>
                        <a:t>In Scope</a:t>
                      </a:r>
                    </a:p>
                  </a:txBody>
                  <a:tcPr marL="725" marR="725" marT="7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en-US" sz="800" b="1" i="0" u="none" strike="noStrike">
                          <a:solidFill>
                            <a:srgbClr val="FFFFFF"/>
                          </a:solidFill>
                          <a:effectLst/>
                          <a:latin typeface="Calibri" panose="020F0502020204030204" pitchFamily="34" charset="0"/>
                        </a:rPr>
                        <a:t>Out of Scope</a:t>
                      </a:r>
                    </a:p>
                  </a:txBody>
                  <a:tcPr marL="725" marR="725" marT="7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en-US" sz="800" b="1" i="0" u="none" strike="noStrike">
                          <a:solidFill>
                            <a:srgbClr val="FFFFFF"/>
                          </a:solidFill>
                          <a:effectLst/>
                          <a:latin typeface="Calibri" panose="020F0502020204030204" pitchFamily="34" charset="0"/>
                        </a:rPr>
                        <a:t>Team</a:t>
                      </a:r>
                    </a:p>
                  </a:txBody>
                  <a:tcPr marL="725" marR="725" marT="7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1836913942"/>
                  </a:ext>
                </a:extLst>
              </a:tr>
              <a:tr h="629375">
                <a:tc>
                  <a:txBody>
                    <a:bodyPr/>
                    <a:lstStyle/>
                    <a:p>
                      <a:pPr algn="ctr" fontAlgn="t"/>
                      <a:endParaRPr lang="en-US" sz="800" b="1" i="0" u="none" strike="noStrike">
                        <a:solidFill>
                          <a:srgbClr val="000000"/>
                        </a:solidFill>
                        <a:effectLst/>
                        <a:latin typeface="Calibri" panose="020F0502020204030204" pitchFamily="34" charset="0"/>
                      </a:endParaRPr>
                    </a:p>
                    <a:p>
                      <a:pPr algn="ctr" fontAlgn="t"/>
                      <a:r>
                        <a:rPr lang="en-US" sz="1000" b="1" i="0" u="none" strike="noStrike">
                          <a:solidFill>
                            <a:srgbClr val="000000"/>
                          </a:solidFill>
                          <a:effectLst/>
                          <a:latin typeface="Calibri" panose="020F0502020204030204" pitchFamily="34" charset="0"/>
                        </a:rPr>
                        <a:t>Oxford Quoting </a:t>
                      </a:r>
                      <a:r>
                        <a:rPr lang="en-US" sz="1000" b="1" i="0" u="none" strike="noStrike">
                          <a:solidFill>
                            <a:srgbClr val="000000"/>
                          </a:solidFill>
                          <a:effectLst/>
                          <a:highlight>
                            <a:srgbClr val="FFFF00"/>
                          </a:highlight>
                          <a:latin typeface="Calibri" panose="020F0502020204030204" pitchFamily="34" charset="0"/>
                        </a:rPr>
                        <a:t>– Phase 1</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endParaRPr lang="en-US" sz="800" b="0" i="0" u="none" strike="noStrike">
                        <a:solidFill>
                          <a:srgbClr val="000000"/>
                        </a:solidFill>
                        <a:effectLst/>
                        <a:latin typeface="Calibri" panose="020F0502020204030204" pitchFamily="34" charset="0"/>
                      </a:endParaRPr>
                    </a:p>
                    <a:p>
                      <a:pPr algn="l" fontAlgn="t"/>
                      <a:r>
                        <a:rPr lang="en-US" sz="800" b="0" i="0" u="none" strike="noStrike">
                          <a:solidFill>
                            <a:srgbClr val="000000"/>
                          </a:solidFill>
                          <a:effectLst/>
                          <a:latin typeface="Calibri" panose="020F0502020204030204" pitchFamily="34" charset="0"/>
                        </a:rPr>
                        <a:t>Non Newton2 development requirement is to create the ability to quote on all new and existing/renewal business across all pricing tools for Benefit Ally Oxford FI 51-99. Update the (digital?) UAF to include Benefit Ally for Oxford </a:t>
                      </a:r>
                      <a:r>
                        <a:rPr lang="en-US" sz="800" b="1" i="0" u="none" strike="noStrike">
                          <a:solidFill>
                            <a:srgbClr val="000000"/>
                          </a:solidFill>
                          <a:effectLst/>
                          <a:latin typeface="Calibri" panose="020F0502020204030204" pitchFamily="34" charset="0"/>
                        </a:rPr>
                        <a:t>FI 51-99</a:t>
                      </a:r>
                      <a:r>
                        <a:rPr lang="en-US" sz="800" b="0" i="0" u="none" strike="noStrike">
                          <a:solidFill>
                            <a:srgbClr val="000000"/>
                          </a:solidFill>
                          <a:effectLst/>
                          <a:latin typeface="Calibri" panose="020F0502020204030204" pitchFamily="34" charset="0"/>
                        </a:rPr>
                        <a:t>. The three supplemental health rates should be added to the medical premiums. This should follow the EXACT same process for the KA Oxford NJ quote. </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endParaRPr lang="en-US" sz="800" b="0" i="0" u="none" strike="noStrike">
                        <a:solidFill>
                          <a:srgbClr val="000000"/>
                        </a:solidFill>
                        <a:effectLst/>
                        <a:latin typeface="Calibri" panose="020F0502020204030204" pitchFamily="34" charset="0"/>
                      </a:endParaRPr>
                    </a:p>
                    <a:p>
                      <a:pPr algn="ctr" fontAlgn="t"/>
                      <a:r>
                        <a:rPr lang="en-US" sz="800" b="0" i="0" u="none" strike="noStrike">
                          <a:solidFill>
                            <a:srgbClr val="000000"/>
                          </a:solidFill>
                          <a:effectLst/>
                          <a:latin typeface="Calibri" panose="020F0502020204030204" pitchFamily="34" charset="0"/>
                        </a:rPr>
                        <a:t>NJ</a:t>
                      </a:r>
                      <a:br>
                        <a:rPr lang="en-US" sz="800" b="0" i="0" u="none" strike="noStrike">
                          <a:solidFill>
                            <a:srgbClr val="000000"/>
                          </a:solidFill>
                          <a:effectLst/>
                          <a:latin typeface="Calibri" panose="020F0502020204030204" pitchFamily="34" charset="0"/>
                        </a:rPr>
                      </a:br>
                      <a:endParaRPr lang="en-US" sz="800" b="0" i="0" u="none" strike="noStrike">
                        <a:solidFill>
                          <a:srgbClr val="000000"/>
                        </a:solidFill>
                        <a:effectLst/>
                        <a:latin typeface="Calibri" panose="020F0502020204030204" pitchFamily="34" charset="0"/>
                      </a:endParaRP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endParaRPr lang="en-US" sz="800" b="0" i="0" u="none" strike="noStrike">
                        <a:solidFill>
                          <a:srgbClr val="000000"/>
                        </a:solidFill>
                        <a:effectLst/>
                        <a:latin typeface="Calibri" panose="020F0502020204030204" pitchFamily="34" charset="0"/>
                      </a:endParaRPr>
                    </a:p>
                    <a:p>
                      <a:pPr algn="l" fontAlgn="t"/>
                      <a:r>
                        <a:rPr lang="en-US" sz="800" b="0" i="0" u="none" strike="noStrike">
                          <a:solidFill>
                            <a:srgbClr val="000000"/>
                          </a:solidFill>
                          <a:effectLst/>
                          <a:latin typeface="Calibri" panose="020F0502020204030204" pitchFamily="34" charset="0"/>
                        </a:rPr>
                        <a:t>CT and NY</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endParaRPr lang="en-US" sz="800" b="0" i="0" u="none" strike="noStrike">
                        <a:solidFill>
                          <a:srgbClr val="000000"/>
                        </a:solidFill>
                        <a:effectLst/>
                        <a:latin typeface="Calibri" panose="020F0502020204030204" pitchFamily="34" charset="0"/>
                      </a:endParaRPr>
                    </a:p>
                    <a:p>
                      <a:pPr algn="ctr" fontAlgn="t"/>
                      <a:r>
                        <a:rPr lang="en-US" sz="800" b="0" i="0" u="none" strike="noStrike">
                          <a:solidFill>
                            <a:srgbClr val="000000"/>
                          </a:solidFill>
                          <a:effectLst/>
                          <a:latin typeface="Calibri" panose="020F0502020204030204" pitchFamily="34" charset="0"/>
                        </a:rPr>
                        <a:t>Adam Raimondi</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16322408"/>
                  </a:ext>
                </a:extLst>
              </a:tr>
              <a:tr h="880835">
                <a:tc>
                  <a:txBody>
                    <a:bodyPr/>
                    <a:lstStyle/>
                    <a:p>
                      <a:pPr algn="ctr" fontAlgn="t"/>
                      <a:endParaRPr lang="en-US" sz="800" b="1" i="0" u="none" strike="noStrike">
                        <a:solidFill>
                          <a:srgbClr val="000000"/>
                        </a:solidFill>
                        <a:effectLst/>
                        <a:latin typeface="Calibri" panose="020F0502020204030204" pitchFamily="34" charset="0"/>
                      </a:endParaRPr>
                    </a:p>
                    <a:p>
                      <a:pPr algn="ctr" fontAlgn="t"/>
                      <a:r>
                        <a:rPr lang="en-US" sz="1000" b="1" i="0" u="none" strike="noStrike">
                          <a:solidFill>
                            <a:srgbClr val="000000"/>
                          </a:solidFill>
                          <a:effectLst/>
                          <a:latin typeface="Calibri" panose="020F0502020204030204" pitchFamily="34" charset="0"/>
                        </a:rPr>
                        <a:t>UHC Quoting </a:t>
                      </a:r>
                      <a:r>
                        <a:rPr lang="en-US" sz="1000" b="1" i="0" u="none" strike="noStrike">
                          <a:solidFill>
                            <a:srgbClr val="000000"/>
                          </a:solidFill>
                          <a:effectLst/>
                          <a:highlight>
                            <a:srgbClr val="FFFF00"/>
                          </a:highlight>
                          <a:latin typeface="Calibri" panose="020F0502020204030204" pitchFamily="34" charset="0"/>
                        </a:rPr>
                        <a:t>– Phase 1 </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endParaRPr lang="en-US" sz="800" b="0" i="0" u="none" strike="noStrike">
                        <a:solidFill>
                          <a:srgbClr val="000000"/>
                        </a:solidFill>
                        <a:effectLst/>
                        <a:latin typeface="Calibri" panose="020F0502020204030204" pitchFamily="34" charset="0"/>
                      </a:endParaRPr>
                    </a:p>
                    <a:p>
                      <a:pPr algn="l" fontAlgn="t"/>
                      <a:r>
                        <a:rPr lang="en-US" sz="800" b="0" i="0" u="none" strike="noStrike">
                          <a:solidFill>
                            <a:srgbClr val="000000"/>
                          </a:solidFill>
                          <a:effectLst/>
                          <a:latin typeface="Calibri" panose="020F0502020204030204" pitchFamily="34" charset="0"/>
                        </a:rPr>
                        <a:t>Create the ability to quote on all new and existing/renewal business across all pricing tools for Benefit Ally UHC FI 51-99. Update the UAF to include Benefit Ally for UHC FI 51-99. Newton2 business requirements found on Tab 2.</a:t>
                      </a:r>
                      <a:br>
                        <a:rPr lang="en-US" sz="800" b="0" i="0" u="none" strike="noStrike">
                          <a:solidFill>
                            <a:srgbClr val="000000"/>
                          </a:solidFill>
                          <a:effectLst/>
                          <a:latin typeface="Calibri" panose="020F0502020204030204" pitchFamily="34" charset="0"/>
                        </a:rPr>
                      </a:br>
                      <a:br>
                        <a:rPr lang="en-US" sz="800" b="0" i="0" u="none" strike="noStrike">
                          <a:solidFill>
                            <a:srgbClr val="000000"/>
                          </a:solidFill>
                          <a:effectLst/>
                          <a:latin typeface="Calibri" panose="020F0502020204030204" pitchFamily="34" charset="0"/>
                        </a:rPr>
                      </a:br>
                      <a:endParaRPr lang="en-US" sz="800" b="0" i="0" u="none" strike="noStrike">
                        <a:solidFill>
                          <a:srgbClr val="000000"/>
                        </a:solidFill>
                        <a:effectLst/>
                        <a:latin typeface="Calibri" panose="020F0502020204030204" pitchFamily="34" charset="0"/>
                      </a:endParaRP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800" b="0" i="0" u="none" strike="noStrike">
                          <a:solidFill>
                            <a:srgbClr val="000000"/>
                          </a:solidFill>
                          <a:effectLst/>
                          <a:latin typeface="Calibri" panose="020F0502020204030204" pitchFamily="34" charset="0"/>
                        </a:rPr>
                        <a:t>AK, AL, AR, AZ, DC, DE, FL, GA, HI, IA, ID, IL, IN, KS, KY, LA, MA, MD, ME, MI, MN, MO, MS, MT, NC, ND, NE, NH/Including Freedom, NJ, NV, OH, OK, OR, PA, RI, SC, SD, TN</a:t>
                      </a:r>
                      <a:r>
                        <a:rPr lang="en-US" sz="800" b="0" i="0" u="none" strike="noStrike" kern="1200">
                          <a:solidFill>
                            <a:srgbClr val="000000"/>
                          </a:solidFill>
                          <a:effectLst/>
                          <a:latin typeface="Calibri" panose="020F0502020204030204" pitchFamily="34" charset="0"/>
                          <a:ea typeface="+mn-ea"/>
                          <a:cs typeface="+mn-cs"/>
                        </a:rPr>
                        <a:t>, TX, UT, VA, WA, WI, W</a:t>
                      </a:r>
                      <a:r>
                        <a:rPr lang="en-US" sz="800" b="0" i="0" u="none" strike="noStrike">
                          <a:solidFill>
                            <a:srgbClr val="000000"/>
                          </a:solidFill>
                          <a:effectLst/>
                          <a:latin typeface="Calibri" panose="020F0502020204030204" pitchFamily="34" charset="0"/>
                        </a:rPr>
                        <a:t>V, </a:t>
                      </a:r>
                      <a:r>
                        <a:rPr lang="en-US" sz="800" b="0" i="0" u="none" strike="noStrike" kern="1200">
                          <a:solidFill>
                            <a:srgbClr val="000000"/>
                          </a:solidFill>
                          <a:effectLst/>
                          <a:latin typeface="Calibri" panose="020F0502020204030204" pitchFamily="34" charset="0"/>
                          <a:ea typeface="+mn-ea"/>
                          <a:cs typeface="+mn-cs"/>
                        </a:rPr>
                        <a:t>WY</a:t>
                      </a:r>
                      <a:r>
                        <a:rPr lang="en-US" sz="800" b="0" i="0" u="none" strike="noStrike">
                          <a:solidFill>
                            <a:srgbClr val="000000"/>
                          </a:solidFill>
                          <a:effectLst/>
                          <a:latin typeface="Calibri" panose="020F0502020204030204" pitchFamily="34" charset="0"/>
                        </a:rPr>
                        <a:t>, </a:t>
                      </a:r>
                      <a:r>
                        <a:rPr lang="en-US" sz="800" b="0" i="0" u="none" strike="noStrike" kern="1200">
                          <a:solidFill>
                            <a:srgbClr val="000000"/>
                          </a:solidFill>
                          <a:effectLst/>
                          <a:latin typeface="Calibri" panose="020F0502020204030204" pitchFamily="34" charset="0"/>
                          <a:ea typeface="+mn-ea"/>
                          <a:cs typeface="+mn-cs"/>
                        </a:rPr>
                        <a:t>CO</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nn-NO" sz="800" b="0" i="0" u="none" strike="noStrike">
                          <a:solidFill>
                            <a:srgbClr val="000000"/>
                          </a:solidFill>
                          <a:effectLst/>
                          <a:latin typeface="Calibri" panose="020F0502020204030204" pitchFamily="34" charset="0"/>
                        </a:rPr>
                        <a:t>NM, CT, VT, CA, NY</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800" b="0" i="0" u="none" strike="noStrike">
                          <a:solidFill>
                            <a:srgbClr val="000000"/>
                          </a:solidFill>
                          <a:effectLst/>
                          <a:latin typeface="Calibri" panose="020F0502020204030204" pitchFamily="34" charset="0"/>
                        </a:rPr>
                        <a:t>Andy Christakis</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7390717"/>
                  </a:ext>
                </a:extLst>
              </a:tr>
              <a:tr h="1006565">
                <a:tc>
                  <a:txBody>
                    <a:bodyPr/>
                    <a:lstStyle/>
                    <a:p>
                      <a:pPr algn="ctr" fontAlgn="t"/>
                      <a:endParaRPr lang="en-US" sz="800" b="1" i="0" u="none" strike="noStrike">
                        <a:solidFill>
                          <a:srgbClr val="000000"/>
                        </a:solidFill>
                        <a:effectLst/>
                        <a:latin typeface="Calibri" panose="020F0502020204030204" pitchFamily="34" charset="0"/>
                      </a:endParaRPr>
                    </a:p>
                    <a:p>
                      <a:pPr algn="ctr" fontAlgn="t"/>
                      <a:r>
                        <a:rPr lang="en-US" sz="800" b="1" i="0" u="none" strike="noStrike">
                          <a:solidFill>
                            <a:srgbClr val="000000"/>
                          </a:solidFill>
                          <a:effectLst/>
                          <a:latin typeface="Calibri" panose="020F0502020204030204" pitchFamily="34" charset="0"/>
                        </a:rPr>
                        <a:t>Case Installation and Implementation </a:t>
                      </a:r>
                      <a:r>
                        <a:rPr lang="en-US" sz="800" b="1" i="0" u="none" strike="noStrike">
                          <a:solidFill>
                            <a:srgbClr val="000000"/>
                          </a:solidFill>
                          <a:effectLst/>
                          <a:highlight>
                            <a:srgbClr val="FFFF00"/>
                          </a:highlight>
                          <a:latin typeface="Calibri" panose="020F0502020204030204" pitchFamily="34" charset="0"/>
                        </a:rPr>
                        <a:t>– Phase 2</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endParaRPr lang="en-US" sz="800" b="0" i="0" u="none" strike="noStrike">
                        <a:solidFill>
                          <a:srgbClr val="000000"/>
                        </a:solidFill>
                        <a:effectLst/>
                        <a:latin typeface="Calibri" panose="020F0502020204030204" pitchFamily="34" charset="0"/>
                      </a:endParaRPr>
                    </a:p>
                    <a:p>
                      <a:pPr algn="l" fontAlgn="t"/>
                      <a:r>
                        <a:rPr lang="en-US" sz="800" b="0" i="0" u="none" strike="noStrike">
                          <a:solidFill>
                            <a:srgbClr val="000000"/>
                          </a:solidFill>
                          <a:effectLst/>
                          <a:latin typeface="Calibri" panose="020F0502020204030204" pitchFamily="34" charset="0"/>
                        </a:rPr>
                        <a:t>Create the ability to install Benefit Ally onto USP for UHC and Oxford 51-99 which includes foundational automation. Included within this work would be requesting we digitize the UHC and Oxford UAF to reduce implementation errors. Ensure there are processes in place to support COBRA, a retroactive add of Benefit Ally, and a change in plan design for Benefit Ally. Additionally, the case installation and implementation teams are responsible for ensuring the group situs state is accurately documented and used for all downstream teams' setup (i.e. NY experience is different than all other states). Case Install/Implementation to ensure taxes task is established and setup for policy.</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endParaRPr lang="en-US" sz="800" b="0" i="0" u="none" strike="noStrike">
                        <a:solidFill>
                          <a:srgbClr val="000000"/>
                        </a:solidFill>
                        <a:effectLst/>
                        <a:latin typeface="Calibri" panose="020F0502020204030204" pitchFamily="34" charset="0"/>
                      </a:endParaRPr>
                    </a:p>
                    <a:p>
                      <a:pPr algn="ctr" fontAlgn="t"/>
                      <a:r>
                        <a:rPr lang="en-US" sz="800" b="0" i="0" u="none" strike="noStrike">
                          <a:solidFill>
                            <a:srgbClr val="000000"/>
                          </a:solidFill>
                          <a:effectLst/>
                          <a:latin typeface="Calibri" panose="020F0502020204030204" pitchFamily="34" charset="0"/>
                        </a:rPr>
                        <a:t>AK, AL, AR, AZ, DC, DE, FL, GA, HI, IA, ID, IL, IN, KS, KY, LA, MA, MD, ME, MI, MN, MO, MS, MT, NC, ND, NE, NH, NJ, NV, OH, OK, OR, PA, RI, SC, SD, TN, TX, UT, VA, WA, WI, WV, WY, </a:t>
                      </a:r>
                      <a:r>
                        <a:rPr lang="en-US" sz="800" b="0" i="0" u="none" strike="noStrike" kern="1200">
                          <a:solidFill>
                            <a:srgbClr val="000000"/>
                          </a:solidFill>
                          <a:effectLst/>
                          <a:latin typeface="Calibri" panose="020F0502020204030204" pitchFamily="34" charset="0"/>
                          <a:ea typeface="+mn-ea"/>
                          <a:cs typeface="+mn-cs"/>
                        </a:rPr>
                        <a:t>CO</a:t>
                      </a:r>
                      <a:br>
                        <a:rPr lang="en-US" sz="800" b="0" i="0" u="none" strike="noStrike">
                          <a:solidFill>
                            <a:srgbClr val="000000"/>
                          </a:solidFill>
                          <a:effectLst/>
                          <a:latin typeface="Calibri" panose="020F0502020204030204" pitchFamily="34" charset="0"/>
                        </a:rPr>
                      </a:br>
                      <a:br>
                        <a:rPr lang="en-US" sz="800" b="0" i="0" u="none" strike="noStrike">
                          <a:solidFill>
                            <a:srgbClr val="000000"/>
                          </a:solidFill>
                          <a:effectLst/>
                          <a:latin typeface="Calibri" panose="020F0502020204030204" pitchFamily="34" charset="0"/>
                        </a:rPr>
                      </a:br>
                      <a:r>
                        <a:rPr lang="en-US" sz="800" b="0" i="0" u="none" strike="noStrike">
                          <a:solidFill>
                            <a:srgbClr val="000000"/>
                          </a:solidFill>
                          <a:effectLst/>
                          <a:latin typeface="Calibri" panose="020F0502020204030204" pitchFamily="34" charset="0"/>
                        </a:rPr>
                        <a:t>Oxford Markets: NJ</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endParaRPr lang="nn-NO" sz="800" b="0" i="0" u="none" strike="noStrike">
                        <a:solidFill>
                          <a:srgbClr val="000000"/>
                        </a:solidFill>
                        <a:effectLst/>
                        <a:latin typeface="Calibri" panose="020F0502020204030204" pitchFamily="34" charset="0"/>
                      </a:endParaRPr>
                    </a:p>
                    <a:p>
                      <a:pPr algn="l" fontAlgn="t"/>
                      <a:r>
                        <a:rPr lang="nn-NO" sz="800" b="0" i="0" u="none" strike="noStrike">
                          <a:solidFill>
                            <a:srgbClr val="000000"/>
                          </a:solidFill>
                          <a:effectLst/>
                          <a:latin typeface="Calibri" panose="020F0502020204030204" pitchFamily="34" charset="0"/>
                        </a:rPr>
                        <a:t>NM, CT, VT, CA, NY</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endParaRPr lang="en-US" sz="800" b="0" i="0" u="none" strike="noStrike">
                        <a:solidFill>
                          <a:srgbClr val="000000"/>
                        </a:solidFill>
                        <a:effectLst/>
                        <a:latin typeface="Calibri" panose="020F0502020204030204" pitchFamily="34" charset="0"/>
                      </a:endParaRPr>
                    </a:p>
                    <a:p>
                      <a:pPr algn="ctr" fontAlgn="t"/>
                      <a:r>
                        <a:rPr lang="en-US" sz="800" b="0" i="0" u="none" strike="noStrike">
                          <a:solidFill>
                            <a:srgbClr val="000000"/>
                          </a:solidFill>
                          <a:effectLst/>
                          <a:latin typeface="Calibri" panose="020F0502020204030204" pitchFamily="34" charset="0"/>
                        </a:rPr>
                        <a:t>Elizabeth Sullivan (Oxford)</a:t>
                      </a:r>
                      <a:br>
                        <a:rPr lang="en-US" sz="800" b="0" i="0" u="none" strike="noStrike">
                          <a:solidFill>
                            <a:srgbClr val="000000"/>
                          </a:solidFill>
                          <a:effectLst/>
                          <a:latin typeface="Calibri" panose="020F0502020204030204" pitchFamily="34" charset="0"/>
                        </a:rPr>
                      </a:br>
                      <a:r>
                        <a:rPr lang="en-US" sz="800" b="0" i="0" u="none" strike="noStrike">
                          <a:solidFill>
                            <a:srgbClr val="000000"/>
                          </a:solidFill>
                          <a:effectLst/>
                          <a:latin typeface="Calibri" panose="020F0502020204030204" pitchFamily="34" charset="0"/>
                        </a:rPr>
                        <a:t>Serissa Jones (UHC)</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04504861"/>
                  </a:ext>
                </a:extLst>
              </a:tr>
              <a:tr h="1006565">
                <a:tc>
                  <a:txBody>
                    <a:bodyPr/>
                    <a:lstStyle/>
                    <a:p>
                      <a:pPr algn="ctr" fontAlgn="t"/>
                      <a:r>
                        <a:rPr lang="en-US" sz="800" b="1" i="0" u="none" strike="noStrike">
                          <a:solidFill>
                            <a:srgbClr val="000000"/>
                          </a:solidFill>
                          <a:effectLst/>
                          <a:latin typeface="Calibri" panose="020F0502020204030204" pitchFamily="34" charset="0"/>
                        </a:rPr>
                        <a:t>Supplemental Health/Benefit Ally Plan Detail – </a:t>
                      </a:r>
                      <a:r>
                        <a:rPr lang="en-US" sz="800" b="1" i="0" u="none" strike="noStrike">
                          <a:solidFill>
                            <a:srgbClr val="000000"/>
                          </a:solidFill>
                          <a:effectLst/>
                          <a:highlight>
                            <a:srgbClr val="FFFF00"/>
                          </a:highlight>
                          <a:latin typeface="Calibri" panose="020F0502020204030204" pitchFamily="34" charset="0"/>
                        </a:rPr>
                        <a:t>Phase 1</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800" b="0" i="0" u="none" strike="noStrike">
                          <a:solidFill>
                            <a:srgbClr val="000000"/>
                          </a:solidFill>
                          <a:effectLst/>
                          <a:latin typeface="Calibri" panose="020F0502020204030204" pitchFamily="34" charset="0"/>
                        </a:rPr>
                        <a:t>Add all active states into plan library to make accessible for the 51-99 membership on USP which will provide benefit level detail by state and plan (Enhanced or Value) for Benefit Ally which will provide downstream setup information to impacted teams/processes (i.e. COC). For reference, 2 states are currently loaded into plan library (NY/NJ) for Oxford KA FI 100+. This work needs to be completed for Oxford and UHC. </a:t>
                      </a:r>
                      <a:br>
                        <a:rPr lang="en-US" sz="800" b="0" i="0" u="none" strike="noStrike">
                          <a:solidFill>
                            <a:srgbClr val="000000"/>
                          </a:solidFill>
                          <a:effectLst/>
                          <a:latin typeface="Calibri" panose="020F0502020204030204" pitchFamily="34" charset="0"/>
                        </a:rPr>
                      </a:br>
                      <a:br>
                        <a:rPr lang="en-US" sz="800" b="0" i="0" u="none" strike="noStrike">
                          <a:solidFill>
                            <a:srgbClr val="000000"/>
                          </a:solidFill>
                          <a:effectLst/>
                          <a:latin typeface="Calibri" panose="020F0502020204030204" pitchFamily="34" charset="0"/>
                        </a:rPr>
                      </a:br>
                      <a:r>
                        <a:rPr lang="en-US" sz="800" b="0" i="0" u="none" strike="noStrike">
                          <a:solidFill>
                            <a:srgbClr val="000000"/>
                          </a:solidFill>
                          <a:effectLst/>
                          <a:latin typeface="Calibri" panose="020F0502020204030204" pitchFamily="34" charset="0"/>
                        </a:rPr>
                        <a:t>Please note the in-scope markets refer to 51-99 only; we will not enable the out-of-scope markets for 51-99</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800" b="0" i="0" u="none" strike="noStrike">
                          <a:solidFill>
                            <a:srgbClr val="000000"/>
                          </a:solidFill>
                          <a:effectLst/>
                          <a:latin typeface="Calibri" panose="020F0502020204030204" pitchFamily="34" charset="0"/>
                        </a:rPr>
                        <a:t>AK, AL, AR, AZ, DC, DE, FL, GA, HI, IA, ID, IL, IN, KS, KY, LA, MA, MD, </a:t>
                      </a:r>
                      <a:r>
                        <a:rPr lang="en-US" sz="800" b="0" i="0" u="none" strike="noStrike" kern="1200">
                          <a:solidFill>
                            <a:srgbClr val="000000"/>
                          </a:solidFill>
                          <a:effectLst/>
                          <a:latin typeface="Calibri" panose="020F0502020204030204" pitchFamily="34" charset="0"/>
                          <a:ea typeface="+mn-ea"/>
                          <a:cs typeface="+mn-cs"/>
                        </a:rPr>
                        <a:t>ME</a:t>
                      </a:r>
                      <a:r>
                        <a:rPr lang="en-US" sz="800" b="0" i="0" u="none" strike="noStrike">
                          <a:solidFill>
                            <a:srgbClr val="000000"/>
                          </a:solidFill>
                          <a:effectLst/>
                          <a:latin typeface="Calibri" panose="020F0502020204030204" pitchFamily="34" charset="0"/>
                        </a:rPr>
                        <a:t>, MI, MN, MO, MS, MT, NC, ND, NE, NH, NJ, NV, OH, OK, OR, PA, RI, SC, SD, TN, TX, UT, VA, WA, WI, WV, WY, </a:t>
                      </a:r>
                      <a:r>
                        <a:rPr lang="en-US" sz="800" b="0" i="0" u="none" strike="noStrike" kern="1200">
                          <a:solidFill>
                            <a:srgbClr val="000000"/>
                          </a:solidFill>
                          <a:effectLst/>
                          <a:latin typeface="Calibri" panose="020F0502020204030204" pitchFamily="34" charset="0"/>
                          <a:ea typeface="+mn-ea"/>
                          <a:cs typeface="+mn-cs"/>
                        </a:rPr>
                        <a:t>CO</a:t>
                      </a:r>
                      <a:br>
                        <a:rPr lang="en-US" sz="800" b="0" i="0" u="none" strike="noStrike">
                          <a:solidFill>
                            <a:srgbClr val="000000"/>
                          </a:solidFill>
                          <a:effectLst/>
                          <a:latin typeface="Calibri" panose="020F0502020204030204" pitchFamily="34" charset="0"/>
                        </a:rPr>
                      </a:br>
                      <a:br>
                        <a:rPr lang="en-US" sz="800" b="0" i="0" u="none" strike="noStrike">
                          <a:solidFill>
                            <a:srgbClr val="000000"/>
                          </a:solidFill>
                          <a:effectLst/>
                          <a:latin typeface="Calibri" panose="020F0502020204030204" pitchFamily="34" charset="0"/>
                        </a:rPr>
                      </a:br>
                      <a:r>
                        <a:rPr lang="en-US" sz="800" b="0" i="0" u="none" strike="noStrike">
                          <a:solidFill>
                            <a:srgbClr val="000000"/>
                          </a:solidFill>
                          <a:effectLst/>
                          <a:latin typeface="Calibri" panose="020F0502020204030204" pitchFamily="34" charset="0"/>
                        </a:rPr>
                        <a:t>Oxford Markets: NJ</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nn-NO" sz="800" b="0" i="0" u="none" strike="noStrike">
                          <a:solidFill>
                            <a:srgbClr val="000000"/>
                          </a:solidFill>
                          <a:effectLst/>
                          <a:latin typeface="Calibri" panose="020F0502020204030204" pitchFamily="34" charset="0"/>
                        </a:rPr>
                        <a:t>NM, CT, VT, CA, NY</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800" b="0" i="0" u="none" strike="noStrike">
                          <a:solidFill>
                            <a:srgbClr val="000000"/>
                          </a:solidFill>
                          <a:effectLst/>
                          <a:latin typeface="Calibri" panose="020F0502020204030204" pitchFamily="34" charset="0"/>
                        </a:rPr>
                        <a:t>Brent Price</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93201405"/>
                  </a:ext>
                </a:extLst>
              </a:tr>
            </a:tbl>
          </a:graphicData>
        </a:graphic>
      </p:graphicFrame>
      <p:sp>
        <p:nvSpPr>
          <p:cNvPr id="4" name="Rectangle 3">
            <a:extLst>
              <a:ext uri="{FF2B5EF4-FFF2-40B4-BE49-F238E27FC236}">
                <a16:creationId xmlns:a16="http://schemas.microsoft.com/office/drawing/2014/main" id="{F2AB568A-9969-80DA-9A21-171A42415DA2}"/>
              </a:ext>
            </a:extLst>
          </p:cNvPr>
          <p:cNvSpPr/>
          <p:nvPr/>
        </p:nvSpPr>
        <p:spPr>
          <a:xfrm>
            <a:off x="249382" y="1100649"/>
            <a:ext cx="8667804" cy="1471101"/>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 name="Speech Bubble: Rectangle 2">
            <a:extLst>
              <a:ext uri="{FF2B5EF4-FFF2-40B4-BE49-F238E27FC236}">
                <a16:creationId xmlns:a16="http://schemas.microsoft.com/office/drawing/2014/main" id="{E0E49A06-B54D-0464-85AA-2B552E82FECF}"/>
              </a:ext>
            </a:extLst>
          </p:cNvPr>
          <p:cNvSpPr/>
          <p:nvPr/>
        </p:nvSpPr>
        <p:spPr>
          <a:xfrm>
            <a:off x="4560715" y="516597"/>
            <a:ext cx="1946641" cy="612648"/>
          </a:xfrm>
          <a:prstGeom prst="wedgeRectCallout">
            <a:avLst/>
          </a:prstGeom>
          <a:noFill/>
          <a:ln w="28575">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accent2"/>
                </a:solidFill>
                <a:highlight>
                  <a:srgbClr val="FFFF00"/>
                </a:highlight>
              </a:rPr>
              <a:t>Phase 1 R1 – New Business </a:t>
            </a:r>
          </a:p>
        </p:txBody>
      </p:sp>
      <p:sp>
        <p:nvSpPr>
          <p:cNvPr id="5" name="Rectangle 4">
            <a:extLst>
              <a:ext uri="{FF2B5EF4-FFF2-40B4-BE49-F238E27FC236}">
                <a16:creationId xmlns:a16="http://schemas.microsoft.com/office/drawing/2014/main" id="{677F0FA6-921C-B996-BE1A-3F6BC1B5F3FF}"/>
              </a:ext>
            </a:extLst>
          </p:cNvPr>
          <p:cNvSpPr/>
          <p:nvPr/>
        </p:nvSpPr>
        <p:spPr>
          <a:xfrm>
            <a:off x="226813" y="2632106"/>
            <a:ext cx="8667804" cy="2050780"/>
          </a:xfrm>
          <a:prstGeom prst="rect">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6" name="Speech Bubble: Rectangle 5">
            <a:extLst>
              <a:ext uri="{FF2B5EF4-FFF2-40B4-BE49-F238E27FC236}">
                <a16:creationId xmlns:a16="http://schemas.microsoft.com/office/drawing/2014/main" id="{8EEB6E9E-87C9-2D80-F3BD-62CEC146D2D8}"/>
              </a:ext>
            </a:extLst>
          </p:cNvPr>
          <p:cNvSpPr/>
          <p:nvPr/>
        </p:nvSpPr>
        <p:spPr>
          <a:xfrm>
            <a:off x="6869967" y="3916600"/>
            <a:ext cx="1946641" cy="612648"/>
          </a:xfrm>
          <a:prstGeom prst="wedgeRectCallout">
            <a:avLst/>
          </a:prstGeom>
          <a:noFill/>
          <a:ln w="28575">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2"/>
                </a:solidFill>
                <a:highlight>
                  <a:srgbClr val="FFFF00"/>
                </a:highlight>
              </a:rPr>
              <a:t>Phase 1 R1 – New Business </a:t>
            </a:r>
          </a:p>
        </p:txBody>
      </p:sp>
      <p:sp>
        <p:nvSpPr>
          <p:cNvPr id="7" name="Speech Bubble: Rectangle 6">
            <a:extLst>
              <a:ext uri="{FF2B5EF4-FFF2-40B4-BE49-F238E27FC236}">
                <a16:creationId xmlns:a16="http://schemas.microsoft.com/office/drawing/2014/main" id="{5571BA96-0A78-E1F0-F88F-6DFDBE42F34C}"/>
              </a:ext>
            </a:extLst>
          </p:cNvPr>
          <p:cNvSpPr/>
          <p:nvPr/>
        </p:nvSpPr>
        <p:spPr>
          <a:xfrm>
            <a:off x="6869968" y="2840571"/>
            <a:ext cx="1946641" cy="612648"/>
          </a:xfrm>
          <a:prstGeom prst="wedgeRectCallout">
            <a:avLst/>
          </a:prstGeom>
          <a:noFill/>
          <a:ln w="28575">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accent2"/>
                </a:solidFill>
                <a:highlight>
                  <a:srgbClr val="FFFF00"/>
                </a:highlight>
              </a:rPr>
              <a:t>Phase 2 R1 – New Business </a:t>
            </a:r>
          </a:p>
        </p:txBody>
      </p:sp>
    </p:spTree>
    <p:extLst>
      <p:ext uri="{BB962C8B-B14F-4D97-AF65-F5344CB8AC3E}">
        <p14:creationId xmlns:p14="http://schemas.microsoft.com/office/powerpoint/2010/main" val="25017972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ED7099-875C-C362-32E4-60AE900392A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802A519-F8E3-BE5A-F43C-A217FE18118D}"/>
              </a:ext>
            </a:extLst>
          </p:cNvPr>
          <p:cNvSpPr txBox="1"/>
          <p:nvPr/>
        </p:nvSpPr>
        <p:spPr>
          <a:xfrm>
            <a:off x="850739" y="4635661"/>
            <a:ext cx="2239701" cy="300082"/>
          </a:xfrm>
          <a:prstGeom prst="rect">
            <a:avLst/>
          </a:prstGeom>
          <a:solidFill>
            <a:schemeClr val="bg1"/>
          </a:solidFill>
        </p:spPr>
        <p:txBody>
          <a:bodyPr wrap="square" rtlCol="0">
            <a:spAutoFit/>
          </a:bodyPr>
          <a:lstStyle/>
          <a:p>
            <a:endParaRPr lang="en-US" sz="1350"/>
          </a:p>
        </p:txBody>
      </p:sp>
      <p:sp>
        <p:nvSpPr>
          <p:cNvPr id="2" name="Title 1">
            <a:extLst>
              <a:ext uri="{FF2B5EF4-FFF2-40B4-BE49-F238E27FC236}">
                <a16:creationId xmlns:a16="http://schemas.microsoft.com/office/drawing/2014/main" id="{4A410AA7-5A1A-76BA-7F18-5B3CA53422A1}"/>
              </a:ext>
            </a:extLst>
          </p:cNvPr>
          <p:cNvSpPr>
            <a:spLocks noGrp="1"/>
          </p:cNvSpPr>
          <p:nvPr>
            <p:ph type="title"/>
          </p:nvPr>
        </p:nvSpPr>
        <p:spPr>
          <a:xfrm>
            <a:off x="226814" y="0"/>
            <a:ext cx="7260336" cy="549381"/>
          </a:xfrm>
        </p:spPr>
        <p:txBody>
          <a:bodyPr>
            <a:normAutofit fontScale="90000"/>
          </a:bodyPr>
          <a:lstStyle/>
          <a:p>
            <a:r>
              <a:rPr lang="en-US"/>
              <a:t>Capability Overview – Phase 2</a:t>
            </a:r>
            <a:br>
              <a:rPr lang="en-US"/>
            </a:br>
            <a:r>
              <a:rPr lang="en-US" sz="1800"/>
              <a:t>(High Level requirements for FI 51-99) </a:t>
            </a:r>
          </a:p>
        </p:txBody>
      </p:sp>
      <p:graphicFrame>
        <p:nvGraphicFramePr>
          <p:cNvPr id="8" name="Table 7">
            <a:extLst>
              <a:ext uri="{FF2B5EF4-FFF2-40B4-BE49-F238E27FC236}">
                <a16:creationId xmlns:a16="http://schemas.microsoft.com/office/drawing/2014/main" id="{62D0ABAF-A23C-23C9-BFE4-0659D9FFC586}"/>
              </a:ext>
            </a:extLst>
          </p:cNvPr>
          <p:cNvGraphicFramePr>
            <a:graphicFrameLocks noGrp="1"/>
          </p:cNvGraphicFramePr>
          <p:nvPr>
            <p:extLst>
              <p:ext uri="{D42A27DB-BD31-4B8C-83A1-F6EECF244321}">
                <p14:modId xmlns:p14="http://schemas.microsoft.com/office/powerpoint/2010/main" val="3515111152"/>
              </p:ext>
            </p:extLst>
          </p:nvPr>
        </p:nvGraphicFramePr>
        <p:xfrm>
          <a:off x="79576" y="523146"/>
          <a:ext cx="8984848" cy="4531355"/>
        </p:xfrm>
        <a:graphic>
          <a:graphicData uri="http://schemas.openxmlformats.org/drawingml/2006/table">
            <a:tbl>
              <a:tblPr/>
              <a:tblGrid>
                <a:gridCol w="1237429">
                  <a:extLst>
                    <a:ext uri="{9D8B030D-6E8A-4147-A177-3AD203B41FA5}">
                      <a16:colId xmlns:a16="http://schemas.microsoft.com/office/drawing/2014/main" val="1962179033"/>
                    </a:ext>
                  </a:extLst>
                </a:gridCol>
                <a:gridCol w="4160714">
                  <a:extLst>
                    <a:ext uri="{9D8B030D-6E8A-4147-A177-3AD203B41FA5}">
                      <a16:colId xmlns:a16="http://schemas.microsoft.com/office/drawing/2014/main" val="130540882"/>
                    </a:ext>
                  </a:extLst>
                </a:gridCol>
                <a:gridCol w="2057400">
                  <a:extLst>
                    <a:ext uri="{9D8B030D-6E8A-4147-A177-3AD203B41FA5}">
                      <a16:colId xmlns:a16="http://schemas.microsoft.com/office/drawing/2014/main" val="751610378"/>
                    </a:ext>
                  </a:extLst>
                </a:gridCol>
                <a:gridCol w="746619">
                  <a:extLst>
                    <a:ext uri="{9D8B030D-6E8A-4147-A177-3AD203B41FA5}">
                      <a16:colId xmlns:a16="http://schemas.microsoft.com/office/drawing/2014/main" val="2701245817"/>
                    </a:ext>
                  </a:extLst>
                </a:gridCol>
                <a:gridCol w="782686">
                  <a:extLst>
                    <a:ext uri="{9D8B030D-6E8A-4147-A177-3AD203B41FA5}">
                      <a16:colId xmlns:a16="http://schemas.microsoft.com/office/drawing/2014/main" val="1145494209"/>
                    </a:ext>
                  </a:extLst>
                </a:gridCol>
              </a:tblGrid>
              <a:tr h="137885">
                <a:tc>
                  <a:txBody>
                    <a:bodyPr/>
                    <a:lstStyle/>
                    <a:p>
                      <a:pPr algn="ctr" fontAlgn="b"/>
                      <a:r>
                        <a:rPr lang="en-US" sz="900" b="1" i="0" u="none" strike="noStrike">
                          <a:solidFill>
                            <a:srgbClr val="FFFFFF"/>
                          </a:solidFill>
                          <a:effectLst/>
                          <a:latin typeface="Calibri" panose="020F0502020204030204" pitchFamily="34" charset="0"/>
                        </a:rPr>
                        <a:t>Name</a:t>
                      </a:r>
                    </a:p>
                  </a:txBody>
                  <a:tcPr marL="725" marR="725" marT="7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en-US" sz="900" b="1" i="0" u="none" strike="noStrike">
                          <a:solidFill>
                            <a:srgbClr val="FFFFFF"/>
                          </a:solidFill>
                          <a:effectLst/>
                          <a:latin typeface="Calibri" panose="020F0502020204030204" pitchFamily="34" charset="0"/>
                        </a:rPr>
                        <a:t>Functionality Required</a:t>
                      </a:r>
                    </a:p>
                  </a:txBody>
                  <a:tcPr marL="725" marR="725" marT="7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en-US" sz="900" b="1" i="0" u="none" strike="noStrike">
                          <a:solidFill>
                            <a:srgbClr val="FFFFFF"/>
                          </a:solidFill>
                          <a:effectLst/>
                          <a:latin typeface="Calibri" panose="020F0502020204030204" pitchFamily="34" charset="0"/>
                        </a:rPr>
                        <a:t>In Scope</a:t>
                      </a:r>
                    </a:p>
                  </a:txBody>
                  <a:tcPr marL="725" marR="725" marT="7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en-US" sz="900" b="1" i="0" u="none" strike="noStrike">
                          <a:solidFill>
                            <a:srgbClr val="FFFFFF"/>
                          </a:solidFill>
                          <a:effectLst/>
                          <a:latin typeface="Calibri" panose="020F0502020204030204" pitchFamily="34" charset="0"/>
                        </a:rPr>
                        <a:t>Out of Scope</a:t>
                      </a:r>
                    </a:p>
                  </a:txBody>
                  <a:tcPr marL="725" marR="725" marT="7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en-US" sz="900" b="1" i="0" u="none" strike="noStrike">
                          <a:solidFill>
                            <a:srgbClr val="FFFFFF"/>
                          </a:solidFill>
                          <a:effectLst/>
                          <a:latin typeface="Calibri" panose="020F0502020204030204" pitchFamily="34" charset="0"/>
                        </a:rPr>
                        <a:t>Team</a:t>
                      </a:r>
                    </a:p>
                  </a:txBody>
                  <a:tcPr marL="725" marR="725" marT="7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1836913942"/>
                  </a:ext>
                </a:extLst>
              </a:tr>
              <a:tr h="823685">
                <a:tc>
                  <a:txBody>
                    <a:bodyPr/>
                    <a:lstStyle/>
                    <a:p>
                      <a:pPr algn="ctr" fontAlgn="t"/>
                      <a:r>
                        <a:rPr lang="en-US" sz="900" b="1" i="0" u="none" strike="noStrike">
                          <a:solidFill>
                            <a:srgbClr val="000000"/>
                          </a:solidFill>
                          <a:effectLst/>
                          <a:latin typeface="Calibri" panose="020F0502020204030204" pitchFamily="34" charset="0"/>
                        </a:rPr>
                        <a:t>Billing</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Calibri" panose="020F0502020204030204" pitchFamily="34" charset="0"/>
                        </a:rPr>
                        <a:t>The standard business requirement is to have the medical and supplemental health premiums billed together (combined into one rate) on a monthly basis. The business also requires that we have the ability to book revenue across any license (i.e. medical license may differ from supplemental). </a:t>
                      </a:r>
                      <a:r>
                        <a:rPr lang="en-US" sz="900" b="0" i="0" u="none" strike="noStrike">
                          <a:solidFill>
                            <a:srgbClr val="FF0000"/>
                          </a:solidFill>
                          <a:effectLst/>
                          <a:latin typeface="Calibri" panose="020F0502020204030204" pitchFamily="34" charset="0"/>
                        </a:rPr>
                        <a:t> </a:t>
                      </a:r>
                      <a:r>
                        <a:rPr lang="en-US" sz="900" b="0" i="0" u="none" strike="noStrike">
                          <a:solidFill>
                            <a:srgbClr val="000000"/>
                          </a:solidFill>
                          <a:effectLst/>
                          <a:latin typeface="Calibri" panose="020F0502020204030204" pitchFamily="34" charset="0"/>
                        </a:rPr>
                        <a:t>We also need the functionality to break premiums out if requested by the client; meaning benefit ally rates should be separate from medical. This is the same exact functionality offered for Oxford KA 100+ FI NY and NJ.</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900" b="0" i="0" u="none" strike="noStrike">
                          <a:solidFill>
                            <a:srgbClr val="000000"/>
                          </a:solidFill>
                          <a:effectLst/>
                          <a:latin typeface="Calibri" panose="020F0502020204030204" pitchFamily="34" charset="0"/>
                        </a:rPr>
                        <a:t>AK, AL, AR, AZ, DC, DE, FL, GA, HI, IA, ID, IL, IN, KS, KY, LA, MA, MD, ME, MI, MN, MO, MS, MT, NC, ND, NE, NH, NJ, NV, OH, OK, OR, PA, RI, SC, SD, TN, TX, UT, VA, WA, WI, WV, WY, </a:t>
                      </a:r>
                      <a:r>
                        <a:rPr lang="en-US" sz="800" b="0" i="0" u="none" strike="noStrike" kern="1200">
                          <a:solidFill>
                            <a:srgbClr val="000000"/>
                          </a:solidFill>
                          <a:effectLst/>
                          <a:latin typeface="Calibri" panose="020F0502020204030204" pitchFamily="34" charset="0"/>
                          <a:ea typeface="+mn-ea"/>
                          <a:cs typeface="+mn-cs"/>
                        </a:rPr>
                        <a:t>CO</a:t>
                      </a:r>
                      <a:br>
                        <a:rPr lang="en-US" sz="900" b="0" i="0" u="none" strike="noStrike">
                          <a:solidFill>
                            <a:srgbClr val="000000"/>
                          </a:solidFill>
                          <a:effectLst/>
                          <a:latin typeface="Calibri" panose="020F0502020204030204" pitchFamily="34" charset="0"/>
                        </a:rPr>
                      </a:br>
                      <a:r>
                        <a:rPr lang="en-US" sz="900" b="0" i="0" u="none" strike="noStrike">
                          <a:solidFill>
                            <a:srgbClr val="000000"/>
                          </a:solidFill>
                          <a:effectLst/>
                          <a:latin typeface="Calibri" panose="020F0502020204030204" pitchFamily="34" charset="0"/>
                        </a:rPr>
                        <a:t>Oxford Markets: NJ</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nn-NO" sz="900" b="0" i="0" u="none" strike="noStrike">
                          <a:solidFill>
                            <a:srgbClr val="000000"/>
                          </a:solidFill>
                          <a:effectLst/>
                          <a:latin typeface="Calibri" panose="020F0502020204030204" pitchFamily="34" charset="0"/>
                        </a:rPr>
                        <a:t>NM, CT, VT, CA, NY</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900" b="0" i="0" u="none" strike="noStrike">
                          <a:solidFill>
                            <a:srgbClr val="000000"/>
                          </a:solidFill>
                          <a:effectLst/>
                          <a:latin typeface="Calibri" panose="020F0502020204030204" pitchFamily="34" charset="0"/>
                        </a:rPr>
                        <a:t>Shelly Salemi</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30152352"/>
                  </a:ext>
                </a:extLst>
              </a:tr>
              <a:tr h="823685">
                <a:tc>
                  <a:txBody>
                    <a:bodyPr/>
                    <a:lstStyle/>
                    <a:p>
                      <a:pPr algn="ctr" fontAlgn="t"/>
                      <a:r>
                        <a:rPr lang="en-US" sz="900" b="1" i="0" u="none" strike="noStrike">
                          <a:solidFill>
                            <a:srgbClr val="000000"/>
                          </a:solidFill>
                          <a:effectLst/>
                          <a:latin typeface="Calibri" panose="020F0502020204030204" pitchFamily="34" charset="0"/>
                        </a:rPr>
                        <a:t>Commissions and Bonus</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Calibri" panose="020F0502020204030204" pitchFamily="34" charset="0"/>
                        </a:rPr>
                        <a:t>Build the Benefit Ally commission structure for all states is now variable (currently built within USP); 0-25%  for all in scope states; does not apply to NY. There are states where there are max commission amounts that we must adhere to. </a:t>
                      </a:r>
                      <a:br>
                        <a:rPr lang="en-US" sz="900" b="0" i="0" u="none" strike="noStrike">
                          <a:solidFill>
                            <a:srgbClr val="000000"/>
                          </a:solidFill>
                          <a:effectLst/>
                          <a:latin typeface="Calibri" panose="020F0502020204030204" pitchFamily="34" charset="0"/>
                        </a:rPr>
                      </a:br>
                      <a:endParaRPr lang="en-US" sz="900" b="0" i="0" u="none" strike="noStrike">
                        <a:solidFill>
                          <a:srgbClr val="000000"/>
                        </a:solidFill>
                        <a:effectLst/>
                        <a:latin typeface="Calibri" panose="020F0502020204030204" pitchFamily="34" charset="0"/>
                      </a:endParaRP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900" b="0" i="0" u="none" strike="noStrike">
                          <a:solidFill>
                            <a:srgbClr val="000000"/>
                          </a:solidFill>
                          <a:effectLst/>
                          <a:latin typeface="Calibri" panose="020F0502020204030204" pitchFamily="34" charset="0"/>
                        </a:rPr>
                        <a:t>AK, AL, AR, AZ, DC, DE, FL, GA, HI, IA, ID, IL, IN, KS, KY, LA, MA, MD, ME, MI, MN, MO, MS, MT, NC, ND, NE, NH, NJ, NV, OH, OK, OR, PA, RI, SC, SD, TN, TX, UT, VA, WA, WI, WV, WY, </a:t>
                      </a:r>
                      <a:r>
                        <a:rPr lang="en-US" sz="800" b="0" i="0" u="none" strike="noStrike" kern="1200">
                          <a:solidFill>
                            <a:srgbClr val="000000"/>
                          </a:solidFill>
                          <a:effectLst/>
                          <a:latin typeface="Calibri" panose="020F0502020204030204" pitchFamily="34" charset="0"/>
                          <a:ea typeface="+mn-ea"/>
                          <a:cs typeface="+mn-cs"/>
                        </a:rPr>
                        <a:t>CO</a:t>
                      </a:r>
                      <a:br>
                        <a:rPr lang="en-US" sz="900" b="0" i="0" u="none" strike="noStrike">
                          <a:solidFill>
                            <a:srgbClr val="000000"/>
                          </a:solidFill>
                          <a:effectLst/>
                          <a:latin typeface="Calibri" panose="020F0502020204030204" pitchFamily="34" charset="0"/>
                        </a:rPr>
                      </a:br>
                      <a:r>
                        <a:rPr lang="en-US" sz="900" b="0" i="0" u="none" strike="noStrike">
                          <a:solidFill>
                            <a:srgbClr val="000000"/>
                          </a:solidFill>
                          <a:effectLst/>
                          <a:latin typeface="Calibri" panose="020F0502020204030204" pitchFamily="34" charset="0"/>
                        </a:rPr>
                        <a:t>Oxford Markets: NJ</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nn-NO" sz="900" b="0" i="0" u="none" strike="noStrike">
                          <a:solidFill>
                            <a:srgbClr val="000000"/>
                          </a:solidFill>
                          <a:effectLst/>
                          <a:latin typeface="Calibri" panose="020F0502020204030204" pitchFamily="34" charset="0"/>
                        </a:rPr>
                        <a:t>NM, CT, VT, CA, NY</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Calibri" panose="020F0502020204030204" pitchFamily="34" charset="0"/>
                        </a:rPr>
                        <a:t>Rosemarie Williams</a:t>
                      </a:r>
                      <a:br>
                        <a:rPr lang="en-US" sz="900" b="0" i="0" u="none" strike="noStrike">
                          <a:solidFill>
                            <a:srgbClr val="000000"/>
                          </a:solidFill>
                          <a:effectLst/>
                          <a:latin typeface="Calibri" panose="020F0502020204030204" pitchFamily="34" charset="0"/>
                        </a:rPr>
                      </a:br>
                      <a:r>
                        <a:rPr lang="en-US" sz="900" b="0" i="0" u="none" strike="noStrike">
                          <a:solidFill>
                            <a:srgbClr val="000000"/>
                          </a:solidFill>
                          <a:effectLst/>
                          <a:latin typeface="Calibri" panose="020F0502020204030204" pitchFamily="34" charset="0"/>
                        </a:rPr>
                        <a:t>Joel Shaw</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29247927"/>
                  </a:ext>
                </a:extLst>
              </a:tr>
              <a:tr h="275045">
                <a:tc>
                  <a:txBody>
                    <a:bodyPr/>
                    <a:lstStyle/>
                    <a:p>
                      <a:pPr algn="ctr" fontAlgn="t"/>
                      <a:r>
                        <a:rPr lang="en-US" sz="900" b="1" i="0" u="none" strike="noStrike">
                          <a:solidFill>
                            <a:srgbClr val="000000"/>
                          </a:solidFill>
                          <a:effectLst/>
                          <a:latin typeface="Calibri" panose="020F0502020204030204" pitchFamily="34" charset="0"/>
                        </a:rPr>
                        <a:t>Sales Compensation</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Calibri" panose="020F0502020204030204" pitchFamily="34" charset="0"/>
                        </a:rPr>
                        <a:t>Ensure data flows and is accessible to Bob Carrigan (Finance) team to book compensation for sales for Benefit Ally</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Calibri" panose="020F0502020204030204" pitchFamily="34" charset="0"/>
                        </a:rPr>
                        <a:t> </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Calibri" panose="020F0502020204030204" pitchFamily="34" charset="0"/>
                        </a:rPr>
                        <a:t> </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900" b="0" i="0" u="none" strike="noStrike">
                          <a:solidFill>
                            <a:srgbClr val="000000"/>
                          </a:solidFill>
                          <a:effectLst/>
                          <a:latin typeface="Calibri" panose="020F0502020204030204" pitchFamily="34" charset="0"/>
                        </a:rPr>
                        <a:t>Bob Carrigan</a:t>
                      </a:r>
                    </a:p>
                  </a:txBody>
                  <a:tcPr marL="725" marR="725" marT="7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67935301"/>
                  </a:ext>
                </a:extLst>
              </a:tr>
              <a:tr h="823685">
                <a:tc>
                  <a:txBody>
                    <a:bodyPr/>
                    <a:lstStyle/>
                    <a:p>
                      <a:pPr algn="ctr" fontAlgn="t"/>
                      <a:r>
                        <a:rPr lang="en-US" sz="900" b="1" i="0" u="none" strike="noStrike">
                          <a:solidFill>
                            <a:srgbClr val="000000"/>
                          </a:solidFill>
                          <a:effectLst/>
                          <a:latin typeface="Calibri" panose="020F0502020204030204" pitchFamily="34" charset="0"/>
                        </a:rPr>
                        <a:t>Supplemental Health Finance</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Calibri" panose="020F0502020204030204" pitchFamily="34" charset="0"/>
                        </a:rPr>
                        <a:t>Ensure that we create the appropriate supplemental health financial structure to book revenue;  there are three bill item types that can be booked by the Supplemental Health Finance team and be able to book revenue across multiple licenses (financial tagging)</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900" b="0" i="0" u="none" strike="noStrike">
                          <a:solidFill>
                            <a:srgbClr val="000000"/>
                          </a:solidFill>
                          <a:effectLst/>
                          <a:latin typeface="Calibri" panose="020F0502020204030204" pitchFamily="34" charset="0"/>
                        </a:rPr>
                        <a:t>AK, AL, AR, AZ, DC, DE, FL, GA, HI, IA, ID, IL, IN, KS, KY, LA, MA, MD, ME, MI, MN, MO, MS, MT, NC, ND, NE, NH, NJ, NV, OH, OK, OR, PA, RI, SC, SD, TN, TX, UT, VA, WA, WI, WV, WY, </a:t>
                      </a:r>
                      <a:r>
                        <a:rPr lang="en-US" sz="800" b="0" i="0" u="none" strike="noStrike" kern="1200">
                          <a:solidFill>
                            <a:srgbClr val="000000"/>
                          </a:solidFill>
                          <a:effectLst/>
                          <a:latin typeface="Calibri" panose="020F0502020204030204" pitchFamily="34" charset="0"/>
                          <a:ea typeface="+mn-ea"/>
                          <a:cs typeface="+mn-cs"/>
                        </a:rPr>
                        <a:t>CO</a:t>
                      </a:r>
                      <a:br>
                        <a:rPr lang="en-US" sz="900" b="0" i="0" u="none" strike="noStrike">
                          <a:solidFill>
                            <a:srgbClr val="000000"/>
                          </a:solidFill>
                          <a:effectLst/>
                          <a:latin typeface="Calibri" panose="020F0502020204030204" pitchFamily="34" charset="0"/>
                        </a:rPr>
                      </a:br>
                      <a:r>
                        <a:rPr lang="en-US" sz="900" b="0" i="0" u="none" strike="noStrike">
                          <a:solidFill>
                            <a:srgbClr val="000000"/>
                          </a:solidFill>
                          <a:effectLst/>
                          <a:latin typeface="Calibri" panose="020F0502020204030204" pitchFamily="34" charset="0"/>
                        </a:rPr>
                        <a:t>Oxford Markets: NJ</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nn-NO" sz="900" b="0" i="0" u="none" strike="noStrike">
                          <a:solidFill>
                            <a:srgbClr val="000000"/>
                          </a:solidFill>
                          <a:effectLst/>
                          <a:latin typeface="Calibri" panose="020F0502020204030204" pitchFamily="34" charset="0"/>
                        </a:rPr>
                        <a:t>NM, CT, VT, CA, NY</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900" b="0" i="0" u="none" strike="noStrike">
                          <a:solidFill>
                            <a:srgbClr val="000000"/>
                          </a:solidFill>
                          <a:effectLst/>
                          <a:latin typeface="Calibri" panose="020F0502020204030204" pitchFamily="34" charset="0"/>
                        </a:rPr>
                        <a:t>Sara Swenson</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59007320"/>
                  </a:ext>
                </a:extLst>
              </a:tr>
              <a:tr h="823685">
                <a:tc>
                  <a:txBody>
                    <a:bodyPr/>
                    <a:lstStyle/>
                    <a:p>
                      <a:pPr algn="ctr" fontAlgn="t"/>
                      <a:r>
                        <a:rPr lang="en-US" sz="900" b="1" i="0" u="none" strike="noStrike">
                          <a:solidFill>
                            <a:srgbClr val="000000"/>
                          </a:solidFill>
                          <a:effectLst/>
                          <a:latin typeface="Calibri" panose="020F0502020204030204" pitchFamily="34" charset="0"/>
                        </a:rPr>
                        <a:t>Supplemental Health Implementation </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Calibri" panose="020F0502020204030204" pitchFamily="34" charset="0"/>
                        </a:rPr>
                        <a:t>Send 51-99 FI Oxford and UHC data (claims and eligibility) from ARA to OnBase to setup policy within OnBase; Taxation will also be required to be setup within OnBase prior to client/policy activation and need stop gap to ensure data will not flow to OnBase until taxation is setup. </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900" b="0" i="0" u="none" strike="noStrike">
                          <a:solidFill>
                            <a:srgbClr val="000000"/>
                          </a:solidFill>
                          <a:effectLst/>
                          <a:latin typeface="Calibri" panose="020F0502020204030204" pitchFamily="34" charset="0"/>
                        </a:rPr>
                        <a:t>AK, AL, AR, AZ, DC, DE, FL, GA, HI, IA, ID, IL, IN, KS, KY, LA, MA, MD, ME, MI, MN, MO, MS, MT, NC, ND, NE, NH, NJ, NV, OH, OK, OR, PA, RI, SC, SD, TN, TX, UT, VA, WA, WI, WV, WY, </a:t>
                      </a:r>
                      <a:r>
                        <a:rPr lang="en-US" sz="800" b="0" i="0" u="none" strike="noStrike" kern="1200">
                          <a:solidFill>
                            <a:srgbClr val="000000"/>
                          </a:solidFill>
                          <a:effectLst/>
                          <a:latin typeface="Calibri" panose="020F0502020204030204" pitchFamily="34" charset="0"/>
                          <a:ea typeface="+mn-ea"/>
                          <a:cs typeface="+mn-cs"/>
                        </a:rPr>
                        <a:t>CO</a:t>
                      </a:r>
                      <a:br>
                        <a:rPr lang="en-US" sz="900" b="0" i="0" u="none" strike="noStrike">
                          <a:solidFill>
                            <a:srgbClr val="000000"/>
                          </a:solidFill>
                          <a:effectLst/>
                          <a:latin typeface="Calibri" panose="020F0502020204030204" pitchFamily="34" charset="0"/>
                        </a:rPr>
                      </a:br>
                      <a:r>
                        <a:rPr lang="en-US" sz="900" b="0" i="0" u="none" strike="noStrike">
                          <a:solidFill>
                            <a:srgbClr val="000000"/>
                          </a:solidFill>
                          <a:effectLst/>
                          <a:latin typeface="Calibri" panose="020F0502020204030204" pitchFamily="34" charset="0"/>
                        </a:rPr>
                        <a:t>Oxford Markets: NJ</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nn-NO" sz="900" b="0" i="0" u="none" strike="noStrike">
                          <a:solidFill>
                            <a:srgbClr val="000000"/>
                          </a:solidFill>
                          <a:effectLst/>
                          <a:latin typeface="Calibri" panose="020F0502020204030204" pitchFamily="34" charset="0"/>
                        </a:rPr>
                        <a:t>NM, CT, VT, CA, NY</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900" b="0" i="0" u="none" strike="noStrike">
                          <a:solidFill>
                            <a:srgbClr val="000000"/>
                          </a:solidFill>
                          <a:effectLst/>
                          <a:latin typeface="Calibri" panose="020F0502020204030204" pitchFamily="34" charset="0"/>
                        </a:rPr>
                        <a:t>Kathy McBride</a:t>
                      </a:r>
                      <a:br>
                        <a:rPr lang="en-US" sz="900" b="0" i="0" u="none" strike="noStrike">
                          <a:solidFill>
                            <a:srgbClr val="000000"/>
                          </a:solidFill>
                          <a:effectLst/>
                          <a:latin typeface="Calibri" panose="020F0502020204030204" pitchFamily="34" charset="0"/>
                        </a:rPr>
                      </a:br>
                      <a:r>
                        <a:rPr lang="en-US" sz="900" b="0" i="0" u="none" strike="noStrike">
                          <a:solidFill>
                            <a:srgbClr val="000000"/>
                          </a:solidFill>
                          <a:effectLst/>
                          <a:latin typeface="Calibri" panose="020F0502020204030204" pitchFamily="34" charset="0"/>
                        </a:rPr>
                        <a:t>Jonathan Mohr</a:t>
                      </a:r>
                      <a:br>
                        <a:rPr lang="en-US" sz="900" b="0" i="0" u="none" strike="noStrike">
                          <a:solidFill>
                            <a:srgbClr val="000000"/>
                          </a:solidFill>
                          <a:effectLst/>
                          <a:latin typeface="Calibri" panose="020F0502020204030204" pitchFamily="34" charset="0"/>
                        </a:rPr>
                      </a:br>
                      <a:r>
                        <a:rPr lang="en-US" sz="900" b="0" i="0" u="none" strike="noStrike">
                          <a:solidFill>
                            <a:srgbClr val="000000"/>
                          </a:solidFill>
                          <a:effectLst/>
                          <a:latin typeface="Calibri" panose="020F0502020204030204" pitchFamily="34" charset="0"/>
                        </a:rPr>
                        <a:t>Uday Vishnudas</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12171154"/>
                  </a:ext>
                </a:extLst>
              </a:tr>
              <a:tr h="823685">
                <a:tc>
                  <a:txBody>
                    <a:bodyPr/>
                    <a:lstStyle/>
                    <a:p>
                      <a:pPr algn="ctr" fontAlgn="t"/>
                      <a:r>
                        <a:rPr lang="en-US" sz="900" b="1" i="0" u="none" strike="noStrike">
                          <a:solidFill>
                            <a:srgbClr val="000000"/>
                          </a:solidFill>
                          <a:effectLst/>
                          <a:latin typeface="Calibri" panose="020F0502020204030204" pitchFamily="34" charset="0"/>
                        </a:rPr>
                        <a:t>Supplemental Health Administration</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Calibri" panose="020F0502020204030204" pitchFamily="34" charset="0"/>
                        </a:rPr>
                        <a:t>Setup OnBase to ingest claims and eligibility information for the 51-99 FI UHC and Oxford membership to pay claims for each of the eligible markets. Ensure all materials sent to the member post processing like the EOB and buck slip are updated to reflect any state nuances (like NY) or to adhere to plan branding or license. OnBase must have all coding completed by market which should be completed as part of the USP expansion. Requesting we validate as part of solutioning discussions. </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900" b="0" i="0" u="none" strike="noStrike">
                          <a:solidFill>
                            <a:srgbClr val="000000"/>
                          </a:solidFill>
                          <a:effectLst/>
                          <a:latin typeface="Calibri" panose="020F0502020204030204" pitchFamily="34" charset="0"/>
                        </a:rPr>
                        <a:t>AK, AL, AR, AZ, DC, DE, FL, GA, HI, IA, ID, IL, IN, KS, KY, LA, MA, MD, ME, MI, MN, MO, MS, MT, NC, ND, NE, NH, NJ, NV, OH, OK, OR, PA, RI, SC, SD, TN,</a:t>
                      </a:r>
                      <a:r>
                        <a:rPr lang="en-US" sz="800" b="0" i="0" u="none" strike="noStrike" kern="1200">
                          <a:solidFill>
                            <a:srgbClr val="000000"/>
                          </a:solidFill>
                          <a:effectLst/>
                          <a:latin typeface="Calibri" panose="020F0502020204030204" pitchFamily="34" charset="0"/>
                          <a:ea typeface="+mn-ea"/>
                          <a:cs typeface="+mn-cs"/>
                        </a:rPr>
                        <a:t> </a:t>
                      </a:r>
                      <a:r>
                        <a:rPr lang="en-US" sz="900" b="0" i="0" u="none" strike="noStrike">
                          <a:solidFill>
                            <a:srgbClr val="000000"/>
                          </a:solidFill>
                          <a:effectLst/>
                          <a:latin typeface="Calibri" panose="020F0502020204030204" pitchFamily="34" charset="0"/>
                        </a:rPr>
                        <a:t>TX, UT, VA, WA, WI, WV, WY, </a:t>
                      </a:r>
                      <a:r>
                        <a:rPr lang="en-US" sz="800" b="0" i="0" u="none" strike="noStrike" kern="1200">
                          <a:solidFill>
                            <a:srgbClr val="000000"/>
                          </a:solidFill>
                          <a:effectLst/>
                          <a:latin typeface="Calibri" panose="020F0502020204030204" pitchFamily="34" charset="0"/>
                          <a:ea typeface="+mn-ea"/>
                          <a:cs typeface="+mn-cs"/>
                        </a:rPr>
                        <a:t>CO</a:t>
                      </a:r>
                      <a:br>
                        <a:rPr lang="en-US" sz="900" b="0" i="0" u="none" strike="noStrike">
                          <a:solidFill>
                            <a:srgbClr val="000000"/>
                          </a:solidFill>
                          <a:effectLst/>
                          <a:latin typeface="Calibri" panose="020F0502020204030204" pitchFamily="34" charset="0"/>
                        </a:rPr>
                      </a:br>
                      <a:r>
                        <a:rPr lang="en-US" sz="900" b="0" i="0" u="none" strike="noStrike">
                          <a:solidFill>
                            <a:srgbClr val="000000"/>
                          </a:solidFill>
                          <a:effectLst/>
                          <a:latin typeface="Calibri" panose="020F0502020204030204" pitchFamily="34" charset="0"/>
                        </a:rPr>
                        <a:t>Oxford Markets: NJ</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nn-NO" sz="900" b="0" i="0" u="none" strike="noStrike">
                          <a:solidFill>
                            <a:srgbClr val="000000"/>
                          </a:solidFill>
                          <a:effectLst/>
                          <a:latin typeface="Calibri" panose="020F0502020204030204" pitchFamily="34" charset="0"/>
                        </a:rPr>
                        <a:t>NM, CT, VT, CA, NY</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900" b="0" i="0" u="none" strike="noStrike">
                          <a:solidFill>
                            <a:srgbClr val="000000"/>
                          </a:solidFill>
                          <a:effectLst/>
                          <a:latin typeface="Calibri" panose="020F0502020204030204" pitchFamily="34" charset="0"/>
                        </a:rPr>
                        <a:t>Kathy McBride</a:t>
                      </a:r>
                      <a:br>
                        <a:rPr lang="en-US" sz="900" b="0" i="0" u="none" strike="noStrike">
                          <a:solidFill>
                            <a:srgbClr val="000000"/>
                          </a:solidFill>
                          <a:effectLst/>
                          <a:latin typeface="Calibri" panose="020F0502020204030204" pitchFamily="34" charset="0"/>
                        </a:rPr>
                      </a:br>
                      <a:r>
                        <a:rPr lang="en-US" sz="900" b="0" i="0" u="none" strike="noStrike">
                          <a:solidFill>
                            <a:srgbClr val="000000"/>
                          </a:solidFill>
                          <a:effectLst/>
                          <a:latin typeface="Calibri" panose="020F0502020204030204" pitchFamily="34" charset="0"/>
                        </a:rPr>
                        <a:t>Jonathan Mohr</a:t>
                      </a:r>
                      <a:br>
                        <a:rPr lang="en-US" sz="900" b="0" i="0" u="none" strike="noStrike">
                          <a:solidFill>
                            <a:srgbClr val="000000"/>
                          </a:solidFill>
                          <a:effectLst/>
                          <a:latin typeface="Calibri" panose="020F0502020204030204" pitchFamily="34" charset="0"/>
                        </a:rPr>
                      </a:br>
                      <a:r>
                        <a:rPr lang="en-US" sz="900" b="0" i="0" u="none" strike="noStrike">
                          <a:solidFill>
                            <a:srgbClr val="000000"/>
                          </a:solidFill>
                          <a:effectLst/>
                          <a:latin typeface="Calibri" panose="020F0502020204030204" pitchFamily="34" charset="0"/>
                        </a:rPr>
                        <a:t>Uday Vishnudas</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77236304"/>
                  </a:ext>
                </a:extLst>
              </a:tr>
            </a:tbl>
          </a:graphicData>
        </a:graphic>
      </p:graphicFrame>
    </p:spTree>
    <p:extLst>
      <p:ext uri="{BB962C8B-B14F-4D97-AF65-F5344CB8AC3E}">
        <p14:creationId xmlns:p14="http://schemas.microsoft.com/office/powerpoint/2010/main" val="20792025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C2C1FE-7836-DE33-CD97-E879AAA867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802FD0-27F8-6031-478F-9A91335F1EDB}"/>
              </a:ext>
            </a:extLst>
          </p:cNvPr>
          <p:cNvSpPr>
            <a:spLocks noGrp="1"/>
          </p:cNvSpPr>
          <p:nvPr>
            <p:ph type="title"/>
          </p:nvPr>
        </p:nvSpPr>
        <p:spPr>
          <a:xfrm>
            <a:off x="226814" y="0"/>
            <a:ext cx="7260336" cy="549381"/>
          </a:xfrm>
        </p:spPr>
        <p:txBody>
          <a:bodyPr>
            <a:normAutofit fontScale="90000"/>
          </a:bodyPr>
          <a:lstStyle/>
          <a:p>
            <a:r>
              <a:rPr lang="en-US"/>
              <a:t>Capability Overview – Phase 2</a:t>
            </a:r>
            <a:br>
              <a:rPr lang="en-US"/>
            </a:br>
            <a:r>
              <a:rPr lang="en-US" sz="1800"/>
              <a:t>(High Level requirements for FI 51-99) </a:t>
            </a:r>
          </a:p>
        </p:txBody>
      </p:sp>
      <p:graphicFrame>
        <p:nvGraphicFramePr>
          <p:cNvPr id="8" name="Table 7">
            <a:extLst>
              <a:ext uri="{FF2B5EF4-FFF2-40B4-BE49-F238E27FC236}">
                <a16:creationId xmlns:a16="http://schemas.microsoft.com/office/drawing/2014/main" id="{FD94D508-9AD2-0199-1863-9CCC8D71CBB7}"/>
              </a:ext>
            </a:extLst>
          </p:cNvPr>
          <p:cNvGraphicFramePr>
            <a:graphicFrameLocks noGrp="1"/>
          </p:cNvGraphicFramePr>
          <p:nvPr>
            <p:extLst>
              <p:ext uri="{D42A27DB-BD31-4B8C-83A1-F6EECF244321}">
                <p14:modId xmlns:p14="http://schemas.microsoft.com/office/powerpoint/2010/main" val="56470800"/>
              </p:ext>
            </p:extLst>
          </p:nvPr>
        </p:nvGraphicFramePr>
        <p:xfrm>
          <a:off x="143791" y="549382"/>
          <a:ext cx="8847809" cy="4259325"/>
        </p:xfrm>
        <a:graphic>
          <a:graphicData uri="http://schemas.openxmlformats.org/drawingml/2006/table">
            <a:tbl>
              <a:tblPr/>
              <a:tblGrid>
                <a:gridCol w="1184353">
                  <a:extLst>
                    <a:ext uri="{9D8B030D-6E8A-4147-A177-3AD203B41FA5}">
                      <a16:colId xmlns:a16="http://schemas.microsoft.com/office/drawing/2014/main" val="1962179033"/>
                    </a:ext>
                  </a:extLst>
                </a:gridCol>
                <a:gridCol w="4211116">
                  <a:extLst>
                    <a:ext uri="{9D8B030D-6E8A-4147-A177-3AD203B41FA5}">
                      <a16:colId xmlns:a16="http://schemas.microsoft.com/office/drawing/2014/main" val="130540882"/>
                    </a:ext>
                  </a:extLst>
                </a:gridCol>
                <a:gridCol w="1875539">
                  <a:extLst>
                    <a:ext uri="{9D8B030D-6E8A-4147-A177-3AD203B41FA5}">
                      <a16:colId xmlns:a16="http://schemas.microsoft.com/office/drawing/2014/main" val="751610378"/>
                    </a:ext>
                  </a:extLst>
                </a:gridCol>
                <a:gridCol w="725444">
                  <a:extLst>
                    <a:ext uri="{9D8B030D-6E8A-4147-A177-3AD203B41FA5}">
                      <a16:colId xmlns:a16="http://schemas.microsoft.com/office/drawing/2014/main" val="2701245817"/>
                    </a:ext>
                  </a:extLst>
                </a:gridCol>
                <a:gridCol w="851357">
                  <a:extLst>
                    <a:ext uri="{9D8B030D-6E8A-4147-A177-3AD203B41FA5}">
                      <a16:colId xmlns:a16="http://schemas.microsoft.com/office/drawing/2014/main" val="1145494209"/>
                    </a:ext>
                  </a:extLst>
                </a:gridCol>
              </a:tblGrid>
              <a:tr h="140900">
                <a:tc>
                  <a:txBody>
                    <a:bodyPr/>
                    <a:lstStyle/>
                    <a:p>
                      <a:pPr algn="ctr" fontAlgn="b"/>
                      <a:r>
                        <a:rPr lang="en-US" sz="900" b="1" i="0" u="none" strike="noStrike">
                          <a:solidFill>
                            <a:srgbClr val="FFFFFF"/>
                          </a:solidFill>
                          <a:effectLst/>
                          <a:latin typeface="Calibri" panose="020F0502020204030204" pitchFamily="34" charset="0"/>
                        </a:rPr>
                        <a:t>Name</a:t>
                      </a:r>
                    </a:p>
                  </a:txBody>
                  <a:tcPr marL="725" marR="725" marT="7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en-US" sz="900" b="1" i="0" u="none" strike="noStrike">
                          <a:solidFill>
                            <a:srgbClr val="FFFFFF"/>
                          </a:solidFill>
                          <a:effectLst/>
                          <a:latin typeface="Calibri" panose="020F0502020204030204" pitchFamily="34" charset="0"/>
                        </a:rPr>
                        <a:t>Functionality Required</a:t>
                      </a:r>
                    </a:p>
                  </a:txBody>
                  <a:tcPr marL="725" marR="725" marT="7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en-US" sz="900" b="1" i="0" u="none" strike="noStrike">
                          <a:solidFill>
                            <a:srgbClr val="FFFFFF"/>
                          </a:solidFill>
                          <a:effectLst/>
                          <a:latin typeface="Calibri" panose="020F0502020204030204" pitchFamily="34" charset="0"/>
                        </a:rPr>
                        <a:t>In Scope</a:t>
                      </a:r>
                    </a:p>
                  </a:txBody>
                  <a:tcPr marL="725" marR="725" marT="7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en-US" sz="900" b="1" i="0" u="none" strike="noStrike">
                          <a:solidFill>
                            <a:srgbClr val="FFFFFF"/>
                          </a:solidFill>
                          <a:effectLst/>
                          <a:latin typeface="Calibri" panose="020F0502020204030204" pitchFamily="34" charset="0"/>
                        </a:rPr>
                        <a:t>Out of Scope</a:t>
                      </a:r>
                    </a:p>
                  </a:txBody>
                  <a:tcPr marL="725" marR="725" marT="7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en-US" sz="900" b="1" i="0" u="none" strike="noStrike">
                          <a:solidFill>
                            <a:srgbClr val="FFFFFF"/>
                          </a:solidFill>
                          <a:effectLst/>
                          <a:latin typeface="Calibri" panose="020F0502020204030204" pitchFamily="34" charset="0"/>
                        </a:rPr>
                        <a:t>Team</a:t>
                      </a:r>
                    </a:p>
                  </a:txBody>
                  <a:tcPr marL="725" marR="725" marT="7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1836913942"/>
                  </a:ext>
                </a:extLst>
              </a:tr>
              <a:tr h="823685">
                <a:tc>
                  <a:txBody>
                    <a:bodyPr/>
                    <a:lstStyle/>
                    <a:p>
                      <a:pPr algn="ctr" fontAlgn="t"/>
                      <a:r>
                        <a:rPr lang="en-US" sz="900" b="1" i="0" u="none" strike="noStrike">
                          <a:solidFill>
                            <a:srgbClr val="000000"/>
                          </a:solidFill>
                          <a:effectLst/>
                          <a:latin typeface="Calibri" panose="020F0502020204030204" pitchFamily="34" charset="0"/>
                        </a:rPr>
                        <a:t>Supplemental Health Contracts &amp; Fulfillment</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Calibri" panose="020F0502020204030204" pitchFamily="34" charset="0"/>
                        </a:rPr>
                        <a:t>Build an automated process - similar to Oxford FI NY/NJ 100+ where we can automate the COC and make accessible via Doc360; this requirement needs to be vetted with RRT team before we move forward with this requirement. </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900" b="0" i="0" u="none" strike="noStrike">
                          <a:solidFill>
                            <a:srgbClr val="000000"/>
                          </a:solidFill>
                          <a:effectLst/>
                          <a:latin typeface="Calibri" panose="020F0502020204030204" pitchFamily="34" charset="0"/>
                        </a:rPr>
                        <a:t>AK, AL, AR, AZ, DC, DE, FL, GA, HI, IA, ID, IL, IN, KS, KY, LA, MA, MD, ME, MI, MN, MO, MS, MT, NC, ND, NE, NH, NJ, NV, OH, OK, OR, PA, RI, SC, SD, TN, TX, UT, VA, WA, WI, WV, WY, </a:t>
                      </a:r>
                      <a:r>
                        <a:rPr lang="en-US" sz="800" b="0" i="0" u="none" strike="noStrike" kern="1200">
                          <a:solidFill>
                            <a:srgbClr val="000000"/>
                          </a:solidFill>
                          <a:effectLst/>
                          <a:latin typeface="Calibri" panose="020F0502020204030204" pitchFamily="34" charset="0"/>
                          <a:ea typeface="+mn-ea"/>
                          <a:cs typeface="+mn-cs"/>
                        </a:rPr>
                        <a:t>CO</a:t>
                      </a:r>
                      <a:br>
                        <a:rPr lang="en-US" sz="900" b="0" i="0" u="none" strike="noStrike">
                          <a:solidFill>
                            <a:srgbClr val="000000"/>
                          </a:solidFill>
                          <a:effectLst/>
                          <a:latin typeface="Calibri" panose="020F0502020204030204" pitchFamily="34" charset="0"/>
                        </a:rPr>
                      </a:br>
                      <a:r>
                        <a:rPr lang="en-US" sz="900" b="0" i="0" u="none" strike="noStrike">
                          <a:solidFill>
                            <a:srgbClr val="000000"/>
                          </a:solidFill>
                          <a:effectLst/>
                          <a:latin typeface="Calibri" panose="020F0502020204030204" pitchFamily="34" charset="0"/>
                        </a:rPr>
                        <a:t>Oxford Markets: NJ</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nn-NO" sz="900" b="0" i="0" u="none" strike="noStrike">
                          <a:solidFill>
                            <a:srgbClr val="000000"/>
                          </a:solidFill>
                          <a:effectLst/>
                          <a:latin typeface="Calibri" panose="020F0502020204030204" pitchFamily="34" charset="0"/>
                        </a:rPr>
                        <a:t>NM, CT, VT, CA, NY</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900" b="0" i="0" u="none" strike="noStrike">
                          <a:solidFill>
                            <a:srgbClr val="000000"/>
                          </a:solidFill>
                          <a:effectLst/>
                          <a:latin typeface="Calibri" panose="020F0502020204030204" pitchFamily="34" charset="0"/>
                        </a:rPr>
                        <a:t>Jonathan Mohr, Valerie Martinez, Karthik </a:t>
                      </a:r>
                      <a:r>
                        <a:rPr lang="en-US" sz="900" b="0" i="0" u="none" strike="noStrike" err="1">
                          <a:solidFill>
                            <a:srgbClr val="000000"/>
                          </a:solidFill>
                          <a:effectLst/>
                          <a:latin typeface="Calibri" panose="020F0502020204030204" pitchFamily="34" charset="0"/>
                        </a:rPr>
                        <a:t>Thilager</a:t>
                      </a:r>
                      <a:r>
                        <a:rPr lang="en-US" sz="900" b="0" i="0" u="none" strike="noStrike">
                          <a:solidFill>
                            <a:srgbClr val="000000"/>
                          </a:solidFill>
                          <a:effectLst/>
                          <a:latin typeface="Calibri" panose="020F0502020204030204" pitchFamily="34" charset="0"/>
                        </a:rPr>
                        <a:t>, Michael Dircz </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28509516"/>
                  </a:ext>
                </a:extLst>
              </a:tr>
              <a:tr h="823685">
                <a:tc>
                  <a:txBody>
                    <a:bodyPr/>
                    <a:lstStyle/>
                    <a:p>
                      <a:pPr algn="ctr" fontAlgn="t"/>
                      <a:r>
                        <a:rPr lang="en-US" sz="900" b="1" i="0" u="none" strike="noStrike">
                          <a:solidFill>
                            <a:srgbClr val="000000"/>
                          </a:solidFill>
                          <a:effectLst/>
                          <a:latin typeface="Calibri" panose="020F0502020204030204" pitchFamily="34" charset="0"/>
                        </a:rPr>
                        <a:t>Member Access to Benefit Ally Information</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Calibri" panose="020F0502020204030204" pitchFamily="34" charset="0"/>
                        </a:rPr>
                        <a:t>DOB's accessible via myuhc.com - all documents MUST go through UA before posting - need process for this. </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900" b="0" i="0" u="none" strike="noStrike">
                          <a:solidFill>
                            <a:srgbClr val="000000"/>
                          </a:solidFill>
                          <a:effectLst/>
                          <a:latin typeface="Calibri" panose="020F0502020204030204" pitchFamily="34" charset="0"/>
                        </a:rPr>
                        <a:t>AK, AL, AR, AZ, DC, DE, FL, GA, HI, IA, ID, IL, IN, KS, KY, LA, MA, MD, ME, MI, MN, MO, MS, MT, NC, ND, NE, NH, NJ, NV, OH, OK, OR, PA, RI, SC, SD, TN, TX, UT, VA, WA, WI, WV, WY, </a:t>
                      </a:r>
                      <a:r>
                        <a:rPr lang="en-US" sz="800" b="0" i="0" u="none" strike="noStrike" kern="1200">
                          <a:solidFill>
                            <a:srgbClr val="000000"/>
                          </a:solidFill>
                          <a:effectLst/>
                          <a:latin typeface="Calibri" panose="020F0502020204030204" pitchFamily="34" charset="0"/>
                          <a:ea typeface="+mn-ea"/>
                          <a:cs typeface="+mn-cs"/>
                        </a:rPr>
                        <a:t>CO</a:t>
                      </a:r>
                      <a:br>
                        <a:rPr lang="en-US" sz="900" b="0" i="0" u="none" strike="noStrike">
                          <a:solidFill>
                            <a:srgbClr val="000000"/>
                          </a:solidFill>
                          <a:effectLst/>
                          <a:latin typeface="Calibri" panose="020F0502020204030204" pitchFamily="34" charset="0"/>
                        </a:rPr>
                      </a:br>
                      <a:r>
                        <a:rPr lang="en-US" sz="900" b="0" i="0" u="none" strike="noStrike">
                          <a:solidFill>
                            <a:srgbClr val="000000"/>
                          </a:solidFill>
                          <a:effectLst/>
                          <a:latin typeface="Calibri" panose="020F0502020204030204" pitchFamily="34" charset="0"/>
                        </a:rPr>
                        <a:t>Oxford Markets: NJ</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nn-NO" sz="900" b="0" i="0" u="none" strike="noStrike">
                          <a:solidFill>
                            <a:srgbClr val="000000"/>
                          </a:solidFill>
                          <a:effectLst/>
                          <a:latin typeface="Calibri" panose="020F0502020204030204" pitchFamily="34" charset="0"/>
                        </a:rPr>
                        <a:t>NM, CT, VT, CA, NY</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900" b="0" i="0" u="none" strike="noStrike">
                          <a:solidFill>
                            <a:srgbClr val="000000"/>
                          </a:solidFill>
                          <a:effectLst/>
                          <a:latin typeface="Calibri" panose="020F0502020204030204" pitchFamily="34" charset="0"/>
                        </a:rPr>
                        <a:t>Jonathan Mohr, Valerie Martinez, Karthik </a:t>
                      </a:r>
                      <a:r>
                        <a:rPr lang="en-US" sz="900" b="0" i="0" u="none" strike="noStrike" err="1">
                          <a:solidFill>
                            <a:srgbClr val="000000"/>
                          </a:solidFill>
                          <a:effectLst/>
                          <a:latin typeface="Calibri" panose="020F0502020204030204" pitchFamily="34" charset="0"/>
                        </a:rPr>
                        <a:t>Thilager</a:t>
                      </a:r>
                      <a:r>
                        <a:rPr lang="en-US" sz="900" b="0" i="0" u="none" strike="noStrike">
                          <a:solidFill>
                            <a:srgbClr val="000000"/>
                          </a:solidFill>
                          <a:effectLst/>
                          <a:latin typeface="Calibri" panose="020F0502020204030204" pitchFamily="34" charset="0"/>
                        </a:rPr>
                        <a:t> and </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83688203"/>
                  </a:ext>
                </a:extLst>
              </a:tr>
              <a:tr h="823685">
                <a:tc>
                  <a:txBody>
                    <a:bodyPr/>
                    <a:lstStyle/>
                    <a:p>
                      <a:pPr algn="ctr" fontAlgn="t"/>
                      <a:r>
                        <a:rPr lang="en-US" sz="900" b="1" i="0" u="none" strike="noStrike">
                          <a:solidFill>
                            <a:srgbClr val="000000"/>
                          </a:solidFill>
                          <a:effectLst/>
                          <a:latin typeface="Calibri" panose="020F0502020204030204" pitchFamily="34" charset="0"/>
                        </a:rPr>
                        <a:t>Broker and Employer Access to Benefit Ally Information</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Calibri" panose="020F0502020204030204" pitchFamily="34" charset="0"/>
                        </a:rPr>
                        <a:t>Make COC's and invoices available via B&amp;E portal for 51-99 for Oxford and UHC. </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900" b="0" i="0" u="none" strike="noStrike">
                          <a:solidFill>
                            <a:srgbClr val="000000"/>
                          </a:solidFill>
                          <a:effectLst/>
                          <a:latin typeface="Calibri" panose="020F0502020204030204" pitchFamily="34" charset="0"/>
                        </a:rPr>
                        <a:t>AK, AL, AR, AZ, DC, DE, FL, GA, HI, IA, ID, IL, IN, KS, KY, LA, MA, MD, ME, MI, MN, MO, MS, MT, NC, ND, NE, NH, NJ, NV, OH, OK, OR, PA, RI, SC, SD, TN, TX, UT, VA, WA, WI, WV, WY, </a:t>
                      </a:r>
                      <a:r>
                        <a:rPr lang="en-US" sz="800" b="0" i="0" u="none" strike="noStrike" kern="1200">
                          <a:solidFill>
                            <a:srgbClr val="000000"/>
                          </a:solidFill>
                          <a:effectLst/>
                          <a:latin typeface="Calibri" panose="020F0502020204030204" pitchFamily="34" charset="0"/>
                          <a:ea typeface="+mn-ea"/>
                          <a:cs typeface="+mn-cs"/>
                        </a:rPr>
                        <a:t>CO</a:t>
                      </a:r>
                      <a:br>
                        <a:rPr lang="en-US" sz="900" b="0" i="0" u="none" strike="noStrike">
                          <a:solidFill>
                            <a:srgbClr val="000000"/>
                          </a:solidFill>
                          <a:effectLst/>
                          <a:latin typeface="Calibri" panose="020F0502020204030204" pitchFamily="34" charset="0"/>
                        </a:rPr>
                      </a:br>
                      <a:r>
                        <a:rPr lang="en-US" sz="900" b="0" i="0" u="none" strike="noStrike">
                          <a:solidFill>
                            <a:srgbClr val="000000"/>
                          </a:solidFill>
                          <a:effectLst/>
                          <a:latin typeface="Calibri" panose="020F0502020204030204" pitchFamily="34" charset="0"/>
                        </a:rPr>
                        <a:t>Oxford Markets: NJ</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nn-NO" sz="900" b="0" i="0" u="none" strike="noStrike">
                          <a:solidFill>
                            <a:srgbClr val="000000"/>
                          </a:solidFill>
                          <a:effectLst/>
                          <a:latin typeface="Calibri" panose="020F0502020204030204" pitchFamily="34" charset="0"/>
                        </a:rPr>
                        <a:t>NM, CT, VT, CA, NY</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900" b="0" i="0" u="none" strike="noStrike">
                          <a:solidFill>
                            <a:srgbClr val="000000"/>
                          </a:solidFill>
                          <a:effectLst/>
                          <a:latin typeface="Calibri" panose="020F0502020204030204" pitchFamily="34" charset="0"/>
                        </a:rPr>
                        <a:t>Jonathan Mohr, Valerie Martinez, Karthik </a:t>
                      </a:r>
                      <a:r>
                        <a:rPr lang="en-US" sz="900" b="0" i="0" u="none" strike="noStrike" err="1">
                          <a:solidFill>
                            <a:srgbClr val="000000"/>
                          </a:solidFill>
                          <a:effectLst/>
                          <a:latin typeface="Calibri" panose="020F0502020204030204" pitchFamily="34" charset="0"/>
                        </a:rPr>
                        <a:t>Thilager</a:t>
                      </a:r>
                      <a:r>
                        <a:rPr lang="en-US" sz="900" b="0" i="0" u="none" strike="noStrike">
                          <a:solidFill>
                            <a:srgbClr val="000000"/>
                          </a:solidFill>
                          <a:effectLst/>
                          <a:latin typeface="Calibri" panose="020F0502020204030204" pitchFamily="34" charset="0"/>
                        </a:rPr>
                        <a:t> </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84911578"/>
                  </a:ext>
                </a:extLst>
              </a:tr>
              <a:tr h="823685">
                <a:tc>
                  <a:txBody>
                    <a:bodyPr/>
                    <a:lstStyle/>
                    <a:p>
                      <a:pPr algn="ctr" fontAlgn="t"/>
                      <a:r>
                        <a:rPr lang="en-US" sz="900" b="1" i="0" u="none" strike="noStrike">
                          <a:solidFill>
                            <a:srgbClr val="000000"/>
                          </a:solidFill>
                          <a:effectLst/>
                          <a:latin typeface="Calibri" panose="020F0502020204030204" pitchFamily="34" charset="0"/>
                        </a:rPr>
                        <a:t>Customer Service</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Calibri" panose="020F0502020204030204" pitchFamily="34" charset="0"/>
                        </a:rPr>
                        <a:t>Ensure customer support (OST) and supplemental health customer support are able to intake the volume for 51-99 for Oxford and UHC. Process should not change for customer service - it should be the exact same for KA FI 100+ Oxford NJ. </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900" b="0" i="0" u="none" strike="noStrike">
                          <a:solidFill>
                            <a:srgbClr val="000000"/>
                          </a:solidFill>
                          <a:effectLst/>
                          <a:latin typeface="Calibri" panose="020F0502020204030204" pitchFamily="34" charset="0"/>
                        </a:rPr>
                        <a:t>AK, AL, AR, AZ, DC, DE, FL, GA, HI, IA, ID, IL, IN, KS, KY, LA, MA, MD, ME, MI, MN, MO, MS, MT, NC, ND, NE, NH, NJ, NV, OH, OK, OR, PA, RI, SC, SD, TN, TX, UT, VA, WA, WI, WV, WY, </a:t>
                      </a:r>
                      <a:r>
                        <a:rPr lang="en-US" sz="800" b="0" i="0" u="none" strike="noStrike" kern="1200">
                          <a:solidFill>
                            <a:srgbClr val="000000"/>
                          </a:solidFill>
                          <a:effectLst/>
                          <a:latin typeface="Calibri" panose="020F0502020204030204" pitchFamily="34" charset="0"/>
                          <a:ea typeface="+mn-ea"/>
                          <a:cs typeface="+mn-cs"/>
                        </a:rPr>
                        <a:t>CO</a:t>
                      </a:r>
                      <a:br>
                        <a:rPr lang="en-US" sz="900" b="0" i="0" u="none" strike="noStrike">
                          <a:solidFill>
                            <a:srgbClr val="000000"/>
                          </a:solidFill>
                          <a:effectLst/>
                          <a:latin typeface="Calibri" panose="020F0502020204030204" pitchFamily="34" charset="0"/>
                        </a:rPr>
                      </a:br>
                      <a:r>
                        <a:rPr lang="en-US" sz="900" b="0" i="0" u="none" strike="noStrike">
                          <a:solidFill>
                            <a:srgbClr val="000000"/>
                          </a:solidFill>
                          <a:effectLst/>
                          <a:latin typeface="Calibri" panose="020F0502020204030204" pitchFamily="34" charset="0"/>
                        </a:rPr>
                        <a:t>Oxford Markets: NJ</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nn-NO" sz="900" b="0" i="0" u="none" strike="noStrike">
                          <a:solidFill>
                            <a:srgbClr val="000000"/>
                          </a:solidFill>
                          <a:effectLst/>
                          <a:latin typeface="Calibri" panose="020F0502020204030204" pitchFamily="34" charset="0"/>
                        </a:rPr>
                        <a:t>NM, CT, VT, CA, NY</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900" b="0" i="0" u="none" strike="noStrike">
                          <a:solidFill>
                            <a:srgbClr val="000000"/>
                          </a:solidFill>
                          <a:effectLst/>
                          <a:latin typeface="Calibri" panose="020F0502020204030204" pitchFamily="34" charset="0"/>
                        </a:rPr>
                        <a:t>Jennifer Hamilton and Harpreet </a:t>
                      </a:r>
                      <a:r>
                        <a:rPr lang="en-US" sz="900" b="0" i="0" u="none" strike="noStrike" err="1">
                          <a:solidFill>
                            <a:srgbClr val="000000"/>
                          </a:solidFill>
                          <a:effectLst/>
                          <a:latin typeface="Calibri" panose="020F0502020204030204" pitchFamily="34" charset="0"/>
                        </a:rPr>
                        <a:t>Churiwalla</a:t>
                      </a:r>
                      <a:br>
                        <a:rPr lang="en-US" sz="900" b="0" i="0" u="none" strike="noStrike">
                          <a:solidFill>
                            <a:srgbClr val="000000"/>
                          </a:solidFill>
                          <a:effectLst/>
                          <a:latin typeface="Calibri" panose="020F0502020204030204" pitchFamily="34" charset="0"/>
                        </a:rPr>
                      </a:br>
                      <a:endParaRPr lang="en-US" sz="900" b="0" i="0" u="none" strike="noStrike">
                        <a:solidFill>
                          <a:srgbClr val="000000"/>
                        </a:solidFill>
                        <a:effectLst/>
                        <a:latin typeface="Calibri" panose="020F0502020204030204" pitchFamily="34" charset="0"/>
                      </a:endParaRP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9230400"/>
                  </a:ext>
                </a:extLst>
              </a:tr>
              <a:tr h="823685">
                <a:tc>
                  <a:txBody>
                    <a:bodyPr/>
                    <a:lstStyle/>
                    <a:p>
                      <a:pPr algn="ctr" fontAlgn="t"/>
                      <a:r>
                        <a:rPr lang="en-US" sz="900" b="1" i="0" u="none" strike="noStrike">
                          <a:solidFill>
                            <a:srgbClr val="000000"/>
                          </a:solidFill>
                          <a:effectLst/>
                          <a:latin typeface="Calibri" panose="020F0502020204030204" pitchFamily="34" charset="0"/>
                        </a:rPr>
                        <a:t>Supplemental Health Reporting </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Calibri" panose="020F0502020204030204" pitchFamily="34" charset="0"/>
                        </a:rPr>
                        <a:t>Ensure reporting and appropriate data fields is accessible via PRO/Tableau team to report on; requirements will be to report both UHC and Oxford 51-99 membership by market, by client, by supplemental health product (CIPP/HIPP/APP). </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900" b="0" i="0" u="none" strike="noStrike">
                          <a:solidFill>
                            <a:srgbClr val="000000"/>
                          </a:solidFill>
                          <a:effectLst/>
                          <a:latin typeface="Calibri" panose="020F0502020204030204" pitchFamily="34" charset="0"/>
                        </a:rPr>
                        <a:t>AK, AL, AR, AZ, DC, DE, FL, GA, HI, IA, ID, IL, IN, KS, KY, LA, MA, MD, ME, MI, MN, MO, MS, MT, NC, ND, NE, NH, NJ, NV, OH, OK, OR, PA, RI, SC, SD, TN, TX, UT, VA, WA, WI, WV, WY, </a:t>
                      </a:r>
                      <a:r>
                        <a:rPr lang="en-US" sz="800" b="0" i="0" u="none" strike="noStrike" kern="1200">
                          <a:solidFill>
                            <a:srgbClr val="000000"/>
                          </a:solidFill>
                          <a:effectLst/>
                          <a:latin typeface="Calibri" panose="020F0502020204030204" pitchFamily="34" charset="0"/>
                          <a:ea typeface="+mn-ea"/>
                          <a:cs typeface="+mn-cs"/>
                        </a:rPr>
                        <a:t>CO</a:t>
                      </a:r>
                      <a:br>
                        <a:rPr lang="en-US" sz="900" b="0" i="0" u="none" strike="noStrike">
                          <a:solidFill>
                            <a:srgbClr val="000000"/>
                          </a:solidFill>
                          <a:effectLst/>
                          <a:latin typeface="Calibri" panose="020F0502020204030204" pitchFamily="34" charset="0"/>
                        </a:rPr>
                      </a:br>
                      <a:r>
                        <a:rPr lang="en-US" sz="900" b="0" i="0" u="none" strike="noStrike">
                          <a:solidFill>
                            <a:srgbClr val="000000"/>
                          </a:solidFill>
                          <a:effectLst/>
                          <a:latin typeface="Calibri" panose="020F0502020204030204" pitchFamily="34" charset="0"/>
                        </a:rPr>
                        <a:t>Oxford Markets: NJ</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nn-NO" sz="900" b="0" i="0" u="none" strike="noStrike">
                          <a:solidFill>
                            <a:srgbClr val="000000"/>
                          </a:solidFill>
                          <a:effectLst/>
                          <a:latin typeface="Calibri" panose="020F0502020204030204" pitchFamily="34" charset="0"/>
                        </a:rPr>
                        <a:t>NM, CT, VT, CA, NY</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900" b="0" i="0" u="none" strike="noStrike">
                          <a:solidFill>
                            <a:srgbClr val="000000"/>
                          </a:solidFill>
                          <a:effectLst/>
                          <a:latin typeface="Calibri" panose="020F0502020204030204" pitchFamily="34" charset="0"/>
                        </a:rPr>
                        <a:t>Theresa Niu</a:t>
                      </a:r>
                      <a:br>
                        <a:rPr lang="en-US" sz="900" b="0" i="0" u="none" strike="noStrike">
                          <a:solidFill>
                            <a:srgbClr val="000000"/>
                          </a:solidFill>
                          <a:effectLst/>
                          <a:latin typeface="Calibri" panose="020F0502020204030204" pitchFamily="34" charset="0"/>
                        </a:rPr>
                      </a:br>
                      <a:r>
                        <a:rPr lang="en-US" sz="900" b="0" i="0" u="none" strike="noStrike">
                          <a:solidFill>
                            <a:srgbClr val="000000"/>
                          </a:solidFill>
                          <a:effectLst/>
                          <a:latin typeface="Calibri" panose="020F0502020204030204" pitchFamily="34" charset="0"/>
                        </a:rPr>
                        <a:t>Marie Antoinette </a:t>
                      </a:r>
                      <a:r>
                        <a:rPr lang="en-US" sz="900" b="0" i="0" u="none" strike="noStrike" err="1">
                          <a:solidFill>
                            <a:srgbClr val="000000"/>
                          </a:solidFill>
                          <a:effectLst/>
                          <a:latin typeface="Calibri" panose="020F0502020204030204" pitchFamily="34" charset="0"/>
                        </a:rPr>
                        <a:t>Burkhartt</a:t>
                      </a:r>
                      <a:endParaRPr lang="en-US" sz="900" b="0" i="0" u="none" strike="noStrike">
                        <a:solidFill>
                          <a:srgbClr val="000000"/>
                        </a:solidFill>
                        <a:effectLst/>
                        <a:latin typeface="Calibri" panose="020F0502020204030204" pitchFamily="34" charset="0"/>
                      </a:endParaRP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99159072"/>
                  </a:ext>
                </a:extLst>
              </a:tr>
            </a:tbl>
          </a:graphicData>
        </a:graphic>
      </p:graphicFrame>
    </p:spTree>
    <p:extLst>
      <p:ext uri="{BB962C8B-B14F-4D97-AF65-F5344CB8AC3E}">
        <p14:creationId xmlns:p14="http://schemas.microsoft.com/office/powerpoint/2010/main" val="26408084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16BDA-70D3-06CF-F598-D5666FE8B0F4}"/>
            </a:ext>
          </a:extLst>
        </p:cNvPr>
        <p:cNvGrpSpPr/>
        <p:nvPr/>
      </p:nvGrpSpPr>
      <p:grpSpPr>
        <a:xfrm>
          <a:off x="0" y="0"/>
          <a:ext cx="0" cy="0"/>
          <a:chOff x="0" y="0"/>
          <a:chExt cx="0" cy="0"/>
        </a:xfrm>
      </p:grpSpPr>
      <p:grpSp>
        <p:nvGrpSpPr>
          <p:cNvPr id="58" name="Group 57">
            <a:extLst>
              <a:ext uri="{FF2B5EF4-FFF2-40B4-BE49-F238E27FC236}">
                <a16:creationId xmlns:a16="http://schemas.microsoft.com/office/drawing/2014/main" id="{C773B398-42E1-6BC2-48C1-89993C539164}"/>
              </a:ext>
            </a:extLst>
          </p:cNvPr>
          <p:cNvGrpSpPr/>
          <p:nvPr/>
        </p:nvGrpSpPr>
        <p:grpSpPr>
          <a:xfrm>
            <a:off x="439424" y="679224"/>
            <a:ext cx="8243953" cy="4046962"/>
            <a:chOff x="584462" y="904973"/>
            <a:chExt cx="10994801" cy="5397356"/>
          </a:xfrm>
        </p:grpSpPr>
        <p:sp>
          <p:nvSpPr>
            <p:cNvPr id="59" name="Rectangle 58">
              <a:extLst>
                <a:ext uri="{FF2B5EF4-FFF2-40B4-BE49-F238E27FC236}">
                  <a16:creationId xmlns:a16="http://schemas.microsoft.com/office/drawing/2014/main" id="{8E7FEA0A-40DC-A20C-7100-92FACC405F1C}"/>
                </a:ext>
              </a:extLst>
            </p:cNvPr>
            <p:cNvSpPr/>
            <p:nvPr/>
          </p:nvSpPr>
          <p:spPr>
            <a:xfrm>
              <a:off x="3062144" y="5753713"/>
              <a:ext cx="1904212" cy="548616"/>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675">
                  <a:solidFill>
                    <a:schemeClr val="tx2">
                      <a:lumMod val="75000"/>
                    </a:schemeClr>
                  </a:solidFill>
                </a:rPr>
                <a:t>Engage Agents</a:t>
              </a:r>
            </a:p>
            <a:p>
              <a:r>
                <a:rPr lang="en-US" sz="675">
                  <a:solidFill>
                    <a:schemeClr val="tx2">
                      <a:lumMod val="75000"/>
                    </a:schemeClr>
                  </a:solidFill>
                </a:rPr>
                <a:t>Sell to Customers</a:t>
              </a:r>
            </a:p>
            <a:p>
              <a:r>
                <a:rPr lang="en-US" sz="675">
                  <a:solidFill>
                    <a:schemeClr val="tx2">
                      <a:lumMod val="75000"/>
                    </a:schemeClr>
                  </a:solidFill>
                </a:rPr>
                <a:t>Set Sales Strategy</a:t>
              </a:r>
            </a:p>
            <a:p>
              <a:r>
                <a:rPr lang="en-US" sz="675">
                  <a:solidFill>
                    <a:schemeClr val="tx2">
                      <a:lumMod val="75000"/>
                    </a:schemeClr>
                  </a:solidFill>
                </a:rPr>
                <a:t>Underwriting</a:t>
              </a:r>
            </a:p>
          </p:txBody>
        </p:sp>
        <p:sp>
          <p:nvSpPr>
            <p:cNvPr id="60" name="TextBox 59">
              <a:extLst>
                <a:ext uri="{FF2B5EF4-FFF2-40B4-BE49-F238E27FC236}">
                  <a16:creationId xmlns:a16="http://schemas.microsoft.com/office/drawing/2014/main" id="{159BB5FC-27A2-BEDB-2315-A78D42FC68DE}"/>
                </a:ext>
              </a:extLst>
            </p:cNvPr>
            <p:cNvSpPr txBox="1"/>
            <p:nvPr/>
          </p:nvSpPr>
          <p:spPr>
            <a:xfrm>
              <a:off x="584462" y="904973"/>
              <a:ext cx="10994800" cy="307856"/>
            </a:xfrm>
            <a:prstGeom prst="rect">
              <a:avLst/>
            </a:prstGeom>
            <a:solidFill>
              <a:srgbClr val="002060"/>
            </a:solidFill>
          </p:spPr>
          <p:txBody>
            <a:bodyPr wrap="square" rtlCol="0">
              <a:spAutoFit/>
            </a:bodyPr>
            <a:lstStyle/>
            <a:p>
              <a:pPr algn="ctr"/>
              <a:r>
                <a:rPr lang="en-US" sz="900" b="1">
                  <a:solidFill>
                    <a:srgbClr val="FFFFFF"/>
                  </a:solidFill>
                </a:rPr>
                <a:t>UHC Product Capability Model</a:t>
              </a:r>
            </a:p>
          </p:txBody>
        </p:sp>
        <p:sp>
          <p:nvSpPr>
            <p:cNvPr id="61" name="Rectangle 60">
              <a:extLst>
                <a:ext uri="{FF2B5EF4-FFF2-40B4-BE49-F238E27FC236}">
                  <a16:creationId xmlns:a16="http://schemas.microsoft.com/office/drawing/2014/main" id="{BD8411C8-0F7A-A9F7-249D-623C92F0AB85}"/>
                </a:ext>
              </a:extLst>
            </p:cNvPr>
            <p:cNvSpPr/>
            <p:nvPr/>
          </p:nvSpPr>
          <p:spPr>
            <a:xfrm>
              <a:off x="612738" y="1526759"/>
              <a:ext cx="1084083" cy="660261"/>
            </a:xfrm>
            <a:prstGeom prst="rect">
              <a:avLst/>
            </a:prstGeom>
            <a:solidFill>
              <a:schemeClr val="bg1">
                <a:lumMod val="95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50">
                  <a:solidFill>
                    <a:srgbClr val="0070C0"/>
                  </a:solidFill>
                </a:rPr>
                <a:t>Provider Aligned Products</a:t>
              </a:r>
            </a:p>
            <a:p>
              <a:pPr algn="ctr"/>
              <a:r>
                <a:rPr lang="en-US" sz="750">
                  <a:solidFill>
                    <a:srgbClr val="0070C0"/>
                  </a:solidFill>
                </a:rPr>
                <a:t>(Medical)</a:t>
              </a:r>
            </a:p>
          </p:txBody>
        </p:sp>
        <p:sp>
          <p:nvSpPr>
            <p:cNvPr id="62" name="Rectangle 61">
              <a:extLst>
                <a:ext uri="{FF2B5EF4-FFF2-40B4-BE49-F238E27FC236}">
                  <a16:creationId xmlns:a16="http://schemas.microsoft.com/office/drawing/2014/main" id="{9F26DDBF-BC55-7C15-3D2E-F744DB16DF75}"/>
                </a:ext>
              </a:extLst>
            </p:cNvPr>
            <p:cNvSpPr/>
            <p:nvPr/>
          </p:nvSpPr>
          <p:spPr>
            <a:xfrm>
              <a:off x="3037003" y="1780152"/>
              <a:ext cx="1919925" cy="9144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675">
                  <a:solidFill>
                    <a:schemeClr val="tx2">
                      <a:lumMod val="75000"/>
                    </a:schemeClr>
                  </a:solidFill>
                </a:rPr>
                <a:t>Enrollment &amp; Eligibility</a:t>
              </a:r>
            </a:p>
            <a:p>
              <a:r>
                <a:rPr lang="en-US" sz="675">
                  <a:solidFill>
                    <a:schemeClr val="tx2">
                      <a:lumMod val="75000"/>
                    </a:schemeClr>
                  </a:solidFill>
                </a:rPr>
                <a:t>Member Billing &amp; Collections</a:t>
              </a:r>
            </a:p>
            <a:p>
              <a:r>
                <a:rPr lang="en-US" sz="675">
                  <a:solidFill>
                    <a:schemeClr val="tx2">
                      <a:lumMod val="75000"/>
                    </a:schemeClr>
                  </a:solidFill>
                </a:rPr>
                <a:t>Member Data &amp; Preferences</a:t>
              </a:r>
            </a:p>
            <a:p>
              <a:r>
                <a:rPr lang="en-US" sz="675">
                  <a:solidFill>
                    <a:schemeClr val="tx2">
                      <a:lumMod val="75000"/>
                    </a:schemeClr>
                  </a:solidFill>
                </a:rPr>
                <a:t>Member Fulfillment</a:t>
              </a:r>
            </a:p>
            <a:p>
              <a:r>
                <a:rPr lang="en-US" sz="675">
                  <a:solidFill>
                    <a:schemeClr val="tx2">
                      <a:lumMod val="75000"/>
                    </a:schemeClr>
                  </a:solidFill>
                </a:rPr>
                <a:t>Member Interactions</a:t>
              </a:r>
            </a:p>
            <a:p>
              <a:r>
                <a:rPr lang="en-US" sz="675">
                  <a:solidFill>
                    <a:schemeClr val="tx2">
                      <a:lumMod val="75000"/>
                    </a:schemeClr>
                  </a:solidFill>
                </a:rPr>
                <a:t>Member Self-Service</a:t>
              </a:r>
            </a:p>
          </p:txBody>
        </p:sp>
        <p:sp>
          <p:nvSpPr>
            <p:cNvPr id="63" name="Rectangle 62">
              <a:extLst>
                <a:ext uri="{FF2B5EF4-FFF2-40B4-BE49-F238E27FC236}">
                  <a16:creationId xmlns:a16="http://schemas.microsoft.com/office/drawing/2014/main" id="{EC562136-82B9-F2E9-2BF1-EDC23C2E28F5}"/>
                </a:ext>
              </a:extLst>
            </p:cNvPr>
            <p:cNvSpPr/>
            <p:nvPr/>
          </p:nvSpPr>
          <p:spPr>
            <a:xfrm>
              <a:off x="612739" y="2274043"/>
              <a:ext cx="1084083" cy="914400"/>
            </a:xfrm>
            <a:prstGeom prst="rect">
              <a:avLst/>
            </a:prstGeom>
            <a:solidFill>
              <a:schemeClr val="bg1">
                <a:lumMod val="95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solidFill>
                    <a:srgbClr val="0070C0"/>
                  </a:solidFill>
                </a:rPr>
                <a:t>Consumer</a:t>
              </a:r>
            </a:p>
            <a:p>
              <a:pPr algn="ctr"/>
              <a:r>
                <a:rPr lang="en-US" sz="700">
                  <a:solidFill>
                    <a:srgbClr val="0070C0"/>
                  </a:solidFill>
                </a:rPr>
                <a:t>Engagement</a:t>
              </a:r>
            </a:p>
            <a:p>
              <a:pPr algn="ctr"/>
              <a:r>
                <a:rPr lang="en-US" sz="700">
                  <a:solidFill>
                    <a:srgbClr val="0070C0"/>
                  </a:solidFill>
                </a:rPr>
                <a:t>Products</a:t>
              </a:r>
            </a:p>
            <a:p>
              <a:pPr algn="ctr"/>
              <a:r>
                <a:rPr lang="en-US" sz="700">
                  <a:solidFill>
                    <a:srgbClr val="0070C0"/>
                  </a:solidFill>
                </a:rPr>
                <a:t>(Clinical, Rx,</a:t>
              </a:r>
            </a:p>
            <a:p>
              <a:pPr algn="ctr"/>
              <a:r>
                <a:rPr lang="en-US" sz="700">
                  <a:solidFill>
                    <a:srgbClr val="0070C0"/>
                  </a:solidFill>
                </a:rPr>
                <a:t>Spending</a:t>
              </a:r>
            </a:p>
            <a:p>
              <a:pPr algn="ctr"/>
              <a:r>
                <a:rPr lang="en-US" sz="700">
                  <a:solidFill>
                    <a:srgbClr val="0070C0"/>
                  </a:solidFill>
                </a:rPr>
                <a:t>Accts, etc.</a:t>
              </a:r>
              <a:r>
                <a:rPr lang="en-US" sz="750">
                  <a:solidFill>
                    <a:srgbClr val="0070C0"/>
                  </a:solidFill>
                </a:rPr>
                <a:t>)</a:t>
              </a:r>
            </a:p>
          </p:txBody>
        </p:sp>
        <p:sp>
          <p:nvSpPr>
            <p:cNvPr id="64" name="Rectangle 63">
              <a:extLst>
                <a:ext uri="{FF2B5EF4-FFF2-40B4-BE49-F238E27FC236}">
                  <a16:creationId xmlns:a16="http://schemas.microsoft.com/office/drawing/2014/main" id="{E2A1EC99-74AE-36E7-DBAE-E2C4765712C0}"/>
                </a:ext>
              </a:extLst>
            </p:cNvPr>
            <p:cNvSpPr/>
            <p:nvPr/>
          </p:nvSpPr>
          <p:spPr>
            <a:xfrm>
              <a:off x="1769089" y="2689534"/>
              <a:ext cx="1084083" cy="497513"/>
            </a:xfrm>
            <a:prstGeom prst="rect">
              <a:avLst/>
            </a:prstGeom>
            <a:solidFill>
              <a:schemeClr val="bg1">
                <a:lumMod val="95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50">
                  <a:solidFill>
                    <a:srgbClr val="0070C0"/>
                  </a:solidFill>
                </a:rPr>
                <a:t>Financial</a:t>
              </a:r>
            </a:p>
            <a:p>
              <a:pPr algn="ctr"/>
              <a:r>
                <a:rPr lang="en-US" sz="750">
                  <a:solidFill>
                    <a:srgbClr val="0070C0"/>
                  </a:solidFill>
                </a:rPr>
                <a:t>Protection</a:t>
              </a:r>
            </a:p>
            <a:p>
              <a:pPr algn="ctr"/>
              <a:r>
                <a:rPr lang="en-US" sz="750">
                  <a:solidFill>
                    <a:srgbClr val="0070C0"/>
                  </a:solidFill>
                </a:rPr>
                <a:t>Products</a:t>
              </a:r>
            </a:p>
          </p:txBody>
        </p:sp>
        <p:sp>
          <p:nvSpPr>
            <p:cNvPr id="65" name="Rectangle 64">
              <a:extLst>
                <a:ext uri="{FF2B5EF4-FFF2-40B4-BE49-F238E27FC236}">
                  <a16:creationId xmlns:a16="http://schemas.microsoft.com/office/drawing/2014/main" id="{12FBD7C5-335D-60BD-A35E-FBEA3FC39AB2}"/>
                </a:ext>
              </a:extLst>
            </p:cNvPr>
            <p:cNvSpPr/>
            <p:nvPr/>
          </p:nvSpPr>
          <p:spPr>
            <a:xfrm>
              <a:off x="1780089" y="1529902"/>
              <a:ext cx="1084083" cy="279661"/>
            </a:xfrm>
            <a:prstGeom prst="rect">
              <a:avLst/>
            </a:prstGeom>
            <a:solidFill>
              <a:schemeClr val="bg1">
                <a:lumMod val="95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50">
                  <a:solidFill>
                    <a:srgbClr val="0070C0"/>
                  </a:solidFill>
                </a:rPr>
                <a:t>Medicare</a:t>
              </a:r>
            </a:p>
          </p:txBody>
        </p:sp>
        <p:sp>
          <p:nvSpPr>
            <p:cNvPr id="66" name="Rectangle 65">
              <a:extLst>
                <a:ext uri="{FF2B5EF4-FFF2-40B4-BE49-F238E27FC236}">
                  <a16:creationId xmlns:a16="http://schemas.microsoft.com/office/drawing/2014/main" id="{D9C2E2F2-D82A-1B50-D6E5-6EDA530C8129}"/>
                </a:ext>
              </a:extLst>
            </p:cNvPr>
            <p:cNvSpPr/>
            <p:nvPr/>
          </p:nvSpPr>
          <p:spPr>
            <a:xfrm>
              <a:off x="1789516" y="1916977"/>
              <a:ext cx="1084083" cy="279661"/>
            </a:xfrm>
            <a:prstGeom prst="rect">
              <a:avLst/>
            </a:prstGeom>
            <a:solidFill>
              <a:schemeClr val="bg1">
                <a:lumMod val="95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50">
                  <a:solidFill>
                    <a:srgbClr val="0070C0"/>
                  </a:solidFill>
                </a:rPr>
                <a:t>Medicaid</a:t>
              </a:r>
            </a:p>
          </p:txBody>
        </p:sp>
        <p:sp>
          <p:nvSpPr>
            <p:cNvPr id="67" name="Rectangle 66">
              <a:extLst>
                <a:ext uri="{FF2B5EF4-FFF2-40B4-BE49-F238E27FC236}">
                  <a16:creationId xmlns:a16="http://schemas.microsoft.com/office/drawing/2014/main" id="{76B20454-4E50-253E-D2AF-C7A0EA18CF80}"/>
                </a:ext>
              </a:extLst>
            </p:cNvPr>
            <p:cNvSpPr/>
            <p:nvPr/>
          </p:nvSpPr>
          <p:spPr>
            <a:xfrm>
              <a:off x="1780088" y="2268065"/>
              <a:ext cx="1084083" cy="279661"/>
            </a:xfrm>
            <a:prstGeom prst="rect">
              <a:avLst/>
            </a:prstGeom>
            <a:solidFill>
              <a:schemeClr val="bg1">
                <a:lumMod val="95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50">
                  <a:solidFill>
                    <a:srgbClr val="0070C0"/>
                  </a:solidFill>
                </a:rPr>
                <a:t>Exchanges</a:t>
              </a:r>
            </a:p>
          </p:txBody>
        </p:sp>
        <p:sp>
          <p:nvSpPr>
            <p:cNvPr id="68" name="Rectangle 67">
              <a:extLst>
                <a:ext uri="{FF2B5EF4-FFF2-40B4-BE49-F238E27FC236}">
                  <a16:creationId xmlns:a16="http://schemas.microsoft.com/office/drawing/2014/main" id="{E0B0FADB-38C8-79A8-A181-0D9B61E99563}"/>
                </a:ext>
              </a:extLst>
            </p:cNvPr>
            <p:cNvSpPr/>
            <p:nvPr/>
          </p:nvSpPr>
          <p:spPr>
            <a:xfrm>
              <a:off x="612737" y="5063768"/>
              <a:ext cx="1084083" cy="279661"/>
            </a:xfrm>
            <a:prstGeom prst="rect">
              <a:avLst/>
            </a:prstGeom>
            <a:solidFill>
              <a:schemeClr val="bg1">
                <a:lumMod val="95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50">
                  <a:solidFill>
                    <a:srgbClr val="0070C0"/>
                  </a:solidFill>
                </a:rPr>
                <a:t>Vision</a:t>
              </a:r>
            </a:p>
          </p:txBody>
        </p:sp>
        <p:sp>
          <p:nvSpPr>
            <p:cNvPr id="69" name="Rectangle 68">
              <a:extLst>
                <a:ext uri="{FF2B5EF4-FFF2-40B4-BE49-F238E27FC236}">
                  <a16:creationId xmlns:a16="http://schemas.microsoft.com/office/drawing/2014/main" id="{9DA4255A-185B-8419-3606-0A8EFCE720D9}"/>
                </a:ext>
              </a:extLst>
            </p:cNvPr>
            <p:cNvSpPr/>
            <p:nvPr/>
          </p:nvSpPr>
          <p:spPr>
            <a:xfrm>
              <a:off x="1769091" y="5063767"/>
              <a:ext cx="1084083" cy="279661"/>
            </a:xfrm>
            <a:prstGeom prst="rect">
              <a:avLst/>
            </a:prstGeom>
            <a:solidFill>
              <a:schemeClr val="bg1">
                <a:lumMod val="95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50">
                  <a:solidFill>
                    <a:srgbClr val="0070C0"/>
                  </a:solidFill>
                </a:rPr>
                <a:t>Dental</a:t>
              </a:r>
            </a:p>
          </p:txBody>
        </p:sp>
        <p:sp>
          <p:nvSpPr>
            <p:cNvPr id="70" name="Rectangle 69">
              <a:extLst>
                <a:ext uri="{FF2B5EF4-FFF2-40B4-BE49-F238E27FC236}">
                  <a16:creationId xmlns:a16="http://schemas.microsoft.com/office/drawing/2014/main" id="{5032E8AE-09B4-9F28-98CB-9E3B3E131A00}"/>
                </a:ext>
              </a:extLst>
            </p:cNvPr>
            <p:cNvSpPr/>
            <p:nvPr/>
          </p:nvSpPr>
          <p:spPr>
            <a:xfrm>
              <a:off x="615880" y="5431413"/>
              <a:ext cx="1084083" cy="279661"/>
            </a:xfrm>
            <a:prstGeom prst="rect">
              <a:avLst/>
            </a:prstGeom>
            <a:solidFill>
              <a:schemeClr val="bg1">
                <a:lumMod val="95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50">
                  <a:solidFill>
                    <a:srgbClr val="0070C0"/>
                  </a:solidFill>
                </a:rPr>
                <a:t>Hearing</a:t>
              </a:r>
            </a:p>
          </p:txBody>
        </p:sp>
        <p:sp>
          <p:nvSpPr>
            <p:cNvPr id="71" name="Rectangle 70">
              <a:extLst>
                <a:ext uri="{FF2B5EF4-FFF2-40B4-BE49-F238E27FC236}">
                  <a16:creationId xmlns:a16="http://schemas.microsoft.com/office/drawing/2014/main" id="{20229807-E6ED-1E42-B698-259E7AAD4F77}"/>
                </a:ext>
              </a:extLst>
            </p:cNvPr>
            <p:cNvSpPr/>
            <p:nvPr/>
          </p:nvSpPr>
          <p:spPr>
            <a:xfrm>
              <a:off x="1769090" y="5440187"/>
              <a:ext cx="1084083" cy="279661"/>
            </a:xfrm>
            <a:prstGeom prst="rect">
              <a:avLst/>
            </a:prstGeom>
            <a:solidFill>
              <a:schemeClr val="bg1">
                <a:lumMod val="95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50">
                  <a:solidFill>
                    <a:srgbClr val="0070C0"/>
                  </a:solidFill>
                </a:rPr>
                <a:t>Pet Insurance</a:t>
              </a:r>
            </a:p>
          </p:txBody>
        </p:sp>
        <p:sp>
          <p:nvSpPr>
            <p:cNvPr id="72" name="Rectangle 71">
              <a:extLst>
                <a:ext uri="{FF2B5EF4-FFF2-40B4-BE49-F238E27FC236}">
                  <a16:creationId xmlns:a16="http://schemas.microsoft.com/office/drawing/2014/main" id="{D4A4AAC1-8447-25DD-E1AD-4B22F28CD4D8}"/>
                </a:ext>
              </a:extLst>
            </p:cNvPr>
            <p:cNvSpPr/>
            <p:nvPr/>
          </p:nvSpPr>
          <p:spPr>
            <a:xfrm>
              <a:off x="1761232" y="4696597"/>
              <a:ext cx="1084083" cy="279661"/>
            </a:xfrm>
            <a:prstGeom prst="rect">
              <a:avLst/>
            </a:prstGeom>
            <a:solidFill>
              <a:schemeClr val="bg1">
                <a:lumMod val="95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50">
                  <a:solidFill>
                    <a:srgbClr val="0070C0"/>
                  </a:solidFill>
                </a:rPr>
                <a:t>TPA Services</a:t>
              </a:r>
            </a:p>
          </p:txBody>
        </p:sp>
        <p:sp>
          <p:nvSpPr>
            <p:cNvPr id="73" name="Rectangle 72">
              <a:extLst>
                <a:ext uri="{FF2B5EF4-FFF2-40B4-BE49-F238E27FC236}">
                  <a16:creationId xmlns:a16="http://schemas.microsoft.com/office/drawing/2014/main" id="{E2C2CC21-7382-AC42-68C7-506F7AB32383}"/>
                </a:ext>
              </a:extLst>
            </p:cNvPr>
            <p:cNvSpPr/>
            <p:nvPr/>
          </p:nvSpPr>
          <p:spPr>
            <a:xfrm>
              <a:off x="612732" y="3613419"/>
              <a:ext cx="1084083" cy="279661"/>
            </a:xfrm>
            <a:prstGeom prst="rect">
              <a:avLst/>
            </a:prstGeom>
            <a:solidFill>
              <a:schemeClr val="bg1">
                <a:lumMod val="95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50">
                  <a:solidFill>
                    <a:srgbClr val="0070C0"/>
                  </a:solidFill>
                </a:rPr>
                <a:t>Network</a:t>
              </a:r>
            </a:p>
          </p:txBody>
        </p:sp>
        <p:sp>
          <p:nvSpPr>
            <p:cNvPr id="74" name="Rectangle 73">
              <a:extLst>
                <a:ext uri="{FF2B5EF4-FFF2-40B4-BE49-F238E27FC236}">
                  <a16:creationId xmlns:a16="http://schemas.microsoft.com/office/drawing/2014/main" id="{1A557D6B-46C2-AA46-61E1-EEB3C88C297C}"/>
                </a:ext>
              </a:extLst>
            </p:cNvPr>
            <p:cNvSpPr/>
            <p:nvPr/>
          </p:nvSpPr>
          <p:spPr>
            <a:xfrm>
              <a:off x="612735" y="3976966"/>
              <a:ext cx="1084083" cy="279661"/>
            </a:xfrm>
            <a:prstGeom prst="rect">
              <a:avLst/>
            </a:prstGeom>
            <a:solidFill>
              <a:schemeClr val="bg1">
                <a:lumMod val="95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50">
                  <a:solidFill>
                    <a:srgbClr val="0070C0"/>
                  </a:solidFill>
                </a:rPr>
                <a:t>Experience</a:t>
              </a:r>
            </a:p>
          </p:txBody>
        </p:sp>
        <p:sp>
          <p:nvSpPr>
            <p:cNvPr id="75" name="Rectangle 74">
              <a:extLst>
                <a:ext uri="{FF2B5EF4-FFF2-40B4-BE49-F238E27FC236}">
                  <a16:creationId xmlns:a16="http://schemas.microsoft.com/office/drawing/2014/main" id="{CD6221FD-5088-2439-9F7B-1EE207161F69}"/>
                </a:ext>
              </a:extLst>
            </p:cNvPr>
            <p:cNvSpPr/>
            <p:nvPr/>
          </p:nvSpPr>
          <p:spPr>
            <a:xfrm>
              <a:off x="1761234" y="3980267"/>
              <a:ext cx="1084083" cy="279661"/>
            </a:xfrm>
            <a:prstGeom prst="rect">
              <a:avLst/>
            </a:prstGeom>
            <a:solidFill>
              <a:schemeClr val="bg1">
                <a:lumMod val="95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50">
                  <a:solidFill>
                    <a:srgbClr val="0070C0"/>
                  </a:solidFill>
                </a:rPr>
                <a:t>Advocacy</a:t>
              </a:r>
            </a:p>
          </p:txBody>
        </p:sp>
        <p:sp>
          <p:nvSpPr>
            <p:cNvPr id="76" name="Rectangle 75">
              <a:extLst>
                <a:ext uri="{FF2B5EF4-FFF2-40B4-BE49-F238E27FC236}">
                  <a16:creationId xmlns:a16="http://schemas.microsoft.com/office/drawing/2014/main" id="{067DFF15-50ED-6956-CF17-CB277201BA2D}"/>
                </a:ext>
              </a:extLst>
            </p:cNvPr>
            <p:cNvSpPr/>
            <p:nvPr/>
          </p:nvSpPr>
          <p:spPr>
            <a:xfrm>
              <a:off x="1761233" y="4339270"/>
              <a:ext cx="1084083" cy="279661"/>
            </a:xfrm>
            <a:prstGeom prst="rect">
              <a:avLst/>
            </a:prstGeom>
            <a:solidFill>
              <a:schemeClr val="bg1">
                <a:lumMod val="95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50">
                  <a:solidFill>
                    <a:srgbClr val="0070C0"/>
                  </a:solidFill>
                </a:rPr>
                <a:t>Student Resources</a:t>
              </a:r>
            </a:p>
          </p:txBody>
        </p:sp>
        <p:sp>
          <p:nvSpPr>
            <p:cNvPr id="77" name="Rectangle 76">
              <a:extLst>
                <a:ext uri="{FF2B5EF4-FFF2-40B4-BE49-F238E27FC236}">
                  <a16:creationId xmlns:a16="http://schemas.microsoft.com/office/drawing/2014/main" id="{70933FEA-02B3-48E4-AA48-400A4B30AB12}"/>
                </a:ext>
              </a:extLst>
            </p:cNvPr>
            <p:cNvSpPr/>
            <p:nvPr/>
          </p:nvSpPr>
          <p:spPr>
            <a:xfrm>
              <a:off x="612734" y="4339271"/>
              <a:ext cx="1084083" cy="651804"/>
            </a:xfrm>
            <a:prstGeom prst="rect">
              <a:avLst/>
            </a:prstGeom>
            <a:solidFill>
              <a:schemeClr val="bg1">
                <a:lumMod val="95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50">
                  <a:solidFill>
                    <a:srgbClr val="0070C0"/>
                  </a:solidFill>
                </a:rPr>
                <a:t>Individual Health &amp;  Wellness</a:t>
              </a:r>
            </a:p>
          </p:txBody>
        </p:sp>
        <p:sp>
          <p:nvSpPr>
            <p:cNvPr id="78" name="Rectangle 77">
              <a:extLst>
                <a:ext uri="{FF2B5EF4-FFF2-40B4-BE49-F238E27FC236}">
                  <a16:creationId xmlns:a16="http://schemas.microsoft.com/office/drawing/2014/main" id="{7119DE35-E34C-AE06-4190-8E6DA9D20AED}"/>
                </a:ext>
              </a:extLst>
            </p:cNvPr>
            <p:cNvSpPr/>
            <p:nvPr/>
          </p:nvSpPr>
          <p:spPr>
            <a:xfrm>
              <a:off x="1780089" y="3613420"/>
              <a:ext cx="1084083" cy="279661"/>
            </a:xfrm>
            <a:prstGeom prst="rect">
              <a:avLst/>
            </a:prstGeom>
            <a:solidFill>
              <a:schemeClr val="bg1">
                <a:lumMod val="95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50">
                  <a:solidFill>
                    <a:srgbClr val="0070C0"/>
                  </a:solidFill>
                </a:rPr>
                <a:t>Digital Therapeutics</a:t>
              </a:r>
            </a:p>
          </p:txBody>
        </p:sp>
        <p:sp>
          <p:nvSpPr>
            <p:cNvPr id="79" name="Rectangle 78">
              <a:extLst>
                <a:ext uri="{FF2B5EF4-FFF2-40B4-BE49-F238E27FC236}">
                  <a16:creationId xmlns:a16="http://schemas.microsoft.com/office/drawing/2014/main" id="{D8407FCA-7D23-96EF-B50C-E361A25EF0DF}"/>
                </a:ext>
              </a:extLst>
            </p:cNvPr>
            <p:cNvSpPr/>
            <p:nvPr/>
          </p:nvSpPr>
          <p:spPr>
            <a:xfrm>
              <a:off x="612736" y="5783767"/>
              <a:ext cx="1084083" cy="279661"/>
            </a:xfrm>
            <a:prstGeom prst="rect">
              <a:avLst/>
            </a:prstGeom>
            <a:solidFill>
              <a:schemeClr val="bg1">
                <a:lumMod val="95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50">
                  <a:solidFill>
                    <a:srgbClr val="0070C0"/>
                  </a:solidFill>
                </a:rPr>
                <a:t>Intermittent Workforce</a:t>
              </a:r>
            </a:p>
          </p:txBody>
        </p:sp>
        <p:sp>
          <p:nvSpPr>
            <p:cNvPr id="80" name="TextBox 79">
              <a:extLst>
                <a:ext uri="{FF2B5EF4-FFF2-40B4-BE49-F238E27FC236}">
                  <a16:creationId xmlns:a16="http://schemas.microsoft.com/office/drawing/2014/main" id="{B8ECD659-87E9-A17B-C72E-506A46354AC0}"/>
                </a:ext>
              </a:extLst>
            </p:cNvPr>
            <p:cNvSpPr txBox="1"/>
            <p:nvPr/>
          </p:nvSpPr>
          <p:spPr>
            <a:xfrm>
              <a:off x="3046431" y="1538928"/>
              <a:ext cx="1919924" cy="292464"/>
            </a:xfrm>
            <a:prstGeom prst="rect">
              <a:avLst/>
            </a:prstGeom>
            <a:solidFill>
              <a:srgbClr val="0070C0"/>
            </a:solidFill>
          </p:spPr>
          <p:txBody>
            <a:bodyPr wrap="square" rtlCol="0">
              <a:spAutoFit/>
            </a:bodyPr>
            <a:lstStyle/>
            <a:p>
              <a:pPr algn="ctr"/>
              <a:r>
                <a:rPr lang="en-US" sz="825" b="1">
                  <a:solidFill>
                    <a:srgbClr val="FFFFFF"/>
                  </a:solidFill>
                </a:rPr>
                <a:t>Member Management</a:t>
              </a:r>
            </a:p>
          </p:txBody>
        </p:sp>
        <p:sp>
          <p:nvSpPr>
            <p:cNvPr id="81" name="Rectangle 80">
              <a:extLst>
                <a:ext uri="{FF2B5EF4-FFF2-40B4-BE49-F238E27FC236}">
                  <a16:creationId xmlns:a16="http://schemas.microsoft.com/office/drawing/2014/main" id="{595073E3-058F-06BB-15BD-5B5DF1415262}"/>
                </a:ext>
              </a:extLst>
            </p:cNvPr>
            <p:cNvSpPr/>
            <p:nvPr/>
          </p:nvSpPr>
          <p:spPr>
            <a:xfrm>
              <a:off x="5027631" y="1780152"/>
              <a:ext cx="1919925" cy="922147"/>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675">
                <a:solidFill>
                  <a:schemeClr val="tx2">
                    <a:lumMod val="75000"/>
                  </a:schemeClr>
                </a:solidFill>
              </a:endParaRPr>
            </a:p>
            <a:p>
              <a:r>
                <a:rPr lang="en-US" sz="650">
                  <a:solidFill>
                    <a:schemeClr val="tx2">
                      <a:lumMod val="75000"/>
                    </a:schemeClr>
                  </a:solidFill>
                </a:rPr>
                <a:t>Customer Installation</a:t>
              </a:r>
            </a:p>
            <a:p>
              <a:r>
                <a:rPr lang="en-US" sz="650">
                  <a:solidFill>
                    <a:schemeClr val="tx2">
                      <a:lumMod val="75000"/>
                    </a:schemeClr>
                  </a:solidFill>
                </a:rPr>
                <a:t>Customer Implementation</a:t>
              </a:r>
            </a:p>
            <a:p>
              <a:r>
                <a:rPr lang="en-US" sz="650">
                  <a:solidFill>
                    <a:schemeClr val="tx2">
                      <a:lumMod val="75000"/>
                    </a:schemeClr>
                  </a:solidFill>
                </a:rPr>
                <a:t>Customer Fulfillment</a:t>
              </a:r>
            </a:p>
            <a:p>
              <a:r>
                <a:rPr lang="en-US" sz="650">
                  <a:solidFill>
                    <a:schemeClr val="tx2">
                      <a:lumMod val="75000"/>
                    </a:schemeClr>
                  </a:solidFill>
                </a:rPr>
                <a:t>Billing &amp; Receivable Management</a:t>
              </a:r>
            </a:p>
            <a:p>
              <a:r>
                <a:rPr lang="en-US" sz="650">
                  <a:solidFill>
                    <a:schemeClr val="tx2">
                      <a:lumMod val="75000"/>
                    </a:schemeClr>
                  </a:solidFill>
                </a:rPr>
                <a:t>Customer Interactions</a:t>
              </a:r>
            </a:p>
            <a:p>
              <a:r>
                <a:rPr lang="en-US" sz="650">
                  <a:solidFill>
                    <a:schemeClr val="tx2">
                      <a:lumMod val="75000"/>
                    </a:schemeClr>
                  </a:solidFill>
                </a:rPr>
                <a:t>Customer Self-Service</a:t>
              </a:r>
            </a:p>
          </p:txBody>
        </p:sp>
        <p:sp>
          <p:nvSpPr>
            <p:cNvPr id="82" name="TextBox 81">
              <a:extLst>
                <a:ext uri="{FF2B5EF4-FFF2-40B4-BE49-F238E27FC236}">
                  <a16:creationId xmlns:a16="http://schemas.microsoft.com/office/drawing/2014/main" id="{5DFF3260-341E-9D50-5452-079577D4E6D7}"/>
                </a:ext>
              </a:extLst>
            </p:cNvPr>
            <p:cNvSpPr txBox="1"/>
            <p:nvPr/>
          </p:nvSpPr>
          <p:spPr>
            <a:xfrm>
              <a:off x="5027633" y="1538928"/>
              <a:ext cx="1919924" cy="292464"/>
            </a:xfrm>
            <a:prstGeom prst="rect">
              <a:avLst/>
            </a:prstGeom>
            <a:solidFill>
              <a:srgbClr val="0070C0"/>
            </a:solidFill>
          </p:spPr>
          <p:txBody>
            <a:bodyPr wrap="square" rtlCol="0">
              <a:spAutoFit/>
            </a:bodyPr>
            <a:lstStyle/>
            <a:p>
              <a:pPr algn="ctr"/>
              <a:r>
                <a:rPr lang="en-US" sz="825" b="1">
                  <a:solidFill>
                    <a:srgbClr val="FFFFFF"/>
                  </a:solidFill>
                </a:rPr>
                <a:t>Customer Management</a:t>
              </a:r>
            </a:p>
          </p:txBody>
        </p:sp>
        <p:sp>
          <p:nvSpPr>
            <p:cNvPr id="83" name="Rectangle 82">
              <a:extLst>
                <a:ext uri="{FF2B5EF4-FFF2-40B4-BE49-F238E27FC236}">
                  <a16:creationId xmlns:a16="http://schemas.microsoft.com/office/drawing/2014/main" id="{1E7F70A2-6C40-53E7-00E7-EAAE2306B387}"/>
                </a:ext>
              </a:extLst>
            </p:cNvPr>
            <p:cNvSpPr/>
            <p:nvPr/>
          </p:nvSpPr>
          <p:spPr>
            <a:xfrm>
              <a:off x="7008831" y="1780152"/>
              <a:ext cx="2059755" cy="9144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675">
                  <a:solidFill>
                    <a:schemeClr val="tx2">
                      <a:lumMod val="75000"/>
                    </a:schemeClr>
                  </a:solidFill>
                </a:rPr>
                <a:t>Provider Onboarding &amp; Maintenance</a:t>
              </a:r>
            </a:p>
            <a:p>
              <a:r>
                <a:rPr lang="en-US" sz="675">
                  <a:solidFill>
                    <a:schemeClr val="tx2">
                      <a:lumMod val="75000"/>
                    </a:schemeClr>
                  </a:solidFill>
                </a:rPr>
                <a:t>Provider Search</a:t>
              </a:r>
            </a:p>
            <a:p>
              <a:r>
                <a:rPr lang="en-US" sz="675">
                  <a:solidFill>
                    <a:schemeClr val="tx2">
                      <a:lumMod val="75000"/>
                    </a:schemeClr>
                  </a:solidFill>
                </a:rPr>
                <a:t>Provider Interactions</a:t>
              </a:r>
            </a:p>
            <a:p>
              <a:r>
                <a:rPr lang="en-US" sz="675">
                  <a:solidFill>
                    <a:schemeClr val="tx2">
                      <a:lumMod val="75000"/>
                    </a:schemeClr>
                  </a:solidFill>
                </a:rPr>
                <a:t>Provider Self-Service</a:t>
              </a:r>
            </a:p>
          </p:txBody>
        </p:sp>
        <p:sp>
          <p:nvSpPr>
            <p:cNvPr id="84" name="TextBox 83">
              <a:extLst>
                <a:ext uri="{FF2B5EF4-FFF2-40B4-BE49-F238E27FC236}">
                  <a16:creationId xmlns:a16="http://schemas.microsoft.com/office/drawing/2014/main" id="{E47D65BC-AFD9-D06B-07EE-2768F0DFBEE2}"/>
                </a:ext>
              </a:extLst>
            </p:cNvPr>
            <p:cNvSpPr txBox="1"/>
            <p:nvPr/>
          </p:nvSpPr>
          <p:spPr>
            <a:xfrm>
              <a:off x="7008833" y="1538928"/>
              <a:ext cx="2059754" cy="292464"/>
            </a:xfrm>
            <a:prstGeom prst="rect">
              <a:avLst/>
            </a:prstGeom>
            <a:solidFill>
              <a:srgbClr val="0070C0"/>
            </a:solidFill>
          </p:spPr>
          <p:txBody>
            <a:bodyPr wrap="square" rtlCol="0">
              <a:spAutoFit/>
            </a:bodyPr>
            <a:lstStyle/>
            <a:p>
              <a:pPr algn="ctr"/>
              <a:r>
                <a:rPr lang="en-US" sz="825" b="1">
                  <a:solidFill>
                    <a:srgbClr val="FFFFFF"/>
                  </a:solidFill>
                </a:rPr>
                <a:t>Provider Management</a:t>
              </a:r>
            </a:p>
          </p:txBody>
        </p:sp>
        <p:sp>
          <p:nvSpPr>
            <p:cNvPr id="85" name="Rectangle 84">
              <a:extLst>
                <a:ext uri="{FF2B5EF4-FFF2-40B4-BE49-F238E27FC236}">
                  <a16:creationId xmlns:a16="http://schemas.microsoft.com/office/drawing/2014/main" id="{A0120E89-8F23-84DA-CC29-BD9621774DF8}"/>
                </a:ext>
              </a:extLst>
            </p:cNvPr>
            <p:cNvSpPr/>
            <p:nvPr/>
          </p:nvSpPr>
          <p:spPr>
            <a:xfrm>
              <a:off x="5027631" y="3030015"/>
              <a:ext cx="1919924" cy="1166099"/>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675">
                  <a:solidFill>
                    <a:schemeClr val="tx2">
                      <a:lumMod val="75000"/>
                    </a:schemeClr>
                  </a:solidFill>
                </a:rPr>
                <a:t>Enterprise Communications</a:t>
              </a:r>
            </a:p>
            <a:p>
              <a:r>
                <a:rPr lang="en-US" sz="675">
                  <a:solidFill>
                    <a:schemeClr val="tx2">
                      <a:lumMod val="75000"/>
                    </a:schemeClr>
                  </a:solidFill>
                </a:rPr>
                <a:t>Omni Channel Service Experience</a:t>
              </a:r>
            </a:p>
            <a:p>
              <a:r>
                <a:rPr lang="en-US" sz="675">
                  <a:solidFill>
                    <a:schemeClr val="tx2">
                      <a:lumMod val="75000"/>
                    </a:schemeClr>
                  </a:solidFill>
                </a:rPr>
                <a:t>Operational Quality</a:t>
              </a:r>
            </a:p>
            <a:p>
              <a:r>
                <a:rPr lang="en-US" sz="675">
                  <a:solidFill>
                    <a:schemeClr val="tx2">
                      <a:lumMod val="75000"/>
                    </a:schemeClr>
                  </a:solidFill>
                </a:rPr>
                <a:t>Workforce Management</a:t>
              </a:r>
            </a:p>
            <a:p>
              <a:r>
                <a:rPr lang="en-US" sz="675">
                  <a:solidFill>
                    <a:schemeClr val="tx2">
                      <a:lumMod val="75000"/>
                    </a:schemeClr>
                  </a:solidFill>
                </a:rPr>
                <a:t>Learning Solutions</a:t>
              </a:r>
            </a:p>
          </p:txBody>
        </p:sp>
        <p:sp>
          <p:nvSpPr>
            <p:cNvPr id="86" name="TextBox 85">
              <a:extLst>
                <a:ext uri="{FF2B5EF4-FFF2-40B4-BE49-F238E27FC236}">
                  <a16:creationId xmlns:a16="http://schemas.microsoft.com/office/drawing/2014/main" id="{C64AD27D-1255-3D7A-780E-3520233A51FF}"/>
                </a:ext>
              </a:extLst>
            </p:cNvPr>
            <p:cNvSpPr txBox="1"/>
            <p:nvPr/>
          </p:nvSpPr>
          <p:spPr>
            <a:xfrm>
              <a:off x="5035985" y="2767264"/>
              <a:ext cx="1919923" cy="292464"/>
            </a:xfrm>
            <a:prstGeom prst="rect">
              <a:avLst/>
            </a:prstGeom>
            <a:solidFill>
              <a:srgbClr val="0070C0"/>
            </a:solidFill>
          </p:spPr>
          <p:txBody>
            <a:bodyPr wrap="square" rtlCol="0">
              <a:spAutoFit/>
            </a:bodyPr>
            <a:lstStyle/>
            <a:p>
              <a:pPr algn="ctr"/>
              <a:r>
                <a:rPr lang="en-US" sz="825" b="1">
                  <a:solidFill>
                    <a:srgbClr val="FFFFFF"/>
                  </a:solidFill>
                </a:rPr>
                <a:t>Operations</a:t>
              </a:r>
            </a:p>
          </p:txBody>
        </p:sp>
        <p:sp>
          <p:nvSpPr>
            <p:cNvPr id="87" name="Rectangle 86">
              <a:extLst>
                <a:ext uri="{FF2B5EF4-FFF2-40B4-BE49-F238E27FC236}">
                  <a16:creationId xmlns:a16="http://schemas.microsoft.com/office/drawing/2014/main" id="{5088B10D-5EDF-1F15-E1F6-8B2AD94167B5}"/>
                </a:ext>
              </a:extLst>
            </p:cNvPr>
            <p:cNvSpPr/>
            <p:nvPr/>
          </p:nvSpPr>
          <p:spPr>
            <a:xfrm>
              <a:off x="9129861" y="1780152"/>
              <a:ext cx="2449400" cy="9144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675">
                  <a:solidFill>
                    <a:schemeClr val="tx2">
                      <a:lumMod val="75000"/>
                    </a:schemeClr>
                  </a:solidFill>
                </a:rPr>
                <a:t>Product Offering</a:t>
              </a:r>
            </a:p>
            <a:p>
              <a:r>
                <a:rPr lang="en-US" sz="675">
                  <a:solidFill>
                    <a:schemeClr val="tx2">
                      <a:lumMod val="75000"/>
                    </a:schemeClr>
                  </a:solidFill>
                </a:rPr>
                <a:t>Product Fulfillment</a:t>
              </a:r>
            </a:p>
            <a:p>
              <a:r>
                <a:rPr lang="en-US" sz="675">
                  <a:solidFill>
                    <a:schemeClr val="tx2">
                      <a:lumMod val="75000"/>
                    </a:schemeClr>
                  </a:solidFill>
                </a:rPr>
                <a:t>Benefit Data</a:t>
              </a:r>
            </a:p>
            <a:p>
              <a:r>
                <a:rPr lang="en-US" sz="675">
                  <a:solidFill>
                    <a:schemeClr val="tx2">
                      <a:lumMod val="75000"/>
                    </a:schemeClr>
                  </a:solidFill>
                </a:rPr>
                <a:t>Benefit Search</a:t>
              </a:r>
            </a:p>
            <a:p>
              <a:r>
                <a:rPr lang="en-US" sz="675">
                  <a:solidFill>
                    <a:schemeClr val="tx2">
                      <a:lumMod val="75000"/>
                    </a:schemeClr>
                  </a:solidFill>
                </a:rPr>
                <a:t>Benefit Content Management</a:t>
              </a:r>
            </a:p>
          </p:txBody>
        </p:sp>
        <p:sp>
          <p:nvSpPr>
            <p:cNvPr id="88" name="TextBox 87">
              <a:extLst>
                <a:ext uri="{FF2B5EF4-FFF2-40B4-BE49-F238E27FC236}">
                  <a16:creationId xmlns:a16="http://schemas.microsoft.com/office/drawing/2014/main" id="{552D8D55-DFEB-81F1-C5C9-969E83795D62}"/>
                </a:ext>
              </a:extLst>
            </p:cNvPr>
            <p:cNvSpPr txBox="1"/>
            <p:nvPr/>
          </p:nvSpPr>
          <p:spPr>
            <a:xfrm>
              <a:off x="9129861" y="1538928"/>
              <a:ext cx="2449401" cy="292464"/>
            </a:xfrm>
            <a:prstGeom prst="rect">
              <a:avLst/>
            </a:prstGeom>
            <a:solidFill>
              <a:srgbClr val="0070C0"/>
            </a:solidFill>
          </p:spPr>
          <p:txBody>
            <a:bodyPr wrap="square" rtlCol="0">
              <a:spAutoFit/>
            </a:bodyPr>
            <a:lstStyle/>
            <a:p>
              <a:pPr algn="ctr"/>
              <a:r>
                <a:rPr lang="en-US" sz="825" b="1">
                  <a:solidFill>
                    <a:srgbClr val="FFFFFF"/>
                  </a:solidFill>
                </a:rPr>
                <a:t>Product &amp; Benefit Administration</a:t>
              </a:r>
            </a:p>
          </p:txBody>
        </p:sp>
        <p:sp>
          <p:nvSpPr>
            <p:cNvPr id="89" name="Rectangle 88">
              <a:extLst>
                <a:ext uri="{FF2B5EF4-FFF2-40B4-BE49-F238E27FC236}">
                  <a16:creationId xmlns:a16="http://schemas.microsoft.com/office/drawing/2014/main" id="{B683732C-8351-F107-689B-0AEFF1E82B34}"/>
                </a:ext>
              </a:extLst>
            </p:cNvPr>
            <p:cNvSpPr/>
            <p:nvPr/>
          </p:nvSpPr>
          <p:spPr>
            <a:xfrm>
              <a:off x="3062141" y="3039580"/>
              <a:ext cx="1919925" cy="1156535"/>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675">
                  <a:solidFill>
                    <a:schemeClr val="tx2">
                      <a:lumMod val="75000"/>
                    </a:schemeClr>
                  </a:solidFill>
                </a:rPr>
                <a:t>Common Claim Capabilities</a:t>
              </a:r>
            </a:p>
            <a:p>
              <a:r>
                <a:rPr lang="en-US" sz="675">
                  <a:solidFill>
                    <a:schemeClr val="tx2">
                      <a:lumMod val="75000"/>
                    </a:schemeClr>
                  </a:solidFill>
                </a:rPr>
                <a:t>Claims Configuration</a:t>
              </a:r>
            </a:p>
            <a:p>
              <a:r>
                <a:rPr lang="en-US" sz="675">
                  <a:solidFill>
                    <a:schemeClr val="tx2">
                      <a:lumMod val="75000"/>
                    </a:schemeClr>
                  </a:solidFill>
                </a:rPr>
                <a:t>Claims Pre-Processing</a:t>
              </a:r>
            </a:p>
            <a:p>
              <a:r>
                <a:rPr lang="en-US" sz="675">
                  <a:solidFill>
                    <a:schemeClr val="tx2">
                      <a:lumMod val="75000"/>
                    </a:schemeClr>
                  </a:solidFill>
                </a:rPr>
                <a:t>Claims Adjudication</a:t>
              </a:r>
            </a:p>
            <a:p>
              <a:r>
                <a:rPr lang="en-US" sz="675">
                  <a:solidFill>
                    <a:schemeClr val="tx2">
                      <a:lumMod val="75000"/>
                    </a:schemeClr>
                  </a:solidFill>
                </a:rPr>
                <a:t>Claims Payment &amp; Presentment</a:t>
              </a:r>
            </a:p>
            <a:p>
              <a:r>
                <a:rPr lang="en-US" sz="675">
                  <a:solidFill>
                    <a:schemeClr val="tx2">
                      <a:lumMod val="75000"/>
                    </a:schemeClr>
                  </a:solidFill>
                </a:rPr>
                <a:t>Medicaid/Medicare Encounters</a:t>
              </a:r>
            </a:p>
            <a:p>
              <a:r>
                <a:rPr lang="en-US" sz="675">
                  <a:solidFill>
                    <a:schemeClr val="tx2">
                      <a:lumMod val="75000"/>
                    </a:schemeClr>
                  </a:solidFill>
                </a:rPr>
                <a:t>Inbound Delegated Encounters</a:t>
              </a:r>
            </a:p>
            <a:p>
              <a:r>
                <a:rPr lang="en-US" sz="675">
                  <a:solidFill>
                    <a:schemeClr val="tx2">
                      <a:lumMod val="75000"/>
                    </a:schemeClr>
                  </a:solidFill>
                </a:rPr>
                <a:t>Appeals &amp; Grievances</a:t>
              </a:r>
            </a:p>
          </p:txBody>
        </p:sp>
        <p:sp>
          <p:nvSpPr>
            <p:cNvPr id="90" name="TextBox 89">
              <a:extLst>
                <a:ext uri="{FF2B5EF4-FFF2-40B4-BE49-F238E27FC236}">
                  <a16:creationId xmlns:a16="http://schemas.microsoft.com/office/drawing/2014/main" id="{7FF12FB4-35D7-C3EF-8E47-F1562D850F26}"/>
                </a:ext>
              </a:extLst>
            </p:cNvPr>
            <p:cNvSpPr txBox="1"/>
            <p:nvPr/>
          </p:nvSpPr>
          <p:spPr>
            <a:xfrm>
              <a:off x="3062142" y="2767264"/>
              <a:ext cx="1919924" cy="292464"/>
            </a:xfrm>
            <a:prstGeom prst="rect">
              <a:avLst/>
            </a:prstGeom>
            <a:solidFill>
              <a:srgbClr val="0070C0"/>
            </a:solidFill>
          </p:spPr>
          <p:txBody>
            <a:bodyPr wrap="square" rtlCol="0">
              <a:spAutoFit/>
            </a:bodyPr>
            <a:lstStyle/>
            <a:p>
              <a:pPr algn="ctr"/>
              <a:r>
                <a:rPr lang="en-US" sz="825" b="1">
                  <a:solidFill>
                    <a:srgbClr val="FFFFFF"/>
                  </a:solidFill>
                </a:rPr>
                <a:t>Claims Management</a:t>
              </a:r>
            </a:p>
          </p:txBody>
        </p:sp>
        <p:sp>
          <p:nvSpPr>
            <p:cNvPr id="91" name="Rectangle 90">
              <a:extLst>
                <a:ext uri="{FF2B5EF4-FFF2-40B4-BE49-F238E27FC236}">
                  <a16:creationId xmlns:a16="http://schemas.microsoft.com/office/drawing/2014/main" id="{4BE64ECB-0D65-7E6A-B6BC-E8D099CECA55}"/>
                </a:ext>
              </a:extLst>
            </p:cNvPr>
            <p:cNvSpPr/>
            <p:nvPr/>
          </p:nvSpPr>
          <p:spPr>
            <a:xfrm>
              <a:off x="7008831" y="4522149"/>
              <a:ext cx="2059755" cy="905631"/>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675">
                  <a:solidFill>
                    <a:schemeClr val="tx2">
                      <a:lumMod val="75000"/>
                    </a:schemeClr>
                  </a:solidFill>
                </a:rPr>
                <a:t>Financial Accounting &amp; Reporting</a:t>
              </a:r>
            </a:p>
            <a:p>
              <a:r>
                <a:rPr lang="en-US" sz="675">
                  <a:solidFill>
                    <a:schemeClr val="tx2">
                      <a:lumMod val="75000"/>
                    </a:schemeClr>
                  </a:solidFill>
                </a:rPr>
                <a:t>Finance – Data Analytics</a:t>
              </a:r>
            </a:p>
            <a:p>
              <a:r>
                <a:rPr lang="en-US" sz="675">
                  <a:solidFill>
                    <a:schemeClr val="tx2">
                      <a:lumMod val="75000"/>
                    </a:schemeClr>
                  </a:solidFill>
                </a:rPr>
                <a:t>Financial Operations Management</a:t>
              </a:r>
            </a:p>
            <a:p>
              <a:r>
                <a:rPr lang="en-US" sz="675">
                  <a:solidFill>
                    <a:schemeClr val="tx2">
                      <a:lumMod val="75000"/>
                    </a:schemeClr>
                  </a:solidFill>
                </a:rPr>
                <a:t>Regulatory Operations State Reporting</a:t>
              </a:r>
            </a:p>
            <a:p>
              <a:r>
                <a:rPr lang="en-US" sz="675">
                  <a:solidFill>
                    <a:schemeClr val="tx2">
                      <a:lumMod val="75000"/>
                    </a:schemeClr>
                  </a:solidFill>
                </a:rPr>
                <a:t>Reimbursement &amp; Stop Loss</a:t>
              </a:r>
            </a:p>
          </p:txBody>
        </p:sp>
        <p:sp>
          <p:nvSpPr>
            <p:cNvPr id="92" name="TextBox 91">
              <a:extLst>
                <a:ext uri="{FF2B5EF4-FFF2-40B4-BE49-F238E27FC236}">
                  <a16:creationId xmlns:a16="http://schemas.microsoft.com/office/drawing/2014/main" id="{79E01FC9-A42B-4FBC-695B-915199430CA3}"/>
                </a:ext>
              </a:extLst>
            </p:cNvPr>
            <p:cNvSpPr txBox="1"/>
            <p:nvPr/>
          </p:nvSpPr>
          <p:spPr>
            <a:xfrm>
              <a:off x="7008833" y="4262587"/>
              <a:ext cx="2059754" cy="292464"/>
            </a:xfrm>
            <a:prstGeom prst="rect">
              <a:avLst/>
            </a:prstGeom>
            <a:solidFill>
              <a:srgbClr val="0070C0"/>
            </a:solidFill>
          </p:spPr>
          <p:txBody>
            <a:bodyPr wrap="square" rtlCol="0">
              <a:spAutoFit/>
            </a:bodyPr>
            <a:lstStyle/>
            <a:p>
              <a:pPr algn="ctr"/>
              <a:r>
                <a:rPr lang="en-US" sz="825" b="1">
                  <a:solidFill>
                    <a:srgbClr val="FFFFFF"/>
                  </a:solidFill>
                </a:rPr>
                <a:t>Financial Management</a:t>
              </a:r>
            </a:p>
          </p:txBody>
        </p:sp>
        <p:sp>
          <p:nvSpPr>
            <p:cNvPr id="93" name="Rectangle 92">
              <a:extLst>
                <a:ext uri="{FF2B5EF4-FFF2-40B4-BE49-F238E27FC236}">
                  <a16:creationId xmlns:a16="http://schemas.microsoft.com/office/drawing/2014/main" id="{C8A64326-0A7D-754C-817A-9EB132F1241A}"/>
                </a:ext>
              </a:extLst>
            </p:cNvPr>
            <p:cNvSpPr/>
            <p:nvPr/>
          </p:nvSpPr>
          <p:spPr>
            <a:xfrm>
              <a:off x="5035985" y="5764175"/>
              <a:ext cx="1928275" cy="538153"/>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675">
                  <a:solidFill>
                    <a:schemeClr val="tx2">
                      <a:lumMod val="75000"/>
                    </a:schemeClr>
                  </a:solidFill>
                </a:rPr>
                <a:t>Marketing Campaigns</a:t>
              </a:r>
            </a:p>
            <a:p>
              <a:r>
                <a:rPr lang="en-US" sz="675">
                  <a:solidFill>
                    <a:schemeClr val="tx2">
                      <a:lumMod val="75000"/>
                    </a:schemeClr>
                  </a:solidFill>
                </a:rPr>
                <a:t>Marketing Education</a:t>
              </a:r>
            </a:p>
          </p:txBody>
        </p:sp>
        <p:sp>
          <p:nvSpPr>
            <p:cNvPr id="94" name="TextBox 93">
              <a:extLst>
                <a:ext uri="{FF2B5EF4-FFF2-40B4-BE49-F238E27FC236}">
                  <a16:creationId xmlns:a16="http://schemas.microsoft.com/office/drawing/2014/main" id="{A62B040D-1A62-C046-624C-C2E254CAEC99}"/>
                </a:ext>
              </a:extLst>
            </p:cNvPr>
            <p:cNvSpPr txBox="1"/>
            <p:nvPr/>
          </p:nvSpPr>
          <p:spPr>
            <a:xfrm>
              <a:off x="5035985" y="5504853"/>
              <a:ext cx="1928276" cy="292464"/>
            </a:xfrm>
            <a:prstGeom prst="rect">
              <a:avLst/>
            </a:prstGeom>
            <a:solidFill>
              <a:srgbClr val="0070C0"/>
            </a:solidFill>
          </p:spPr>
          <p:txBody>
            <a:bodyPr wrap="square" rtlCol="0">
              <a:spAutoFit/>
            </a:bodyPr>
            <a:lstStyle/>
            <a:p>
              <a:pPr algn="ctr"/>
              <a:r>
                <a:rPr lang="en-US" sz="825" b="1">
                  <a:solidFill>
                    <a:srgbClr val="FFFFFF"/>
                  </a:solidFill>
                </a:rPr>
                <a:t>Marketing</a:t>
              </a:r>
            </a:p>
          </p:txBody>
        </p:sp>
        <p:sp>
          <p:nvSpPr>
            <p:cNvPr id="95" name="Rectangle 94">
              <a:extLst>
                <a:ext uri="{FF2B5EF4-FFF2-40B4-BE49-F238E27FC236}">
                  <a16:creationId xmlns:a16="http://schemas.microsoft.com/office/drawing/2014/main" id="{3B5548CA-B55D-5DCD-AF46-56E7CBDC8D98}"/>
                </a:ext>
              </a:extLst>
            </p:cNvPr>
            <p:cNvSpPr/>
            <p:nvPr/>
          </p:nvSpPr>
          <p:spPr>
            <a:xfrm>
              <a:off x="7017377" y="5781384"/>
              <a:ext cx="2059754" cy="512397"/>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675">
                  <a:solidFill>
                    <a:schemeClr val="tx2">
                      <a:lumMod val="75000"/>
                    </a:schemeClr>
                  </a:solidFill>
                </a:rPr>
                <a:t>Data Exchange (External &amp; Internal)</a:t>
              </a:r>
            </a:p>
            <a:p>
              <a:r>
                <a:rPr lang="en-US" sz="675">
                  <a:solidFill>
                    <a:schemeClr val="tx2">
                      <a:lumMod val="75000"/>
                    </a:schemeClr>
                  </a:solidFill>
                </a:rPr>
                <a:t>Operational &amp; Analytical Reporting</a:t>
              </a:r>
            </a:p>
            <a:p>
              <a:r>
                <a:rPr lang="en-US" sz="675">
                  <a:solidFill>
                    <a:schemeClr val="tx2">
                      <a:lumMod val="75000"/>
                    </a:schemeClr>
                  </a:solidFill>
                </a:rPr>
                <a:t>Pricing, Analytics  &amp; UW (PAU)</a:t>
              </a:r>
            </a:p>
          </p:txBody>
        </p:sp>
        <p:sp>
          <p:nvSpPr>
            <p:cNvPr id="96" name="TextBox 95">
              <a:extLst>
                <a:ext uri="{FF2B5EF4-FFF2-40B4-BE49-F238E27FC236}">
                  <a16:creationId xmlns:a16="http://schemas.microsoft.com/office/drawing/2014/main" id="{497C1A9C-EE8B-F8A1-6601-A1FDF39783A3}"/>
                </a:ext>
              </a:extLst>
            </p:cNvPr>
            <p:cNvSpPr txBox="1"/>
            <p:nvPr/>
          </p:nvSpPr>
          <p:spPr>
            <a:xfrm>
              <a:off x="7021455" y="5485520"/>
              <a:ext cx="2034697" cy="292464"/>
            </a:xfrm>
            <a:prstGeom prst="rect">
              <a:avLst/>
            </a:prstGeom>
            <a:solidFill>
              <a:srgbClr val="0070C0"/>
            </a:solidFill>
          </p:spPr>
          <p:txBody>
            <a:bodyPr wrap="square" rtlCol="0">
              <a:spAutoFit/>
            </a:bodyPr>
            <a:lstStyle/>
            <a:p>
              <a:pPr algn="ctr"/>
              <a:r>
                <a:rPr lang="en-US" sz="825" b="1">
                  <a:solidFill>
                    <a:srgbClr val="FFFFFF"/>
                  </a:solidFill>
                </a:rPr>
                <a:t>DRA</a:t>
              </a:r>
            </a:p>
          </p:txBody>
        </p:sp>
        <p:sp>
          <p:nvSpPr>
            <p:cNvPr id="97" name="Rectangle 96">
              <a:extLst>
                <a:ext uri="{FF2B5EF4-FFF2-40B4-BE49-F238E27FC236}">
                  <a16:creationId xmlns:a16="http://schemas.microsoft.com/office/drawing/2014/main" id="{23C10226-1C8F-B033-0994-916A84D18EB6}"/>
                </a:ext>
              </a:extLst>
            </p:cNvPr>
            <p:cNvSpPr/>
            <p:nvPr/>
          </p:nvSpPr>
          <p:spPr>
            <a:xfrm>
              <a:off x="5027633" y="4531175"/>
              <a:ext cx="1928276" cy="896606"/>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675">
                  <a:solidFill>
                    <a:schemeClr val="tx2">
                      <a:lumMod val="75000"/>
                    </a:schemeClr>
                  </a:solidFill>
                </a:rPr>
                <a:t>Care &amp; Disease Management</a:t>
              </a:r>
            </a:p>
            <a:p>
              <a:r>
                <a:rPr lang="en-US" sz="675">
                  <a:solidFill>
                    <a:schemeClr val="tx2">
                      <a:lumMod val="75000"/>
                    </a:schemeClr>
                  </a:solidFill>
                </a:rPr>
                <a:t>Care Coordination &amp; Transition</a:t>
              </a:r>
            </a:p>
            <a:p>
              <a:r>
                <a:rPr lang="en-US" sz="675">
                  <a:solidFill>
                    <a:schemeClr val="tx2">
                      <a:lumMod val="75000"/>
                    </a:schemeClr>
                  </a:solidFill>
                </a:rPr>
                <a:t>Clinical Decision Support</a:t>
              </a:r>
            </a:p>
            <a:p>
              <a:r>
                <a:rPr lang="en-US" sz="675">
                  <a:solidFill>
                    <a:schemeClr val="tx2">
                      <a:lumMod val="75000"/>
                    </a:schemeClr>
                  </a:solidFill>
                </a:rPr>
                <a:t>Community Based Care</a:t>
              </a:r>
            </a:p>
            <a:p>
              <a:r>
                <a:rPr lang="en-US" sz="675">
                  <a:solidFill>
                    <a:schemeClr val="tx2">
                      <a:lumMod val="75000"/>
                    </a:schemeClr>
                  </a:solidFill>
                </a:rPr>
                <a:t>Digital Health-Nerve Center &amp; Care Pathways</a:t>
              </a:r>
            </a:p>
          </p:txBody>
        </p:sp>
        <p:sp>
          <p:nvSpPr>
            <p:cNvPr id="98" name="TextBox 97">
              <a:extLst>
                <a:ext uri="{FF2B5EF4-FFF2-40B4-BE49-F238E27FC236}">
                  <a16:creationId xmlns:a16="http://schemas.microsoft.com/office/drawing/2014/main" id="{6A67FE23-07E3-93BB-8074-01624F9B7EE7}"/>
                </a:ext>
              </a:extLst>
            </p:cNvPr>
            <p:cNvSpPr txBox="1"/>
            <p:nvPr/>
          </p:nvSpPr>
          <p:spPr>
            <a:xfrm>
              <a:off x="5027633" y="4260540"/>
              <a:ext cx="1928276" cy="292464"/>
            </a:xfrm>
            <a:prstGeom prst="rect">
              <a:avLst/>
            </a:prstGeom>
            <a:solidFill>
              <a:srgbClr val="0070C0"/>
            </a:solidFill>
          </p:spPr>
          <p:txBody>
            <a:bodyPr wrap="square" rtlCol="0">
              <a:spAutoFit/>
            </a:bodyPr>
            <a:lstStyle/>
            <a:p>
              <a:pPr algn="ctr"/>
              <a:r>
                <a:rPr lang="en-US" sz="825" b="1">
                  <a:solidFill>
                    <a:srgbClr val="FFFFFF"/>
                  </a:solidFill>
                </a:rPr>
                <a:t>Care Management</a:t>
              </a:r>
            </a:p>
          </p:txBody>
        </p:sp>
        <p:sp>
          <p:nvSpPr>
            <p:cNvPr id="99" name="TextBox 98">
              <a:extLst>
                <a:ext uri="{FF2B5EF4-FFF2-40B4-BE49-F238E27FC236}">
                  <a16:creationId xmlns:a16="http://schemas.microsoft.com/office/drawing/2014/main" id="{753417B4-1FA5-D68A-5FB3-611F420603AC}"/>
                </a:ext>
              </a:extLst>
            </p:cNvPr>
            <p:cNvSpPr txBox="1"/>
            <p:nvPr/>
          </p:nvSpPr>
          <p:spPr>
            <a:xfrm>
              <a:off x="3062143" y="5492103"/>
              <a:ext cx="1904212" cy="292464"/>
            </a:xfrm>
            <a:prstGeom prst="rect">
              <a:avLst/>
            </a:prstGeom>
            <a:solidFill>
              <a:srgbClr val="0070C0"/>
            </a:solidFill>
          </p:spPr>
          <p:txBody>
            <a:bodyPr wrap="square" rtlCol="0">
              <a:spAutoFit/>
            </a:bodyPr>
            <a:lstStyle/>
            <a:p>
              <a:pPr algn="ctr"/>
              <a:r>
                <a:rPr lang="en-US" sz="825" b="1">
                  <a:solidFill>
                    <a:srgbClr val="FFFFFF"/>
                  </a:solidFill>
                </a:rPr>
                <a:t>Sales</a:t>
              </a:r>
            </a:p>
          </p:txBody>
        </p:sp>
        <p:sp>
          <p:nvSpPr>
            <p:cNvPr id="100" name="Rectangle 99">
              <a:extLst>
                <a:ext uri="{FF2B5EF4-FFF2-40B4-BE49-F238E27FC236}">
                  <a16:creationId xmlns:a16="http://schemas.microsoft.com/office/drawing/2014/main" id="{B4A98A87-E3BD-055F-75B2-0CDF0C5BCBD1}"/>
                </a:ext>
              </a:extLst>
            </p:cNvPr>
            <p:cNvSpPr/>
            <p:nvPr/>
          </p:nvSpPr>
          <p:spPr>
            <a:xfrm>
              <a:off x="9148715" y="4531560"/>
              <a:ext cx="2430548" cy="90770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675">
                  <a:solidFill>
                    <a:schemeClr val="tx2">
                      <a:lumMod val="75000"/>
                    </a:schemeClr>
                  </a:solidFill>
                </a:rPr>
                <a:t>Delegation/DOFR/DOMR</a:t>
              </a:r>
            </a:p>
            <a:p>
              <a:r>
                <a:rPr lang="en-US" sz="675">
                  <a:solidFill>
                    <a:schemeClr val="tx2">
                      <a:lumMod val="75000"/>
                    </a:schemeClr>
                  </a:solidFill>
                </a:rPr>
                <a:t>Capitation</a:t>
              </a:r>
            </a:p>
            <a:p>
              <a:r>
                <a:rPr lang="en-US" sz="675">
                  <a:solidFill>
                    <a:schemeClr val="tx2">
                      <a:lumMod val="75000"/>
                    </a:schemeClr>
                  </a:solidFill>
                </a:rPr>
                <a:t>Incentives &amp; Penalties</a:t>
              </a:r>
            </a:p>
            <a:p>
              <a:endParaRPr lang="en-US" sz="675">
                <a:solidFill>
                  <a:schemeClr val="tx2">
                    <a:lumMod val="75000"/>
                  </a:schemeClr>
                </a:solidFill>
              </a:endParaRPr>
            </a:p>
            <a:p>
              <a:endParaRPr lang="en-US" sz="675">
                <a:solidFill>
                  <a:schemeClr val="tx2">
                    <a:lumMod val="75000"/>
                  </a:schemeClr>
                </a:solidFill>
              </a:endParaRPr>
            </a:p>
          </p:txBody>
        </p:sp>
        <p:sp>
          <p:nvSpPr>
            <p:cNvPr id="101" name="TextBox 100">
              <a:extLst>
                <a:ext uri="{FF2B5EF4-FFF2-40B4-BE49-F238E27FC236}">
                  <a16:creationId xmlns:a16="http://schemas.microsoft.com/office/drawing/2014/main" id="{E4242228-157C-06E2-E829-7DE74FEF4923}"/>
                </a:ext>
              </a:extLst>
            </p:cNvPr>
            <p:cNvSpPr txBox="1"/>
            <p:nvPr/>
          </p:nvSpPr>
          <p:spPr>
            <a:xfrm>
              <a:off x="9148715" y="4266629"/>
              <a:ext cx="2430546" cy="292464"/>
            </a:xfrm>
            <a:prstGeom prst="rect">
              <a:avLst/>
            </a:prstGeom>
            <a:solidFill>
              <a:srgbClr val="0070C0"/>
            </a:solidFill>
          </p:spPr>
          <p:txBody>
            <a:bodyPr wrap="square" rtlCol="0">
              <a:spAutoFit/>
            </a:bodyPr>
            <a:lstStyle/>
            <a:p>
              <a:pPr algn="ctr"/>
              <a:r>
                <a:rPr lang="en-US" sz="825" b="1">
                  <a:solidFill>
                    <a:srgbClr val="FFFFFF"/>
                  </a:solidFill>
                </a:rPr>
                <a:t>Value Based Reimbursement</a:t>
              </a:r>
            </a:p>
          </p:txBody>
        </p:sp>
        <p:sp>
          <p:nvSpPr>
            <p:cNvPr id="102" name="Rectangle 101">
              <a:extLst>
                <a:ext uri="{FF2B5EF4-FFF2-40B4-BE49-F238E27FC236}">
                  <a16:creationId xmlns:a16="http://schemas.microsoft.com/office/drawing/2014/main" id="{4FBE5F1D-6694-EAEA-03A6-83F24B21BCCE}"/>
                </a:ext>
              </a:extLst>
            </p:cNvPr>
            <p:cNvSpPr/>
            <p:nvPr/>
          </p:nvSpPr>
          <p:spPr>
            <a:xfrm>
              <a:off x="3062142" y="4533127"/>
              <a:ext cx="1904213" cy="906137"/>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675">
                  <a:solidFill>
                    <a:schemeClr val="tx2">
                      <a:lumMod val="75000"/>
                    </a:schemeClr>
                  </a:solidFill>
                </a:rPr>
                <a:t>Inpatient </a:t>
              </a:r>
              <a:r>
                <a:rPr lang="en-US" sz="675" err="1">
                  <a:solidFill>
                    <a:schemeClr val="tx2">
                      <a:lumMod val="75000"/>
                    </a:schemeClr>
                  </a:solidFill>
                </a:rPr>
                <a:t>Mgmt</a:t>
              </a:r>
              <a:r>
                <a:rPr lang="en-US" sz="675">
                  <a:solidFill>
                    <a:schemeClr val="tx2">
                      <a:lumMod val="75000"/>
                    </a:schemeClr>
                  </a:solidFill>
                </a:rPr>
                <a:t> &amp; Concurrent Review</a:t>
              </a:r>
            </a:p>
            <a:p>
              <a:r>
                <a:rPr lang="en-US" sz="675">
                  <a:solidFill>
                    <a:schemeClr val="tx2">
                      <a:lumMod val="75000"/>
                    </a:schemeClr>
                  </a:solidFill>
                </a:rPr>
                <a:t>PCP to Specialist Referral</a:t>
              </a:r>
            </a:p>
            <a:p>
              <a:r>
                <a:rPr lang="en-US" sz="675">
                  <a:solidFill>
                    <a:schemeClr val="tx2">
                      <a:lumMod val="75000"/>
                    </a:schemeClr>
                  </a:solidFill>
                </a:rPr>
                <a:t>Prior Auth &amp; Notification</a:t>
              </a:r>
            </a:p>
            <a:p>
              <a:r>
                <a:rPr lang="en-US" sz="675">
                  <a:solidFill>
                    <a:schemeClr val="tx2">
                      <a:lumMod val="75000"/>
                    </a:schemeClr>
                  </a:solidFill>
                </a:rPr>
                <a:t>Urgent/Emergent Care</a:t>
              </a:r>
            </a:p>
          </p:txBody>
        </p:sp>
        <p:sp>
          <p:nvSpPr>
            <p:cNvPr id="103" name="TextBox 102">
              <a:extLst>
                <a:ext uri="{FF2B5EF4-FFF2-40B4-BE49-F238E27FC236}">
                  <a16:creationId xmlns:a16="http://schemas.microsoft.com/office/drawing/2014/main" id="{E00D8E3A-5C9B-5EDD-BAE7-0310F5652DD8}"/>
                </a:ext>
              </a:extLst>
            </p:cNvPr>
            <p:cNvSpPr txBox="1"/>
            <p:nvPr/>
          </p:nvSpPr>
          <p:spPr>
            <a:xfrm>
              <a:off x="3062143" y="4273049"/>
              <a:ext cx="1904212" cy="292464"/>
            </a:xfrm>
            <a:prstGeom prst="rect">
              <a:avLst/>
            </a:prstGeom>
            <a:solidFill>
              <a:srgbClr val="0070C0"/>
            </a:solidFill>
          </p:spPr>
          <p:txBody>
            <a:bodyPr wrap="square" rtlCol="0">
              <a:spAutoFit/>
            </a:bodyPr>
            <a:lstStyle/>
            <a:p>
              <a:pPr algn="ctr"/>
              <a:r>
                <a:rPr lang="en-US" sz="825" b="1">
                  <a:solidFill>
                    <a:srgbClr val="FFFFFF"/>
                  </a:solidFill>
                </a:rPr>
                <a:t>Utilization Management</a:t>
              </a:r>
            </a:p>
          </p:txBody>
        </p:sp>
        <p:sp>
          <p:nvSpPr>
            <p:cNvPr id="104" name="TextBox 103">
              <a:extLst>
                <a:ext uri="{FF2B5EF4-FFF2-40B4-BE49-F238E27FC236}">
                  <a16:creationId xmlns:a16="http://schemas.microsoft.com/office/drawing/2014/main" id="{F80828CA-19C2-AD47-9FCB-712C536C0726}"/>
                </a:ext>
              </a:extLst>
            </p:cNvPr>
            <p:cNvSpPr txBox="1"/>
            <p:nvPr/>
          </p:nvSpPr>
          <p:spPr>
            <a:xfrm>
              <a:off x="1103041" y="1283126"/>
              <a:ext cx="1379369" cy="277071"/>
            </a:xfrm>
            <a:prstGeom prst="rect">
              <a:avLst/>
            </a:prstGeom>
            <a:noFill/>
          </p:spPr>
          <p:txBody>
            <a:bodyPr wrap="none" rtlCol="0">
              <a:spAutoFit/>
            </a:bodyPr>
            <a:lstStyle/>
            <a:p>
              <a:r>
                <a:rPr lang="en-US" sz="750" b="1"/>
                <a:t>PRODUCT SUITES</a:t>
              </a:r>
            </a:p>
          </p:txBody>
        </p:sp>
        <p:sp>
          <p:nvSpPr>
            <p:cNvPr id="105" name="TextBox 104">
              <a:extLst>
                <a:ext uri="{FF2B5EF4-FFF2-40B4-BE49-F238E27FC236}">
                  <a16:creationId xmlns:a16="http://schemas.microsoft.com/office/drawing/2014/main" id="{2FFDABC5-845D-2F6B-B782-D8A0BAF7E55C}"/>
                </a:ext>
              </a:extLst>
            </p:cNvPr>
            <p:cNvSpPr txBox="1"/>
            <p:nvPr/>
          </p:nvSpPr>
          <p:spPr>
            <a:xfrm>
              <a:off x="6326380" y="1280782"/>
              <a:ext cx="1806948" cy="277071"/>
            </a:xfrm>
            <a:prstGeom prst="rect">
              <a:avLst/>
            </a:prstGeom>
            <a:noFill/>
          </p:spPr>
          <p:txBody>
            <a:bodyPr wrap="none" rtlCol="0">
              <a:spAutoFit/>
            </a:bodyPr>
            <a:lstStyle/>
            <a:p>
              <a:r>
                <a:rPr lang="en-US" sz="750" b="1"/>
                <a:t>PRODUCT CAPABILITIES</a:t>
              </a:r>
            </a:p>
          </p:txBody>
        </p:sp>
        <p:sp>
          <p:nvSpPr>
            <p:cNvPr id="106" name="Rectangle 105">
              <a:extLst>
                <a:ext uri="{FF2B5EF4-FFF2-40B4-BE49-F238E27FC236}">
                  <a16:creationId xmlns:a16="http://schemas.microsoft.com/office/drawing/2014/main" id="{FAC3F81F-DFCC-455A-9D87-F13FB9CC0B1A}"/>
                </a:ext>
              </a:extLst>
            </p:cNvPr>
            <p:cNvSpPr/>
            <p:nvPr/>
          </p:nvSpPr>
          <p:spPr>
            <a:xfrm>
              <a:off x="1785122" y="3259593"/>
              <a:ext cx="1084083" cy="279661"/>
            </a:xfrm>
            <a:prstGeom prst="rect">
              <a:avLst/>
            </a:prstGeom>
            <a:solidFill>
              <a:schemeClr val="bg1">
                <a:lumMod val="95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50">
                  <a:solidFill>
                    <a:srgbClr val="0070C0"/>
                  </a:solidFill>
                </a:rPr>
                <a:t>AllSavers</a:t>
              </a:r>
            </a:p>
            <a:p>
              <a:pPr algn="ctr"/>
              <a:r>
                <a:rPr lang="en-US" sz="750">
                  <a:solidFill>
                    <a:srgbClr val="0070C0"/>
                  </a:solidFill>
                </a:rPr>
                <a:t>Level Funded</a:t>
              </a:r>
            </a:p>
          </p:txBody>
        </p:sp>
        <p:sp>
          <p:nvSpPr>
            <p:cNvPr id="107" name="Rectangle 106">
              <a:extLst>
                <a:ext uri="{FF2B5EF4-FFF2-40B4-BE49-F238E27FC236}">
                  <a16:creationId xmlns:a16="http://schemas.microsoft.com/office/drawing/2014/main" id="{2F3E65D3-74EA-C42B-700C-DEE540336E2B}"/>
                </a:ext>
              </a:extLst>
            </p:cNvPr>
            <p:cNvSpPr/>
            <p:nvPr/>
          </p:nvSpPr>
          <p:spPr>
            <a:xfrm>
              <a:off x="615880" y="3258942"/>
              <a:ext cx="1084083" cy="279661"/>
            </a:xfrm>
            <a:prstGeom prst="rect">
              <a:avLst/>
            </a:prstGeom>
            <a:solidFill>
              <a:schemeClr val="bg1">
                <a:lumMod val="95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50">
                  <a:solidFill>
                    <a:srgbClr val="0070C0"/>
                  </a:solidFill>
                </a:rPr>
                <a:t>Behavior Health Solutions</a:t>
              </a:r>
            </a:p>
          </p:txBody>
        </p:sp>
        <p:sp>
          <p:nvSpPr>
            <p:cNvPr id="108" name="Rectangle 107">
              <a:extLst>
                <a:ext uri="{FF2B5EF4-FFF2-40B4-BE49-F238E27FC236}">
                  <a16:creationId xmlns:a16="http://schemas.microsoft.com/office/drawing/2014/main" id="{A6DAEDF8-9ED0-3289-632F-C6D2993239FF}"/>
                </a:ext>
              </a:extLst>
            </p:cNvPr>
            <p:cNvSpPr/>
            <p:nvPr/>
          </p:nvSpPr>
          <p:spPr>
            <a:xfrm>
              <a:off x="1761234" y="5779529"/>
              <a:ext cx="1084083" cy="279661"/>
            </a:xfrm>
            <a:prstGeom prst="rect">
              <a:avLst/>
            </a:prstGeom>
            <a:solidFill>
              <a:schemeClr val="bg1">
                <a:lumMod val="95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50">
                  <a:solidFill>
                    <a:srgbClr val="0070C0"/>
                  </a:solidFill>
                </a:rPr>
                <a:t>Migration</a:t>
              </a:r>
            </a:p>
          </p:txBody>
        </p:sp>
        <p:sp>
          <p:nvSpPr>
            <p:cNvPr id="109" name="TextBox 108">
              <a:extLst>
                <a:ext uri="{FF2B5EF4-FFF2-40B4-BE49-F238E27FC236}">
                  <a16:creationId xmlns:a16="http://schemas.microsoft.com/office/drawing/2014/main" id="{3233C4F4-D39E-9BC5-F278-1D674B7F71CC}"/>
                </a:ext>
              </a:extLst>
            </p:cNvPr>
            <p:cNvSpPr txBox="1"/>
            <p:nvPr/>
          </p:nvSpPr>
          <p:spPr>
            <a:xfrm>
              <a:off x="7008833" y="2768539"/>
              <a:ext cx="2034697" cy="292464"/>
            </a:xfrm>
            <a:prstGeom prst="rect">
              <a:avLst/>
            </a:prstGeom>
            <a:solidFill>
              <a:srgbClr val="0070C0"/>
            </a:solidFill>
          </p:spPr>
          <p:txBody>
            <a:bodyPr wrap="square" rtlCol="0">
              <a:spAutoFit/>
            </a:bodyPr>
            <a:lstStyle/>
            <a:p>
              <a:pPr algn="ctr"/>
              <a:r>
                <a:rPr lang="en-US" sz="825" b="1">
                  <a:solidFill>
                    <a:srgbClr val="FFFFFF"/>
                  </a:solidFill>
                </a:rPr>
                <a:t>eCommerce</a:t>
              </a:r>
            </a:p>
          </p:txBody>
        </p:sp>
        <p:sp>
          <p:nvSpPr>
            <p:cNvPr id="110" name="TextBox 109">
              <a:extLst>
                <a:ext uri="{FF2B5EF4-FFF2-40B4-BE49-F238E27FC236}">
                  <a16:creationId xmlns:a16="http://schemas.microsoft.com/office/drawing/2014/main" id="{C039A985-3358-7259-349A-41110AC9F784}"/>
                </a:ext>
              </a:extLst>
            </p:cNvPr>
            <p:cNvSpPr txBox="1"/>
            <p:nvPr/>
          </p:nvSpPr>
          <p:spPr>
            <a:xfrm>
              <a:off x="9137724" y="2769452"/>
              <a:ext cx="2430546" cy="292464"/>
            </a:xfrm>
            <a:prstGeom prst="rect">
              <a:avLst/>
            </a:prstGeom>
            <a:solidFill>
              <a:srgbClr val="0070C0"/>
            </a:solidFill>
          </p:spPr>
          <p:txBody>
            <a:bodyPr wrap="square" rtlCol="0">
              <a:spAutoFit/>
            </a:bodyPr>
            <a:lstStyle/>
            <a:p>
              <a:pPr algn="ctr"/>
              <a:r>
                <a:rPr lang="en-US" sz="825" b="1">
                  <a:solidFill>
                    <a:srgbClr val="FFFFFF"/>
                  </a:solidFill>
                </a:rPr>
                <a:t>Consumer Engagement</a:t>
              </a:r>
            </a:p>
          </p:txBody>
        </p:sp>
        <p:sp>
          <p:nvSpPr>
            <p:cNvPr id="111" name="Rectangle 110">
              <a:extLst>
                <a:ext uri="{FF2B5EF4-FFF2-40B4-BE49-F238E27FC236}">
                  <a16:creationId xmlns:a16="http://schemas.microsoft.com/office/drawing/2014/main" id="{EFD74F5A-E1AD-B952-18C2-0857F74983ED}"/>
                </a:ext>
              </a:extLst>
            </p:cNvPr>
            <p:cNvSpPr/>
            <p:nvPr/>
          </p:nvSpPr>
          <p:spPr>
            <a:xfrm>
              <a:off x="7017184" y="3031062"/>
              <a:ext cx="2026343" cy="1171029"/>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675">
                  <a:solidFill>
                    <a:schemeClr val="tx2">
                      <a:lumMod val="75000"/>
                    </a:schemeClr>
                  </a:solidFill>
                </a:rPr>
                <a:t>Shop</a:t>
              </a:r>
            </a:p>
            <a:p>
              <a:r>
                <a:rPr lang="en-US" sz="675">
                  <a:solidFill>
                    <a:schemeClr val="tx2">
                      <a:lumMod val="75000"/>
                    </a:schemeClr>
                  </a:solidFill>
                </a:rPr>
                <a:t>Checkout and Payment</a:t>
              </a:r>
            </a:p>
            <a:p>
              <a:r>
                <a:rPr lang="en-US" sz="675">
                  <a:solidFill>
                    <a:schemeClr val="tx2">
                      <a:lumMod val="75000"/>
                    </a:schemeClr>
                  </a:solidFill>
                </a:rPr>
                <a:t>Personalization / Identity</a:t>
              </a:r>
            </a:p>
            <a:p>
              <a:r>
                <a:rPr lang="en-US" sz="675">
                  <a:solidFill>
                    <a:schemeClr val="tx2">
                      <a:lumMod val="75000"/>
                    </a:schemeClr>
                  </a:solidFill>
                </a:rPr>
                <a:t>Product Catalog</a:t>
              </a:r>
            </a:p>
            <a:p>
              <a:r>
                <a:rPr lang="en-US" sz="675">
                  <a:solidFill>
                    <a:schemeClr val="tx2">
                      <a:lumMod val="75000"/>
                    </a:schemeClr>
                  </a:solidFill>
                </a:rPr>
                <a:t>Search and Content</a:t>
              </a:r>
            </a:p>
            <a:p>
              <a:r>
                <a:rPr lang="en-US" sz="675">
                  <a:solidFill>
                    <a:schemeClr val="tx2">
                      <a:lumMod val="75000"/>
                    </a:schemeClr>
                  </a:solidFill>
                </a:rPr>
                <a:t>Reporting</a:t>
              </a:r>
            </a:p>
          </p:txBody>
        </p:sp>
        <p:sp>
          <p:nvSpPr>
            <p:cNvPr id="112" name="Rectangle 111">
              <a:extLst>
                <a:ext uri="{FF2B5EF4-FFF2-40B4-BE49-F238E27FC236}">
                  <a16:creationId xmlns:a16="http://schemas.microsoft.com/office/drawing/2014/main" id="{63EF5A95-E510-C29E-096D-30404F416AA1}"/>
                </a:ext>
              </a:extLst>
            </p:cNvPr>
            <p:cNvSpPr/>
            <p:nvPr/>
          </p:nvSpPr>
          <p:spPr>
            <a:xfrm>
              <a:off x="9137726" y="3030016"/>
              <a:ext cx="2430546" cy="1175664"/>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675">
                  <a:solidFill>
                    <a:schemeClr val="tx2">
                      <a:lumMod val="75000"/>
                    </a:schemeClr>
                  </a:solidFill>
                </a:rPr>
                <a:t>Asset Management</a:t>
              </a:r>
            </a:p>
            <a:p>
              <a:r>
                <a:rPr lang="en-US" sz="675">
                  <a:solidFill>
                    <a:schemeClr val="tx2">
                      <a:lumMod val="75000"/>
                    </a:schemeClr>
                  </a:solidFill>
                </a:rPr>
                <a:t>Consumer Data Management</a:t>
              </a:r>
            </a:p>
            <a:p>
              <a:r>
                <a:rPr lang="en-US" sz="675">
                  <a:solidFill>
                    <a:schemeClr val="tx2">
                      <a:lumMod val="75000"/>
                    </a:schemeClr>
                  </a:solidFill>
                </a:rPr>
                <a:t>Insights Management</a:t>
              </a:r>
            </a:p>
            <a:p>
              <a:r>
                <a:rPr lang="en-US" sz="675">
                  <a:solidFill>
                    <a:schemeClr val="tx2">
                      <a:lumMod val="75000"/>
                    </a:schemeClr>
                  </a:solidFill>
                </a:rPr>
                <a:t>Investment Management</a:t>
              </a:r>
            </a:p>
            <a:p>
              <a:r>
                <a:rPr lang="en-US" sz="675">
                  <a:solidFill>
                    <a:schemeClr val="tx2">
                      <a:lumMod val="75000"/>
                    </a:schemeClr>
                  </a:solidFill>
                </a:rPr>
                <a:t>Journey Management</a:t>
              </a:r>
            </a:p>
            <a:p>
              <a:r>
                <a:rPr lang="en-US" sz="675">
                  <a:solidFill>
                    <a:schemeClr val="tx2">
                      <a:lumMod val="75000"/>
                    </a:schemeClr>
                  </a:solidFill>
                </a:rPr>
                <a:t>Marketing Operations Management</a:t>
              </a:r>
            </a:p>
          </p:txBody>
        </p:sp>
      </p:grpSp>
      <p:sp>
        <p:nvSpPr>
          <p:cNvPr id="3" name="Slide Number Placeholder 2">
            <a:extLst>
              <a:ext uri="{FF2B5EF4-FFF2-40B4-BE49-F238E27FC236}">
                <a16:creationId xmlns:a16="http://schemas.microsoft.com/office/drawing/2014/main" id="{764355F6-37A2-1A5B-E13F-8B0636788538}"/>
              </a:ext>
            </a:extLst>
          </p:cNvPr>
          <p:cNvSpPr>
            <a:spLocks noGrp="1"/>
          </p:cNvSpPr>
          <p:nvPr>
            <p:ph type="sldNum" sz="quarter" idx="12"/>
          </p:nvPr>
        </p:nvSpPr>
        <p:spPr>
          <a:xfrm>
            <a:off x="8586214" y="4835578"/>
            <a:ext cx="289898" cy="185420"/>
          </a:xfrm>
        </p:spPr>
        <p:txBody>
          <a:bodyPr/>
          <a:lstStyle/>
          <a:p>
            <a:pPr defTabSz="906765">
              <a:defRPr/>
            </a:pPr>
            <a:fld id="{F18F5FCC-583C-47C6-9953-2F6AD74D46AE}" type="slidenum">
              <a:rPr lang="en-US" sz="825">
                <a:solidFill>
                  <a:srgbClr val="55565A"/>
                </a:solidFill>
              </a:rPr>
              <a:pPr defTabSz="906765">
                <a:defRPr/>
              </a:pPr>
              <a:t>11</a:t>
            </a:fld>
            <a:endParaRPr lang="en-US" sz="825">
              <a:solidFill>
                <a:srgbClr val="55565A"/>
              </a:solidFill>
            </a:endParaRPr>
          </a:p>
        </p:txBody>
      </p:sp>
      <p:sp>
        <p:nvSpPr>
          <p:cNvPr id="2" name="Title 1">
            <a:extLst>
              <a:ext uri="{FF2B5EF4-FFF2-40B4-BE49-F238E27FC236}">
                <a16:creationId xmlns:a16="http://schemas.microsoft.com/office/drawing/2014/main" id="{40673020-BC41-01E5-83E2-FE9A052E94E2}"/>
              </a:ext>
            </a:extLst>
          </p:cNvPr>
          <p:cNvSpPr>
            <a:spLocks noGrp="1"/>
          </p:cNvSpPr>
          <p:nvPr>
            <p:ph type="title"/>
          </p:nvPr>
        </p:nvSpPr>
        <p:spPr/>
        <p:txBody>
          <a:bodyPr/>
          <a:lstStyle/>
          <a:p>
            <a:r>
              <a:rPr lang="en-US">
                <a:latin typeface="Calibri" panose="020F0502020204030204" pitchFamily="34" charset="0"/>
                <a:cs typeface="Calibri" panose="020F0502020204030204" pitchFamily="34" charset="0"/>
              </a:rPr>
              <a:t>Benefit Ally Market Expansion – UHC FI 51-99 – Product Capabilities Impacts by Phases</a:t>
            </a:r>
          </a:p>
        </p:txBody>
      </p:sp>
      <p:sp>
        <p:nvSpPr>
          <p:cNvPr id="13" name="Rectangle: Rounded Corners 12">
            <a:extLst>
              <a:ext uri="{FF2B5EF4-FFF2-40B4-BE49-F238E27FC236}">
                <a16:creationId xmlns:a16="http://schemas.microsoft.com/office/drawing/2014/main" id="{96CF661A-B389-8C83-DA25-614EDAB2259C}"/>
              </a:ext>
            </a:extLst>
          </p:cNvPr>
          <p:cNvSpPr/>
          <p:nvPr/>
        </p:nvSpPr>
        <p:spPr>
          <a:xfrm>
            <a:off x="6838936" y="1150544"/>
            <a:ext cx="1847978" cy="205343"/>
          </a:xfrm>
          <a:prstGeom prst="roundRect">
            <a:avLst/>
          </a:prstGeom>
          <a:solidFill>
            <a:schemeClr val="bg1">
              <a:alpha val="0"/>
            </a:schemeClr>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06765">
              <a:defRPr/>
            </a:pPr>
            <a:endParaRPr lang="en-US">
              <a:solidFill>
                <a:srgbClr val="FFFFFF"/>
              </a:solidFill>
              <a:latin typeface="Arial"/>
            </a:endParaRPr>
          </a:p>
        </p:txBody>
      </p:sp>
      <p:sp>
        <p:nvSpPr>
          <p:cNvPr id="15" name="Rectangle: Rounded Corners 14">
            <a:extLst>
              <a:ext uri="{FF2B5EF4-FFF2-40B4-BE49-F238E27FC236}">
                <a16:creationId xmlns:a16="http://schemas.microsoft.com/office/drawing/2014/main" id="{53361958-F697-3770-DDA9-1EB7431B7764}"/>
              </a:ext>
            </a:extLst>
          </p:cNvPr>
          <p:cNvSpPr/>
          <p:nvPr/>
        </p:nvSpPr>
        <p:spPr>
          <a:xfrm>
            <a:off x="2310580" y="2082342"/>
            <a:ext cx="1428161" cy="192895"/>
          </a:xfrm>
          <a:prstGeom prst="roundRect">
            <a:avLst>
              <a:gd name="adj" fmla="val 619"/>
            </a:avLst>
          </a:prstGeom>
          <a:solidFill>
            <a:schemeClr val="bg1">
              <a:alpha val="0"/>
            </a:schemeClr>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06765">
              <a:defRPr/>
            </a:pPr>
            <a:endParaRPr lang="en-US">
              <a:solidFill>
                <a:srgbClr val="FFFFFF"/>
              </a:solidFill>
              <a:latin typeface="Arial"/>
            </a:endParaRPr>
          </a:p>
        </p:txBody>
      </p:sp>
      <p:sp>
        <p:nvSpPr>
          <p:cNvPr id="17" name="Rectangle: Rounded Corners 16">
            <a:extLst>
              <a:ext uri="{FF2B5EF4-FFF2-40B4-BE49-F238E27FC236}">
                <a16:creationId xmlns:a16="http://schemas.microsoft.com/office/drawing/2014/main" id="{CBA91537-FF78-EDF2-A95B-049E853431F3}"/>
              </a:ext>
            </a:extLst>
          </p:cNvPr>
          <p:cNvSpPr/>
          <p:nvPr/>
        </p:nvSpPr>
        <p:spPr>
          <a:xfrm>
            <a:off x="3777197" y="1147061"/>
            <a:ext cx="1433303" cy="201634"/>
          </a:xfrm>
          <a:prstGeom prst="roundRect">
            <a:avLst>
              <a:gd name="adj" fmla="val 6038"/>
            </a:avLst>
          </a:prstGeom>
          <a:solidFill>
            <a:schemeClr val="bg1">
              <a:alpha val="0"/>
            </a:schemeClr>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06765">
              <a:defRPr/>
            </a:pPr>
            <a:endParaRPr lang="en-US">
              <a:solidFill>
                <a:srgbClr val="FFFFFF"/>
              </a:solidFill>
              <a:latin typeface="Arial"/>
            </a:endParaRPr>
          </a:p>
        </p:txBody>
      </p:sp>
      <p:sp>
        <p:nvSpPr>
          <p:cNvPr id="20" name="Rectangle: Rounded Corners 19">
            <a:extLst>
              <a:ext uri="{FF2B5EF4-FFF2-40B4-BE49-F238E27FC236}">
                <a16:creationId xmlns:a16="http://schemas.microsoft.com/office/drawing/2014/main" id="{11157EA1-BCCC-1F0A-D0DD-C1048142B30E}"/>
              </a:ext>
            </a:extLst>
          </p:cNvPr>
          <p:cNvSpPr/>
          <p:nvPr/>
        </p:nvSpPr>
        <p:spPr>
          <a:xfrm>
            <a:off x="5271640" y="4104618"/>
            <a:ext cx="1535627" cy="210214"/>
          </a:xfrm>
          <a:prstGeom prst="roundRect">
            <a:avLst/>
          </a:prstGeom>
          <a:solidFill>
            <a:schemeClr val="bg1">
              <a:alpha val="0"/>
            </a:schemeClr>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06765">
              <a:defRPr/>
            </a:pPr>
            <a:endParaRPr lang="en-US">
              <a:solidFill>
                <a:srgbClr val="FFFFFF"/>
              </a:solidFill>
              <a:latin typeface="Arial"/>
            </a:endParaRPr>
          </a:p>
        </p:txBody>
      </p:sp>
      <p:sp>
        <p:nvSpPr>
          <p:cNvPr id="21" name="Arrow: Right 20">
            <a:extLst>
              <a:ext uri="{FF2B5EF4-FFF2-40B4-BE49-F238E27FC236}">
                <a16:creationId xmlns:a16="http://schemas.microsoft.com/office/drawing/2014/main" id="{0C4D1FF8-1DA6-2813-2932-CAC3C72CCE66}"/>
              </a:ext>
            </a:extLst>
          </p:cNvPr>
          <p:cNvSpPr/>
          <p:nvPr/>
        </p:nvSpPr>
        <p:spPr>
          <a:xfrm>
            <a:off x="2219392" y="2512229"/>
            <a:ext cx="114300" cy="57150"/>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06765">
              <a:defRPr/>
            </a:pPr>
            <a:endParaRPr lang="en-US">
              <a:solidFill>
                <a:srgbClr val="FFFFFF"/>
              </a:solidFill>
              <a:latin typeface="Arial"/>
            </a:endParaRPr>
          </a:p>
        </p:txBody>
      </p:sp>
      <p:sp>
        <p:nvSpPr>
          <p:cNvPr id="29" name="Arrow: Right 28">
            <a:extLst>
              <a:ext uri="{FF2B5EF4-FFF2-40B4-BE49-F238E27FC236}">
                <a16:creationId xmlns:a16="http://schemas.microsoft.com/office/drawing/2014/main" id="{64E4439C-4B73-9ACC-FCBB-7898BB9E28B8}"/>
              </a:ext>
            </a:extLst>
          </p:cNvPr>
          <p:cNvSpPr/>
          <p:nvPr/>
        </p:nvSpPr>
        <p:spPr>
          <a:xfrm>
            <a:off x="2226584" y="2621301"/>
            <a:ext cx="114300" cy="57150"/>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06765">
              <a:defRPr/>
            </a:pPr>
            <a:endParaRPr lang="en-US">
              <a:solidFill>
                <a:srgbClr val="FFFFFF"/>
              </a:solidFill>
              <a:latin typeface="Arial"/>
            </a:endParaRPr>
          </a:p>
        </p:txBody>
      </p:sp>
      <p:sp>
        <p:nvSpPr>
          <p:cNvPr id="26" name="Rectangle: Rounded Corners 25">
            <a:extLst>
              <a:ext uri="{FF2B5EF4-FFF2-40B4-BE49-F238E27FC236}">
                <a16:creationId xmlns:a16="http://schemas.microsoft.com/office/drawing/2014/main" id="{4FDF752C-8DA1-D281-E2DE-F97F9A7DF7F8}"/>
              </a:ext>
            </a:extLst>
          </p:cNvPr>
          <p:cNvSpPr/>
          <p:nvPr/>
        </p:nvSpPr>
        <p:spPr>
          <a:xfrm>
            <a:off x="2289046" y="1157367"/>
            <a:ext cx="1428750" cy="194425"/>
          </a:xfrm>
          <a:prstGeom prst="roundRect">
            <a:avLst>
              <a:gd name="adj" fmla="val 8093"/>
            </a:avLst>
          </a:prstGeom>
          <a:solidFill>
            <a:schemeClr val="bg1">
              <a:alpha val="0"/>
            </a:schemeClr>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06765">
              <a:defRPr/>
            </a:pPr>
            <a:endParaRPr lang="en-US">
              <a:solidFill>
                <a:srgbClr val="FFFFFF"/>
              </a:solidFill>
              <a:latin typeface="Arial"/>
            </a:endParaRPr>
          </a:p>
        </p:txBody>
      </p:sp>
      <p:sp>
        <p:nvSpPr>
          <p:cNvPr id="28" name="Arrow: Right 27">
            <a:extLst>
              <a:ext uri="{FF2B5EF4-FFF2-40B4-BE49-F238E27FC236}">
                <a16:creationId xmlns:a16="http://schemas.microsoft.com/office/drawing/2014/main" id="{F499C286-AFCA-376E-8A4A-5F393B1A472C}"/>
              </a:ext>
            </a:extLst>
          </p:cNvPr>
          <p:cNvSpPr/>
          <p:nvPr/>
        </p:nvSpPr>
        <p:spPr>
          <a:xfrm>
            <a:off x="2210556" y="1403293"/>
            <a:ext cx="114300" cy="57150"/>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06765">
              <a:defRPr/>
            </a:pPr>
            <a:endParaRPr lang="en-US">
              <a:solidFill>
                <a:srgbClr val="FFFFFF"/>
              </a:solidFill>
              <a:latin typeface="Arial"/>
            </a:endParaRPr>
          </a:p>
        </p:txBody>
      </p:sp>
      <p:sp>
        <p:nvSpPr>
          <p:cNvPr id="30" name="Arrow: Right 29">
            <a:extLst>
              <a:ext uri="{FF2B5EF4-FFF2-40B4-BE49-F238E27FC236}">
                <a16:creationId xmlns:a16="http://schemas.microsoft.com/office/drawing/2014/main" id="{D6A79ABB-C5D1-54C8-42C0-D97134CBB408}"/>
              </a:ext>
            </a:extLst>
          </p:cNvPr>
          <p:cNvSpPr/>
          <p:nvPr/>
        </p:nvSpPr>
        <p:spPr>
          <a:xfrm>
            <a:off x="2203364" y="1692599"/>
            <a:ext cx="114300" cy="57150"/>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06765">
              <a:defRPr/>
            </a:pPr>
            <a:endParaRPr lang="en-US">
              <a:solidFill>
                <a:srgbClr val="FFFFFF"/>
              </a:solidFill>
              <a:latin typeface="Arial"/>
            </a:endParaRPr>
          </a:p>
        </p:txBody>
      </p:sp>
      <p:sp>
        <p:nvSpPr>
          <p:cNvPr id="34" name="Rectangle: Rounded Corners 33">
            <a:extLst>
              <a:ext uri="{FF2B5EF4-FFF2-40B4-BE49-F238E27FC236}">
                <a16:creationId xmlns:a16="http://schemas.microsoft.com/office/drawing/2014/main" id="{4E20D5A2-3AEC-853B-CF2E-34DB44C130D1}"/>
              </a:ext>
            </a:extLst>
          </p:cNvPr>
          <p:cNvSpPr/>
          <p:nvPr/>
        </p:nvSpPr>
        <p:spPr>
          <a:xfrm>
            <a:off x="468864" y="1150543"/>
            <a:ext cx="796414" cy="490130"/>
          </a:xfrm>
          <a:prstGeom prst="roundRect">
            <a:avLst>
              <a:gd name="adj" fmla="val 148"/>
            </a:avLst>
          </a:prstGeom>
          <a:solidFill>
            <a:schemeClr val="bg1">
              <a:alpha val="0"/>
            </a:schemeClr>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06765">
              <a:defRPr/>
            </a:pPr>
            <a:endParaRPr lang="en-US">
              <a:solidFill>
                <a:srgbClr val="FFFFFF"/>
              </a:solidFill>
              <a:latin typeface="Arial"/>
            </a:endParaRPr>
          </a:p>
        </p:txBody>
      </p:sp>
      <p:sp>
        <p:nvSpPr>
          <p:cNvPr id="39" name="Arrow: Right 38">
            <a:extLst>
              <a:ext uri="{FF2B5EF4-FFF2-40B4-BE49-F238E27FC236}">
                <a16:creationId xmlns:a16="http://schemas.microsoft.com/office/drawing/2014/main" id="{519BD67D-DB13-EF5D-55DA-E34A67649263}"/>
              </a:ext>
            </a:extLst>
          </p:cNvPr>
          <p:cNvSpPr/>
          <p:nvPr/>
        </p:nvSpPr>
        <p:spPr>
          <a:xfrm>
            <a:off x="2233777" y="2742260"/>
            <a:ext cx="114300" cy="57150"/>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06765">
              <a:defRPr/>
            </a:pPr>
            <a:endParaRPr lang="en-US">
              <a:solidFill>
                <a:srgbClr val="FFFFFF"/>
              </a:solidFill>
              <a:latin typeface="Arial"/>
            </a:endParaRPr>
          </a:p>
        </p:txBody>
      </p:sp>
      <p:sp>
        <p:nvSpPr>
          <p:cNvPr id="42" name="Rectangle: Rounded Corners 41">
            <a:extLst>
              <a:ext uri="{FF2B5EF4-FFF2-40B4-BE49-F238E27FC236}">
                <a16:creationId xmlns:a16="http://schemas.microsoft.com/office/drawing/2014/main" id="{6776D63B-2D7A-FF33-E51A-1E14CDA3F960}"/>
              </a:ext>
            </a:extLst>
          </p:cNvPr>
          <p:cNvSpPr/>
          <p:nvPr/>
        </p:nvSpPr>
        <p:spPr>
          <a:xfrm>
            <a:off x="2303089" y="4113739"/>
            <a:ext cx="1414831" cy="201092"/>
          </a:xfrm>
          <a:prstGeom prst="roundRect">
            <a:avLst/>
          </a:prstGeom>
          <a:solidFill>
            <a:schemeClr val="bg1">
              <a:alpha val="0"/>
            </a:schemeClr>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06765">
              <a:defRPr/>
            </a:pPr>
            <a:endParaRPr lang="en-US">
              <a:solidFill>
                <a:srgbClr val="FFFFFF"/>
              </a:solidFill>
              <a:latin typeface="Arial"/>
            </a:endParaRPr>
          </a:p>
        </p:txBody>
      </p:sp>
      <p:sp>
        <p:nvSpPr>
          <p:cNvPr id="43" name="Arrow: Right 42">
            <a:extLst>
              <a:ext uri="{FF2B5EF4-FFF2-40B4-BE49-F238E27FC236}">
                <a16:creationId xmlns:a16="http://schemas.microsoft.com/office/drawing/2014/main" id="{3C4CFBAC-BA41-1AA6-CA8F-20074FCBA42B}"/>
              </a:ext>
            </a:extLst>
          </p:cNvPr>
          <p:cNvSpPr/>
          <p:nvPr/>
        </p:nvSpPr>
        <p:spPr>
          <a:xfrm>
            <a:off x="2226622" y="4631099"/>
            <a:ext cx="114300" cy="57150"/>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06765">
              <a:defRPr/>
            </a:pPr>
            <a:endParaRPr lang="en-US">
              <a:solidFill>
                <a:srgbClr val="FFFFFF"/>
              </a:solidFill>
              <a:latin typeface="Arial"/>
            </a:endParaRPr>
          </a:p>
        </p:txBody>
      </p:sp>
      <p:sp>
        <p:nvSpPr>
          <p:cNvPr id="44" name="Arrow: Right 43">
            <a:extLst>
              <a:ext uri="{FF2B5EF4-FFF2-40B4-BE49-F238E27FC236}">
                <a16:creationId xmlns:a16="http://schemas.microsoft.com/office/drawing/2014/main" id="{5B28BD1C-D24B-6466-0F9D-2A246E2B0B48}"/>
              </a:ext>
            </a:extLst>
          </p:cNvPr>
          <p:cNvSpPr/>
          <p:nvPr/>
        </p:nvSpPr>
        <p:spPr>
          <a:xfrm>
            <a:off x="2226622" y="4452458"/>
            <a:ext cx="114300" cy="57150"/>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06765">
              <a:defRPr/>
            </a:pPr>
            <a:endParaRPr lang="en-US">
              <a:solidFill>
                <a:srgbClr val="FFFFFF"/>
              </a:solidFill>
              <a:latin typeface="Arial"/>
            </a:endParaRPr>
          </a:p>
        </p:txBody>
      </p:sp>
      <p:sp>
        <p:nvSpPr>
          <p:cNvPr id="48" name="Arrow: Right 47">
            <a:extLst>
              <a:ext uri="{FF2B5EF4-FFF2-40B4-BE49-F238E27FC236}">
                <a16:creationId xmlns:a16="http://schemas.microsoft.com/office/drawing/2014/main" id="{B66856E6-6181-F214-C0F9-8FACC702AB52}"/>
              </a:ext>
            </a:extLst>
          </p:cNvPr>
          <p:cNvSpPr/>
          <p:nvPr/>
        </p:nvSpPr>
        <p:spPr>
          <a:xfrm>
            <a:off x="3706184" y="1431068"/>
            <a:ext cx="114300" cy="57150"/>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06765">
              <a:defRPr/>
            </a:pPr>
            <a:endParaRPr lang="en-US">
              <a:solidFill>
                <a:srgbClr val="FFFFFF"/>
              </a:solidFill>
              <a:latin typeface="Arial"/>
            </a:endParaRPr>
          </a:p>
        </p:txBody>
      </p:sp>
      <p:sp>
        <p:nvSpPr>
          <p:cNvPr id="49" name="Arrow: Right 48">
            <a:extLst>
              <a:ext uri="{FF2B5EF4-FFF2-40B4-BE49-F238E27FC236}">
                <a16:creationId xmlns:a16="http://schemas.microsoft.com/office/drawing/2014/main" id="{75828DF2-ABDD-1D55-BE18-0C509B2E127D}"/>
              </a:ext>
            </a:extLst>
          </p:cNvPr>
          <p:cNvSpPr/>
          <p:nvPr/>
        </p:nvSpPr>
        <p:spPr>
          <a:xfrm>
            <a:off x="3695376" y="1642206"/>
            <a:ext cx="114300" cy="57150"/>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06765">
              <a:defRPr/>
            </a:pPr>
            <a:endParaRPr lang="en-US">
              <a:solidFill>
                <a:srgbClr val="FFFFFF"/>
              </a:solidFill>
              <a:latin typeface="Arial"/>
            </a:endParaRPr>
          </a:p>
        </p:txBody>
      </p:sp>
      <p:sp>
        <p:nvSpPr>
          <p:cNvPr id="54" name="Arrow: Right 53">
            <a:extLst>
              <a:ext uri="{FF2B5EF4-FFF2-40B4-BE49-F238E27FC236}">
                <a16:creationId xmlns:a16="http://schemas.microsoft.com/office/drawing/2014/main" id="{94A20908-D4B6-56D2-0B4A-E3292A9700DE}"/>
              </a:ext>
            </a:extLst>
          </p:cNvPr>
          <p:cNvSpPr/>
          <p:nvPr/>
        </p:nvSpPr>
        <p:spPr>
          <a:xfrm>
            <a:off x="6760554" y="1445223"/>
            <a:ext cx="114300" cy="57150"/>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06765">
              <a:defRPr/>
            </a:pPr>
            <a:endParaRPr lang="en-US">
              <a:solidFill>
                <a:srgbClr val="FFFFFF"/>
              </a:solidFill>
              <a:latin typeface="Arial"/>
            </a:endParaRPr>
          </a:p>
        </p:txBody>
      </p:sp>
      <p:sp>
        <p:nvSpPr>
          <p:cNvPr id="55" name="Rectangle: Rounded Corners 54">
            <a:extLst>
              <a:ext uri="{FF2B5EF4-FFF2-40B4-BE49-F238E27FC236}">
                <a16:creationId xmlns:a16="http://schemas.microsoft.com/office/drawing/2014/main" id="{96CADEC5-50BE-970A-0D5F-147B9413B702}"/>
              </a:ext>
            </a:extLst>
          </p:cNvPr>
          <p:cNvSpPr/>
          <p:nvPr/>
        </p:nvSpPr>
        <p:spPr>
          <a:xfrm>
            <a:off x="5250181" y="3197603"/>
            <a:ext cx="1557086" cy="189196"/>
          </a:xfrm>
          <a:prstGeom prst="roundRect">
            <a:avLst/>
          </a:prstGeom>
          <a:solidFill>
            <a:schemeClr val="bg1">
              <a:alpha val="0"/>
            </a:schemeClr>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06765">
              <a:defRPr/>
            </a:pPr>
            <a:endParaRPr lang="en-US">
              <a:solidFill>
                <a:srgbClr val="FFFFFF"/>
              </a:solidFill>
              <a:latin typeface="Arial"/>
            </a:endParaRPr>
          </a:p>
        </p:txBody>
      </p:sp>
      <p:sp>
        <p:nvSpPr>
          <p:cNvPr id="56" name="Arrow: Right 55">
            <a:extLst>
              <a:ext uri="{FF2B5EF4-FFF2-40B4-BE49-F238E27FC236}">
                <a16:creationId xmlns:a16="http://schemas.microsoft.com/office/drawing/2014/main" id="{93E0B7BA-CE44-80DD-48A5-03C4801CCC43}"/>
              </a:ext>
            </a:extLst>
          </p:cNvPr>
          <p:cNvSpPr/>
          <p:nvPr/>
        </p:nvSpPr>
        <p:spPr>
          <a:xfrm>
            <a:off x="5193779" y="4398279"/>
            <a:ext cx="114300" cy="57150"/>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06765">
              <a:defRPr/>
            </a:pPr>
            <a:endParaRPr lang="en-US">
              <a:solidFill>
                <a:srgbClr val="FFFFFF"/>
              </a:solidFill>
              <a:latin typeface="Arial"/>
            </a:endParaRPr>
          </a:p>
        </p:txBody>
      </p:sp>
      <p:sp>
        <p:nvSpPr>
          <p:cNvPr id="4" name="Arrow: Right 3">
            <a:extLst>
              <a:ext uri="{FF2B5EF4-FFF2-40B4-BE49-F238E27FC236}">
                <a16:creationId xmlns:a16="http://schemas.microsoft.com/office/drawing/2014/main" id="{71104F3A-3FD4-7732-D4A9-3E7FC41A0506}"/>
              </a:ext>
            </a:extLst>
          </p:cNvPr>
          <p:cNvSpPr/>
          <p:nvPr/>
        </p:nvSpPr>
        <p:spPr>
          <a:xfrm>
            <a:off x="2220145" y="2426771"/>
            <a:ext cx="114300" cy="57150"/>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06765">
              <a:defRPr/>
            </a:pPr>
            <a:endParaRPr lang="en-US">
              <a:solidFill>
                <a:srgbClr val="FFFFFF"/>
              </a:solidFill>
              <a:latin typeface="Arial"/>
            </a:endParaRPr>
          </a:p>
        </p:txBody>
      </p:sp>
      <p:sp>
        <p:nvSpPr>
          <p:cNvPr id="5" name="Arrow: Right 4">
            <a:extLst>
              <a:ext uri="{FF2B5EF4-FFF2-40B4-BE49-F238E27FC236}">
                <a16:creationId xmlns:a16="http://schemas.microsoft.com/office/drawing/2014/main" id="{23043BD9-1858-356A-D1B3-137D5A44C1A9}"/>
              </a:ext>
            </a:extLst>
          </p:cNvPr>
          <p:cNvSpPr/>
          <p:nvPr/>
        </p:nvSpPr>
        <p:spPr>
          <a:xfrm>
            <a:off x="5187485" y="3442874"/>
            <a:ext cx="114300" cy="57150"/>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06765">
              <a:defRPr/>
            </a:pPr>
            <a:endParaRPr lang="en-US">
              <a:solidFill>
                <a:srgbClr val="FFFFFF"/>
              </a:solidFill>
              <a:latin typeface="Arial"/>
            </a:endParaRPr>
          </a:p>
        </p:txBody>
      </p:sp>
      <p:sp>
        <p:nvSpPr>
          <p:cNvPr id="12" name="Arrow: Right 11">
            <a:extLst>
              <a:ext uri="{FF2B5EF4-FFF2-40B4-BE49-F238E27FC236}">
                <a16:creationId xmlns:a16="http://schemas.microsoft.com/office/drawing/2014/main" id="{A3574E95-BC39-1256-1850-5659B4A04796}"/>
              </a:ext>
            </a:extLst>
          </p:cNvPr>
          <p:cNvSpPr/>
          <p:nvPr/>
        </p:nvSpPr>
        <p:spPr>
          <a:xfrm>
            <a:off x="3692633" y="1743587"/>
            <a:ext cx="114300" cy="57150"/>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06765">
              <a:defRPr/>
            </a:pPr>
            <a:endParaRPr lang="en-US">
              <a:solidFill>
                <a:srgbClr val="FFFFFF"/>
              </a:solidFill>
              <a:latin typeface="Arial"/>
            </a:endParaRPr>
          </a:p>
        </p:txBody>
      </p:sp>
      <p:sp>
        <p:nvSpPr>
          <p:cNvPr id="57" name="Arrow: Right 56">
            <a:extLst>
              <a:ext uri="{FF2B5EF4-FFF2-40B4-BE49-F238E27FC236}">
                <a16:creationId xmlns:a16="http://schemas.microsoft.com/office/drawing/2014/main" id="{99DF6428-6364-E6BB-944F-93D62380E1E9}"/>
              </a:ext>
            </a:extLst>
          </p:cNvPr>
          <p:cNvSpPr/>
          <p:nvPr/>
        </p:nvSpPr>
        <p:spPr>
          <a:xfrm>
            <a:off x="6758546" y="1664024"/>
            <a:ext cx="114300" cy="57150"/>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06765">
              <a:defRPr/>
            </a:pPr>
            <a:endParaRPr lang="en-US">
              <a:solidFill>
                <a:srgbClr val="FFFFFF"/>
              </a:solidFill>
              <a:latin typeface="Arial"/>
            </a:endParaRPr>
          </a:p>
        </p:txBody>
      </p:sp>
      <p:sp>
        <p:nvSpPr>
          <p:cNvPr id="113" name="Arrow: Right 112">
            <a:extLst>
              <a:ext uri="{FF2B5EF4-FFF2-40B4-BE49-F238E27FC236}">
                <a16:creationId xmlns:a16="http://schemas.microsoft.com/office/drawing/2014/main" id="{0E83B589-3371-AC65-AB3A-37404CCC75C2}"/>
              </a:ext>
            </a:extLst>
          </p:cNvPr>
          <p:cNvSpPr/>
          <p:nvPr/>
        </p:nvSpPr>
        <p:spPr>
          <a:xfrm>
            <a:off x="6758546" y="1869267"/>
            <a:ext cx="114300" cy="57150"/>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06765">
              <a:defRPr/>
            </a:pPr>
            <a:endParaRPr lang="en-US">
              <a:solidFill>
                <a:srgbClr val="FFFFFF"/>
              </a:solidFill>
              <a:latin typeface="Arial"/>
            </a:endParaRPr>
          </a:p>
        </p:txBody>
      </p:sp>
      <p:sp>
        <p:nvSpPr>
          <p:cNvPr id="116" name="Arrow: Right 115">
            <a:extLst>
              <a:ext uri="{FF2B5EF4-FFF2-40B4-BE49-F238E27FC236}">
                <a16:creationId xmlns:a16="http://schemas.microsoft.com/office/drawing/2014/main" id="{C1556031-BB33-DFB7-313E-9B14AFCBCE67}"/>
              </a:ext>
            </a:extLst>
          </p:cNvPr>
          <p:cNvSpPr/>
          <p:nvPr/>
        </p:nvSpPr>
        <p:spPr>
          <a:xfrm>
            <a:off x="3704703" y="1535577"/>
            <a:ext cx="114300" cy="57150"/>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06765">
              <a:defRPr/>
            </a:pPr>
            <a:endParaRPr lang="en-US">
              <a:solidFill>
                <a:srgbClr val="FFFFFF"/>
              </a:solidFill>
              <a:latin typeface="Arial"/>
            </a:endParaRPr>
          </a:p>
        </p:txBody>
      </p:sp>
      <p:sp>
        <p:nvSpPr>
          <p:cNvPr id="117" name="Arrow: Right 116">
            <a:extLst>
              <a:ext uri="{FF2B5EF4-FFF2-40B4-BE49-F238E27FC236}">
                <a16:creationId xmlns:a16="http://schemas.microsoft.com/office/drawing/2014/main" id="{D35621A6-A033-91BD-39D0-F70DDCD88D26}"/>
              </a:ext>
            </a:extLst>
          </p:cNvPr>
          <p:cNvSpPr/>
          <p:nvPr/>
        </p:nvSpPr>
        <p:spPr>
          <a:xfrm>
            <a:off x="5194910" y="3859994"/>
            <a:ext cx="114300" cy="57150"/>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06765">
              <a:defRPr/>
            </a:pPr>
            <a:endParaRPr lang="en-US">
              <a:solidFill>
                <a:srgbClr val="FFFFFF"/>
              </a:solidFill>
              <a:latin typeface="Arial"/>
            </a:endParaRPr>
          </a:p>
        </p:txBody>
      </p:sp>
      <p:sp>
        <p:nvSpPr>
          <p:cNvPr id="118" name="Arrow: Right 117">
            <a:extLst>
              <a:ext uri="{FF2B5EF4-FFF2-40B4-BE49-F238E27FC236}">
                <a16:creationId xmlns:a16="http://schemas.microsoft.com/office/drawing/2014/main" id="{5A6A4ECC-74CB-B937-6F61-8D5A88D35D9A}"/>
              </a:ext>
            </a:extLst>
          </p:cNvPr>
          <p:cNvSpPr/>
          <p:nvPr/>
        </p:nvSpPr>
        <p:spPr>
          <a:xfrm>
            <a:off x="2210789" y="1921199"/>
            <a:ext cx="114300" cy="57150"/>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06765">
              <a:defRPr/>
            </a:pPr>
            <a:endParaRPr lang="en-US">
              <a:solidFill>
                <a:srgbClr val="FFFFFF"/>
              </a:solidFill>
              <a:latin typeface="Arial"/>
            </a:endParaRPr>
          </a:p>
        </p:txBody>
      </p:sp>
      <p:sp>
        <p:nvSpPr>
          <p:cNvPr id="6" name="Oval 5">
            <a:extLst>
              <a:ext uri="{FF2B5EF4-FFF2-40B4-BE49-F238E27FC236}">
                <a16:creationId xmlns:a16="http://schemas.microsoft.com/office/drawing/2014/main" id="{705634B8-BAAF-0AC8-4857-2946D040CCC8}"/>
              </a:ext>
            </a:extLst>
          </p:cNvPr>
          <p:cNvSpPr/>
          <p:nvPr/>
        </p:nvSpPr>
        <p:spPr>
          <a:xfrm>
            <a:off x="2098222" y="4053589"/>
            <a:ext cx="1619576" cy="893968"/>
          </a:xfrm>
          <a:prstGeom prst="ellipse">
            <a:avLst/>
          </a:prstGeom>
          <a:noFill/>
          <a:ln w="3810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Speech Bubble: Rectangle 6">
            <a:extLst>
              <a:ext uri="{FF2B5EF4-FFF2-40B4-BE49-F238E27FC236}">
                <a16:creationId xmlns:a16="http://schemas.microsoft.com/office/drawing/2014/main" id="{BE2B5795-5460-C8FC-FCEA-51A4E698AD19}"/>
              </a:ext>
            </a:extLst>
          </p:cNvPr>
          <p:cNvSpPr/>
          <p:nvPr/>
        </p:nvSpPr>
        <p:spPr>
          <a:xfrm>
            <a:off x="3415161" y="3529416"/>
            <a:ext cx="914400" cy="612648"/>
          </a:xfrm>
          <a:prstGeom prst="wedgeRectCallout">
            <a:avLst/>
          </a:prstGeom>
          <a:noFill/>
          <a:ln w="28575">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a:solidFill>
                  <a:schemeClr val="accent2"/>
                </a:solidFill>
                <a:highlight>
                  <a:srgbClr val="FFFF00"/>
                </a:highlight>
              </a:rPr>
              <a:t>Phase 1 R1</a:t>
            </a:r>
          </a:p>
        </p:txBody>
      </p:sp>
      <p:sp>
        <p:nvSpPr>
          <p:cNvPr id="8" name="Rectangle: Rounded Corners 7">
            <a:extLst>
              <a:ext uri="{FF2B5EF4-FFF2-40B4-BE49-F238E27FC236}">
                <a16:creationId xmlns:a16="http://schemas.microsoft.com/office/drawing/2014/main" id="{D17E32E5-930C-CBB7-1A76-03FAEA387B1C}"/>
              </a:ext>
            </a:extLst>
          </p:cNvPr>
          <p:cNvSpPr/>
          <p:nvPr/>
        </p:nvSpPr>
        <p:spPr>
          <a:xfrm>
            <a:off x="1265278" y="2002960"/>
            <a:ext cx="938086" cy="423811"/>
          </a:xfrm>
          <a:prstGeom prst="roundRect">
            <a:avLst>
              <a:gd name="adj" fmla="val 148"/>
            </a:avLst>
          </a:prstGeom>
          <a:solidFill>
            <a:schemeClr val="bg1">
              <a:alpha val="0"/>
            </a:schemeClr>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06765">
              <a:defRPr/>
            </a:pPr>
            <a:endParaRPr lang="en-US">
              <a:solidFill>
                <a:srgbClr val="FFFFFF"/>
              </a:solidFill>
              <a:latin typeface="Arial"/>
            </a:endParaRPr>
          </a:p>
        </p:txBody>
      </p:sp>
      <p:sp>
        <p:nvSpPr>
          <p:cNvPr id="9" name="Oval 8">
            <a:extLst>
              <a:ext uri="{FF2B5EF4-FFF2-40B4-BE49-F238E27FC236}">
                <a16:creationId xmlns:a16="http://schemas.microsoft.com/office/drawing/2014/main" id="{4C36F19F-F27A-797A-E396-AF793E68616E}"/>
              </a:ext>
            </a:extLst>
          </p:cNvPr>
          <p:cNvSpPr/>
          <p:nvPr/>
        </p:nvSpPr>
        <p:spPr>
          <a:xfrm>
            <a:off x="6688988" y="922421"/>
            <a:ext cx="2088876" cy="1159921"/>
          </a:xfrm>
          <a:prstGeom prst="ellipse">
            <a:avLst/>
          </a:prstGeom>
          <a:noFill/>
          <a:ln w="3810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peech Bubble: Rectangle 9">
            <a:extLst>
              <a:ext uri="{FF2B5EF4-FFF2-40B4-BE49-F238E27FC236}">
                <a16:creationId xmlns:a16="http://schemas.microsoft.com/office/drawing/2014/main" id="{9A00635E-785C-D619-298E-64CECDA304B1}"/>
              </a:ext>
            </a:extLst>
          </p:cNvPr>
          <p:cNvSpPr/>
          <p:nvPr/>
        </p:nvSpPr>
        <p:spPr>
          <a:xfrm>
            <a:off x="8251250" y="782960"/>
            <a:ext cx="914400" cy="612648"/>
          </a:xfrm>
          <a:prstGeom prst="wedgeRectCallout">
            <a:avLst/>
          </a:prstGeom>
          <a:noFill/>
          <a:ln w="28575">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a:solidFill>
                  <a:schemeClr val="accent2"/>
                </a:solidFill>
                <a:highlight>
                  <a:srgbClr val="FFFF00"/>
                </a:highlight>
              </a:rPr>
              <a:t>Phase 1 R1</a:t>
            </a:r>
          </a:p>
        </p:txBody>
      </p:sp>
      <p:sp>
        <p:nvSpPr>
          <p:cNvPr id="11" name="Oval 10">
            <a:extLst>
              <a:ext uri="{FF2B5EF4-FFF2-40B4-BE49-F238E27FC236}">
                <a16:creationId xmlns:a16="http://schemas.microsoft.com/office/drawing/2014/main" id="{21FE3AA4-1001-3711-9B14-E4B10DA150B6}"/>
              </a:ext>
            </a:extLst>
          </p:cNvPr>
          <p:cNvSpPr/>
          <p:nvPr/>
        </p:nvSpPr>
        <p:spPr>
          <a:xfrm>
            <a:off x="2131215" y="1055388"/>
            <a:ext cx="1561418" cy="1026954"/>
          </a:xfrm>
          <a:prstGeom prst="ellipse">
            <a:avLst/>
          </a:prstGeom>
          <a:noFill/>
          <a:ln w="381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Speech Bubble: Rectangle 13">
            <a:extLst>
              <a:ext uri="{FF2B5EF4-FFF2-40B4-BE49-F238E27FC236}">
                <a16:creationId xmlns:a16="http://schemas.microsoft.com/office/drawing/2014/main" id="{85AC88A4-488F-D0C0-058F-963E9A9FE7B1}"/>
              </a:ext>
            </a:extLst>
          </p:cNvPr>
          <p:cNvSpPr/>
          <p:nvPr/>
        </p:nvSpPr>
        <p:spPr>
          <a:xfrm>
            <a:off x="2559969" y="455524"/>
            <a:ext cx="914400" cy="535660"/>
          </a:xfrm>
          <a:prstGeom prst="wedgeRectCallout">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a:solidFill>
                  <a:schemeClr val="accent2"/>
                </a:solidFill>
                <a:highlight>
                  <a:srgbClr val="FFFF00"/>
                </a:highlight>
              </a:rPr>
              <a:t>Phase 2 R1</a:t>
            </a:r>
          </a:p>
        </p:txBody>
      </p:sp>
      <p:sp>
        <p:nvSpPr>
          <p:cNvPr id="16" name="Oval 15">
            <a:extLst>
              <a:ext uri="{FF2B5EF4-FFF2-40B4-BE49-F238E27FC236}">
                <a16:creationId xmlns:a16="http://schemas.microsoft.com/office/drawing/2014/main" id="{CA1942C5-E3C2-D3A9-9F7A-96C6E1B8DE30}"/>
              </a:ext>
            </a:extLst>
          </p:cNvPr>
          <p:cNvSpPr/>
          <p:nvPr/>
        </p:nvSpPr>
        <p:spPr>
          <a:xfrm>
            <a:off x="3670067" y="1089284"/>
            <a:ext cx="1561418" cy="971479"/>
          </a:xfrm>
          <a:prstGeom prst="ellipse">
            <a:avLst/>
          </a:prstGeom>
          <a:noFill/>
          <a:ln w="381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Speech Bubble: Rectangle 17">
            <a:extLst>
              <a:ext uri="{FF2B5EF4-FFF2-40B4-BE49-F238E27FC236}">
                <a16:creationId xmlns:a16="http://schemas.microsoft.com/office/drawing/2014/main" id="{AE55277D-66D5-3A32-0DC3-BE1E3F9AA68D}"/>
              </a:ext>
            </a:extLst>
          </p:cNvPr>
          <p:cNvSpPr/>
          <p:nvPr/>
        </p:nvSpPr>
        <p:spPr>
          <a:xfrm>
            <a:off x="4122232" y="377217"/>
            <a:ext cx="914400" cy="613968"/>
          </a:xfrm>
          <a:prstGeom prst="wedgeRectCallout">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a:solidFill>
                  <a:schemeClr val="accent2"/>
                </a:solidFill>
                <a:highlight>
                  <a:srgbClr val="FFFF00"/>
                </a:highlight>
              </a:rPr>
              <a:t>Phase 2 R1</a:t>
            </a:r>
          </a:p>
        </p:txBody>
      </p:sp>
      <p:sp>
        <p:nvSpPr>
          <p:cNvPr id="19" name="Oval 18">
            <a:extLst>
              <a:ext uri="{FF2B5EF4-FFF2-40B4-BE49-F238E27FC236}">
                <a16:creationId xmlns:a16="http://schemas.microsoft.com/office/drawing/2014/main" id="{A61E9ACB-A184-AB25-1E44-F0C9BF7D56DD}"/>
              </a:ext>
            </a:extLst>
          </p:cNvPr>
          <p:cNvSpPr/>
          <p:nvPr/>
        </p:nvSpPr>
        <p:spPr>
          <a:xfrm>
            <a:off x="2192081" y="2026868"/>
            <a:ext cx="1561418" cy="1088168"/>
          </a:xfrm>
          <a:prstGeom prst="ellipse">
            <a:avLst/>
          </a:prstGeom>
          <a:noFill/>
          <a:ln w="381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Speech Bubble: Rectangle 21">
            <a:extLst>
              <a:ext uri="{FF2B5EF4-FFF2-40B4-BE49-F238E27FC236}">
                <a16:creationId xmlns:a16="http://schemas.microsoft.com/office/drawing/2014/main" id="{B7418B50-19A7-A39A-EAE8-CFCDA52D1F10}"/>
              </a:ext>
            </a:extLst>
          </p:cNvPr>
          <p:cNvSpPr/>
          <p:nvPr/>
        </p:nvSpPr>
        <p:spPr>
          <a:xfrm>
            <a:off x="3304653" y="2023771"/>
            <a:ext cx="914400" cy="612648"/>
          </a:xfrm>
          <a:prstGeom prst="wedgeRectCallout">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a:solidFill>
                  <a:schemeClr val="accent2"/>
                </a:solidFill>
                <a:highlight>
                  <a:srgbClr val="FFFF00"/>
                </a:highlight>
              </a:rPr>
              <a:t>Phase 2 R1</a:t>
            </a:r>
          </a:p>
        </p:txBody>
      </p:sp>
      <p:sp>
        <p:nvSpPr>
          <p:cNvPr id="23" name="Oval 22">
            <a:extLst>
              <a:ext uri="{FF2B5EF4-FFF2-40B4-BE49-F238E27FC236}">
                <a16:creationId xmlns:a16="http://schemas.microsoft.com/office/drawing/2014/main" id="{24FE1629-43F4-A3F4-E847-8779A0E654E4}"/>
              </a:ext>
            </a:extLst>
          </p:cNvPr>
          <p:cNvSpPr/>
          <p:nvPr/>
        </p:nvSpPr>
        <p:spPr>
          <a:xfrm>
            <a:off x="4987402" y="3082737"/>
            <a:ext cx="1929976" cy="1864819"/>
          </a:xfrm>
          <a:prstGeom prst="ellipse">
            <a:avLst/>
          </a:prstGeom>
          <a:noFill/>
          <a:ln w="381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Speech Bubble: Rectangle 23">
            <a:extLst>
              <a:ext uri="{FF2B5EF4-FFF2-40B4-BE49-F238E27FC236}">
                <a16:creationId xmlns:a16="http://schemas.microsoft.com/office/drawing/2014/main" id="{3B44DDD1-8AC8-91E5-A482-51D9905DF36E}"/>
              </a:ext>
            </a:extLst>
          </p:cNvPr>
          <p:cNvSpPr/>
          <p:nvPr/>
        </p:nvSpPr>
        <p:spPr>
          <a:xfrm>
            <a:off x="6571389" y="2823945"/>
            <a:ext cx="914400" cy="612648"/>
          </a:xfrm>
          <a:prstGeom prst="wedgeRectCallout">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a:solidFill>
                  <a:schemeClr val="accent2"/>
                </a:solidFill>
                <a:highlight>
                  <a:srgbClr val="FFFF00"/>
                </a:highlight>
              </a:rPr>
              <a:t>Phase 2 R1</a:t>
            </a:r>
          </a:p>
        </p:txBody>
      </p:sp>
      <p:sp>
        <p:nvSpPr>
          <p:cNvPr id="25" name="Rectangle: Rounded Corners 24">
            <a:extLst>
              <a:ext uri="{FF2B5EF4-FFF2-40B4-BE49-F238E27FC236}">
                <a16:creationId xmlns:a16="http://schemas.microsoft.com/office/drawing/2014/main" id="{2F71E993-041F-9100-FDE2-9A0D9E65F07E}"/>
              </a:ext>
            </a:extLst>
          </p:cNvPr>
          <p:cNvSpPr/>
          <p:nvPr/>
        </p:nvSpPr>
        <p:spPr>
          <a:xfrm>
            <a:off x="1295691" y="2950944"/>
            <a:ext cx="907673" cy="246660"/>
          </a:xfrm>
          <a:prstGeom prst="roundRect">
            <a:avLst>
              <a:gd name="adj" fmla="val 148"/>
            </a:avLst>
          </a:prstGeom>
          <a:solidFill>
            <a:schemeClr val="bg1">
              <a:alpha val="0"/>
            </a:schemeClr>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06765">
              <a:defRPr/>
            </a:pPr>
            <a:endParaRPr lang="en-US">
              <a:solidFill>
                <a:srgbClr val="FFFFFF"/>
              </a:solidFill>
              <a:latin typeface="Arial"/>
            </a:endParaRPr>
          </a:p>
        </p:txBody>
      </p:sp>
    </p:spTree>
    <p:extLst>
      <p:ext uri="{BB962C8B-B14F-4D97-AF65-F5344CB8AC3E}">
        <p14:creationId xmlns:p14="http://schemas.microsoft.com/office/powerpoint/2010/main" val="24725455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993414" y="1602831"/>
            <a:ext cx="4762043" cy="1102519"/>
          </a:xfrm>
        </p:spPr>
        <p:txBody>
          <a:bodyPr/>
          <a:lstStyle/>
          <a:p>
            <a:r>
              <a:rPr lang="en-US" sz="2400" b="1" spc="-51">
                <a:solidFill>
                  <a:schemeClr val="tx1">
                    <a:lumMod val="50000"/>
                  </a:schemeClr>
                </a:solidFill>
                <a:latin typeface="+mj-lt"/>
                <a:ea typeface="+mj-ea"/>
                <a:cs typeface="+mj-cs"/>
              </a:rPr>
              <a:t>Customer Management Product Family Capabilities:</a:t>
            </a:r>
            <a:br>
              <a:rPr lang="en-US" sz="2400" b="1" spc="-51">
                <a:solidFill>
                  <a:schemeClr val="tx1">
                    <a:lumMod val="50000"/>
                  </a:schemeClr>
                </a:solidFill>
                <a:latin typeface="+mj-lt"/>
                <a:ea typeface="+mj-ea"/>
                <a:cs typeface="+mj-cs"/>
              </a:rPr>
            </a:br>
            <a:br>
              <a:rPr lang="en-US" sz="2400" b="1" spc="-51">
                <a:solidFill>
                  <a:schemeClr val="tx1">
                    <a:lumMod val="50000"/>
                  </a:schemeClr>
                </a:solidFill>
                <a:latin typeface="+mj-lt"/>
                <a:ea typeface="+mj-ea"/>
                <a:cs typeface="+mj-cs"/>
              </a:rPr>
            </a:br>
            <a:r>
              <a:rPr lang="en-US" sz="1400">
                <a:solidFill>
                  <a:schemeClr val="accent2"/>
                </a:solidFill>
              </a:rPr>
              <a:t>Case Installation &amp; Implementation</a:t>
            </a:r>
            <a:br>
              <a:rPr lang="en-US" sz="2400" b="1" spc="-51">
                <a:solidFill>
                  <a:schemeClr val="tx1">
                    <a:lumMod val="50000"/>
                  </a:schemeClr>
                </a:solidFill>
                <a:latin typeface="+mj-lt"/>
                <a:ea typeface="+mj-ea"/>
                <a:cs typeface="+mj-cs"/>
              </a:rPr>
            </a:br>
            <a:r>
              <a:rPr lang="en-US" sz="1400"/>
              <a:t>Sold</a:t>
            </a:r>
            <a:r>
              <a:rPr lang="en-US" sz="2400" b="1" spc="-51">
                <a:solidFill>
                  <a:schemeClr val="tx1">
                    <a:lumMod val="50000"/>
                  </a:schemeClr>
                </a:solidFill>
                <a:latin typeface="+mj-lt"/>
                <a:ea typeface="+mj-ea"/>
                <a:cs typeface="+mj-cs"/>
              </a:rPr>
              <a:t> </a:t>
            </a:r>
            <a:r>
              <a:rPr lang="en-US" sz="1400" b="1">
                <a:solidFill>
                  <a:schemeClr val="accent1"/>
                </a:solidFill>
              </a:rPr>
              <a:t>Case Installation &amp; Implementation </a:t>
            </a:r>
            <a:br>
              <a:rPr lang="en-US" sz="1400" b="1">
                <a:solidFill>
                  <a:schemeClr val="accent1"/>
                </a:solidFill>
              </a:rPr>
            </a:br>
            <a:r>
              <a:rPr lang="en-US" sz="1400" b="1">
                <a:solidFill>
                  <a:schemeClr val="accent1"/>
                </a:solidFill>
              </a:rPr>
              <a:t>For Oxford FI UHC  LG 51-99 group size</a:t>
            </a:r>
            <a:endParaRPr lang="en-US" sz="1400" b="1" spc="-51">
              <a:solidFill>
                <a:schemeClr val="tx1">
                  <a:lumMod val="50000"/>
                </a:schemeClr>
              </a:solidFill>
              <a:latin typeface="+mj-lt"/>
              <a:ea typeface="+mj-ea"/>
              <a:cs typeface="+mj-cs"/>
            </a:endParaRPr>
          </a:p>
        </p:txBody>
      </p:sp>
    </p:spTree>
    <p:extLst>
      <p:ext uri="{BB962C8B-B14F-4D97-AF65-F5344CB8AC3E}">
        <p14:creationId xmlns:p14="http://schemas.microsoft.com/office/powerpoint/2010/main" val="932088455"/>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6E0748-16AB-D6A0-3997-C9B9EB4A510D}"/>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86F3C583-8394-9149-C3FA-ED8FBCF2C64B}"/>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28724" y="876300"/>
            <a:ext cx="5991225" cy="3924300"/>
          </a:xfrm>
          <a:prstGeom prst="rect">
            <a:avLst/>
          </a:prstGeom>
        </p:spPr>
      </p:pic>
      <p:sp>
        <p:nvSpPr>
          <p:cNvPr id="4" name="Slide Number Placeholder 3">
            <a:extLst>
              <a:ext uri="{FF2B5EF4-FFF2-40B4-BE49-F238E27FC236}">
                <a16:creationId xmlns:a16="http://schemas.microsoft.com/office/drawing/2014/main" id="{3800832B-7B1A-0A95-809E-BF44699D50B2}"/>
              </a:ext>
            </a:extLst>
          </p:cNvPr>
          <p:cNvSpPr>
            <a:spLocks noGrp="1"/>
          </p:cNvSpPr>
          <p:nvPr>
            <p:ph type="sldNum" sz="quarter" idx="12"/>
          </p:nvPr>
        </p:nvSpPr>
        <p:spPr/>
        <p:txBody>
          <a:bodyPr/>
          <a:lstStyle/>
          <a:p>
            <a:fld id="{90F9BDA0-AF0E-4BA8-B742-3B9C92A3E6FE}" type="slidenum">
              <a:rPr lang="en-US" smtClean="0">
                <a:solidFill>
                  <a:srgbClr val="8C9599"/>
                </a:solidFill>
              </a:rPr>
              <a:pPr/>
              <a:t>13</a:t>
            </a:fld>
            <a:endParaRPr lang="en-US">
              <a:solidFill>
                <a:srgbClr val="8C9599"/>
              </a:solidFill>
            </a:endParaRPr>
          </a:p>
        </p:txBody>
      </p:sp>
      <p:sp>
        <p:nvSpPr>
          <p:cNvPr id="5" name="Title 4">
            <a:extLst>
              <a:ext uri="{FF2B5EF4-FFF2-40B4-BE49-F238E27FC236}">
                <a16:creationId xmlns:a16="http://schemas.microsoft.com/office/drawing/2014/main" id="{88B41A97-AED6-2BC8-2911-D4FDDC975617}"/>
              </a:ext>
            </a:extLst>
          </p:cNvPr>
          <p:cNvSpPr>
            <a:spLocks noGrp="1"/>
          </p:cNvSpPr>
          <p:nvPr>
            <p:ph type="title"/>
          </p:nvPr>
        </p:nvSpPr>
        <p:spPr>
          <a:xfrm>
            <a:off x="371476" y="121419"/>
            <a:ext cx="7781924" cy="625764"/>
          </a:xfrm>
        </p:spPr>
        <p:txBody>
          <a:bodyPr>
            <a:normAutofit fontScale="90000"/>
          </a:bodyPr>
          <a:lstStyle/>
          <a:p>
            <a:r>
              <a:rPr lang="en-US" sz="2200"/>
              <a:t>Architecture Interactions Context Diagram – </a:t>
            </a:r>
            <a:br>
              <a:rPr lang="en-US" sz="2200"/>
            </a:br>
            <a:r>
              <a:rPr lang="en-US" sz="1800"/>
              <a:t>Customer Management – Customer Installation &amp; Implementation</a:t>
            </a:r>
            <a:br>
              <a:rPr lang="en-US"/>
            </a:br>
            <a:r>
              <a:rPr lang="en-US" sz="1800"/>
              <a:t>( New Business – FI 51-99 )</a:t>
            </a:r>
          </a:p>
        </p:txBody>
      </p:sp>
    </p:spTree>
    <p:extLst>
      <p:ext uri="{BB962C8B-B14F-4D97-AF65-F5344CB8AC3E}">
        <p14:creationId xmlns:p14="http://schemas.microsoft.com/office/powerpoint/2010/main" val="114675991"/>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BEDE39-9356-8AF1-B64B-2B87BFC7F4A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3D04BCC-B51F-106C-BEFA-BEA6D3E615CB}"/>
              </a:ext>
            </a:extLst>
          </p:cNvPr>
          <p:cNvSpPr>
            <a:spLocks noGrp="1"/>
          </p:cNvSpPr>
          <p:nvPr>
            <p:ph idx="1"/>
          </p:nvPr>
        </p:nvSpPr>
        <p:spPr>
          <a:xfrm>
            <a:off x="244550" y="747169"/>
            <a:ext cx="8742432" cy="4129437"/>
          </a:xfrm>
        </p:spPr>
        <p:txBody>
          <a:bodyPr vert="horz" lIns="91440" tIns="45720" rIns="91440" bIns="45720" rtlCol="0" anchor="t">
            <a:noAutofit/>
          </a:bodyPr>
          <a:lstStyle/>
          <a:p>
            <a:pPr marL="0" indent="0">
              <a:buNone/>
            </a:pPr>
            <a:r>
              <a:rPr lang="en-US" sz="1400" b="1"/>
              <a:t>SORT:</a:t>
            </a:r>
          </a:p>
          <a:p>
            <a:pPr>
              <a:spcAft>
                <a:spcPts val="0"/>
              </a:spcAft>
              <a:buFont typeface="Wingdings" panose="05000000000000000000" pitchFamily="2" charset="2"/>
              <a:buChar char="§"/>
            </a:pPr>
            <a:r>
              <a:rPr lang="en-US" sz="1200">
                <a:latin typeface="Calibri" panose="020F0502020204030204" pitchFamily="34" charset="0"/>
                <a:ea typeface="Calibri" panose="020F0502020204030204" pitchFamily="34" charset="0"/>
              </a:rPr>
              <a:t>As part of existing process, IMO team assigned to work on sold case group, will setup task in SORT and manually trigger the ‘Send to OBM” task to release the uploaded UAF in Solaris and to trigger the UAF Digitization process. </a:t>
            </a:r>
          </a:p>
          <a:p>
            <a:pPr lvl="1">
              <a:spcAft>
                <a:spcPts val="0"/>
              </a:spcAft>
              <a:buFontTx/>
              <a:buChar char="-"/>
            </a:pPr>
            <a:endParaRPr lang="en-US" sz="800">
              <a:latin typeface="Calibri" panose="020F0502020204030204" pitchFamily="34" charset="0"/>
              <a:ea typeface="Calibri" panose="020F0502020204030204" pitchFamily="34" charset="0"/>
            </a:endParaRPr>
          </a:p>
          <a:p>
            <a:pPr marL="0" indent="0">
              <a:spcAft>
                <a:spcPts val="0"/>
              </a:spcAft>
              <a:buNone/>
            </a:pPr>
            <a:r>
              <a:rPr lang="en-US" sz="1400" b="1">
                <a:latin typeface="Calibri" panose="020F0502020204030204" pitchFamily="34" charset="0"/>
                <a:ea typeface="Calibri" panose="020F0502020204030204" pitchFamily="34" charset="0"/>
              </a:rPr>
              <a:t>OBM: </a:t>
            </a:r>
          </a:p>
          <a:p>
            <a:pPr>
              <a:spcAft>
                <a:spcPts val="0"/>
              </a:spcAft>
              <a:buFont typeface="Wingdings" panose="05000000000000000000" pitchFamily="2" charset="2"/>
              <a:buChar char="§"/>
            </a:pPr>
            <a:r>
              <a:rPr lang="en-US" sz="1200">
                <a:latin typeface="Calibri" panose="020F0502020204030204" pitchFamily="34" charset="0"/>
                <a:ea typeface="Calibri" panose="020F0502020204030204" pitchFamily="34" charset="0"/>
              </a:rPr>
              <a:t>The ‘Send to OBM’ task will enable the Case Installation team to key in the Opportunity ID from Solaris for sold case and use it to systematically pull the UAF information for a sold case from </a:t>
            </a:r>
            <a:r>
              <a:rPr lang="en-US" sz="1200" b="1">
                <a:latin typeface="Calibri" panose="020F0502020204030204" pitchFamily="34" charset="0"/>
                <a:ea typeface="Calibri" panose="020F0502020204030204" pitchFamily="34" charset="0"/>
              </a:rPr>
              <a:t>Newton</a:t>
            </a:r>
            <a:r>
              <a:rPr lang="en-US" sz="1200">
                <a:latin typeface="Calibri" panose="020F0502020204030204" pitchFamily="34" charset="0"/>
                <a:ea typeface="Calibri" panose="020F0502020204030204" pitchFamily="34" charset="0"/>
              </a:rPr>
              <a:t> back-end tables and load it into OBM. This existing process needs to be updated to pull additional information related to BA from Newton back-end tables via the API to support UAD Digitization process.</a:t>
            </a:r>
          </a:p>
          <a:p>
            <a:pPr>
              <a:spcAft>
                <a:spcPts val="0"/>
              </a:spcAft>
              <a:buFont typeface="Wingdings" panose="05000000000000000000" pitchFamily="2" charset="2"/>
              <a:buChar char="§"/>
            </a:pPr>
            <a:r>
              <a:rPr lang="en-US" sz="1200">
                <a:latin typeface="Calibri" panose="020F0502020204030204" pitchFamily="34" charset="0"/>
                <a:ea typeface="Calibri" panose="020F0502020204030204" pitchFamily="34" charset="0"/>
              </a:rPr>
              <a:t>There are coding mapping changes that need to be made in OBM corresponding to the changes already made to the HW API to support the automation of New Business customer sold case installation process for BA in Cirrus.</a:t>
            </a:r>
          </a:p>
          <a:p>
            <a:pPr>
              <a:spcAft>
                <a:spcPts val="0"/>
              </a:spcAft>
              <a:buFont typeface="Wingdings" panose="05000000000000000000" pitchFamily="2" charset="2"/>
              <a:buChar char="§"/>
            </a:pPr>
            <a:r>
              <a:rPr lang="en-US" sz="1200">
                <a:latin typeface="Calibri" panose="020F0502020204030204" pitchFamily="34" charset="0"/>
                <a:ea typeface="Calibri" panose="020F0502020204030204" pitchFamily="34" charset="0"/>
              </a:rPr>
              <a:t>To support sales broker compensation by state specific guidelines, OBM will need to include logic to override the broker commission received from Solaris with state specific broker commission </a:t>
            </a:r>
            <a:r>
              <a:rPr lang="en-US" sz="1200" b="1">
                <a:latin typeface="Calibri" panose="020F0502020204030204" pitchFamily="34" charset="0"/>
                <a:ea typeface="Calibri" panose="020F0502020204030204" pitchFamily="34" charset="0"/>
              </a:rPr>
              <a:t>max</a:t>
            </a:r>
            <a:r>
              <a:rPr lang="en-US" sz="1200">
                <a:latin typeface="Calibri" panose="020F0502020204030204" pitchFamily="34" charset="0"/>
                <a:ea typeface="Calibri" panose="020F0502020204030204" pitchFamily="34" charset="0"/>
              </a:rPr>
              <a:t> rate and stream it BASICS. OBM has UI changes to include additional states, legal entities ( NJ &amp; NY, we have to expand logic for additional states and codes etc.) default is 10%</a:t>
            </a:r>
          </a:p>
          <a:p>
            <a:pPr marL="0" marR="0" indent="0">
              <a:spcBef>
                <a:spcPts val="0"/>
              </a:spcBef>
              <a:spcAft>
                <a:spcPts val="0"/>
              </a:spcAft>
              <a:buNone/>
            </a:pPr>
            <a:endParaRPr lang="en-US" sz="700">
              <a:effectLst/>
              <a:latin typeface="Calibri" panose="020F0502020204030204" pitchFamily="34" charset="0"/>
              <a:ea typeface="Calibri" panose="020F0502020204030204" pitchFamily="34" charset="0"/>
            </a:endParaRPr>
          </a:p>
          <a:p>
            <a:pPr marL="0" indent="0">
              <a:spcAft>
                <a:spcPts val="0"/>
              </a:spcAft>
              <a:buNone/>
            </a:pPr>
            <a:r>
              <a:rPr lang="en-US" sz="1400" b="1">
                <a:latin typeface="Calibri" panose="020F0502020204030204" pitchFamily="34" charset="0"/>
                <a:ea typeface="Calibri" panose="020F0502020204030204" pitchFamily="34" charset="0"/>
              </a:rPr>
              <a:t>Cirrus: </a:t>
            </a:r>
          </a:p>
          <a:p>
            <a:pPr>
              <a:spcAft>
                <a:spcPts val="0"/>
              </a:spcAft>
              <a:buFont typeface="Wingdings" panose="05000000000000000000" pitchFamily="2" charset="2"/>
              <a:buChar char="§"/>
            </a:pPr>
            <a:r>
              <a:rPr lang="en-US" sz="1200">
                <a:latin typeface="Calibri" panose="020F0502020204030204" pitchFamily="34" charset="0"/>
                <a:ea typeface="Calibri" panose="020F0502020204030204" pitchFamily="34" charset="0"/>
              </a:rPr>
              <a:t>The ‘HW API changes have already been made by Cirrus awhile ago, after the coding mapping changes are made in OBM, we need to test the automation of sold case installation in Cirrus when the process is triggered by OBM calling the HW API.</a:t>
            </a:r>
          </a:p>
          <a:p>
            <a:pPr>
              <a:spcAft>
                <a:spcPts val="0"/>
              </a:spcAft>
              <a:buFont typeface="Wingdings" panose="05000000000000000000" pitchFamily="2" charset="2"/>
              <a:buChar char="§"/>
            </a:pPr>
            <a:r>
              <a:rPr lang="en-US" sz="1200">
                <a:latin typeface="Calibri" panose="020F0502020204030204" pitchFamily="34" charset="0"/>
                <a:ea typeface="Calibri" panose="020F0502020204030204" pitchFamily="34" charset="0"/>
              </a:rPr>
              <a:t>Cirrus has made changes to CCV3 API to support renewals however there was a gap was discovered recently when a group terminates BA then the members enrolled in BA were not getting terminated and it was tedious task to terminate individual members of group manually one by one. So, a new feature has been created to resolve this issue, i.e. to have notification pop-up in member UI screen if the group has termed BA and member ops team will manually term the member from BA as well.</a:t>
            </a:r>
          </a:p>
          <a:p>
            <a:pPr>
              <a:spcAft>
                <a:spcPts val="0"/>
              </a:spcAft>
              <a:buFont typeface="Wingdings" panose="05000000000000000000" pitchFamily="2" charset="2"/>
              <a:buChar char="§"/>
            </a:pPr>
            <a:r>
              <a:rPr lang="en-US" sz="1200">
                <a:latin typeface="Calibri" panose="020F0502020204030204" pitchFamily="34" charset="0"/>
                <a:ea typeface="Calibri" panose="020F0502020204030204" pitchFamily="34" charset="0"/>
              </a:rPr>
              <a:t>As part of BA testing effort, CCV3 and HW APIs will need to be tested for all the typical use cases like Add coverage, change a plan, term a plan etc.</a:t>
            </a:r>
          </a:p>
          <a:p>
            <a:pPr>
              <a:spcAft>
                <a:spcPts val="0"/>
              </a:spcAft>
              <a:buFont typeface="Wingdings" panose="05000000000000000000" pitchFamily="2" charset="2"/>
              <a:buChar char="§"/>
            </a:pPr>
            <a:endParaRPr lang="en-US" sz="1200">
              <a:latin typeface="Calibri" panose="020F0502020204030204" pitchFamily="34" charset="0"/>
              <a:ea typeface="Calibri" panose="020F0502020204030204" pitchFamily="34" charset="0"/>
            </a:endParaRPr>
          </a:p>
        </p:txBody>
      </p:sp>
      <p:sp>
        <p:nvSpPr>
          <p:cNvPr id="3" name="Slide Number Placeholder 2">
            <a:extLst>
              <a:ext uri="{FF2B5EF4-FFF2-40B4-BE49-F238E27FC236}">
                <a16:creationId xmlns:a16="http://schemas.microsoft.com/office/drawing/2014/main" id="{EC2CB206-DECA-B258-8E64-ABAAF11DC0B1}"/>
              </a:ext>
            </a:extLst>
          </p:cNvPr>
          <p:cNvSpPr>
            <a:spLocks noGrp="1"/>
          </p:cNvSpPr>
          <p:nvPr>
            <p:ph type="sldNum" sz="quarter" idx="12"/>
          </p:nvPr>
        </p:nvSpPr>
        <p:spPr/>
        <p:txBody>
          <a:bodyPr/>
          <a:lstStyle/>
          <a:p>
            <a:fld id="{90F9BDA0-AF0E-4BA8-B742-3B9C92A3E6FE}" type="slidenum">
              <a:rPr lang="en-US" smtClean="0"/>
              <a:t>14</a:t>
            </a:fld>
            <a:endParaRPr lang="en-US"/>
          </a:p>
        </p:txBody>
      </p:sp>
      <p:sp>
        <p:nvSpPr>
          <p:cNvPr id="4" name="Title 3">
            <a:extLst>
              <a:ext uri="{FF2B5EF4-FFF2-40B4-BE49-F238E27FC236}">
                <a16:creationId xmlns:a16="http://schemas.microsoft.com/office/drawing/2014/main" id="{B00A1D10-AF44-A412-B614-A7363B2A7CB1}"/>
              </a:ext>
            </a:extLst>
          </p:cNvPr>
          <p:cNvSpPr>
            <a:spLocks noGrp="1"/>
          </p:cNvSpPr>
          <p:nvPr>
            <p:ph type="title"/>
          </p:nvPr>
        </p:nvSpPr>
        <p:spPr>
          <a:xfrm>
            <a:off x="800101" y="100668"/>
            <a:ext cx="6552044" cy="646501"/>
          </a:xfrm>
        </p:spPr>
        <p:txBody>
          <a:bodyPr>
            <a:normAutofit fontScale="90000"/>
          </a:bodyPr>
          <a:lstStyle/>
          <a:p>
            <a:br>
              <a:rPr lang="en-US" sz="1800">
                <a:solidFill>
                  <a:schemeClr val="accent1"/>
                </a:solidFill>
              </a:rPr>
            </a:br>
            <a:br>
              <a:rPr lang="en-US" sz="1800">
                <a:solidFill>
                  <a:schemeClr val="accent1"/>
                </a:solidFill>
              </a:rPr>
            </a:br>
            <a:br>
              <a:rPr lang="en-US" sz="1800">
                <a:solidFill>
                  <a:schemeClr val="accent1"/>
                </a:solidFill>
              </a:rPr>
            </a:br>
            <a:br>
              <a:rPr lang="en-US" sz="1800">
                <a:solidFill>
                  <a:schemeClr val="accent1"/>
                </a:solidFill>
              </a:rPr>
            </a:br>
            <a:br>
              <a:rPr lang="en-US" sz="1800">
                <a:solidFill>
                  <a:schemeClr val="accent1"/>
                </a:solidFill>
              </a:rPr>
            </a:br>
            <a:br>
              <a:rPr lang="en-US" sz="1800">
                <a:solidFill>
                  <a:schemeClr val="accent1"/>
                </a:solidFill>
              </a:rPr>
            </a:br>
            <a:br>
              <a:rPr lang="en-US" sz="1800">
                <a:solidFill>
                  <a:schemeClr val="accent1"/>
                </a:solidFill>
              </a:rPr>
            </a:br>
            <a:br>
              <a:rPr lang="en-US" sz="1800">
                <a:solidFill>
                  <a:schemeClr val="accent1"/>
                </a:solidFill>
              </a:rPr>
            </a:br>
            <a:br>
              <a:rPr lang="en-US" sz="1800">
                <a:solidFill>
                  <a:schemeClr val="accent1"/>
                </a:solidFill>
              </a:rPr>
            </a:br>
            <a:br>
              <a:rPr lang="en-US" sz="1800">
                <a:solidFill>
                  <a:schemeClr val="accent1"/>
                </a:solidFill>
              </a:rPr>
            </a:br>
            <a:br>
              <a:rPr lang="en-US" sz="1800">
                <a:solidFill>
                  <a:schemeClr val="accent1"/>
                </a:solidFill>
              </a:rPr>
            </a:br>
            <a:br>
              <a:rPr lang="en-US" sz="1800">
                <a:solidFill>
                  <a:schemeClr val="accent1"/>
                </a:solidFill>
              </a:rPr>
            </a:br>
            <a:br>
              <a:rPr lang="en-US" sz="1800">
                <a:solidFill>
                  <a:schemeClr val="accent1"/>
                </a:solidFill>
              </a:rPr>
            </a:br>
            <a:br>
              <a:rPr lang="en-US" sz="1800">
                <a:solidFill>
                  <a:schemeClr val="accent1"/>
                </a:solidFill>
              </a:rPr>
            </a:br>
            <a:br>
              <a:rPr lang="en-US" sz="1800">
                <a:solidFill>
                  <a:schemeClr val="accent1"/>
                </a:solidFill>
              </a:rPr>
            </a:br>
            <a:br>
              <a:rPr lang="en-US" sz="1800">
                <a:solidFill>
                  <a:schemeClr val="accent1"/>
                </a:solidFill>
              </a:rPr>
            </a:br>
            <a:br>
              <a:rPr lang="en-US" sz="1800">
                <a:solidFill>
                  <a:schemeClr val="accent1"/>
                </a:solidFill>
              </a:rPr>
            </a:br>
            <a:br>
              <a:rPr lang="en-US" sz="1800">
                <a:solidFill>
                  <a:schemeClr val="accent1"/>
                </a:solidFill>
              </a:rPr>
            </a:br>
            <a:br>
              <a:rPr lang="en-US" sz="1800">
                <a:solidFill>
                  <a:schemeClr val="accent1"/>
                </a:solidFill>
              </a:rPr>
            </a:br>
            <a:r>
              <a:rPr lang="en-US" sz="1800">
                <a:solidFill>
                  <a:schemeClr val="accent1"/>
                </a:solidFill>
              </a:rPr>
              <a:t> </a:t>
            </a:r>
            <a:br>
              <a:rPr lang="en-US" sz="1800">
                <a:solidFill>
                  <a:schemeClr val="accent1"/>
                </a:solidFill>
              </a:rPr>
            </a:br>
            <a:br>
              <a:rPr lang="en-US" sz="1800">
                <a:solidFill>
                  <a:schemeClr val="accent1"/>
                </a:solidFill>
              </a:rPr>
            </a:br>
            <a:br>
              <a:rPr lang="en-US" sz="1800">
                <a:solidFill>
                  <a:schemeClr val="accent1"/>
                </a:solidFill>
              </a:rPr>
            </a:br>
            <a:br>
              <a:rPr lang="en-US" sz="1800">
                <a:solidFill>
                  <a:schemeClr val="accent1"/>
                </a:solidFill>
              </a:rPr>
            </a:br>
            <a:br>
              <a:rPr lang="en-US" sz="2200">
                <a:solidFill>
                  <a:schemeClr val="accent1"/>
                </a:solidFill>
              </a:rPr>
            </a:br>
            <a:br>
              <a:rPr lang="en-US" sz="2200">
                <a:solidFill>
                  <a:schemeClr val="accent1"/>
                </a:solidFill>
              </a:rPr>
            </a:br>
            <a:endParaRPr lang="en-US" sz="2200"/>
          </a:p>
        </p:txBody>
      </p:sp>
      <p:sp>
        <p:nvSpPr>
          <p:cNvPr id="5" name="Rectangle 4">
            <a:extLst>
              <a:ext uri="{FF2B5EF4-FFF2-40B4-BE49-F238E27FC236}">
                <a16:creationId xmlns:a16="http://schemas.microsoft.com/office/drawing/2014/main" id="{6AAABA67-524C-C204-DEE4-4856ADED20D3}"/>
              </a:ext>
            </a:extLst>
          </p:cNvPr>
          <p:cNvSpPr/>
          <p:nvPr/>
        </p:nvSpPr>
        <p:spPr>
          <a:xfrm>
            <a:off x="8040656" y="82227"/>
            <a:ext cx="1056700" cy="400110"/>
          </a:xfrm>
          <a:prstGeom prst="rect">
            <a:avLst/>
          </a:prstGeom>
          <a:noFill/>
        </p:spPr>
        <p:txBody>
          <a:bodyPr wrap="none" lIns="91440" tIns="45720" rIns="91440" bIns="45720">
            <a:spAutoFit/>
          </a:bodyPr>
          <a:lstStyle/>
          <a:p>
            <a:pPr algn="ctr"/>
            <a:r>
              <a:rPr lang="en-US" sz="2000" b="1" cap="none" spc="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rPr>
              <a:t>DRAFT</a:t>
            </a:r>
          </a:p>
        </p:txBody>
      </p:sp>
      <p:sp>
        <p:nvSpPr>
          <p:cNvPr id="6" name="Rectangle 5">
            <a:extLst>
              <a:ext uri="{FF2B5EF4-FFF2-40B4-BE49-F238E27FC236}">
                <a16:creationId xmlns:a16="http://schemas.microsoft.com/office/drawing/2014/main" id="{0E2B9046-062A-3191-6C50-364A69AC4544}"/>
              </a:ext>
            </a:extLst>
          </p:cNvPr>
          <p:cNvSpPr/>
          <p:nvPr/>
        </p:nvSpPr>
        <p:spPr>
          <a:xfrm>
            <a:off x="244550" y="8420"/>
            <a:ext cx="8099349" cy="769441"/>
          </a:xfrm>
          <a:prstGeom prst="rect">
            <a:avLst/>
          </a:prstGeom>
        </p:spPr>
        <p:txBody>
          <a:bodyPr wrap="square">
            <a:spAutoFit/>
          </a:bodyPr>
          <a:lstStyle/>
          <a:p>
            <a:r>
              <a:rPr lang="en-US" sz="1600" b="1" dirty="0">
                <a:solidFill>
                  <a:schemeClr val="accent1"/>
                </a:solidFill>
              </a:rPr>
              <a:t> BA Customer Management : Sold</a:t>
            </a:r>
            <a:r>
              <a:rPr lang="en-US" sz="2800" b="1" spc="-51" dirty="0">
                <a:solidFill>
                  <a:schemeClr val="tx1">
                    <a:lumMod val="50000"/>
                  </a:schemeClr>
                </a:solidFill>
              </a:rPr>
              <a:t> </a:t>
            </a:r>
            <a:r>
              <a:rPr lang="en-US" sz="1600" b="1" dirty="0">
                <a:solidFill>
                  <a:schemeClr val="accent1"/>
                </a:solidFill>
              </a:rPr>
              <a:t>Case Installation &amp; Implementation –Application Impacts  (Fully Insured (FI) – Large Group 51-99)</a:t>
            </a:r>
          </a:p>
        </p:txBody>
      </p:sp>
    </p:spTree>
    <p:extLst>
      <p:ext uri="{BB962C8B-B14F-4D97-AF65-F5344CB8AC3E}">
        <p14:creationId xmlns:p14="http://schemas.microsoft.com/office/powerpoint/2010/main" val="121409746"/>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993414" y="1602831"/>
            <a:ext cx="4762043" cy="1245144"/>
          </a:xfrm>
        </p:spPr>
        <p:txBody>
          <a:bodyPr/>
          <a:lstStyle/>
          <a:p>
            <a:r>
              <a:rPr lang="en-US" sz="2000">
                <a:solidFill>
                  <a:schemeClr val="tx1">
                    <a:lumMod val="50000"/>
                  </a:schemeClr>
                </a:solidFill>
              </a:rPr>
              <a:t>Customer Management Product Family Capabilities:</a:t>
            </a:r>
            <a:br>
              <a:rPr lang="en-US" sz="2400" b="1" spc="-51">
                <a:solidFill>
                  <a:schemeClr val="tx1">
                    <a:lumMod val="50000"/>
                  </a:schemeClr>
                </a:solidFill>
                <a:latin typeface="+mj-lt"/>
                <a:ea typeface="+mj-ea"/>
                <a:cs typeface="+mj-cs"/>
              </a:rPr>
            </a:br>
            <a:br>
              <a:rPr lang="en-US" sz="2400" b="1" spc="-51">
                <a:solidFill>
                  <a:schemeClr val="tx1">
                    <a:lumMod val="50000"/>
                  </a:schemeClr>
                </a:solidFill>
                <a:latin typeface="+mj-lt"/>
                <a:ea typeface="+mj-ea"/>
                <a:cs typeface="+mj-cs"/>
              </a:rPr>
            </a:br>
            <a:r>
              <a:rPr lang="en-US" sz="1400">
                <a:solidFill>
                  <a:schemeClr val="accent2"/>
                </a:solidFill>
              </a:rPr>
              <a:t>Billing</a:t>
            </a:r>
            <a:br>
              <a:rPr lang="en-US" sz="2400" b="1" spc="-51">
                <a:solidFill>
                  <a:schemeClr val="tx1">
                    <a:lumMod val="50000"/>
                  </a:schemeClr>
                </a:solidFill>
                <a:latin typeface="+mj-lt"/>
                <a:ea typeface="+mj-ea"/>
                <a:cs typeface="+mj-cs"/>
              </a:rPr>
            </a:br>
            <a:r>
              <a:rPr lang="en-US" sz="1400">
                <a:solidFill>
                  <a:schemeClr val="accent1"/>
                </a:solidFill>
              </a:rPr>
              <a:t>Consolidated </a:t>
            </a:r>
            <a:r>
              <a:rPr lang="en-US" sz="1400" b="1">
                <a:solidFill>
                  <a:schemeClr val="accent1"/>
                </a:solidFill>
              </a:rPr>
              <a:t>Billing Invoice &amp; </a:t>
            </a:r>
            <a:br>
              <a:rPr lang="en-US" sz="1400" b="1">
                <a:solidFill>
                  <a:schemeClr val="accent1"/>
                </a:solidFill>
              </a:rPr>
            </a:br>
            <a:r>
              <a:rPr lang="en-US" sz="1400">
                <a:solidFill>
                  <a:schemeClr val="accent1"/>
                </a:solidFill>
              </a:rPr>
              <a:t>Premium   Revenue Booking </a:t>
            </a:r>
            <a:r>
              <a:rPr lang="en-US" sz="1400" b="1">
                <a:solidFill>
                  <a:schemeClr val="accent1"/>
                </a:solidFill>
              </a:rPr>
              <a:t> - Large Group 51-99</a:t>
            </a:r>
            <a:endParaRPr lang="en-US" sz="1400" b="1" spc="-51">
              <a:solidFill>
                <a:schemeClr val="tx1">
                  <a:lumMod val="50000"/>
                </a:schemeClr>
              </a:solidFill>
              <a:latin typeface="+mj-lt"/>
              <a:ea typeface="+mj-ea"/>
              <a:cs typeface="+mj-cs"/>
            </a:endParaRPr>
          </a:p>
        </p:txBody>
      </p:sp>
    </p:spTree>
    <p:extLst>
      <p:ext uri="{BB962C8B-B14F-4D97-AF65-F5344CB8AC3E}">
        <p14:creationId xmlns:p14="http://schemas.microsoft.com/office/powerpoint/2010/main" val="943910473"/>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4B48D5-8367-8A23-2618-9B4B6407A8D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C8B032A-6E41-C48C-2ABC-02EFFEA75972}"/>
              </a:ext>
            </a:extLst>
          </p:cNvPr>
          <p:cNvSpPr txBox="1"/>
          <p:nvPr/>
        </p:nvSpPr>
        <p:spPr>
          <a:xfrm>
            <a:off x="850739" y="4635661"/>
            <a:ext cx="2239701" cy="300082"/>
          </a:xfrm>
          <a:prstGeom prst="rect">
            <a:avLst/>
          </a:prstGeom>
          <a:solidFill>
            <a:schemeClr val="bg1"/>
          </a:solidFill>
        </p:spPr>
        <p:txBody>
          <a:bodyPr wrap="square" rtlCol="0">
            <a:spAutoFit/>
          </a:bodyPr>
          <a:lstStyle/>
          <a:p>
            <a:endParaRPr lang="en-US" sz="1350"/>
          </a:p>
        </p:txBody>
      </p:sp>
      <p:sp>
        <p:nvSpPr>
          <p:cNvPr id="2" name="Title 1">
            <a:extLst>
              <a:ext uri="{FF2B5EF4-FFF2-40B4-BE49-F238E27FC236}">
                <a16:creationId xmlns:a16="http://schemas.microsoft.com/office/drawing/2014/main" id="{3583C512-C369-9690-F11D-C0F776947DEF}"/>
              </a:ext>
            </a:extLst>
          </p:cNvPr>
          <p:cNvSpPr>
            <a:spLocks noGrp="1"/>
          </p:cNvSpPr>
          <p:nvPr>
            <p:ph type="title"/>
          </p:nvPr>
        </p:nvSpPr>
        <p:spPr>
          <a:xfrm>
            <a:off x="226814" y="0"/>
            <a:ext cx="7260336" cy="549381"/>
          </a:xfrm>
        </p:spPr>
        <p:txBody>
          <a:bodyPr>
            <a:normAutofit fontScale="90000"/>
          </a:bodyPr>
          <a:lstStyle/>
          <a:p>
            <a:r>
              <a:rPr lang="en-US" sz="2200"/>
              <a:t>Phase 2 - BA FI 51-99 - High Level requirements for Billing</a:t>
            </a:r>
          </a:p>
        </p:txBody>
      </p:sp>
      <p:graphicFrame>
        <p:nvGraphicFramePr>
          <p:cNvPr id="8" name="Table 7">
            <a:extLst>
              <a:ext uri="{FF2B5EF4-FFF2-40B4-BE49-F238E27FC236}">
                <a16:creationId xmlns:a16="http://schemas.microsoft.com/office/drawing/2014/main" id="{3EA4A4D6-6DF2-1DA3-CE11-44BA21BE5E68}"/>
              </a:ext>
            </a:extLst>
          </p:cNvPr>
          <p:cNvGraphicFramePr>
            <a:graphicFrameLocks noGrp="1"/>
          </p:cNvGraphicFramePr>
          <p:nvPr>
            <p:extLst>
              <p:ext uri="{D42A27DB-BD31-4B8C-83A1-F6EECF244321}">
                <p14:modId xmlns:p14="http://schemas.microsoft.com/office/powerpoint/2010/main" val="145701513"/>
              </p:ext>
            </p:extLst>
          </p:nvPr>
        </p:nvGraphicFramePr>
        <p:xfrm>
          <a:off x="304800" y="627529"/>
          <a:ext cx="8759623" cy="1098730"/>
        </p:xfrm>
        <a:graphic>
          <a:graphicData uri="http://schemas.openxmlformats.org/drawingml/2006/table">
            <a:tbl>
              <a:tblPr/>
              <a:tblGrid>
                <a:gridCol w="1206410">
                  <a:extLst>
                    <a:ext uri="{9D8B030D-6E8A-4147-A177-3AD203B41FA5}">
                      <a16:colId xmlns:a16="http://schemas.microsoft.com/office/drawing/2014/main" val="1962179033"/>
                    </a:ext>
                  </a:extLst>
                </a:gridCol>
                <a:gridCol w="4056417">
                  <a:extLst>
                    <a:ext uri="{9D8B030D-6E8A-4147-A177-3AD203B41FA5}">
                      <a16:colId xmlns:a16="http://schemas.microsoft.com/office/drawing/2014/main" val="130540882"/>
                    </a:ext>
                  </a:extLst>
                </a:gridCol>
                <a:gridCol w="2005827">
                  <a:extLst>
                    <a:ext uri="{9D8B030D-6E8A-4147-A177-3AD203B41FA5}">
                      <a16:colId xmlns:a16="http://schemas.microsoft.com/office/drawing/2014/main" val="751610378"/>
                    </a:ext>
                  </a:extLst>
                </a:gridCol>
                <a:gridCol w="727903">
                  <a:extLst>
                    <a:ext uri="{9D8B030D-6E8A-4147-A177-3AD203B41FA5}">
                      <a16:colId xmlns:a16="http://schemas.microsoft.com/office/drawing/2014/main" val="2701245817"/>
                    </a:ext>
                  </a:extLst>
                </a:gridCol>
                <a:gridCol w="763066">
                  <a:extLst>
                    <a:ext uri="{9D8B030D-6E8A-4147-A177-3AD203B41FA5}">
                      <a16:colId xmlns:a16="http://schemas.microsoft.com/office/drawing/2014/main" val="1145494209"/>
                    </a:ext>
                  </a:extLst>
                </a:gridCol>
              </a:tblGrid>
              <a:tr h="33502">
                <a:tc>
                  <a:txBody>
                    <a:bodyPr/>
                    <a:lstStyle/>
                    <a:p>
                      <a:pPr algn="ctr" fontAlgn="b"/>
                      <a:r>
                        <a:rPr lang="en-US" sz="900" b="1" i="0" u="none" strike="noStrike">
                          <a:solidFill>
                            <a:srgbClr val="FFFFFF"/>
                          </a:solidFill>
                          <a:effectLst/>
                          <a:latin typeface="Calibri" panose="020F0502020204030204" pitchFamily="34" charset="0"/>
                        </a:rPr>
                        <a:t>Name</a:t>
                      </a:r>
                    </a:p>
                  </a:txBody>
                  <a:tcPr marL="725" marR="725" marT="7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en-US" sz="900" b="1" i="0" u="none" strike="noStrike">
                          <a:solidFill>
                            <a:srgbClr val="FFFFFF"/>
                          </a:solidFill>
                          <a:effectLst/>
                          <a:latin typeface="Calibri" panose="020F0502020204030204" pitchFamily="34" charset="0"/>
                        </a:rPr>
                        <a:t>Functionality Required</a:t>
                      </a:r>
                    </a:p>
                  </a:txBody>
                  <a:tcPr marL="725" marR="725" marT="7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en-US" sz="900" b="1" i="0" u="none" strike="noStrike">
                          <a:solidFill>
                            <a:srgbClr val="FFFFFF"/>
                          </a:solidFill>
                          <a:effectLst/>
                          <a:latin typeface="Calibri" panose="020F0502020204030204" pitchFamily="34" charset="0"/>
                        </a:rPr>
                        <a:t>In Scope</a:t>
                      </a:r>
                    </a:p>
                  </a:txBody>
                  <a:tcPr marL="725" marR="725" marT="7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en-US" sz="900" b="1" i="0" u="none" strike="noStrike">
                          <a:solidFill>
                            <a:srgbClr val="FFFFFF"/>
                          </a:solidFill>
                          <a:effectLst/>
                          <a:latin typeface="Calibri" panose="020F0502020204030204" pitchFamily="34" charset="0"/>
                        </a:rPr>
                        <a:t>Out of Scope</a:t>
                      </a:r>
                    </a:p>
                  </a:txBody>
                  <a:tcPr marL="725" marR="725" marT="7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en-US" sz="900" b="1" i="0" u="none" strike="noStrike">
                          <a:solidFill>
                            <a:srgbClr val="FFFFFF"/>
                          </a:solidFill>
                          <a:effectLst/>
                          <a:latin typeface="Calibri" panose="020F0502020204030204" pitchFamily="34" charset="0"/>
                        </a:rPr>
                        <a:t>Team</a:t>
                      </a:r>
                    </a:p>
                  </a:txBody>
                  <a:tcPr marL="725" marR="725" marT="7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1836913942"/>
                  </a:ext>
                </a:extLst>
              </a:tr>
              <a:tr h="823685">
                <a:tc>
                  <a:txBody>
                    <a:bodyPr/>
                    <a:lstStyle/>
                    <a:p>
                      <a:pPr algn="ctr" fontAlgn="t"/>
                      <a:r>
                        <a:rPr lang="en-US" sz="900" b="1" i="0" u="none" strike="noStrike">
                          <a:solidFill>
                            <a:srgbClr val="000000"/>
                          </a:solidFill>
                          <a:effectLst/>
                          <a:latin typeface="Calibri" panose="020F0502020204030204" pitchFamily="34" charset="0"/>
                        </a:rPr>
                        <a:t>Billing</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Calibri" panose="020F0502020204030204" pitchFamily="34" charset="0"/>
                        </a:rPr>
                        <a:t>The standard business requirement is to have the medical and supplemental health premiums billed together (combined into one rate) on a monthly basis. The business also requires that we have the ability to book revenue across any license (i.e. medical license may differ from supplemental). </a:t>
                      </a:r>
                      <a:r>
                        <a:rPr lang="en-US" sz="900" b="0" i="0" u="none" strike="noStrike">
                          <a:solidFill>
                            <a:srgbClr val="FF0000"/>
                          </a:solidFill>
                          <a:effectLst/>
                          <a:latin typeface="Calibri" panose="020F0502020204030204" pitchFamily="34" charset="0"/>
                        </a:rPr>
                        <a:t> </a:t>
                      </a:r>
                      <a:r>
                        <a:rPr lang="en-US" sz="900" b="0" i="0" u="none" strike="noStrike">
                          <a:solidFill>
                            <a:srgbClr val="000000"/>
                          </a:solidFill>
                          <a:effectLst/>
                          <a:latin typeface="Calibri" panose="020F0502020204030204" pitchFamily="34" charset="0"/>
                        </a:rPr>
                        <a:t>We also need the functionality to break premiums out if requested by the client; meaning benefit ally rates should be separate from medical. This is the same exact functionality offered for Oxford KA 100+ FI NY and NJ. ( 51-99 FI we don’t have NY)</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900" b="0" i="0" u="none" strike="noStrike">
                          <a:solidFill>
                            <a:srgbClr val="000000"/>
                          </a:solidFill>
                          <a:effectLst/>
                          <a:latin typeface="Calibri" panose="020F0502020204030204" pitchFamily="34" charset="0"/>
                        </a:rPr>
                        <a:t>AK, AL, AR, AZ, DC, DE, FL, GA, HI, IA, ID, IL, IN, KS, KY, LA, MA, MD, ME, MI, MN, MO, MS, MT, NC, ND, NE, NH, NJ, NV, OH, OK, OR, PA, RI, SC, SD, TN, TX, UT, VA, WA, WI, WV, WY, </a:t>
                      </a:r>
                      <a:r>
                        <a:rPr lang="en-US" sz="800" b="0" i="0" u="none" strike="noStrike" kern="1200">
                          <a:solidFill>
                            <a:srgbClr val="000000"/>
                          </a:solidFill>
                          <a:effectLst/>
                          <a:latin typeface="Calibri" panose="020F0502020204030204" pitchFamily="34" charset="0"/>
                          <a:ea typeface="+mn-ea"/>
                          <a:cs typeface="+mn-cs"/>
                        </a:rPr>
                        <a:t>CO</a:t>
                      </a:r>
                      <a:br>
                        <a:rPr lang="en-US" sz="900" b="0" i="0" u="none" strike="noStrike">
                          <a:solidFill>
                            <a:srgbClr val="000000"/>
                          </a:solidFill>
                          <a:effectLst/>
                          <a:latin typeface="Calibri" panose="020F0502020204030204" pitchFamily="34" charset="0"/>
                        </a:rPr>
                      </a:br>
                      <a:r>
                        <a:rPr lang="en-US" sz="900" b="0" i="0" u="none" strike="noStrike">
                          <a:solidFill>
                            <a:srgbClr val="000000"/>
                          </a:solidFill>
                          <a:effectLst/>
                          <a:latin typeface="Calibri" panose="020F0502020204030204" pitchFamily="34" charset="0"/>
                        </a:rPr>
                        <a:t>Oxford Markets: NJ</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nn-NO" sz="900" b="0" i="0" u="none" strike="noStrike">
                          <a:solidFill>
                            <a:srgbClr val="000000"/>
                          </a:solidFill>
                          <a:effectLst/>
                          <a:latin typeface="Calibri" panose="020F0502020204030204" pitchFamily="34" charset="0"/>
                        </a:rPr>
                        <a:t>NM, CT, VT, CA, NY</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900" b="0" i="0" u="none" strike="noStrike">
                          <a:solidFill>
                            <a:srgbClr val="000000"/>
                          </a:solidFill>
                          <a:effectLst/>
                          <a:latin typeface="Calibri" panose="020F0502020204030204" pitchFamily="34" charset="0"/>
                        </a:rPr>
                        <a:t>Shelly Salemi</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30152352"/>
                  </a:ext>
                </a:extLst>
              </a:tr>
            </a:tbl>
          </a:graphicData>
        </a:graphic>
      </p:graphicFrame>
    </p:spTree>
    <p:extLst>
      <p:ext uri="{BB962C8B-B14F-4D97-AF65-F5344CB8AC3E}">
        <p14:creationId xmlns:p14="http://schemas.microsoft.com/office/powerpoint/2010/main" val="42070469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EC8F0D-9A54-DB72-AB60-AEFEB3DB693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F302557-8550-F592-7019-7057ED4FC0D9}"/>
              </a:ext>
            </a:extLst>
          </p:cNvPr>
          <p:cNvSpPr>
            <a:spLocks noGrp="1"/>
          </p:cNvSpPr>
          <p:nvPr>
            <p:ph idx="1"/>
          </p:nvPr>
        </p:nvSpPr>
        <p:spPr>
          <a:xfrm>
            <a:off x="244550" y="747169"/>
            <a:ext cx="8742432" cy="4129437"/>
          </a:xfrm>
        </p:spPr>
        <p:txBody>
          <a:bodyPr vert="horz" lIns="91440" tIns="45720" rIns="91440" bIns="45720" rtlCol="0" anchor="t">
            <a:noAutofit/>
          </a:bodyPr>
          <a:lstStyle/>
          <a:p>
            <a:pPr marL="0" indent="0">
              <a:buNone/>
            </a:pPr>
            <a:r>
              <a:rPr lang="en-US" sz="1400" b="1" dirty="0">
                <a:latin typeface="Calibri" panose="020F0502020204030204" pitchFamily="34" charset="0"/>
                <a:ea typeface="Calibri" panose="020F0502020204030204" pitchFamily="34" charset="0"/>
              </a:rPr>
              <a:t>Cirrus:</a:t>
            </a:r>
          </a:p>
          <a:p>
            <a:pPr>
              <a:spcAft>
                <a:spcPts val="0"/>
              </a:spcAft>
              <a:buFont typeface="Wingdings" panose="05000000000000000000" pitchFamily="2" charset="2"/>
              <a:buChar char="§"/>
            </a:pPr>
            <a:r>
              <a:rPr lang="en-US" sz="1200" dirty="0">
                <a:latin typeface="Calibri" panose="020F0502020204030204" pitchFamily="34" charset="0"/>
                <a:ea typeface="Calibri" panose="020F0502020204030204" pitchFamily="34" charset="0"/>
              </a:rPr>
              <a:t>Cirrus has already made changes to create foundational capabilities to support NB FI Oxford 100+ group size on USP in 2021/2022, and this same functionality will be used to support the NB UHC FI &amp; Oxford 51-99 group size market expansion rollout on USP. </a:t>
            </a:r>
          </a:p>
          <a:p>
            <a:pPr>
              <a:spcAft>
                <a:spcPts val="0"/>
              </a:spcAft>
              <a:buFont typeface="Wingdings" panose="05000000000000000000" pitchFamily="2" charset="2"/>
              <a:buChar char="§"/>
            </a:pPr>
            <a:r>
              <a:rPr lang="en-US" sz="1200" dirty="0">
                <a:latin typeface="Calibri" panose="020F0502020204030204" pitchFamily="34" charset="0"/>
                <a:ea typeface="Calibri" panose="020F0502020204030204" pitchFamily="34" charset="0"/>
              </a:rPr>
              <a:t>As part of the </a:t>
            </a:r>
            <a:r>
              <a:rPr lang="en-US" sz="1200" b="1" u="sng" dirty="0">
                <a:latin typeface="Calibri" panose="020F0502020204030204" pitchFamily="34" charset="0"/>
                <a:ea typeface="Calibri" panose="020F0502020204030204" pitchFamily="34" charset="0"/>
              </a:rPr>
              <a:t>testing effort, </a:t>
            </a:r>
            <a:r>
              <a:rPr lang="en-US" sz="1200" dirty="0">
                <a:latin typeface="Calibri" panose="020F0502020204030204" pitchFamily="34" charset="0"/>
                <a:ea typeface="Calibri" panose="020F0502020204030204" pitchFamily="34" charset="0"/>
              </a:rPr>
              <a:t>we need to verify that the following changes made in Cirrus in past to support the NB FI Oxford 100+ group will also work for NB UHC FI &amp; Oxford 51-99 group size:</a:t>
            </a:r>
          </a:p>
          <a:p>
            <a:pPr lvl="1">
              <a:spcAft>
                <a:spcPts val="0"/>
              </a:spcAft>
              <a:buFont typeface="Wingdings" panose="05000000000000000000" pitchFamily="2" charset="2"/>
              <a:buChar char="§"/>
            </a:pPr>
            <a:r>
              <a:rPr lang="en-US" sz="1200" dirty="0">
                <a:latin typeface="Calibri" panose="020F0502020204030204" pitchFamily="34" charset="0"/>
                <a:ea typeface="Calibri" panose="020F0502020204030204" pitchFamily="34" charset="0"/>
              </a:rPr>
              <a:t>Ensure that new attribute to capture customer bill preference for consolidated billing was added and can be used for BA FI 51-99.</a:t>
            </a:r>
          </a:p>
          <a:p>
            <a:pPr lvl="1">
              <a:spcAft>
                <a:spcPts val="0"/>
              </a:spcAft>
              <a:buFont typeface="Wingdings" panose="05000000000000000000" pitchFamily="2" charset="2"/>
              <a:buChar char="§"/>
            </a:pPr>
            <a:r>
              <a:rPr lang="en-US" sz="1200" dirty="0">
                <a:latin typeface="Calibri" panose="020F0502020204030204" pitchFamily="34" charset="0"/>
                <a:ea typeface="Calibri" panose="020F0502020204030204" pitchFamily="34" charset="0"/>
              </a:rPr>
              <a:t>Ensure separate new billing type values for 3 different components of BA (Critical Illness, Accident &amp; Hospital Indemnity) is available for use in Cirrus for NB UHC FI &amp; Oxford 51-99 group size.</a:t>
            </a:r>
          </a:p>
          <a:p>
            <a:pPr lvl="1">
              <a:spcAft>
                <a:spcPts val="0"/>
              </a:spcAft>
              <a:buFont typeface="Wingdings" panose="05000000000000000000" pitchFamily="2" charset="2"/>
              <a:buChar char="§"/>
            </a:pPr>
            <a:r>
              <a:rPr lang="en-US" sz="1200" dirty="0">
                <a:latin typeface="Calibri" panose="020F0502020204030204" pitchFamily="34" charset="0"/>
                <a:ea typeface="Calibri" panose="020F0502020204030204" pitchFamily="34" charset="0"/>
              </a:rPr>
              <a:t>Ensure we can create new plans and use tables and same values for Financial Protection &amp; 3 insurance components of BA , bill item types &amp; financial activity codes that were created for NB FI Oxford 100+ group size can be used for NB UHC FI &amp;Oxford 51-99 group size.</a:t>
            </a:r>
          </a:p>
          <a:p>
            <a:pPr lvl="1">
              <a:spcAft>
                <a:spcPts val="0"/>
              </a:spcAft>
              <a:buFont typeface="Wingdings" panose="05000000000000000000" pitchFamily="2" charset="2"/>
              <a:buChar char="§"/>
            </a:pPr>
            <a:r>
              <a:rPr lang="en-US" sz="1200" dirty="0">
                <a:latin typeface="Calibri" panose="020F0502020204030204" pitchFamily="34" charset="0"/>
                <a:ea typeface="Calibri" panose="020F0502020204030204" pitchFamily="34" charset="0"/>
              </a:rPr>
              <a:t>Ensure Cirrus can support both plan options for BA (Value &amp; Enhanced) and multiple legal entities and BA insurance rates for NB UHC FI &amp; Oxford 51-99 group size</a:t>
            </a:r>
          </a:p>
          <a:p>
            <a:pPr lvl="1">
              <a:spcAft>
                <a:spcPts val="0"/>
              </a:spcAft>
              <a:buFont typeface="Wingdings" panose="05000000000000000000" pitchFamily="2" charset="2"/>
              <a:buChar char="§"/>
            </a:pPr>
            <a:r>
              <a:rPr lang="en-US" sz="1200" dirty="0">
                <a:latin typeface="Calibri" panose="020F0502020204030204" pitchFamily="34" charset="0"/>
                <a:ea typeface="Calibri" panose="020F0502020204030204" pitchFamily="34" charset="0"/>
              </a:rPr>
              <a:t>Ensure Cirrus can send BA information to downstream systems via Nimbus streaming which include the information on the individual supplemental health insurance components and rates (HIPP, CIPP &amp; APP).</a:t>
            </a:r>
          </a:p>
          <a:p>
            <a:pPr lvl="1">
              <a:spcAft>
                <a:spcPts val="0"/>
              </a:spcAft>
              <a:buFont typeface="Wingdings" panose="05000000000000000000" pitchFamily="2" charset="2"/>
              <a:buChar char="§"/>
            </a:pPr>
            <a:r>
              <a:rPr lang="en-US" sz="1200" dirty="0">
                <a:latin typeface="Calibri" panose="020F0502020204030204" pitchFamily="34" charset="0"/>
                <a:ea typeface="Calibri" panose="020F0502020204030204" pitchFamily="34" charset="0"/>
              </a:rPr>
              <a:t>Ensure the financial tagging rules established in Cirrus for BA will work and flow the financial tagging information down to BRMS, Cirrus PCMT, FTS &amp; BASICS</a:t>
            </a:r>
          </a:p>
          <a:p>
            <a:pPr>
              <a:spcAft>
                <a:spcPts val="0"/>
              </a:spcAft>
              <a:buFont typeface="Wingdings" panose="05000000000000000000" pitchFamily="2" charset="2"/>
              <a:buChar char="§"/>
            </a:pPr>
            <a:endParaRPr lang="en-US" sz="1200" dirty="0">
              <a:latin typeface="Calibri" panose="020F0502020204030204" pitchFamily="34" charset="0"/>
              <a:ea typeface="Calibri" panose="020F0502020204030204" pitchFamily="34" charset="0"/>
            </a:endParaRPr>
          </a:p>
          <a:p>
            <a:pPr marL="0" indent="0">
              <a:spcAft>
                <a:spcPts val="0"/>
              </a:spcAft>
              <a:buNone/>
            </a:pPr>
            <a:r>
              <a:rPr lang="en-US" sz="1200" b="1" dirty="0">
                <a:latin typeface="Calibri" panose="020F0502020204030204" pitchFamily="34" charset="0"/>
                <a:ea typeface="Calibri" panose="020F0502020204030204" pitchFamily="34" charset="0"/>
              </a:rPr>
              <a:t>Note</a:t>
            </a:r>
            <a:r>
              <a:rPr lang="en-US" sz="1200" dirty="0">
                <a:latin typeface="Calibri" panose="020F0502020204030204" pitchFamily="34" charset="0"/>
                <a:ea typeface="Calibri" panose="020F0502020204030204" pitchFamily="34" charset="0"/>
              </a:rPr>
              <a:t>: Cirrus changes related to plan structure for FPP, bill item types, and financial activity code needed to support BA were made in past we need to verify that those changes will still work and support the NB UHC FI &amp; Oxford 51-99 group size business as well. All the plan structure changes made in Cirrus to support BA were included in the Nimbus changes to stream the BA information to downstream systems in past.</a:t>
            </a:r>
          </a:p>
          <a:p>
            <a:pPr>
              <a:spcAft>
                <a:spcPts val="0"/>
              </a:spcAft>
              <a:buFont typeface="Wingdings" panose="05000000000000000000" pitchFamily="2" charset="2"/>
              <a:buChar char="§"/>
            </a:pPr>
            <a:endParaRPr lang="en-US" sz="1200" dirty="0">
              <a:latin typeface="Calibri" panose="020F0502020204030204" pitchFamily="34" charset="0"/>
              <a:ea typeface="Calibri" panose="020F0502020204030204" pitchFamily="34" charset="0"/>
            </a:endParaRPr>
          </a:p>
          <a:p>
            <a:pPr marL="0" marR="0" indent="0">
              <a:spcBef>
                <a:spcPts val="0"/>
              </a:spcBef>
              <a:spcAft>
                <a:spcPts val="0"/>
              </a:spcAft>
              <a:buNone/>
            </a:pPr>
            <a:endParaRPr lang="en-US" sz="700" dirty="0">
              <a:effectLst/>
              <a:latin typeface="Calibri" panose="020F0502020204030204" pitchFamily="34" charset="0"/>
              <a:ea typeface="Calibri" panose="020F0502020204030204" pitchFamily="34" charset="0"/>
            </a:endParaRPr>
          </a:p>
          <a:p>
            <a:pPr marL="0" indent="0">
              <a:spcAft>
                <a:spcPts val="0"/>
              </a:spcAft>
              <a:buNone/>
            </a:pPr>
            <a:endParaRPr lang="en-US" sz="1200" dirty="0">
              <a:latin typeface="Calibri" panose="020F0502020204030204" pitchFamily="34" charset="0"/>
              <a:ea typeface="Calibri" panose="020F0502020204030204" pitchFamily="34" charset="0"/>
            </a:endParaRPr>
          </a:p>
        </p:txBody>
      </p:sp>
      <p:sp>
        <p:nvSpPr>
          <p:cNvPr id="3" name="Slide Number Placeholder 2">
            <a:extLst>
              <a:ext uri="{FF2B5EF4-FFF2-40B4-BE49-F238E27FC236}">
                <a16:creationId xmlns:a16="http://schemas.microsoft.com/office/drawing/2014/main" id="{BA989743-547F-24BA-FB05-F93AC5C62E93}"/>
              </a:ext>
            </a:extLst>
          </p:cNvPr>
          <p:cNvSpPr>
            <a:spLocks noGrp="1"/>
          </p:cNvSpPr>
          <p:nvPr>
            <p:ph type="sldNum" sz="quarter" idx="12"/>
          </p:nvPr>
        </p:nvSpPr>
        <p:spPr/>
        <p:txBody>
          <a:bodyPr/>
          <a:lstStyle/>
          <a:p>
            <a:fld id="{90F9BDA0-AF0E-4BA8-B742-3B9C92A3E6FE}" type="slidenum">
              <a:rPr lang="en-US" smtClean="0"/>
              <a:t>17</a:t>
            </a:fld>
            <a:endParaRPr lang="en-US"/>
          </a:p>
        </p:txBody>
      </p:sp>
      <p:sp>
        <p:nvSpPr>
          <p:cNvPr id="4" name="Title 3">
            <a:extLst>
              <a:ext uri="{FF2B5EF4-FFF2-40B4-BE49-F238E27FC236}">
                <a16:creationId xmlns:a16="http://schemas.microsoft.com/office/drawing/2014/main" id="{DA7376B4-6BCF-BDD7-B66F-65004A097737}"/>
              </a:ext>
            </a:extLst>
          </p:cNvPr>
          <p:cNvSpPr>
            <a:spLocks noGrp="1"/>
          </p:cNvSpPr>
          <p:nvPr>
            <p:ph type="title"/>
          </p:nvPr>
        </p:nvSpPr>
        <p:spPr>
          <a:xfrm>
            <a:off x="800101" y="100668"/>
            <a:ext cx="6552044" cy="646501"/>
          </a:xfrm>
        </p:spPr>
        <p:txBody>
          <a:bodyPr>
            <a:normAutofit fontScale="90000"/>
          </a:bodyPr>
          <a:lstStyle/>
          <a:p>
            <a:br>
              <a:rPr lang="en-US" sz="1800">
                <a:solidFill>
                  <a:schemeClr val="accent1"/>
                </a:solidFill>
              </a:rPr>
            </a:br>
            <a:br>
              <a:rPr lang="en-US" sz="1800">
                <a:solidFill>
                  <a:schemeClr val="accent1"/>
                </a:solidFill>
              </a:rPr>
            </a:br>
            <a:br>
              <a:rPr lang="en-US" sz="1800">
                <a:solidFill>
                  <a:schemeClr val="accent1"/>
                </a:solidFill>
              </a:rPr>
            </a:br>
            <a:br>
              <a:rPr lang="en-US" sz="1800">
                <a:solidFill>
                  <a:schemeClr val="accent1"/>
                </a:solidFill>
              </a:rPr>
            </a:br>
            <a:br>
              <a:rPr lang="en-US" sz="1800">
                <a:solidFill>
                  <a:schemeClr val="accent1"/>
                </a:solidFill>
              </a:rPr>
            </a:br>
            <a:br>
              <a:rPr lang="en-US" sz="1800">
                <a:solidFill>
                  <a:schemeClr val="accent1"/>
                </a:solidFill>
              </a:rPr>
            </a:br>
            <a:br>
              <a:rPr lang="en-US" sz="1800">
                <a:solidFill>
                  <a:schemeClr val="accent1"/>
                </a:solidFill>
              </a:rPr>
            </a:br>
            <a:br>
              <a:rPr lang="en-US" sz="1800">
                <a:solidFill>
                  <a:schemeClr val="accent1"/>
                </a:solidFill>
              </a:rPr>
            </a:br>
            <a:br>
              <a:rPr lang="en-US" sz="1800">
                <a:solidFill>
                  <a:schemeClr val="accent1"/>
                </a:solidFill>
              </a:rPr>
            </a:br>
            <a:br>
              <a:rPr lang="en-US" sz="1800">
                <a:solidFill>
                  <a:schemeClr val="accent1"/>
                </a:solidFill>
              </a:rPr>
            </a:br>
            <a:br>
              <a:rPr lang="en-US" sz="1800">
                <a:solidFill>
                  <a:schemeClr val="accent1"/>
                </a:solidFill>
              </a:rPr>
            </a:br>
            <a:br>
              <a:rPr lang="en-US" sz="1800">
                <a:solidFill>
                  <a:schemeClr val="accent1"/>
                </a:solidFill>
              </a:rPr>
            </a:br>
            <a:br>
              <a:rPr lang="en-US" sz="1800">
                <a:solidFill>
                  <a:schemeClr val="accent1"/>
                </a:solidFill>
              </a:rPr>
            </a:br>
            <a:br>
              <a:rPr lang="en-US" sz="1800">
                <a:solidFill>
                  <a:schemeClr val="accent1"/>
                </a:solidFill>
              </a:rPr>
            </a:br>
            <a:br>
              <a:rPr lang="en-US" sz="1800">
                <a:solidFill>
                  <a:schemeClr val="accent1"/>
                </a:solidFill>
              </a:rPr>
            </a:br>
            <a:br>
              <a:rPr lang="en-US" sz="1800">
                <a:solidFill>
                  <a:schemeClr val="accent1"/>
                </a:solidFill>
              </a:rPr>
            </a:br>
            <a:br>
              <a:rPr lang="en-US" sz="1800">
                <a:solidFill>
                  <a:schemeClr val="accent1"/>
                </a:solidFill>
              </a:rPr>
            </a:br>
            <a:br>
              <a:rPr lang="en-US" sz="1800">
                <a:solidFill>
                  <a:schemeClr val="accent1"/>
                </a:solidFill>
              </a:rPr>
            </a:br>
            <a:br>
              <a:rPr lang="en-US" sz="1800">
                <a:solidFill>
                  <a:schemeClr val="accent1"/>
                </a:solidFill>
              </a:rPr>
            </a:br>
            <a:r>
              <a:rPr lang="en-US" sz="1800">
                <a:solidFill>
                  <a:schemeClr val="accent1"/>
                </a:solidFill>
              </a:rPr>
              <a:t> </a:t>
            </a:r>
            <a:br>
              <a:rPr lang="en-US" sz="1800">
                <a:solidFill>
                  <a:schemeClr val="accent1"/>
                </a:solidFill>
              </a:rPr>
            </a:br>
            <a:br>
              <a:rPr lang="en-US" sz="1800">
                <a:solidFill>
                  <a:schemeClr val="accent1"/>
                </a:solidFill>
              </a:rPr>
            </a:br>
            <a:br>
              <a:rPr lang="en-US" sz="1800">
                <a:solidFill>
                  <a:schemeClr val="accent1"/>
                </a:solidFill>
              </a:rPr>
            </a:br>
            <a:br>
              <a:rPr lang="en-US" sz="1800">
                <a:solidFill>
                  <a:schemeClr val="accent1"/>
                </a:solidFill>
              </a:rPr>
            </a:br>
            <a:br>
              <a:rPr lang="en-US" sz="2200">
                <a:solidFill>
                  <a:schemeClr val="accent1"/>
                </a:solidFill>
              </a:rPr>
            </a:br>
            <a:br>
              <a:rPr lang="en-US" sz="2200">
                <a:solidFill>
                  <a:schemeClr val="accent1"/>
                </a:solidFill>
              </a:rPr>
            </a:br>
            <a:endParaRPr lang="en-US" sz="2200"/>
          </a:p>
        </p:txBody>
      </p:sp>
      <p:sp>
        <p:nvSpPr>
          <p:cNvPr id="5" name="Rectangle 4">
            <a:extLst>
              <a:ext uri="{FF2B5EF4-FFF2-40B4-BE49-F238E27FC236}">
                <a16:creationId xmlns:a16="http://schemas.microsoft.com/office/drawing/2014/main" id="{B7B3B293-0182-73C4-D54F-9831B412D02E}"/>
              </a:ext>
            </a:extLst>
          </p:cNvPr>
          <p:cNvSpPr/>
          <p:nvPr/>
        </p:nvSpPr>
        <p:spPr>
          <a:xfrm>
            <a:off x="8040656" y="82227"/>
            <a:ext cx="1056700" cy="400110"/>
          </a:xfrm>
          <a:prstGeom prst="rect">
            <a:avLst/>
          </a:prstGeom>
          <a:noFill/>
        </p:spPr>
        <p:txBody>
          <a:bodyPr wrap="none" lIns="91440" tIns="45720" rIns="91440" bIns="45720">
            <a:spAutoFit/>
          </a:bodyPr>
          <a:lstStyle/>
          <a:p>
            <a:pPr algn="ctr"/>
            <a:r>
              <a:rPr lang="en-US" sz="2000" b="1" cap="none" spc="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rPr>
              <a:t>DRAFT</a:t>
            </a:r>
          </a:p>
        </p:txBody>
      </p:sp>
      <p:sp>
        <p:nvSpPr>
          <p:cNvPr id="6" name="Rectangle 5">
            <a:extLst>
              <a:ext uri="{FF2B5EF4-FFF2-40B4-BE49-F238E27FC236}">
                <a16:creationId xmlns:a16="http://schemas.microsoft.com/office/drawing/2014/main" id="{85D2A766-9969-E0E0-8D0B-782942AC4CF5}"/>
              </a:ext>
            </a:extLst>
          </p:cNvPr>
          <p:cNvSpPr/>
          <p:nvPr/>
        </p:nvSpPr>
        <p:spPr>
          <a:xfrm>
            <a:off x="244550" y="8420"/>
            <a:ext cx="8099349" cy="830997"/>
          </a:xfrm>
          <a:prstGeom prst="rect">
            <a:avLst/>
          </a:prstGeom>
        </p:spPr>
        <p:txBody>
          <a:bodyPr wrap="square">
            <a:spAutoFit/>
          </a:bodyPr>
          <a:lstStyle/>
          <a:p>
            <a:r>
              <a:rPr lang="en-US" sz="1600" b="1">
                <a:solidFill>
                  <a:schemeClr val="accent1"/>
                </a:solidFill>
              </a:rPr>
              <a:t> BA Customer Management : Billing Consolidated</a:t>
            </a:r>
            <a:r>
              <a:rPr lang="en-US" sz="1600">
                <a:solidFill>
                  <a:schemeClr val="accent1"/>
                </a:solidFill>
              </a:rPr>
              <a:t> </a:t>
            </a:r>
            <a:r>
              <a:rPr lang="en-US" sz="1600" b="1">
                <a:solidFill>
                  <a:schemeClr val="accent1"/>
                </a:solidFill>
              </a:rPr>
              <a:t>Invoice &amp; </a:t>
            </a:r>
            <a:br>
              <a:rPr lang="en-US" sz="1600" b="1">
                <a:solidFill>
                  <a:schemeClr val="accent1"/>
                </a:solidFill>
              </a:rPr>
            </a:br>
            <a:r>
              <a:rPr lang="en-US" sz="1600" b="1">
                <a:solidFill>
                  <a:schemeClr val="accent1"/>
                </a:solidFill>
              </a:rPr>
              <a:t>Premium Revenue Booking – Application Impacts  </a:t>
            </a:r>
          </a:p>
          <a:p>
            <a:r>
              <a:rPr lang="en-US" sz="1600" b="1">
                <a:solidFill>
                  <a:schemeClr val="accent1"/>
                </a:solidFill>
              </a:rPr>
              <a:t>(Fully Insured (FI) – Large Group 51-99 NB)</a:t>
            </a:r>
          </a:p>
        </p:txBody>
      </p:sp>
    </p:spTree>
    <p:extLst>
      <p:ext uri="{BB962C8B-B14F-4D97-AF65-F5344CB8AC3E}">
        <p14:creationId xmlns:p14="http://schemas.microsoft.com/office/powerpoint/2010/main" val="807932651"/>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44CAE5-0A8E-B5F6-CB15-C8193F4E37B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EFC807B-9B5F-4D63-5CBD-6CF157B98314}"/>
              </a:ext>
            </a:extLst>
          </p:cNvPr>
          <p:cNvSpPr>
            <a:spLocks noGrp="1"/>
          </p:cNvSpPr>
          <p:nvPr>
            <p:ph idx="1"/>
          </p:nvPr>
        </p:nvSpPr>
        <p:spPr>
          <a:xfrm>
            <a:off x="244550" y="747169"/>
            <a:ext cx="8742432" cy="4129437"/>
          </a:xfrm>
        </p:spPr>
        <p:txBody>
          <a:bodyPr vert="horz" lIns="91440" tIns="45720" rIns="91440" bIns="45720" rtlCol="0" anchor="t">
            <a:noAutofit/>
          </a:bodyPr>
          <a:lstStyle/>
          <a:p>
            <a:pPr marL="0" marR="0" indent="0">
              <a:spcBef>
                <a:spcPts val="0"/>
              </a:spcBef>
              <a:spcAft>
                <a:spcPts val="0"/>
              </a:spcAft>
              <a:buNone/>
            </a:pPr>
            <a:endParaRPr lang="en-US" sz="700" dirty="0">
              <a:effectLst/>
              <a:latin typeface="Calibri" panose="020F0502020204030204" pitchFamily="34" charset="0"/>
              <a:ea typeface="Calibri" panose="020F0502020204030204" pitchFamily="34" charset="0"/>
            </a:endParaRPr>
          </a:p>
          <a:p>
            <a:pPr marL="0" indent="0">
              <a:spcAft>
                <a:spcPts val="0"/>
              </a:spcAft>
              <a:buNone/>
            </a:pPr>
            <a:r>
              <a:rPr lang="en-US" sz="1400" b="1" dirty="0">
                <a:latin typeface="Calibri" panose="020F0502020204030204" pitchFamily="34" charset="0"/>
                <a:ea typeface="Calibri" panose="020F0502020204030204" pitchFamily="34" charset="0"/>
              </a:rPr>
              <a:t>BRMS: </a:t>
            </a:r>
          </a:p>
          <a:p>
            <a:pPr marL="0" indent="0">
              <a:spcAft>
                <a:spcPts val="0"/>
              </a:spcAft>
              <a:buNone/>
            </a:pPr>
            <a:r>
              <a:rPr lang="en-US" sz="1200" dirty="0">
                <a:latin typeface="Calibri" panose="020F0502020204030204" pitchFamily="34" charset="0"/>
                <a:ea typeface="Calibri" panose="020F0502020204030204" pitchFamily="34" charset="0"/>
              </a:rPr>
              <a:t>BRMS has already made changes to create foundational capabilities to support NB FI Oxford 100+ group size on USP in 2021/2022, and these same functionality will be used to support the NB UHC FI &amp; Oxford 51-99 group size  market expansion rollout on USP. </a:t>
            </a:r>
          </a:p>
          <a:p>
            <a:pPr marL="0" indent="0">
              <a:spcAft>
                <a:spcPts val="0"/>
              </a:spcAft>
              <a:buNone/>
            </a:pPr>
            <a:endParaRPr lang="en-US" sz="1200" dirty="0">
              <a:latin typeface="Calibri" panose="020F0502020204030204" pitchFamily="34" charset="0"/>
              <a:ea typeface="Calibri" panose="020F0502020204030204" pitchFamily="34" charset="0"/>
            </a:endParaRPr>
          </a:p>
          <a:p>
            <a:pPr marL="0" indent="0">
              <a:spcAft>
                <a:spcPts val="0"/>
              </a:spcAft>
              <a:buNone/>
            </a:pPr>
            <a:r>
              <a:rPr lang="en-US" sz="1200" dirty="0">
                <a:latin typeface="Calibri" panose="020F0502020204030204" pitchFamily="34" charset="0"/>
                <a:ea typeface="Calibri" panose="020F0502020204030204" pitchFamily="34" charset="0"/>
              </a:rPr>
              <a:t>As part of the </a:t>
            </a:r>
            <a:r>
              <a:rPr lang="en-US" sz="1200" b="1" u="sng" dirty="0">
                <a:latin typeface="Calibri" panose="020F0502020204030204" pitchFamily="34" charset="0"/>
                <a:ea typeface="Calibri" panose="020F0502020204030204" pitchFamily="34" charset="0"/>
              </a:rPr>
              <a:t>testing effort, </a:t>
            </a:r>
            <a:r>
              <a:rPr lang="en-US" sz="1200" dirty="0">
                <a:latin typeface="Calibri" panose="020F0502020204030204" pitchFamily="34" charset="0"/>
                <a:ea typeface="Calibri" panose="020F0502020204030204" pitchFamily="34" charset="0"/>
              </a:rPr>
              <a:t>we need to verify that the following changes made in BRMS in past to support the NB FI Oxford 100+ group will also work for NB UHC FI &amp; Oxford 51-99 group size :</a:t>
            </a:r>
          </a:p>
          <a:p>
            <a:pPr marL="0" indent="0">
              <a:spcAft>
                <a:spcPts val="0"/>
              </a:spcAft>
              <a:buNone/>
            </a:pPr>
            <a:endParaRPr lang="en-US" sz="1400" b="1" dirty="0">
              <a:latin typeface="Calibri" panose="020F0502020204030204" pitchFamily="34" charset="0"/>
              <a:ea typeface="Calibri" panose="020F0502020204030204" pitchFamily="34" charset="0"/>
            </a:endParaRPr>
          </a:p>
          <a:p>
            <a:pPr>
              <a:spcAft>
                <a:spcPts val="0"/>
              </a:spcAft>
              <a:buFont typeface="Wingdings" panose="05000000000000000000" pitchFamily="2" charset="2"/>
              <a:buChar char="§"/>
            </a:pPr>
            <a:r>
              <a:rPr lang="en-US" sz="1200" dirty="0">
                <a:latin typeface="Calibri" panose="020F0502020204030204" pitchFamily="34" charset="0"/>
                <a:ea typeface="Calibri" panose="020F0502020204030204" pitchFamily="34" charset="0"/>
              </a:rPr>
              <a:t>Ensure BRMS can evaluate and make changes to read customer billing preference and support roll-up of BA premiums into medical for Billing. BRMS has made changes to read the two plan options for BA ( Value &amp; Enhanced) sold to USP customers</a:t>
            </a:r>
          </a:p>
          <a:p>
            <a:pPr>
              <a:spcAft>
                <a:spcPts val="0"/>
              </a:spcAft>
              <a:buFont typeface="Wingdings" panose="05000000000000000000" pitchFamily="2" charset="2"/>
              <a:buChar char="§"/>
            </a:pPr>
            <a:r>
              <a:rPr lang="en-US" sz="1200" dirty="0">
                <a:latin typeface="Calibri" panose="020F0502020204030204" pitchFamily="34" charset="0"/>
                <a:ea typeface="Calibri" panose="020F0502020204030204" pitchFamily="34" charset="0"/>
              </a:rPr>
              <a:t>Ensure BRMS can evaluate and has already made changes to support financial tagging process to include the new bill item types received from Cirrus, corresponding to 3 insurance components of BA and map it to corresponding BA charges /financial activity codes.</a:t>
            </a:r>
          </a:p>
          <a:p>
            <a:pPr>
              <a:spcAft>
                <a:spcPts val="0"/>
              </a:spcAft>
              <a:buFont typeface="Wingdings" panose="05000000000000000000" pitchFamily="2" charset="2"/>
              <a:buChar char="§"/>
            </a:pPr>
            <a:r>
              <a:rPr lang="en-US" sz="1200" dirty="0">
                <a:latin typeface="Calibri" panose="020F0502020204030204" pitchFamily="34" charset="0"/>
                <a:ea typeface="Calibri" panose="020F0502020204030204" pitchFamily="34" charset="0"/>
              </a:rPr>
              <a:t>Ensure BRMS can evaluate and has already made changes to existing feed to BASICs to include BA information</a:t>
            </a:r>
          </a:p>
          <a:p>
            <a:pPr>
              <a:spcAft>
                <a:spcPts val="0"/>
              </a:spcAft>
              <a:buFont typeface="Wingdings" panose="05000000000000000000" pitchFamily="2" charset="2"/>
              <a:buChar char="§"/>
            </a:pPr>
            <a:r>
              <a:rPr lang="en-US" sz="1200" dirty="0">
                <a:latin typeface="Calibri" panose="020F0502020204030204" pitchFamily="34" charset="0"/>
                <a:ea typeface="Calibri" panose="020F0502020204030204" pitchFamily="34" charset="0"/>
              </a:rPr>
              <a:t>Ensure BRMS can read the information related BA plan and has already made changes to include logic to append ‘BA Value’ or ‘BA Enhanced’ in plan name with appropriate updates to disclaimer content on the invoice</a:t>
            </a:r>
          </a:p>
          <a:p>
            <a:pPr>
              <a:spcAft>
                <a:spcPts val="0"/>
              </a:spcAft>
              <a:buFont typeface="Wingdings" panose="05000000000000000000" pitchFamily="2" charset="2"/>
              <a:buChar char="§"/>
            </a:pPr>
            <a:r>
              <a:rPr lang="en-US" sz="1200" dirty="0">
                <a:latin typeface="Calibri" panose="020F0502020204030204" pitchFamily="34" charset="0"/>
                <a:ea typeface="Calibri" panose="020F0502020204030204" pitchFamily="34" charset="0"/>
              </a:rPr>
              <a:t>Ensure BRMS can evaluate and has already made changes to existing medical premium reporting to exclude BA Premium revenue from it.  (</a:t>
            </a:r>
            <a:r>
              <a:rPr lang="en-US" sz="1200" b="1" dirty="0">
                <a:latin typeface="Calibri" panose="020F0502020204030204" pitchFamily="34" charset="0"/>
                <a:ea typeface="Calibri" panose="020F0502020204030204" pitchFamily="34" charset="0"/>
              </a:rPr>
              <a:t>Note</a:t>
            </a:r>
            <a:r>
              <a:rPr lang="en-US" sz="1200" dirty="0">
                <a:latin typeface="Calibri" panose="020F0502020204030204" pitchFamily="34" charset="0"/>
                <a:ea typeface="Calibri" panose="020F0502020204030204" pitchFamily="34" charset="0"/>
              </a:rPr>
              <a:t>: the BDPAAS reporting solution that was used in past was slated to move to BRS ( Billing Reporting Solution) to replace BDPAAS, we need to verify that this migration has occurred, and the report excludes the BA premium revenue for NB UHC FI &amp; Oxford 51-99 group size reporting as well. )</a:t>
            </a:r>
          </a:p>
          <a:p>
            <a:pPr>
              <a:spcAft>
                <a:spcPts val="0"/>
              </a:spcAft>
              <a:buFont typeface="Wingdings" panose="05000000000000000000" pitchFamily="2" charset="2"/>
              <a:buChar char="§"/>
            </a:pPr>
            <a:endParaRPr lang="en-US" sz="1200" dirty="0">
              <a:latin typeface="Calibri" panose="020F0502020204030204" pitchFamily="34" charset="0"/>
              <a:ea typeface="Calibri" panose="020F0502020204030204" pitchFamily="34" charset="0"/>
            </a:endParaRPr>
          </a:p>
        </p:txBody>
      </p:sp>
      <p:sp>
        <p:nvSpPr>
          <p:cNvPr id="3" name="Slide Number Placeholder 2">
            <a:extLst>
              <a:ext uri="{FF2B5EF4-FFF2-40B4-BE49-F238E27FC236}">
                <a16:creationId xmlns:a16="http://schemas.microsoft.com/office/drawing/2014/main" id="{52C216CA-408E-C3A4-990D-B229C60479C2}"/>
              </a:ext>
            </a:extLst>
          </p:cNvPr>
          <p:cNvSpPr>
            <a:spLocks noGrp="1"/>
          </p:cNvSpPr>
          <p:nvPr>
            <p:ph type="sldNum" sz="quarter" idx="12"/>
          </p:nvPr>
        </p:nvSpPr>
        <p:spPr/>
        <p:txBody>
          <a:bodyPr/>
          <a:lstStyle/>
          <a:p>
            <a:fld id="{90F9BDA0-AF0E-4BA8-B742-3B9C92A3E6FE}" type="slidenum">
              <a:rPr lang="en-US" smtClean="0"/>
              <a:t>18</a:t>
            </a:fld>
            <a:endParaRPr lang="en-US"/>
          </a:p>
        </p:txBody>
      </p:sp>
      <p:sp>
        <p:nvSpPr>
          <p:cNvPr id="4" name="Title 3">
            <a:extLst>
              <a:ext uri="{FF2B5EF4-FFF2-40B4-BE49-F238E27FC236}">
                <a16:creationId xmlns:a16="http://schemas.microsoft.com/office/drawing/2014/main" id="{5A3FB8F8-4DD5-EAB2-749D-57D832EC55EB}"/>
              </a:ext>
            </a:extLst>
          </p:cNvPr>
          <p:cNvSpPr>
            <a:spLocks noGrp="1"/>
          </p:cNvSpPr>
          <p:nvPr>
            <p:ph type="title"/>
          </p:nvPr>
        </p:nvSpPr>
        <p:spPr>
          <a:xfrm>
            <a:off x="800101" y="100668"/>
            <a:ext cx="6552044" cy="646501"/>
          </a:xfrm>
        </p:spPr>
        <p:txBody>
          <a:bodyPr>
            <a:normAutofit fontScale="90000"/>
          </a:bodyPr>
          <a:lstStyle/>
          <a:p>
            <a:br>
              <a:rPr lang="en-US" sz="1800">
                <a:solidFill>
                  <a:schemeClr val="accent1"/>
                </a:solidFill>
              </a:rPr>
            </a:br>
            <a:br>
              <a:rPr lang="en-US" sz="1800">
                <a:solidFill>
                  <a:schemeClr val="accent1"/>
                </a:solidFill>
              </a:rPr>
            </a:br>
            <a:br>
              <a:rPr lang="en-US" sz="1800">
                <a:solidFill>
                  <a:schemeClr val="accent1"/>
                </a:solidFill>
              </a:rPr>
            </a:br>
            <a:br>
              <a:rPr lang="en-US" sz="1800">
                <a:solidFill>
                  <a:schemeClr val="accent1"/>
                </a:solidFill>
              </a:rPr>
            </a:br>
            <a:br>
              <a:rPr lang="en-US" sz="1800">
                <a:solidFill>
                  <a:schemeClr val="accent1"/>
                </a:solidFill>
              </a:rPr>
            </a:br>
            <a:br>
              <a:rPr lang="en-US" sz="1800">
                <a:solidFill>
                  <a:schemeClr val="accent1"/>
                </a:solidFill>
              </a:rPr>
            </a:br>
            <a:br>
              <a:rPr lang="en-US" sz="1800">
                <a:solidFill>
                  <a:schemeClr val="accent1"/>
                </a:solidFill>
              </a:rPr>
            </a:br>
            <a:br>
              <a:rPr lang="en-US" sz="1800">
                <a:solidFill>
                  <a:schemeClr val="accent1"/>
                </a:solidFill>
              </a:rPr>
            </a:br>
            <a:br>
              <a:rPr lang="en-US" sz="1800">
                <a:solidFill>
                  <a:schemeClr val="accent1"/>
                </a:solidFill>
              </a:rPr>
            </a:br>
            <a:br>
              <a:rPr lang="en-US" sz="1800">
                <a:solidFill>
                  <a:schemeClr val="accent1"/>
                </a:solidFill>
              </a:rPr>
            </a:br>
            <a:br>
              <a:rPr lang="en-US" sz="1800">
                <a:solidFill>
                  <a:schemeClr val="accent1"/>
                </a:solidFill>
              </a:rPr>
            </a:br>
            <a:br>
              <a:rPr lang="en-US" sz="1800">
                <a:solidFill>
                  <a:schemeClr val="accent1"/>
                </a:solidFill>
              </a:rPr>
            </a:br>
            <a:br>
              <a:rPr lang="en-US" sz="1800">
                <a:solidFill>
                  <a:schemeClr val="accent1"/>
                </a:solidFill>
              </a:rPr>
            </a:br>
            <a:br>
              <a:rPr lang="en-US" sz="1800">
                <a:solidFill>
                  <a:schemeClr val="accent1"/>
                </a:solidFill>
              </a:rPr>
            </a:br>
            <a:br>
              <a:rPr lang="en-US" sz="1800">
                <a:solidFill>
                  <a:schemeClr val="accent1"/>
                </a:solidFill>
              </a:rPr>
            </a:br>
            <a:br>
              <a:rPr lang="en-US" sz="1800">
                <a:solidFill>
                  <a:schemeClr val="accent1"/>
                </a:solidFill>
              </a:rPr>
            </a:br>
            <a:br>
              <a:rPr lang="en-US" sz="1800">
                <a:solidFill>
                  <a:schemeClr val="accent1"/>
                </a:solidFill>
              </a:rPr>
            </a:br>
            <a:br>
              <a:rPr lang="en-US" sz="1800">
                <a:solidFill>
                  <a:schemeClr val="accent1"/>
                </a:solidFill>
              </a:rPr>
            </a:br>
            <a:br>
              <a:rPr lang="en-US" sz="1800">
                <a:solidFill>
                  <a:schemeClr val="accent1"/>
                </a:solidFill>
              </a:rPr>
            </a:br>
            <a:r>
              <a:rPr lang="en-US" sz="1800">
                <a:solidFill>
                  <a:schemeClr val="accent1"/>
                </a:solidFill>
              </a:rPr>
              <a:t> </a:t>
            </a:r>
            <a:br>
              <a:rPr lang="en-US" sz="1800">
                <a:solidFill>
                  <a:schemeClr val="accent1"/>
                </a:solidFill>
              </a:rPr>
            </a:br>
            <a:br>
              <a:rPr lang="en-US" sz="1800">
                <a:solidFill>
                  <a:schemeClr val="accent1"/>
                </a:solidFill>
              </a:rPr>
            </a:br>
            <a:br>
              <a:rPr lang="en-US" sz="1800">
                <a:solidFill>
                  <a:schemeClr val="accent1"/>
                </a:solidFill>
              </a:rPr>
            </a:br>
            <a:br>
              <a:rPr lang="en-US" sz="1800">
                <a:solidFill>
                  <a:schemeClr val="accent1"/>
                </a:solidFill>
              </a:rPr>
            </a:br>
            <a:br>
              <a:rPr lang="en-US" sz="2200">
                <a:solidFill>
                  <a:schemeClr val="accent1"/>
                </a:solidFill>
              </a:rPr>
            </a:br>
            <a:br>
              <a:rPr lang="en-US" sz="2200">
                <a:solidFill>
                  <a:schemeClr val="accent1"/>
                </a:solidFill>
              </a:rPr>
            </a:br>
            <a:endParaRPr lang="en-US" sz="2200"/>
          </a:p>
        </p:txBody>
      </p:sp>
      <p:sp>
        <p:nvSpPr>
          <p:cNvPr id="5" name="Rectangle 4">
            <a:extLst>
              <a:ext uri="{FF2B5EF4-FFF2-40B4-BE49-F238E27FC236}">
                <a16:creationId xmlns:a16="http://schemas.microsoft.com/office/drawing/2014/main" id="{B4402D13-8B5B-E84A-685E-5315A563AF38}"/>
              </a:ext>
            </a:extLst>
          </p:cNvPr>
          <p:cNvSpPr/>
          <p:nvPr/>
        </p:nvSpPr>
        <p:spPr>
          <a:xfrm>
            <a:off x="8040656" y="82227"/>
            <a:ext cx="1056700" cy="400110"/>
          </a:xfrm>
          <a:prstGeom prst="rect">
            <a:avLst/>
          </a:prstGeom>
          <a:noFill/>
        </p:spPr>
        <p:txBody>
          <a:bodyPr wrap="none" lIns="91440" tIns="45720" rIns="91440" bIns="45720">
            <a:spAutoFit/>
          </a:bodyPr>
          <a:lstStyle/>
          <a:p>
            <a:pPr algn="ctr"/>
            <a:r>
              <a:rPr lang="en-US" sz="2000" b="1" cap="none" spc="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rPr>
              <a:t>DRAFT</a:t>
            </a:r>
          </a:p>
        </p:txBody>
      </p:sp>
      <p:sp>
        <p:nvSpPr>
          <p:cNvPr id="6" name="Rectangle 5">
            <a:extLst>
              <a:ext uri="{FF2B5EF4-FFF2-40B4-BE49-F238E27FC236}">
                <a16:creationId xmlns:a16="http://schemas.microsoft.com/office/drawing/2014/main" id="{9DA899A4-043A-7CDC-5391-160332DAD93D}"/>
              </a:ext>
            </a:extLst>
          </p:cNvPr>
          <p:cNvSpPr/>
          <p:nvPr/>
        </p:nvSpPr>
        <p:spPr>
          <a:xfrm>
            <a:off x="244550" y="8420"/>
            <a:ext cx="8099349" cy="830997"/>
          </a:xfrm>
          <a:prstGeom prst="rect">
            <a:avLst/>
          </a:prstGeom>
        </p:spPr>
        <p:txBody>
          <a:bodyPr wrap="square">
            <a:spAutoFit/>
          </a:bodyPr>
          <a:lstStyle/>
          <a:p>
            <a:r>
              <a:rPr lang="en-US" sz="1600" b="1">
                <a:solidFill>
                  <a:schemeClr val="accent1"/>
                </a:solidFill>
              </a:rPr>
              <a:t> BA Customer Management : Billing Consolidated</a:t>
            </a:r>
            <a:r>
              <a:rPr lang="en-US" sz="1600">
                <a:solidFill>
                  <a:schemeClr val="accent1"/>
                </a:solidFill>
              </a:rPr>
              <a:t> </a:t>
            </a:r>
            <a:r>
              <a:rPr lang="en-US" sz="1600" b="1">
                <a:solidFill>
                  <a:schemeClr val="accent1"/>
                </a:solidFill>
              </a:rPr>
              <a:t>Invoice &amp; </a:t>
            </a:r>
            <a:br>
              <a:rPr lang="en-US" sz="1600" b="1">
                <a:solidFill>
                  <a:schemeClr val="accent1"/>
                </a:solidFill>
              </a:rPr>
            </a:br>
            <a:r>
              <a:rPr lang="en-US" sz="1600" b="1">
                <a:solidFill>
                  <a:schemeClr val="accent1"/>
                </a:solidFill>
              </a:rPr>
              <a:t>Premium Revenue Booking – Application Impacts  </a:t>
            </a:r>
          </a:p>
          <a:p>
            <a:r>
              <a:rPr lang="en-US" sz="1600" b="1">
                <a:solidFill>
                  <a:schemeClr val="accent1"/>
                </a:solidFill>
              </a:rPr>
              <a:t>(Fully Insured (FI) – Large Group 51-99 NB)</a:t>
            </a:r>
          </a:p>
        </p:txBody>
      </p:sp>
    </p:spTree>
    <p:extLst>
      <p:ext uri="{BB962C8B-B14F-4D97-AF65-F5344CB8AC3E}">
        <p14:creationId xmlns:p14="http://schemas.microsoft.com/office/powerpoint/2010/main" val="547960608"/>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993414" y="1602831"/>
            <a:ext cx="4762043" cy="1102519"/>
          </a:xfrm>
        </p:spPr>
        <p:txBody>
          <a:bodyPr/>
          <a:lstStyle/>
          <a:p>
            <a:r>
              <a:rPr lang="en-US" sz="2000" b="1" spc="-51">
                <a:solidFill>
                  <a:schemeClr val="tx1">
                    <a:lumMod val="50000"/>
                  </a:schemeClr>
                </a:solidFill>
                <a:latin typeface="+mj-lt"/>
                <a:ea typeface="+mj-ea"/>
                <a:cs typeface="+mj-cs"/>
              </a:rPr>
              <a:t>Sales Compensation &amp; Broker Commissions for BA Capabilities:</a:t>
            </a:r>
            <a:br>
              <a:rPr lang="en-US" sz="2400" b="1" spc="-51">
                <a:solidFill>
                  <a:schemeClr val="tx1">
                    <a:lumMod val="50000"/>
                  </a:schemeClr>
                </a:solidFill>
                <a:latin typeface="+mj-lt"/>
                <a:ea typeface="+mj-ea"/>
                <a:cs typeface="+mj-cs"/>
              </a:rPr>
            </a:br>
            <a:br>
              <a:rPr lang="en-US" sz="2400" b="1" spc="-51">
                <a:solidFill>
                  <a:schemeClr val="tx1">
                    <a:lumMod val="50000"/>
                  </a:schemeClr>
                </a:solidFill>
                <a:latin typeface="+mj-lt"/>
                <a:ea typeface="+mj-ea"/>
                <a:cs typeface="+mj-cs"/>
              </a:rPr>
            </a:br>
            <a:r>
              <a:rPr lang="en-US" sz="1400">
                <a:solidFill>
                  <a:schemeClr val="accent2"/>
                </a:solidFill>
              </a:rPr>
              <a:t>Commissions &amp; Bonus / Sales Compensation</a:t>
            </a:r>
            <a:br>
              <a:rPr lang="en-US" sz="2400" b="1" spc="-51">
                <a:solidFill>
                  <a:schemeClr val="tx1">
                    <a:lumMod val="50000"/>
                  </a:schemeClr>
                </a:solidFill>
                <a:latin typeface="+mj-lt"/>
                <a:ea typeface="+mj-ea"/>
                <a:cs typeface="+mj-cs"/>
              </a:rPr>
            </a:br>
            <a:r>
              <a:rPr lang="en-US" sz="1400" b="1">
                <a:solidFill>
                  <a:schemeClr val="accent1"/>
                </a:solidFill>
              </a:rPr>
              <a:t>Sales Comp &amp; Broker Commission &amp; Bonus- Large Group NB 51-99 </a:t>
            </a:r>
            <a:endParaRPr lang="en-US" sz="1400" b="1" spc="-51">
              <a:solidFill>
                <a:schemeClr val="tx1">
                  <a:lumMod val="50000"/>
                </a:schemeClr>
              </a:solidFill>
              <a:latin typeface="+mj-lt"/>
              <a:ea typeface="+mj-ea"/>
              <a:cs typeface="+mj-cs"/>
            </a:endParaRPr>
          </a:p>
        </p:txBody>
      </p:sp>
    </p:spTree>
    <p:extLst>
      <p:ext uri="{BB962C8B-B14F-4D97-AF65-F5344CB8AC3E}">
        <p14:creationId xmlns:p14="http://schemas.microsoft.com/office/powerpoint/2010/main" val="1014546350"/>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8A34E9-8CA4-F2DF-5951-C1CF10FE136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55DC1FE-8C25-4C28-6385-C8C908E3A689}"/>
              </a:ext>
            </a:extLst>
          </p:cNvPr>
          <p:cNvSpPr txBox="1"/>
          <p:nvPr/>
        </p:nvSpPr>
        <p:spPr>
          <a:xfrm>
            <a:off x="850739" y="4635661"/>
            <a:ext cx="2239701" cy="300082"/>
          </a:xfrm>
          <a:prstGeom prst="rect">
            <a:avLst/>
          </a:prstGeom>
          <a:solidFill>
            <a:schemeClr val="bg1"/>
          </a:solidFill>
        </p:spPr>
        <p:txBody>
          <a:bodyPr wrap="square" rtlCol="0">
            <a:spAutoFit/>
          </a:bodyPr>
          <a:lstStyle/>
          <a:p>
            <a:endParaRPr lang="en-US" sz="1350"/>
          </a:p>
        </p:txBody>
      </p:sp>
      <p:graphicFrame>
        <p:nvGraphicFramePr>
          <p:cNvPr id="8" name="Table 7">
            <a:extLst>
              <a:ext uri="{FF2B5EF4-FFF2-40B4-BE49-F238E27FC236}">
                <a16:creationId xmlns:a16="http://schemas.microsoft.com/office/drawing/2014/main" id="{55772CAA-2398-112A-147B-14F54F432BAF}"/>
              </a:ext>
            </a:extLst>
          </p:cNvPr>
          <p:cNvGraphicFramePr>
            <a:graphicFrameLocks noGrp="1"/>
          </p:cNvGraphicFramePr>
          <p:nvPr>
            <p:extLst>
              <p:ext uri="{D42A27DB-BD31-4B8C-83A1-F6EECF244321}">
                <p14:modId xmlns:p14="http://schemas.microsoft.com/office/powerpoint/2010/main" val="3088313938"/>
              </p:ext>
            </p:extLst>
          </p:nvPr>
        </p:nvGraphicFramePr>
        <p:xfrm>
          <a:off x="226814" y="927991"/>
          <a:ext cx="8840274" cy="1236615"/>
        </p:xfrm>
        <a:graphic>
          <a:graphicData uri="http://schemas.openxmlformats.org/drawingml/2006/table">
            <a:tbl>
              <a:tblPr/>
              <a:tblGrid>
                <a:gridCol w="1237429">
                  <a:extLst>
                    <a:ext uri="{9D8B030D-6E8A-4147-A177-3AD203B41FA5}">
                      <a16:colId xmlns:a16="http://schemas.microsoft.com/office/drawing/2014/main" val="1962179033"/>
                    </a:ext>
                  </a:extLst>
                </a:gridCol>
                <a:gridCol w="4160714">
                  <a:extLst>
                    <a:ext uri="{9D8B030D-6E8A-4147-A177-3AD203B41FA5}">
                      <a16:colId xmlns:a16="http://schemas.microsoft.com/office/drawing/2014/main" val="130540882"/>
                    </a:ext>
                  </a:extLst>
                </a:gridCol>
                <a:gridCol w="2057400">
                  <a:extLst>
                    <a:ext uri="{9D8B030D-6E8A-4147-A177-3AD203B41FA5}">
                      <a16:colId xmlns:a16="http://schemas.microsoft.com/office/drawing/2014/main" val="751610378"/>
                    </a:ext>
                  </a:extLst>
                </a:gridCol>
                <a:gridCol w="746619">
                  <a:extLst>
                    <a:ext uri="{9D8B030D-6E8A-4147-A177-3AD203B41FA5}">
                      <a16:colId xmlns:a16="http://schemas.microsoft.com/office/drawing/2014/main" val="2701245817"/>
                    </a:ext>
                  </a:extLst>
                </a:gridCol>
                <a:gridCol w="638112">
                  <a:extLst>
                    <a:ext uri="{9D8B030D-6E8A-4147-A177-3AD203B41FA5}">
                      <a16:colId xmlns:a16="http://schemas.microsoft.com/office/drawing/2014/main" val="1145494209"/>
                    </a:ext>
                  </a:extLst>
                </a:gridCol>
              </a:tblGrid>
              <a:tr h="137885">
                <a:tc>
                  <a:txBody>
                    <a:bodyPr/>
                    <a:lstStyle/>
                    <a:p>
                      <a:pPr algn="ctr" fontAlgn="b"/>
                      <a:r>
                        <a:rPr lang="en-US" sz="900" b="1" i="0" u="none" strike="noStrike">
                          <a:solidFill>
                            <a:srgbClr val="FFFFFF"/>
                          </a:solidFill>
                          <a:effectLst/>
                          <a:latin typeface="Calibri" panose="020F0502020204030204" pitchFamily="34" charset="0"/>
                        </a:rPr>
                        <a:t>Name</a:t>
                      </a:r>
                    </a:p>
                  </a:txBody>
                  <a:tcPr marL="725" marR="725" marT="7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en-US" sz="900" b="1" i="0" u="none" strike="noStrike">
                          <a:solidFill>
                            <a:srgbClr val="FFFFFF"/>
                          </a:solidFill>
                          <a:effectLst/>
                          <a:latin typeface="Calibri" panose="020F0502020204030204" pitchFamily="34" charset="0"/>
                        </a:rPr>
                        <a:t>Functionality Required</a:t>
                      </a:r>
                    </a:p>
                  </a:txBody>
                  <a:tcPr marL="725" marR="725" marT="7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en-US" sz="900" b="1" i="0" u="none" strike="noStrike">
                          <a:solidFill>
                            <a:srgbClr val="FFFFFF"/>
                          </a:solidFill>
                          <a:effectLst/>
                          <a:latin typeface="Calibri" panose="020F0502020204030204" pitchFamily="34" charset="0"/>
                        </a:rPr>
                        <a:t>In Scope</a:t>
                      </a:r>
                    </a:p>
                  </a:txBody>
                  <a:tcPr marL="725" marR="725" marT="7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en-US" sz="900" b="1" i="0" u="none" strike="noStrike">
                          <a:solidFill>
                            <a:srgbClr val="FFFFFF"/>
                          </a:solidFill>
                          <a:effectLst/>
                          <a:latin typeface="Calibri" panose="020F0502020204030204" pitchFamily="34" charset="0"/>
                        </a:rPr>
                        <a:t>Out of Scope</a:t>
                      </a:r>
                    </a:p>
                  </a:txBody>
                  <a:tcPr marL="725" marR="725" marT="7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en-US" sz="900" b="1" i="0" u="none" strike="noStrike">
                          <a:solidFill>
                            <a:srgbClr val="FFFFFF"/>
                          </a:solidFill>
                          <a:effectLst/>
                          <a:latin typeface="Calibri" panose="020F0502020204030204" pitchFamily="34" charset="0"/>
                        </a:rPr>
                        <a:t>Team</a:t>
                      </a:r>
                    </a:p>
                  </a:txBody>
                  <a:tcPr marL="725" marR="725" marT="7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1836913942"/>
                  </a:ext>
                </a:extLst>
              </a:tr>
              <a:tr h="823685">
                <a:tc>
                  <a:txBody>
                    <a:bodyPr/>
                    <a:lstStyle/>
                    <a:p>
                      <a:pPr algn="ctr" fontAlgn="t"/>
                      <a:r>
                        <a:rPr lang="en-US" sz="900" b="1" i="0" u="none" strike="noStrike">
                          <a:solidFill>
                            <a:srgbClr val="000000"/>
                          </a:solidFill>
                          <a:effectLst/>
                          <a:latin typeface="Calibri" panose="020F0502020204030204" pitchFamily="34" charset="0"/>
                        </a:rPr>
                        <a:t>Commissions and Bonus</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Calibri" panose="020F0502020204030204" pitchFamily="34" charset="0"/>
                        </a:rPr>
                        <a:t>Build the Benefit Ally commission structure for all states is now variable (currently built within USP); 0-25%  for all in scope states; does not apply to NY. There are states where there are max commission amounts that we must adhere to. BA defaults to 10 % and it can be varied</a:t>
                      </a:r>
                      <a:br>
                        <a:rPr lang="en-US" sz="900" b="0" i="0" u="none" strike="noStrike">
                          <a:solidFill>
                            <a:srgbClr val="000000"/>
                          </a:solidFill>
                          <a:effectLst/>
                          <a:latin typeface="Calibri" panose="020F0502020204030204" pitchFamily="34" charset="0"/>
                        </a:rPr>
                      </a:br>
                      <a:endParaRPr lang="en-US" sz="900" b="0" i="0" u="none" strike="noStrike">
                        <a:solidFill>
                          <a:srgbClr val="000000"/>
                        </a:solidFill>
                        <a:effectLst/>
                        <a:latin typeface="Calibri" panose="020F0502020204030204" pitchFamily="34" charset="0"/>
                      </a:endParaRP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900" b="0" i="0" u="none" strike="noStrike">
                          <a:solidFill>
                            <a:srgbClr val="000000"/>
                          </a:solidFill>
                          <a:effectLst/>
                          <a:latin typeface="Calibri" panose="020F0502020204030204" pitchFamily="34" charset="0"/>
                        </a:rPr>
                        <a:t>AK, AL, AR, AZ, DC, DE, FL, GA, HI, IA, ID, IL, IN, KS, KY, LA, MA, MD, ME, MI, MN, MO, MS, MT, NC, ND, NE, NH, NJ, NV, OH, OK, OR, PA, RI, SC, SD, TN, TX, UT, VA, WA, WI, WV, WY, </a:t>
                      </a:r>
                      <a:r>
                        <a:rPr lang="en-US" sz="800" b="0" i="0" u="none" strike="noStrike" kern="1200">
                          <a:solidFill>
                            <a:srgbClr val="000000"/>
                          </a:solidFill>
                          <a:effectLst/>
                          <a:latin typeface="Calibri" panose="020F0502020204030204" pitchFamily="34" charset="0"/>
                          <a:ea typeface="+mn-ea"/>
                          <a:cs typeface="+mn-cs"/>
                        </a:rPr>
                        <a:t>CO</a:t>
                      </a:r>
                      <a:br>
                        <a:rPr lang="en-US" sz="900" b="0" i="0" u="none" strike="noStrike">
                          <a:solidFill>
                            <a:srgbClr val="000000"/>
                          </a:solidFill>
                          <a:effectLst/>
                          <a:latin typeface="Calibri" panose="020F0502020204030204" pitchFamily="34" charset="0"/>
                        </a:rPr>
                      </a:br>
                      <a:r>
                        <a:rPr lang="en-US" sz="900" b="0" i="0" u="none" strike="noStrike">
                          <a:solidFill>
                            <a:srgbClr val="000000"/>
                          </a:solidFill>
                          <a:effectLst/>
                          <a:latin typeface="Calibri" panose="020F0502020204030204" pitchFamily="34" charset="0"/>
                        </a:rPr>
                        <a:t>Oxford Markets: NJ</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nn-NO" sz="900" b="0" i="0" u="none" strike="noStrike">
                          <a:solidFill>
                            <a:srgbClr val="000000"/>
                          </a:solidFill>
                          <a:effectLst/>
                          <a:latin typeface="Calibri" panose="020F0502020204030204" pitchFamily="34" charset="0"/>
                        </a:rPr>
                        <a:t>NM, CT, VT, CA, NY</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Calibri" panose="020F0502020204030204" pitchFamily="34" charset="0"/>
                        </a:rPr>
                        <a:t>Rosemarie Williams</a:t>
                      </a:r>
                      <a:br>
                        <a:rPr lang="en-US" sz="900" b="0" i="0" u="none" strike="noStrike">
                          <a:solidFill>
                            <a:srgbClr val="000000"/>
                          </a:solidFill>
                          <a:effectLst/>
                          <a:latin typeface="Calibri" panose="020F0502020204030204" pitchFamily="34" charset="0"/>
                        </a:rPr>
                      </a:br>
                      <a:r>
                        <a:rPr lang="en-US" sz="900" b="0" i="0" u="none" strike="noStrike">
                          <a:solidFill>
                            <a:srgbClr val="000000"/>
                          </a:solidFill>
                          <a:effectLst/>
                          <a:latin typeface="Calibri" panose="020F0502020204030204" pitchFamily="34" charset="0"/>
                        </a:rPr>
                        <a:t>Joel Shaw</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29247927"/>
                  </a:ext>
                </a:extLst>
              </a:tr>
              <a:tr h="275045">
                <a:tc>
                  <a:txBody>
                    <a:bodyPr/>
                    <a:lstStyle/>
                    <a:p>
                      <a:pPr algn="ctr" fontAlgn="t"/>
                      <a:r>
                        <a:rPr lang="en-US" sz="900" b="1" i="0" u="none" strike="noStrike">
                          <a:solidFill>
                            <a:srgbClr val="000000"/>
                          </a:solidFill>
                          <a:effectLst/>
                          <a:latin typeface="Calibri" panose="020F0502020204030204" pitchFamily="34" charset="0"/>
                        </a:rPr>
                        <a:t>Sales Compensation</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Calibri" panose="020F0502020204030204" pitchFamily="34" charset="0"/>
                        </a:rPr>
                        <a:t>Ensure data flows and is accessible to Bob Carrigan (Finance) team to book compensation for sales for Benefit Ally</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Calibri" panose="020F0502020204030204" pitchFamily="34" charset="0"/>
                        </a:rPr>
                        <a:t> </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Calibri" panose="020F0502020204030204" pitchFamily="34" charset="0"/>
                        </a:rPr>
                        <a:t> </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900" b="0" i="0" u="none" strike="noStrike">
                          <a:solidFill>
                            <a:srgbClr val="000000"/>
                          </a:solidFill>
                          <a:effectLst/>
                          <a:latin typeface="Calibri" panose="020F0502020204030204" pitchFamily="34" charset="0"/>
                        </a:rPr>
                        <a:t>Bob Carrigan</a:t>
                      </a:r>
                    </a:p>
                  </a:txBody>
                  <a:tcPr marL="725" marR="725" marT="7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67935301"/>
                  </a:ext>
                </a:extLst>
              </a:tr>
            </a:tbl>
          </a:graphicData>
        </a:graphic>
      </p:graphicFrame>
      <p:sp>
        <p:nvSpPr>
          <p:cNvPr id="4" name="Title 1">
            <a:extLst>
              <a:ext uri="{FF2B5EF4-FFF2-40B4-BE49-F238E27FC236}">
                <a16:creationId xmlns:a16="http://schemas.microsoft.com/office/drawing/2014/main" id="{68A8F42F-6858-D2F3-B74D-EA72E35B6D4C}"/>
              </a:ext>
            </a:extLst>
          </p:cNvPr>
          <p:cNvSpPr txBox="1">
            <a:spLocks/>
          </p:cNvSpPr>
          <p:nvPr/>
        </p:nvSpPr>
        <p:spPr>
          <a:xfrm>
            <a:off x="226814" y="0"/>
            <a:ext cx="7260336" cy="549381"/>
          </a:xfrm>
          <a:prstGeom prst="rect">
            <a:avLst/>
          </a:prstGeom>
        </p:spPr>
        <p:txBody>
          <a:bodyPr vert="horz" lIns="91440" tIns="45720" rIns="91440" bIns="45720" rtlCol="0" anchor="ctr">
            <a:normAutofit fontScale="90000" lnSpcReduction="20000"/>
          </a:bodyPr>
          <a:lstStyle>
            <a:lvl1pPr algn="l" defTabSz="914400" rtl="0" eaLnBrk="1" latinLnBrk="0" hangingPunct="1">
              <a:lnSpc>
                <a:spcPct val="90000"/>
              </a:lnSpc>
              <a:spcBef>
                <a:spcPct val="0"/>
              </a:spcBef>
              <a:buNone/>
              <a:defRPr sz="2400" b="1" kern="1200">
                <a:solidFill>
                  <a:schemeClr val="accent1"/>
                </a:solidFill>
                <a:latin typeface="+mj-lt"/>
                <a:ea typeface="+mj-ea"/>
                <a:cs typeface="+mj-cs"/>
              </a:defRPr>
            </a:lvl1pPr>
          </a:lstStyle>
          <a:p>
            <a:r>
              <a:rPr lang="en-US" sz="2200"/>
              <a:t>Phase 2 - BA FI 51-99 - High Level requirements for Commissions &amp; Bonus / Sales Compensation</a:t>
            </a:r>
          </a:p>
        </p:txBody>
      </p:sp>
    </p:spTree>
    <p:extLst>
      <p:ext uri="{BB962C8B-B14F-4D97-AF65-F5344CB8AC3E}">
        <p14:creationId xmlns:p14="http://schemas.microsoft.com/office/powerpoint/2010/main" val="18435137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7B0F1-ABAC-4E55-8183-8AFA6C8FFDDA}"/>
              </a:ext>
            </a:extLst>
          </p:cNvPr>
          <p:cNvSpPr>
            <a:spLocks noGrp="1"/>
          </p:cNvSpPr>
          <p:nvPr>
            <p:ph type="title"/>
          </p:nvPr>
        </p:nvSpPr>
        <p:spPr>
          <a:xfrm>
            <a:off x="302004" y="70860"/>
            <a:ext cx="7127496" cy="693525"/>
          </a:xfrm>
        </p:spPr>
        <p:txBody>
          <a:bodyPr>
            <a:normAutofit/>
          </a:bodyPr>
          <a:lstStyle/>
          <a:p>
            <a:r>
              <a:rPr lang="en-US" sz="1600"/>
              <a:t>High Level Architecture – Broker Commissions – Context Diagram</a:t>
            </a:r>
            <a:br>
              <a:rPr lang="en-US" sz="2000"/>
            </a:br>
            <a:r>
              <a:rPr lang="en-US" sz="2000"/>
              <a:t>      (</a:t>
            </a:r>
            <a:r>
              <a:rPr lang="en-US" sz="1600"/>
              <a:t>Current State – BA USP – BASICS  implementation </a:t>
            </a:r>
            <a:r>
              <a:rPr lang="en-US" sz="2000"/>
              <a:t>)</a:t>
            </a:r>
          </a:p>
        </p:txBody>
      </p:sp>
      <p:pic>
        <p:nvPicPr>
          <p:cNvPr id="5" name="Picture 4">
            <a:extLst>
              <a:ext uri="{FF2B5EF4-FFF2-40B4-BE49-F238E27FC236}">
                <a16:creationId xmlns:a16="http://schemas.microsoft.com/office/drawing/2014/main" id="{7E87319A-C297-430F-938B-8F1BBDBB5E6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81853" y="1084476"/>
            <a:ext cx="7780295" cy="3609667"/>
          </a:xfrm>
          <a:prstGeom prst="rect">
            <a:avLst/>
          </a:prstGeom>
        </p:spPr>
      </p:pic>
      <p:sp>
        <p:nvSpPr>
          <p:cNvPr id="7" name="Rectangle 6">
            <a:extLst>
              <a:ext uri="{FF2B5EF4-FFF2-40B4-BE49-F238E27FC236}">
                <a16:creationId xmlns:a16="http://schemas.microsoft.com/office/drawing/2014/main" id="{5CBF350A-7E35-438A-B6D7-AD418AF9C803}"/>
              </a:ext>
            </a:extLst>
          </p:cNvPr>
          <p:cNvSpPr/>
          <p:nvPr/>
        </p:nvSpPr>
        <p:spPr>
          <a:xfrm>
            <a:off x="7581114" y="1267687"/>
            <a:ext cx="1056700" cy="400110"/>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w="12700" cmpd="sng">
                  <a:solidFill>
                    <a:srgbClr val="9521AD"/>
                  </a:solidFill>
                  <a:prstDash val="solid"/>
                </a:ln>
                <a:gradFill>
                  <a:gsLst>
                    <a:gs pos="0">
                      <a:srgbClr val="9521AD"/>
                    </a:gs>
                    <a:gs pos="4000">
                      <a:srgbClr val="9521AD">
                        <a:lumMod val="60000"/>
                        <a:lumOff val="40000"/>
                      </a:srgbClr>
                    </a:gs>
                    <a:gs pos="87000">
                      <a:srgbClr val="9521AD">
                        <a:lumMod val="20000"/>
                        <a:lumOff val="80000"/>
                      </a:srgbClr>
                    </a:gs>
                  </a:gsLst>
                  <a:lin ang="5400000"/>
                </a:gradFill>
                <a:effectLst/>
                <a:uLnTx/>
                <a:uFillTx/>
                <a:latin typeface="Arial"/>
                <a:ea typeface="+mn-ea"/>
                <a:cs typeface="+mn-cs"/>
              </a:rPr>
              <a:t>DRAFT</a:t>
            </a:r>
          </a:p>
        </p:txBody>
      </p:sp>
    </p:spTree>
    <p:extLst>
      <p:ext uri="{BB962C8B-B14F-4D97-AF65-F5344CB8AC3E}">
        <p14:creationId xmlns:p14="http://schemas.microsoft.com/office/powerpoint/2010/main" val="1212955301"/>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0915B7E-72DC-48E0-BA55-BB37E7EC0BED}"/>
              </a:ext>
            </a:extLst>
          </p:cNvPr>
          <p:cNvSpPr>
            <a:spLocks noGrp="1"/>
          </p:cNvSpPr>
          <p:nvPr>
            <p:ph type="sldNum" sz="quarter" idx="12"/>
          </p:nvPr>
        </p:nvSpPr>
        <p:spPr/>
        <p:txBody>
          <a:bodyPr/>
          <a:lstStyle/>
          <a:p>
            <a:pPr defTabSz="914201">
              <a:defRPr/>
            </a:pPr>
            <a:fld id="{90F9BDA0-AF0E-4BA8-B742-3B9C92A3E6FE}" type="slidenum">
              <a:rPr lang="en-US" sz="923">
                <a:solidFill>
                  <a:srgbClr val="8C9599"/>
                </a:solidFill>
                <a:latin typeface="Arial"/>
              </a:rPr>
              <a:pPr defTabSz="914201">
                <a:defRPr/>
              </a:pPr>
              <a:t>22</a:t>
            </a:fld>
            <a:endParaRPr lang="en-US" sz="923">
              <a:solidFill>
                <a:srgbClr val="8C9599"/>
              </a:solidFill>
              <a:latin typeface="Arial"/>
            </a:endParaRPr>
          </a:p>
        </p:txBody>
      </p:sp>
      <p:sp>
        <p:nvSpPr>
          <p:cNvPr id="4" name="Title 3">
            <a:extLst>
              <a:ext uri="{FF2B5EF4-FFF2-40B4-BE49-F238E27FC236}">
                <a16:creationId xmlns:a16="http://schemas.microsoft.com/office/drawing/2014/main" id="{02653D83-CED6-4E59-89C7-3F0EDB37C73B}"/>
              </a:ext>
            </a:extLst>
          </p:cNvPr>
          <p:cNvSpPr>
            <a:spLocks noGrp="1"/>
          </p:cNvSpPr>
          <p:nvPr>
            <p:ph type="title"/>
          </p:nvPr>
        </p:nvSpPr>
        <p:spPr>
          <a:xfrm>
            <a:off x="528860" y="127217"/>
            <a:ext cx="6607419" cy="525195"/>
          </a:xfrm>
        </p:spPr>
        <p:txBody>
          <a:bodyPr>
            <a:normAutofit fontScale="90000"/>
          </a:bodyPr>
          <a:lstStyle/>
          <a:p>
            <a:r>
              <a:rPr lang="en-US" sz="1800">
                <a:solidFill>
                  <a:srgbClr val="000000"/>
                </a:solidFill>
              </a:rPr>
              <a:t>Sales Compensation Capability on USP – High Level Experience Journey Map</a:t>
            </a:r>
          </a:p>
        </p:txBody>
      </p:sp>
      <p:pic>
        <p:nvPicPr>
          <p:cNvPr id="2" name="Picture 1">
            <a:extLst>
              <a:ext uri="{FF2B5EF4-FFF2-40B4-BE49-F238E27FC236}">
                <a16:creationId xmlns:a16="http://schemas.microsoft.com/office/drawing/2014/main" id="{04ED797C-B2A4-4C93-9244-58D25AD2E441}"/>
              </a:ext>
            </a:extLst>
          </p:cNvPr>
          <p:cNvPicPr>
            <a:picLocks noChangeAspect="1"/>
          </p:cNvPicPr>
          <p:nvPr/>
        </p:nvPicPr>
        <p:blipFill>
          <a:blip r:embed="rId2"/>
          <a:srcRect/>
          <a:stretch/>
        </p:blipFill>
        <p:spPr>
          <a:xfrm>
            <a:off x="528859" y="652413"/>
            <a:ext cx="8128895" cy="4033888"/>
          </a:xfrm>
          <a:prstGeom prst="rect">
            <a:avLst/>
          </a:prstGeom>
        </p:spPr>
      </p:pic>
    </p:spTree>
    <p:extLst>
      <p:ext uri="{BB962C8B-B14F-4D97-AF65-F5344CB8AC3E}">
        <p14:creationId xmlns:p14="http://schemas.microsoft.com/office/powerpoint/2010/main" val="1066738131"/>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7B0F1-ABAC-4E55-8183-8AFA6C8FFDDA}"/>
              </a:ext>
            </a:extLst>
          </p:cNvPr>
          <p:cNvSpPr>
            <a:spLocks noGrp="1"/>
          </p:cNvSpPr>
          <p:nvPr>
            <p:ph type="title"/>
          </p:nvPr>
        </p:nvSpPr>
        <p:spPr>
          <a:xfrm>
            <a:off x="302004" y="70860"/>
            <a:ext cx="7127496" cy="693525"/>
          </a:xfrm>
        </p:spPr>
        <p:txBody>
          <a:bodyPr>
            <a:normAutofit fontScale="90000"/>
          </a:bodyPr>
          <a:lstStyle/>
          <a:p>
            <a:r>
              <a:rPr lang="en-US" sz="2000"/>
              <a:t>High Level E2E Architecture – Broker Commissions &amp; Bonus</a:t>
            </a:r>
            <a:br>
              <a:rPr lang="en-US" sz="2000"/>
            </a:br>
            <a:r>
              <a:rPr lang="en-US" sz="2000"/>
              <a:t>(</a:t>
            </a:r>
            <a:r>
              <a:rPr lang="en-US" sz="1800"/>
              <a:t>Current State</a:t>
            </a:r>
            <a:r>
              <a:rPr lang="en-US" sz="2000"/>
              <a:t>)</a:t>
            </a:r>
          </a:p>
        </p:txBody>
      </p:sp>
      <p:pic>
        <p:nvPicPr>
          <p:cNvPr id="5" name="Picture 4">
            <a:extLst>
              <a:ext uri="{FF2B5EF4-FFF2-40B4-BE49-F238E27FC236}">
                <a16:creationId xmlns:a16="http://schemas.microsoft.com/office/drawing/2014/main" id="{7E87319A-C297-430F-938B-8F1BBDBB5E6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81853" y="837865"/>
            <a:ext cx="7780295" cy="4102890"/>
          </a:xfrm>
          <a:prstGeom prst="rect">
            <a:avLst/>
          </a:prstGeom>
        </p:spPr>
      </p:pic>
      <p:sp>
        <p:nvSpPr>
          <p:cNvPr id="7" name="Rectangle 6">
            <a:extLst>
              <a:ext uri="{FF2B5EF4-FFF2-40B4-BE49-F238E27FC236}">
                <a16:creationId xmlns:a16="http://schemas.microsoft.com/office/drawing/2014/main" id="{5CBF350A-7E35-438A-B6D7-AD418AF9C803}"/>
              </a:ext>
            </a:extLst>
          </p:cNvPr>
          <p:cNvSpPr/>
          <p:nvPr/>
        </p:nvSpPr>
        <p:spPr>
          <a:xfrm>
            <a:off x="7581114" y="1267687"/>
            <a:ext cx="1056700" cy="400110"/>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w="12700" cmpd="sng">
                  <a:solidFill>
                    <a:srgbClr val="9521AD"/>
                  </a:solidFill>
                  <a:prstDash val="solid"/>
                </a:ln>
                <a:gradFill>
                  <a:gsLst>
                    <a:gs pos="0">
                      <a:srgbClr val="9521AD"/>
                    </a:gs>
                    <a:gs pos="4000">
                      <a:srgbClr val="9521AD">
                        <a:lumMod val="60000"/>
                        <a:lumOff val="40000"/>
                      </a:srgbClr>
                    </a:gs>
                    <a:gs pos="87000">
                      <a:srgbClr val="9521AD">
                        <a:lumMod val="20000"/>
                        <a:lumOff val="80000"/>
                      </a:srgbClr>
                    </a:gs>
                  </a:gsLst>
                  <a:lin ang="5400000"/>
                </a:gradFill>
                <a:effectLst/>
                <a:uLnTx/>
                <a:uFillTx/>
                <a:latin typeface="Arial"/>
                <a:ea typeface="+mn-ea"/>
                <a:cs typeface="+mn-cs"/>
              </a:rPr>
              <a:t>DRAFT</a:t>
            </a:r>
          </a:p>
        </p:txBody>
      </p:sp>
      <p:sp>
        <p:nvSpPr>
          <p:cNvPr id="3" name="Rectangle 2">
            <a:extLst>
              <a:ext uri="{FF2B5EF4-FFF2-40B4-BE49-F238E27FC236}">
                <a16:creationId xmlns:a16="http://schemas.microsoft.com/office/drawing/2014/main" id="{ABEF7D90-39D5-1CF5-EF0D-280872497B77}"/>
              </a:ext>
            </a:extLst>
          </p:cNvPr>
          <p:cNvSpPr/>
          <p:nvPr/>
        </p:nvSpPr>
        <p:spPr>
          <a:xfrm>
            <a:off x="1990725" y="837865"/>
            <a:ext cx="3448050" cy="352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3A037779-CF18-D455-C327-2A363DFE5D06}"/>
              </a:ext>
            </a:extLst>
          </p:cNvPr>
          <p:cNvSpPr/>
          <p:nvPr/>
        </p:nvSpPr>
        <p:spPr>
          <a:xfrm>
            <a:off x="4572000" y="2962275"/>
            <a:ext cx="1000125" cy="914400"/>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80672554"/>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6C37A01-B7CF-48AD-B7A9-584FEF7174D6}"/>
              </a:ext>
            </a:extLst>
          </p:cNvPr>
          <p:cNvSpPr>
            <a:spLocks noGrp="1"/>
          </p:cNvSpPr>
          <p:nvPr>
            <p:ph idx="1"/>
          </p:nvPr>
        </p:nvSpPr>
        <p:spPr>
          <a:xfrm>
            <a:off x="244550" y="747169"/>
            <a:ext cx="8742432" cy="4037267"/>
          </a:xfrm>
        </p:spPr>
        <p:txBody>
          <a:bodyPr vert="horz" lIns="91440" tIns="45720" rIns="91440" bIns="45720" rtlCol="0" anchor="t">
            <a:noAutofit/>
          </a:bodyPr>
          <a:lstStyle/>
          <a:p>
            <a:pPr marL="0" indent="0">
              <a:buNone/>
            </a:pPr>
            <a:r>
              <a:rPr lang="en-US" sz="1200" b="1" dirty="0"/>
              <a:t>Broker Commissions:</a:t>
            </a:r>
          </a:p>
          <a:p>
            <a:pPr marL="0" indent="0">
              <a:buNone/>
            </a:pPr>
            <a:r>
              <a:rPr lang="en-US" sz="1200" b="1" dirty="0"/>
              <a:t>Cirrus:</a:t>
            </a:r>
            <a:endParaRPr lang="en-US" sz="800" dirty="0">
              <a:effectLst/>
              <a:latin typeface="Calibri" panose="020F0502020204030204" pitchFamily="34" charset="0"/>
              <a:ea typeface="Calibri" panose="020F0502020204030204" pitchFamily="34" charset="0"/>
            </a:endParaRPr>
          </a:p>
          <a:p>
            <a:pPr>
              <a:spcAft>
                <a:spcPts val="0"/>
              </a:spcAft>
              <a:buFont typeface="Wingdings" panose="05000000000000000000" pitchFamily="2" charset="2"/>
              <a:buChar char="§"/>
            </a:pPr>
            <a:r>
              <a:rPr lang="en-US" sz="1200" dirty="0">
                <a:effectLst/>
                <a:latin typeface="Calibri" panose="020F0502020204030204" pitchFamily="34" charset="0"/>
                <a:ea typeface="Calibri" panose="020F0502020204030204" pitchFamily="34" charset="0"/>
              </a:rPr>
              <a:t>Cirrus has already made changes to Customer and Plan Offering info to support BA and flows BA info to BASICS.</a:t>
            </a:r>
          </a:p>
          <a:p>
            <a:pPr>
              <a:spcAft>
                <a:spcPts val="0"/>
              </a:spcAft>
              <a:buFont typeface="Wingdings" panose="05000000000000000000" pitchFamily="2" charset="2"/>
              <a:buChar char="§"/>
            </a:pPr>
            <a:r>
              <a:rPr lang="en-US" sz="1200" dirty="0">
                <a:effectLst/>
                <a:latin typeface="Calibri" panose="020F0502020204030204" pitchFamily="34" charset="0"/>
                <a:ea typeface="Calibri" panose="020F0502020204030204" pitchFamily="34" charset="0"/>
              </a:rPr>
              <a:t>Cirrus has already made necessary changes to do the financial tagging for BA charges and flows this info down to Cirrus PCMT &amp; FTS via UDW</a:t>
            </a:r>
          </a:p>
          <a:p>
            <a:pPr>
              <a:spcAft>
                <a:spcPts val="0"/>
              </a:spcAft>
              <a:buFont typeface="Wingdings" panose="05000000000000000000" pitchFamily="2" charset="2"/>
              <a:buChar char="Ø"/>
            </a:pPr>
            <a:endParaRPr lang="en-US" sz="800" dirty="0">
              <a:latin typeface="Calibri" panose="020F0502020204030204" pitchFamily="34" charset="0"/>
              <a:ea typeface="Calibri" panose="020F0502020204030204" pitchFamily="34" charset="0"/>
            </a:endParaRPr>
          </a:p>
          <a:p>
            <a:pPr marL="0" indent="0">
              <a:spcAft>
                <a:spcPts val="0"/>
              </a:spcAft>
              <a:buNone/>
            </a:pPr>
            <a:r>
              <a:rPr lang="en-US" sz="1200" b="1" dirty="0">
                <a:effectLst/>
                <a:latin typeface="Calibri" panose="020F0502020204030204" pitchFamily="34" charset="0"/>
                <a:ea typeface="Calibri" panose="020F0502020204030204" pitchFamily="34" charset="0"/>
              </a:rPr>
              <a:t>BASICS:</a:t>
            </a:r>
          </a:p>
          <a:p>
            <a:pPr marL="0" indent="0">
              <a:spcAft>
                <a:spcPts val="0"/>
              </a:spcAft>
              <a:buNone/>
            </a:pPr>
            <a:endParaRPr lang="en-US" sz="800" dirty="0">
              <a:effectLst/>
              <a:latin typeface="Calibri" panose="020F0502020204030204" pitchFamily="34" charset="0"/>
              <a:ea typeface="Calibri" panose="020F0502020204030204" pitchFamily="34" charset="0"/>
            </a:endParaRPr>
          </a:p>
          <a:p>
            <a:pPr>
              <a:spcAft>
                <a:spcPts val="0"/>
              </a:spcAft>
              <a:buFont typeface="Wingdings" panose="05000000000000000000" pitchFamily="2" charset="2"/>
              <a:buChar char="§"/>
            </a:pPr>
            <a:r>
              <a:rPr lang="en-US" sz="1200" dirty="0">
                <a:latin typeface="Calibri" panose="020F0502020204030204" pitchFamily="34" charset="0"/>
                <a:ea typeface="Calibri" panose="020F0502020204030204" pitchFamily="34" charset="0"/>
              </a:rPr>
              <a:t>BASICS has already made changes in past to read the BA related information from Cirrus, FTS &amp; BRMS and use it in its internal compensation calculations in BASICS, we need to test this functionality for FI UHC &amp; Oxford 51-99 group size</a:t>
            </a:r>
          </a:p>
          <a:p>
            <a:pPr>
              <a:spcAft>
                <a:spcPts val="0"/>
              </a:spcAft>
              <a:buFont typeface="Wingdings" panose="05000000000000000000" pitchFamily="2" charset="2"/>
              <a:buChar char="§"/>
            </a:pPr>
            <a:r>
              <a:rPr lang="en-US" sz="1200" dirty="0">
                <a:latin typeface="Calibri" panose="020F0502020204030204" pitchFamily="34" charset="0"/>
                <a:ea typeface="Calibri" panose="020F0502020204030204" pitchFamily="34" charset="0"/>
              </a:rPr>
              <a:t>BASICS already uses BA specific information and leverages existing processes related to creating compensation statement and reporting for BA.  We will use the same processes and existing capability to support FI UHC &amp; Oxford 51-99 group size. We need to test it out.</a:t>
            </a:r>
          </a:p>
          <a:p>
            <a:pPr>
              <a:spcAft>
                <a:spcPts val="0"/>
              </a:spcAft>
              <a:buFont typeface="Wingdings" panose="05000000000000000000" pitchFamily="2" charset="2"/>
              <a:buChar char="§"/>
            </a:pPr>
            <a:r>
              <a:rPr lang="en-US" sz="1200" dirty="0">
                <a:latin typeface="Calibri" panose="020F0502020204030204" pitchFamily="34" charset="0"/>
                <a:ea typeface="Calibri" panose="020F0502020204030204" pitchFamily="34" charset="0"/>
              </a:rPr>
              <a:t>BASICS has already made changes in past to read BA related attribute and values received in its existing BRMS feed and include it in its compensation calculation logic; we just need to test it out for the NB UHC FI &amp; Oxford 51-99 group size.</a:t>
            </a:r>
          </a:p>
          <a:p>
            <a:pPr>
              <a:spcAft>
                <a:spcPts val="0"/>
              </a:spcAft>
              <a:buFont typeface="Wingdings" panose="05000000000000000000" pitchFamily="2" charset="2"/>
              <a:buChar char="§"/>
            </a:pPr>
            <a:r>
              <a:rPr lang="en-US" sz="1200" dirty="0">
                <a:latin typeface="Calibri" panose="020F0502020204030204" pitchFamily="34" charset="0"/>
                <a:ea typeface="Calibri" panose="020F0502020204030204" pitchFamily="34" charset="0"/>
              </a:rPr>
              <a:t>The broker commission rates can vary between 0% to 25% and there are some states which stipulate what broker commission rates can be charged for BA, we need to follow this state specific guidelines, and this state specific broker commission rates captured in OBM will override the broker commission inputs from Solaris, and BASICS needs to read these state specific broker commission rates by states from the OBM from the stream and load the info to BASICS . Any new attribute values in existing stream needs to be read by BASICS and be loaded into BASICS for use in its compensation calculation logic. </a:t>
            </a:r>
          </a:p>
          <a:p>
            <a:pPr>
              <a:spcAft>
                <a:spcPts val="0"/>
              </a:spcAft>
              <a:buFont typeface="Wingdings" panose="05000000000000000000" pitchFamily="2" charset="2"/>
              <a:buChar char="§"/>
            </a:pPr>
            <a:r>
              <a:rPr lang="en-US" sz="1200" dirty="0">
                <a:latin typeface="Calibri" panose="020F0502020204030204" pitchFamily="34" charset="0"/>
                <a:ea typeface="Calibri" panose="020F0502020204030204" pitchFamily="34" charset="0"/>
              </a:rPr>
              <a:t>BASICS needs to implement additional validation around the state specific max broker commission rates allowed for BA.</a:t>
            </a:r>
          </a:p>
          <a:p>
            <a:pPr>
              <a:spcAft>
                <a:spcPts val="0"/>
              </a:spcAft>
              <a:buFont typeface="Wingdings" panose="05000000000000000000" pitchFamily="2" charset="2"/>
              <a:buChar char="Ø"/>
            </a:pPr>
            <a:endParaRPr lang="en-US" sz="800" dirty="0">
              <a:latin typeface="Calibri" panose="020F0502020204030204" pitchFamily="34" charset="0"/>
              <a:ea typeface="Calibri" panose="020F0502020204030204" pitchFamily="34" charset="0"/>
            </a:endParaRPr>
          </a:p>
          <a:p>
            <a:pPr marL="0" indent="0">
              <a:buNone/>
            </a:pPr>
            <a:r>
              <a:rPr lang="en-US" sz="1200" b="1" dirty="0">
                <a:latin typeface="Calibri" panose="020F0502020204030204" pitchFamily="34" charset="0"/>
              </a:rPr>
              <a:t>Note</a:t>
            </a:r>
            <a:r>
              <a:rPr lang="en-US" sz="1200" dirty="0">
                <a:latin typeface="Calibri" panose="020F0502020204030204" pitchFamily="34" charset="0"/>
              </a:rPr>
              <a:t>: BRMS changes to its feed to BASICS were already made in the past, and it needs to be tested as part of the Billing capability.</a:t>
            </a:r>
          </a:p>
          <a:p>
            <a:endParaRPr lang="en-US" sz="1200" dirty="0">
              <a:effectLst/>
              <a:latin typeface="Calibri" panose="020F0502020204030204" pitchFamily="34" charset="0"/>
              <a:ea typeface="Calibri" panose="020F0502020204030204" pitchFamily="34" charset="0"/>
            </a:endParaRPr>
          </a:p>
          <a:p>
            <a:pPr marR="0">
              <a:spcBef>
                <a:spcPts val="0"/>
              </a:spcBef>
              <a:spcAft>
                <a:spcPts val="0"/>
              </a:spcAft>
              <a:buFontTx/>
              <a:buChar char="-"/>
            </a:pPr>
            <a:endParaRPr lang="en-US" sz="1200" dirty="0">
              <a:latin typeface="Calibri" panose="020F0502020204030204" pitchFamily="34" charset="0"/>
              <a:ea typeface="Calibri" panose="020F0502020204030204" pitchFamily="34" charset="0"/>
            </a:endParaRPr>
          </a:p>
          <a:p>
            <a:pPr marR="0">
              <a:spcBef>
                <a:spcPts val="0"/>
              </a:spcBef>
              <a:spcAft>
                <a:spcPts val="0"/>
              </a:spcAft>
              <a:buFontTx/>
              <a:buChar char="-"/>
            </a:pPr>
            <a:endParaRPr lang="en-US" sz="1200" dirty="0">
              <a:effectLst/>
              <a:latin typeface="Calibri" panose="020F0502020204030204" pitchFamily="34" charset="0"/>
              <a:ea typeface="Calibri" panose="020F0502020204030204" pitchFamily="34" charset="0"/>
            </a:endParaRPr>
          </a:p>
          <a:p>
            <a:pPr marR="0">
              <a:spcBef>
                <a:spcPts val="0"/>
              </a:spcBef>
              <a:spcAft>
                <a:spcPts val="0"/>
              </a:spcAft>
              <a:buFontTx/>
              <a:buChar char="-"/>
            </a:pPr>
            <a:endParaRPr lang="en-US" sz="1200" dirty="0">
              <a:latin typeface="Calibri" panose="020F0502020204030204" pitchFamily="34" charset="0"/>
              <a:ea typeface="Calibri" panose="020F0502020204030204" pitchFamily="34" charset="0"/>
            </a:endParaRPr>
          </a:p>
          <a:p>
            <a:pPr marR="0">
              <a:spcBef>
                <a:spcPts val="0"/>
              </a:spcBef>
              <a:spcAft>
                <a:spcPts val="0"/>
              </a:spcAft>
              <a:buFontTx/>
              <a:buChar char="-"/>
            </a:pPr>
            <a:endParaRPr lang="en-US" sz="1200" dirty="0">
              <a:effectLst/>
              <a:latin typeface="Calibri" panose="020F0502020204030204" pitchFamily="34" charset="0"/>
              <a:ea typeface="Calibri" panose="020F0502020204030204" pitchFamily="34" charset="0"/>
            </a:endParaRPr>
          </a:p>
          <a:p>
            <a:pPr marR="0">
              <a:spcBef>
                <a:spcPts val="0"/>
              </a:spcBef>
              <a:spcAft>
                <a:spcPts val="0"/>
              </a:spcAft>
              <a:buFontTx/>
              <a:buChar char="-"/>
            </a:pPr>
            <a:endParaRPr lang="en-US" sz="1200" dirty="0">
              <a:latin typeface="Calibri" panose="020F0502020204030204" pitchFamily="34" charset="0"/>
              <a:ea typeface="Calibri" panose="020F0502020204030204" pitchFamily="34" charset="0"/>
            </a:endParaRPr>
          </a:p>
          <a:p>
            <a:pPr marR="0">
              <a:spcBef>
                <a:spcPts val="0"/>
              </a:spcBef>
              <a:spcAft>
                <a:spcPts val="0"/>
              </a:spcAft>
              <a:buFontTx/>
              <a:buChar char="-"/>
            </a:pPr>
            <a:endParaRPr lang="en-US" sz="1200" dirty="0">
              <a:effectLst/>
              <a:latin typeface="Calibri" panose="020F0502020204030204" pitchFamily="34" charset="0"/>
              <a:ea typeface="Calibri" panose="020F0502020204030204" pitchFamily="34" charset="0"/>
            </a:endParaRPr>
          </a:p>
          <a:p>
            <a:pPr marR="0">
              <a:spcBef>
                <a:spcPts val="0"/>
              </a:spcBef>
              <a:spcAft>
                <a:spcPts val="0"/>
              </a:spcAft>
              <a:buFontTx/>
              <a:buChar char="-"/>
            </a:pPr>
            <a:endParaRPr lang="en-US" sz="1200" dirty="0">
              <a:latin typeface="Calibri" panose="020F0502020204030204" pitchFamily="34" charset="0"/>
              <a:ea typeface="Calibri" panose="020F0502020204030204" pitchFamily="34" charset="0"/>
            </a:endParaRPr>
          </a:p>
          <a:p>
            <a:pPr marR="0">
              <a:spcBef>
                <a:spcPts val="0"/>
              </a:spcBef>
              <a:spcAft>
                <a:spcPts val="0"/>
              </a:spcAft>
              <a:buFontTx/>
              <a:buChar char="-"/>
            </a:pPr>
            <a:endParaRPr lang="en-US" sz="1200" dirty="0">
              <a:effectLst/>
              <a:latin typeface="Calibri" panose="020F0502020204030204" pitchFamily="34" charset="0"/>
              <a:ea typeface="Calibri" panose="020F0502020204030204" pitchFamily="34" charset="0"/>
            </a:endParaRPr>
          </a:p>
          <a:p>
            <a:pPr marR="0">
              <a:spcBef>
                <a:spcPts val="0"/>
              </a:spcBef>
              <a:spcAft>
                <a:spcPts val="0"/>
              </a:spcAft>
              <a:buFontTx/>
              <a:buChar char="-"/>
            </a:pPr>
            <a:endParaRPr lang="en-US" sz="1200" dirty="0">
              <a:latin typeface="Calibri" panose="020F0502020204030204" pitchFamily="34" charset="0"/>
              <a:ea typeface="Calibri" panose="020F0502020204030204" pitchFamily="34" charset="0"/>
            </a:endParaRPr>
          </a:p>
          <a:p>
            <a:pPr marR="0">
              <a:spcBef>
                <a:spcPts val="0"/>
              </a:spcBef>
              <a:spcAft>
                <a:spcPts val="0"/>
              </a:spcAft>
              <a:buFontTx/>
              <a:buChar char="-"/>
            </a:pPr>
            <a:endParaRPr lang="en-US" sz="1200" dirty="0">
              <a:effectLst/>
              <a:latin typeface="Calibri" panose="020F0502020204030204" pitchFamily="34" charset="0"/>
              <a:ea typeface="Calibri" panose="020F0502020204030204" pitchFamily="34" charset="0"/>
            </a:endParaRPr>
          </a:p>
          <a:p>
            <a:pPr marR="0">
              <a:spcBef>
                <a:spcPts val="0"/>
              </a:spcBef>
              <a:spcAft>
                <a:spcPts val="0"/>
              </a:spcAft>
              <a:buFontTx/>
              <a:buChar char="-"/>
            </a:pPr>
            <a:endParaRPr lang="en-US" sz="1200" dirty="0">
              <a:latin typeface="Calibri" panose="020F0502020204030204" pitchFamily="34" charset="0"/>
              <a:ea typeface="Calibri" panose="020F0502020204030204" pitchFamily="34" charset="0"/>
            </a:endParaRPr>
          </a:p>
          <a:p>
            <a:pPr marR="0">
              <a:spcBef>
                <a:spcPts val="0"/>
              </a:spcBef>
              <a:spcAft>
                <a:spcPts val="0"/>
              </a:spcAft>
              <a:buFontTx/>
              <a:buChar char="-"/>
            </a:pPr>
            <a:endParaRPr lang="en-US" sz="1200" dirty="0">
              <a:effectLst/>
              <a:latin typeface="Calibri" panose="020F0502020204030204" pitchFamily="34" charset="0"/>
              <a:ea typeface="Calibri" panose="020F0502020204030204" pitchFamily="34" charset="0"/>
            </a:endParaRPr>
          </a:p>
          <a:p>
            <a:pPr marR="0">
              <a:spcBef>
                <a:spcPts val="0"/>
              </a:spcBef>
              <a:spcAft>
                <a:spcPts val="0"/>
              </a:spcAft>
              <a:buFontTx/>
              <a:buChar char="-"/>
            </a:pPr>
            <a:endParaRPr lang="en-US" sz="1200" dirty="0">
              <a:latin typeface="Calibri" panose="020F0502020204030204" pitchFamily="34" charset="0"/>
              <a:ea typeface="Calibri" panose="020F0502020204030204" pitchFamily="34" charset="0"/>
            </a:endParaRPr>
          </a:p>
          <a:p>
            <a:pPr marR="0">
              <a:spcBef>
                <a:spcPts val="0"/>
              </a:spcBef>
              <a:spcAft>
                <a:spcPts val="0"/>
              </a:spcAft>
              <a:buFontTx/>
              <a:buChar char="-"/>
            </a:pPr>
            <a:endParaRPr lang="en-US" sz="1200" dirty="0">
              <a:effectLst/>
              <a:latin typeface="Calibri" panose="020F0502020204030204" pitchFamily="34" charset="0"/>
              <a:ea typeface="Calibri" panose="020F0502020204030204" pitchFamily="34" charset="0"/>
            </a:endParaRPr>
          </a:p>
          <a:p>
            <a:pPr marL="0" marR="0" indent="0">
              <a:spcBef>
                <a:spcPts val="0"/>
              </a:spcBef>
              <a:spcAft>
                <a:spcPts val="0"/>
              </a:spcAft>
              <a:buNone/>
            </a:pPr>
            <a:endParaRPr lang="en-US" sz="700" dirty="0">
              <a:effectLst/>
              <a:latin typeface="Calibri" panose="020F0502020204030204" pitchFamily="34" charset="0"/>
              <a:ea typeface="Calibri" panose="020F0502020204030204" pitchFamily="34" charset="0"/>
            </a:endParaRPr>
          </a:p>
        </p:txBody>
      </p:sp>
      <p:sp>
        <p:nvSpPr>
          <p:cNvPr id="3" name="Slide Number Placeholder 2">
            <a:extLst>
              <a:ext uri="{FF2B5EF4-FFF2-40B4-BE49-F238E27FC236}">
                <a16:creationId xmlns:a16="http://schemas.microsoft.com/office/drawing/2014/main" id="{FA9ABF99-5DB3-49CC-8CB1-F5C887616983}"/>
              </a:ext>
            </a:extLst>
          </p:cNvPr>
          <p:cNvSpPr>
            <a:spLocks noGrp="1"/>
          </p:cNvSpPr>
          <p:nvPr>
            <p:ph type="sldNum" sz="quarter" idx="12"/>
          </p:nvPr>
        </p:nvSpPr>
        <p:spPr/>
        <p:txBody>
          <a:bodyPr/>
          <a:lstStyle/>
          <a:p>
            <a:fld id="{90F9BDA0-AF0E-4BA8-B742-3B9C92A3E6FE}" type="slidenum">
              <a:rPr lang="en-US" smtClean="0"/>
              <a:t>24</a:t>
            </a:fld>
            <a:endParaRPr lang="en-US"/>
          </a:p>
        </p:txBody>
      </p:sp>
      <p:sp>
        <p:nvSpPr>
          <p:cNvPr id="5" name="Rectangle 4">
            <a:extLst>
              <a:ext uri="{FF2B5EF4-FFF2-40B4-BE49-F238E27FC236}">
                <a16:creationId xmlns:a16="http://schemas.microsoft.com/office/drawing/2014/main" id="{2397D47E-66E1-4061-97A7-FE581EE78C7B}"/>
              </a:ext>
            </a:extLst>
          </p:cNvPr>
          <p:cNvSpPr/>
          <p:nvPr/>
        </p:nvSpPr>
        <p:spPr>
          <a:xfrm>
            <a:off x="7182901" y="943490"/>
            <a:ext cx="1056700" cy="400110"/>
          </a:xfrm>
          <a:prstGeom prst="rect">
            <a:avLst/>
          </a:prstGeom>
          <a:noFill/>
        </p:spPr>
        <p:txBody>
          <a:bodyPr wrap="none" lIns="91440" tIns="45720" rIns="91440" bIns="45720">
            <a:spAutoFit/>
          </a:bodyPr>
          <a:lstStyle/>
          <a:p>
            <a:pPr algn="ctr"/>
            <a:r>
              <a:rPr lang="en-US" sz="2000" b="1" cap="none" spc="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rPr>
              <a:t>DRAFT</a:t>
            </a:r>
          </a:p>
        </p:txBody>
      </p:sp>
      <p:sp>
        <p:nvSpPr>
          <p:cNvPr id="6" name="Rectangle 5">
            <a:extLst>
              <a:ext uri="{FF2B5EF4-FFF2-40B4-BE49-F238E27FC236}">
                <a16:creationId xmlns:a16="http://schemas.microsoft.com/office/drawing/2014/main" id="{A48D3BD7-C7A1-4E41-8CD4-569868C92045}"/>
              </a:ext>
            </a:extLst>
          </p:cNvPr>
          <p:cNvSpPr/>
          <p:nvPr/>
        </p:nvSpPr>
        <p:spPr>
          <a:xfrm>
            <a:off x="342900" y="116141"/>
            <a:ext cx="6968605" cy="307777"/>
          </a:xfrm>
          <a:prstGeom prst="rect">
            <a:avLst/>
          </a:prstGeom>
        </p:spPr>
        <p:txBody>
          <a:bodyPr wrap="square">
            <a:spAutoFit/>
          </a:bodyPr>
          <a:lstStyle/>
          <a:p>
            <a:r>
              <a:rPr lang="en-US" sz="1400" b="1">
                <a:solidFill>
                  <a:schemeClr val="accent1"/>
                </a:solidFill>
              </a:rPr>
              <a:t>Sales Comp &amp; Broker Commission &amp; Bonus – Application Impacts</a:t>
            </a:r>
          </a:p>
        </p:txBody>
      </p:sp>
    </p:spTree>
    <p:extLst>
      <p:ext uri="{BB962C8B-B14F-4D97-AF65-F5344CB8AC3E}">
        <p14:creationId xmlns:p14="http://schemas.microsoft.com/office/powerpoint/2010/main" val="1352225669"/>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6C37A01-B7CF-48AD-B7A9-584FEF7174D6}"/>
              </a:ext>
            </a:extLst>
          </p:cNvPr>
          <p:cNvSpPr>
            <a:spLocks noGrp="1"/>
          </p:cNvSpPr>
          <p:nvPr>
            <p:ph idx="1"/>
          </p:nvPr>
        </p:nvSpPr>
        <p:spPr>
          <a:xfrm>
            <a:off x="462889" y="747645"/>
            <a:ext cx="8550646" cy="4155910"/>
          </a:xfrm>
        </p:spPr>
        <p:txBody>
          <a:bodyPr vert="horz" lIns="91416" tIns="45708" rIns="91416" bIns="45708" rtlCol="0" anchor="t">
            <a:noAutofit/>
          </a:bodyPr>
          <a:lstStyle/>
          <a:p>
            <a:pPr marL="0" indent="0">
              <a:spcAft>
                <a:spcPts val="0"/>
              </a:spcAft>
              <a:buNone/>
            </a:pPr>
            <a:r>
              <a:rPr lang="en-US" sz="1200" b="1" dirty="0">
                <a:latin typeface="Calibri" panose="020F0502020204030204" pitchFamily="34" charset="0"/>
                <a:ea typeface="Calibri" panose="020F0502020204030204" pitchFamily="34" charset="0"/>
              </a:rPr>
              <a:t>OBM:</a:t>
            </a:r>
          </a:p>
          <a:p>
            <a:pPr>
              <a:spcAft>
                <a:spcPts val="0"/>
              </a:spcAft>
              <a:buFont typeface="Wingdings" panose="05000000000000000000" pitchFamily="2" charset="2"/>
              <a:buChar char="§"/>
            </a:pPr>
            <a:r>
              <a:rPr lang="en-US" sz="1200" dirty="0">
                <a:latin typeface="Calibri" panose="020F0502020204030204" pitchFamily="34" charset="0"/>
                <a:ea typeface="Calibri" panose="020F0502020204030204" pitchFamily="34" charset="0"/>
              </a:rPr>
              <a:t>OBM already streams data to BASICS and the changes to allow variable broker commission rates for BA general agents was made as part of the BA variable broker commission rates initiative in past, we need to verify and ensure that there is logic in OBM to read the </a:t>
            </a:r>
            <a:r>
              <a:rPr lang="en-US" sz="1200" u="sng" dirty="0">
                <a:latin typeface="Calibri" panose="020F0502020204030204" pitchFamily="34" charset="0"/>
                <a:ea typeface="Calibri" panose="020F0502020204030204" pitchFamily="34" charset="0"/>
              </a:rPr>
              <a:t>state specific guard rails </a:t>
            </a:r>
            <a:r>
              <a:rPr lang="en-US" sz="1200" dirty="0">
                <a:latin typeface="Calibri" panose="020F0502020204030204" pitchFamily="34" charset="0"/>
                <a:ea typeface="Calibri" panose="020F0502020204030204" pitchFamily="34" charset="0"/>
              </a:rPr>
              <a:t>for max broker commission rate for BA and include the appropriate broker commission rate and situs state information in its current data streaming process to BASICS.  If there is no logic in OBM currently to read the state specific broker commission rate, then we need to build this functionality in OBM and update the structure to include additional attributes and send the information to BASIC via existing data streams.</a:t>
            </a:r>
          </a:p>
          <a:p>
            <a:pPr>
              <a:spcAft>
                <a:spcPts val="0"/>
              </a:spcAft>
              <a:buFont typeface="Wingdings" panose="05000000000000000000" pitchFamily="2" charset="2"/>
              <a:buChar char="§"/>
            </a:pPr>
            <a:endParaRPr lang="en-US" sz="1200" b="1" dirty="0">
              <a:latin typeface="Calibri" panose="020F0502020204030204" pitchFamily="34" charset="0"/>
              <a:ea typeface="Calibri" panose="020F0502020204030204" pitchFamily="34" charset="0"/>
            </a:endParaRPr>
          </a:p>
          <a:p>
            <a:pPr marL="0" indent="0">
              <a:spcAft>
                <a:spcPts val="0"/>
              </a:spcAft>
              <a:buNone/>
            </a:pPr>
            <a:r>
              <a:rPr lang="en-US" sz="1200" b="1" dirty="0"/>
              <a:t>Sales Compensation:</a:t>
            </a:r>
          </a:p>
          <a:p>
            <a:pPr marL="0" marR="0" indent="0">
              <a:spcAft>
                <a:spcPts val="0"/>
              </a:spcAft>
              <a:buNone/>
            </a:pPr>
            <a:r>
              <a:rPr lang="en-US" sz="1200" b="1" dirty="0" err="1">
                <a:latin typeface="Calibri" panose="020F0502020204030204" pitchFamily="34" charset="0"/>
              </a:rPr>
              <a:t>MyIncentive</a:t>
            </a:r>
            <a:r>
              <a:rPr lang="en-US" sz="1200" b="1" dirty="0">
                <a:latin typeface="Calibri" panose="020F0502020204030204" pitchFamily="34" charset="0"/>
              </a:rPr>
              <a:t> Compensation System:</a:t>
            </a:r>
          </a:p>
          <a:p>
            <a:pPr>
              <a:buFont typeface="Wingdings" panose="05000000000000000000" pitchFamily="2" charset="2"/>
              <a:buChar char="§"/>
            </a:pPr>
            <a:r>
              <a:rPr lang="en-US" sz="1200" dirty="0">
                <a:latin typeface="Calibri" panose="020F0502020204030204" pitchFamily="34" charset="0"/>
                <a:ea typeface="Calibri" panose="020F0502020204030204" pitchFamily="34" charset="0"/>
              </a:rPr>
              <a:t>Calculate internal sales compensation for the Benefit Ally supplemental health products based on the revenue recorded for the corresponding supplemental health products, new financial activity &amp; bill item type codes (CLC) defined for BA supplemental health products, and commission calculation.</a:t>
            </a:r>
          </a:p>
          <a:p>
            <a:pPr>
              <a:buFont typeface="Wingdings" panose="05000000000000000000" pitchFamily="2" charset="2"/>
              <a:buChar char="§"/>
            </a:pPr>
            <a:r>
              <a:rPr lang="en-US" sz="1200" dirty="0">
                <a:latin typeface="Calibri" panose="020F0502020204030204" pitchFamily="34" charset="0"/>
                <a:ea typeface="Calibri" panose="020F0502020204030204" pitchFamily="34" charset="0"/>
              </a:rPr>
              <a:t>Update existing reports to include USP sales for BA</a:t>
            </a:r>
          </a:p>
          <a:p>
            <a:pPr>
              <a:buFont typeface="Wingdings" panose="05000000000000000000" pitchFamily="2" charset="2"/>
              <a:buChar char="§"/>
            </a:pPr>
            <a:r>
              <a:rPr lang="en-US" sz="1200" dirty="0" err="1">
                <a:latin typeface="Calibri" panose="020F0502020204030204" pitchFamily="34" charset="0"/>
                <a:ea typeface="Calibri" panose="020F0502020204030204" pitchFamily="34" charset="0"/>
              </a:rPr>
              <a:t>MyIncentive</a:t>
            </a:r>
            <a:r>
              <a:rPr lang="en-US" sz="1200" dirty="0">
                <a:latin typeface="Calibri" panose="020F0502020204030204" pitchFamily="34" charset="0"/>
                <a:ea typeface="Calibri" panose="020F0502020204030204" pitchFamily="34" charset="0"/>
              </a:rPr>
              <a:t> Compensation System was used to calculate the compensation for internal sales staff for USP as well, and it follows the existing manual processes that is currently in place for UNET implementation</a:t>
            </a:r>
          </a:p>
          <a:p>
            <a:pPr>
              <a:buFont typeface="Wingdings" panose="05000000000000000000" pitchFamily="2" charset="2"/>
              <a:buChar char="§"/>
            </a:pPr>
            <a:endParaRPr lang="en-US" sz="1200" dirty="0">
              <a:latin typeface="Calibri" panose="020F0502020204030204" pitchFamily="34" charset="0"/>
              <a:ea typeface="Calibri" panose="020F0502020204030204" pitchFamily="34" charset="0"/>
            </a:endParaRPr>
          </a:p>
          <a:p>
            <a:pPr>
              <a:buFont typeface="Wingdings" panose="05000000000000000000" pitchFamily="2" charset="2"/>
              <a:buChar char="§"/>
            </a:pPr>
            <a:r>
              <a:rPr lang="en-US" sz="1200" b="1" dirty="0">
                <a:latin typeface="Calibri" panose="020F0502020204030204" pitchFamily="34" charset="0"/>
                <a:ea typeface="Calibri" panose="020F0502020204030204" pitchFamily="34" charset="0"/>
              </a:rPr>
              <a:t>Note</a:t>
            </a:r>
            <a:r>
              <a:rPr lang="en-US" sz="1200" dirty="0">
                <a:latin typeface="Calibri" panose="020F0502020204030204" pitchFamily="34" charset="0"/>
                <a:ea typeface="Calibri" panose="020F0502020204030204" pitchFamily="34" charset="0"/>
              </a:rPr>
              <a:t> : need to validate the current state process with the Business contact supporting internal sales compensation for BA.</a:t>
            </a:r>
          </a:p>
          <a:p>
            <a:pPr marL="452390" lvl="1" indent="-285750"/>
            <a:endParaRPr lang="en-US" sz="1400" b="1" dirty="0">
              <a:ea typeface="+mn-lt"/>
              <a:cs typeface="+mn-lt"/>
            </a:endParaRPr>
          </a:p>
          <a:p>
            <a:pPr marL="166640" lvl="1" indent="0">
              <a:buNone/>
            </a:pPr>
            <a:endParaRPr lang="en-US" sz="600" b="1" dirty="0">
              <a:ea typeface="+mn-lt"/>
              <a:cs typeface="+mn-lt"/>
            </a:endParaRPr>
          </a:p>
          <a:p>
            <a:pPr marL="166640" lvl="1" indent="0">
              <a:buNone/>
            </a:pPr>
            <a:endParaRPr lang="en-US" sz="1200" b="1" dirty="0">
              <a:ea typeface="+mn-lt"/>
              <a:cs typeface="+mn-lt"/>
            </a:endParaRPr>
          </a:p>
          <a:p>
            <a:pPr marL="338090" lvl="1" indent="-171450">
              <a:buFontTx/>
              <a:buChar char="-"/>
            </a:pPr>
            <a:endParaRPr lang="en-US" sz="800" dirty="0">
              <a:cs typeface="Arial"/>
            </a:endParaRPr>
          </a:p>
        </p:txBody>
      </p:sp>
      <p:sp>
        <p:nvSpPr>
          <p:cNvPr id="3" name="Slide Number Placeholder 2">
            <a:extLst>
              <a:ext uri="{FF2B5EF4-FFF2-40B4-BE49-F238E27FC236}">
                <a16:creationId xmlns:a16="http://schemas.microsoft.com/office/drawing/2014/main" id="{FA9ABF99-5DB3-49CC-8CB1-F5C887616983}"/>
              </a:ext>
            </a:extLst>
          </p:cNvPr>
          <p:cNvSpPr>
            <a:spLocks noGrp="1"/>
          </p:cNvSpPr>
          <p:nvPr>
            <p:ph type="sldNum" sz="quarter" idx="12"/>
          </p:nvPr>
        </p:nvSpPr>
        <p:spPr/>
        <p:txBody>
          <a:bodyPr/>
          <a:lstStyle/>
          <a:p>
            <a:pPr defTabSz="914171"/>
            <a:fld id="{90F9BDA0-AF0E-4BA8-B742-3B9C92A3E6FE}" type="slidenum">
              <a:rPr lang="en-US">
                <a:solidFill>
                  <a:srgbClr val="8C9599"/>
                </a:solidFill>
                <a:latin typeface="Arial"/>
              </a:rPr>
              <a:pPr defTabSz="914171"/>
              <a:t>25</a:t>
            </a:fld>
            <a:endParaRPr lang="en-US">
              <a:solidFill>
                <a:srgbClr val="8C9599"/>
              </a:solidFill>
              <a:latin typeface="Arial"/>
            </a:endParaRPr>
          </a:p>
        </p:txBody>
      </p:sp>
      <p:sp>
        <p:nvSpPr>
          <p:cNvPr id="4" name="Title 3">
            <a:extLst>
              <a:ext uri="{FF2B5EF4-FFF2-40B4-BE49-F238E27FC236}">
                <a16:creationId xmlns:a16="http://schemas.microsoft.com/office/drawing/2014/main" id="{27A650EE-D079-423C-AA95-7554C6B87124}"/>
              </a:ext>
            </a:extLst>
          </p:cNvPr>
          <p:cNvSpPr>
            <a:spLocks noGrp="1"/>
          </p:cNvSpPr>
          <p:nvPr>
            <p:ph type="title"/>
          </p:nvPr>
        </p:nvSpPr>
        <p:spPr/>
        <p:txBody>
          <a:bodyPr>
            <a:normAutofit fontScale="90000"/>
          </a:bodyPr>
          <a:lstStyle/>
          <a:p>
            <a:r>
              <a:rPr lang="en-US" sz="2000" b="1">
                <a:solidFill>
                  <a:schemeClr val="accent1"/>
                </a:solidFill>
              </a:rPr>
              <a:t>C101747 &amp; C101748</a:t>
            </a:r>
            <a:r>
              <a:rPr lang="en-US" sz="2000"/>
              <a:t>– Dependencies &amp; Assumptions</a:t>
            </a:r>
          </a:p>
        </p:txBody>
      </p:sp>
      <p:sp>
        <p:nvSpPr>
          <p:cNvPr id="5" name="Rectangle 4">
            <a:extLst>
              <a:ext uri="{FF2B5EF4-FFF2-40B4-BE49-F238E27FC236}">
                <a16:creationId xmlns:a16="http://schemas.microsoft.com/office/drawing/2014/main" id="{5DC8437F-475D-41CB-87D4-D253A5645297}"/>
              </a:ext>
            </a:extLst>
          </p:cNvPr>
          <p:cNvSpPr/>
          <p:nvPr/>
        </p:nvSpPr>
        <p:spPr>
          <a:xfrm>
            <a:off x="6301505" y="285106"/>
            <a:ext cx="1056652" cy="400085"/>
          </a:xfrm>
          <a:prstGeom prst="rect">
            <a:avLst/>
          </a:prstGeom>
          <a:noFill/>
        </p:spPr>
        <p:txBody>
          <a:bodyPr wrap="none" lIns="91416" tIns="45708" rIns="91416" bIns="45708">
            <a:spAutoFit/>
          </a:bodyPr>
          <a:lstStyle/>
          <a:p>
            <a:pPr algn="ctr" defTabSz="914171"/>
            <a:r>
              <a:rPr lang="en-US" sz="2000" b="1">
                <a:ln w="12700" cmpd="sng">
                  <a:solidFill>
                    <a:srgbClr val="9521AD"/>
                  </a:solidFill>
                  <a:prstDash val="solid"/>
                </a:ln>
                <a:gradFill>
                  <a:gsLst>
                    <a:gs pos="0">
                      <a:srgbClr val="9521AD"/>
                    </a:gs>
                    <a:gs pos="4000">
                      <a:srgbClr val="9521AD">
                        <a:lumMod val="60000"/>
                        <a:lumOff val="40000"/>
                      </a:srgbClr>
                    </a:gs>
                    <a:gs pos="87000">
                      <a:srgbClr val="9521AD">
                        <a:lumMod val="20000"/>
                        <a:lumOff val="80000"/>
                      </a:srgbClr>
                    </a:gs>
                  </a:gsLst>
                  <a:lin ang="5400000"/>
                </a:gradFill>
                <a:latin typeface="Arial"/>
              </a:rPr>
              <a:t>DRAFT</a:t>
            </a:r>
          </a:p>
        </p:txBody>
      </p:sp>
    </p:spTree>
    <p:extLst>
      <p:ext uri="{BB962C8B-B14F-4D97-AF65-F5344CB8AC3E}">
        <p14:creationId xmlns:p14="http://schemas.microsoft.com/office/powerpoint/2010/main" val="3710070865"/>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CC6A7-9247-1ED5-66A7-5BEFAE797C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BAF06D-AAAD-E600-E17E-3A7409932576}"/>
              </a:ext>
            </a:extLst>
          </p:cNvPr>
          <p:cNvSpPr>
            <a:spLocks noGrp="1"/>
          </p:cNvSpPr>
          <p:nvPr>
            <p:ph type="ctrTitle"/>
          </p:nvPr>
        </p:nvSpPr>
        <p:spPr>
          <a:xfrm>
            <a:off x="3993414" y="1602831"/>
            <a:ext cx="4762043" cy="1102519"/>
          </a:xfrm>
        </p:spPr>
        <p:txBody>
          <a:bodyPr/>
          <a:lstStyle/>
          <a:p>
            <a:r>
              <a:rPr lang="en-US" sz="2000" b="1" spc="-51">
                <a:solidFill>
                  <a:schemeClr val="tx1">
                    <a:lumMod val="50000"/>
                  </a:schemeClr>
                </a:solidFill>
                <a:latin typeface="+mj-lt"/>
                <a:ea typeface="+mj-ea"/>
                <a:cs typeface="+mj-cs"/>
              </a:rPr>
              <a:t>Financial Management Product Family Capability :</a:t>
            </a:r>
            <a:br>
              <a:rPr lang="en-US" sz="2400" b="1" spc="-51">
                <a:solidFill>
                  <a:schemeClr val="tx1">
                    <a:lumMod val="50000"/>
                  </a:schemeClr>
                </a:solidFill>
                <a:latin typeface="+mj-lt"/>
                <a:ea typeface="+mj-ea"/>
                <a:cs typeface="+mj-cs"/>
              </a:rPr>
            </a:br>
            <a:br>
              <a:rPr lang="en-US" sz="2400" b="1" spc="-51">
                <a:solidFill>
                  <a:schemeClr val="tx1">
                    <a:lumMod val="50000"/>
                  </a:schemeClr>
                </a:solidFill>
                <a:latin typeface="+mj-lt"/>
                <a:ea typeface="+mj-ea"/>
                <a:cs typeface="+mj-cs"/>
              </a:rPr>
            </a:br>
            <a:r>
              <a:rPr lang="en-US" sz="1400">
                <a:solidFill>
                  <a:schemeClr val="accent2"/>
                </a:solidFill>
              </a:rPr>
              <a:t>Supplemental Health - Finance</a:t>
            </a:r>
            <a:br>
              <a:rPr lang="en-US" sz="2400" b="1" spc="-51">
                <a:solidFill>
                  <a:schemeClr val="tx1">
                    <a:lumMod val="50000"/>
                  </a:schemeClr>
                </a:solidFill>
                <a:latin typeface="+mj-lt"/>
                <a:ea typeface="+mj-ea"/>
                <a:cs typeface="+mj-cs"/>
              </a:rPr>
            </a:br>
            <a:r>
              <a:rPr lang="en-US" sz="1400"/>
              <a:t>Financial Accounting &amp; Reporting </a:t>
            </a:r>
            <a:r>
              <a:rPr lang="en-US" sz="1400" b="1">
                <a:solidFill>
                  <a:schemeClr val="accent1"/>
                </a:solidFill>
              </a:rPr>
              <a:t>- Large Group NB 51-99 </a:t>
            </a:r>
            <a:endParaRPr lang="en-US" sz="1400" b="1" spc="-51">
              <a:solidFill>
                <a:schemeClr val="tx1">
                  <a:lumMod val="50000"/>
                </a:schemeClr>
              </a:solidFill>
              <a:latin typeface="+mj-lt"/>
              <a:ea typeface="+mj-ea"/>
              <a:cs typeface="+mj-cs"/>
            </a:endParaRPr>
          </a:p>
        </p:txBody>
      </p:sp>
    </p:spTree>
    <p:extLst>
      <p:ext uri="{BB962C8B-B14F-4D97-AF65-F5344CB8AC3E}">
        <p14:creationId xmlns:p14="http://schemas.microsoft.com/office/powerpoint/2010/main" val="2328359607"/>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0E3A9D-4B19-7805-B296-65D65085FC7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E127FDD-7115-74C3-C6E3-7E0BA38AE01E}"/>
              </a:ext>
            </a:extLst>
          </p:cNvPr>
          <p:cNvSpPr txBox="1"/>
          <p:nvPr/>
        </p:nvSpPr>
        <p:spPr>
          <a:xfrm>
            <a:off x="850739" y="4635661"/>
            <a:ext cx="2239701" cy="300082"/>
          </a:xfrm>
          <a:prstGeom prst="rect">
            <a:avLst/>
          </a:prstGeom>
          <a:solidFill>
            <a:schemeClr val="bg1"/>
          </a:solidFill>
        </p:spPr>
        <p:txBody>
          <a:bodyPr wrap="square" rtlCol="0">
            <a:spAutoFit/>
          </a:bodyPr>
          <a:lstStyle/>
          <a:p>
            <a:endParaRPr lang="en-US" sz="1350"/>
          </a:p>
        </p:txBody>
      </p:sp>
      <p:sp>
        <p:nvSpPr>
          <p:cNvPr id="2" name="Title 1">
            <a:extLst>
              <a:ext uri="{FF2B5EF4-FFF2-40B4-BE49-F238E27FC236}">
                <a16:creationId xmlns:a16="http://schemas.microsoft.com/office/drawing/2014/main" id="{6BFAFFF1-0FE8-0E9C-AE83-66AB3991048F}"/>
              </a:ext>
            </a:extLst>
          </p:cNvPr>
          <p:cNvSpPr>
            <a:spLocks noGrp="1"/>
          </p:cNvSpPr>
          <p:nvPr>
            <p:ph type="title"/>
          </p:nvPr>
        </p:nvSpPr>
        <p:spPr>
          <a:xfrm>
            <a:off x="295836" y="80683"/>
            <a:ext cx="7260336" cy="549381"/>
          </a:xfrm>
        </p:spPr>
        <p:txBody>
          <a:bodyPr>
            <a:noAutofit/>
          </a:bodyPr>
          <a:lstStyle/>
          <a:p>
            <a:r>
              <a:rPr lang="en-US" sz="2000"/>
              <a:t>Phase 2 - BA FI 51-99 - High Level requirements for Finance</a:t>
            </a:r>
          </a:p>
        </p:txBody>
      </p:sp>
      <p:graphicFrame>
        <p:nvGraphicFramePr>
          <p:cNvPr id="8" name="Table 7">
            <a:extLst>
              <a:ext uri="{FF2B5EF4-FFF2-40B4-BE49-F238E27FC236}">
                <a16:creationId xmlns:a16="http://schemas.microsoft.com/office/drawing/2014/main" id="{FA181819-0ABA-F4C6-17E4-E785AB750BD5}"/>
              </a:ext>
            </a:extLst>
          </p:cNvPr>
          <p:cNvGraphicFramePr>
            <a:graphicFrameLocks noGrp="1"/>
          </p:cNvGraphicFramePr>
          <p:nvPr>
            <p:extLst>
              <p:ext uri="{D42A27DB-BD31-4B8C-83A1-F6EECF244321}">
                <p14:modId xmlns:p14="http://schemas.microsoft.com/office/powerpoint/2010/main" val="700377467"/>
              </p:ext>
            </p:extLst>
          </p:nvPr>
        </p:nvGraphicFramePr>
        <p:xfrm>
          <a:off x="295836" y="783122"/>
          <a:ext cx="8731624" cy="961570"/>
        </p:xfrm>
        <a:graphic>
          <a:graphicData uri="http://schemas.openxmlformats.org/drawingml/2006/table">
            <a:tbl>
              <a:tblPr/>
              <a:tblGrid>
                <a:gridCol w="1008970">
                  <a:extLst>
                    <a:ext uri="{9D8B030D-6E8A-4147-A177-3AD203B41FA5}">
                      <a16:colId xmlns:a16="http://schemas.microsoft.com/office/drawing/2014/main" val="1962179033"/>
                    </a:ext>
                  </a:extLst>
                </a:gridCol>
                <a:gridCol w="4147414">
                  <a:extLst>
                    <a:ext uri="{9D8B030D-6E8A-4147-A177-3AD203B41FA5}">
                      <a16:colId xmlns:a16="http://schemas.microsoft.com/office/drawing/2014/main" val="130540882"/>
                    </a:ext>
                  </a:extLst>
                </a:gridCol>
                <a:gridCol w="2050824">
                  <a:extLst>
                    <a:ext uri="{9D8B030D-6E8A-4147-A177-3AD203B41FA5}">
                      <a16:colId xmlns:a16="http://schemas.microsoft.com/office/drawing/2014/main" val="751610378"/>
                    </a:ext>
                  </a:extLst>
                </a:gridCol>
                <a:gridCol w="744232">
                  <a:extLst>
                    <a:ext uri="{9D8B030D-6E8A-4147-A177-3AD203B41FA5}">
                      <a16:colId xmlns:a16="http://schemas.microsoft.com/office/drawing/2014/main" val="2701245817"/>
                    </a:ext>
                  </a:extLst>
                </a:gridCol>
                <a:gridCol w="780184">
                  <a:extLst>
                    <a:ext uri="{9D8B030D-6E8A-4147-A177-3AD203B41FA5}">
                      <a16:colId xmlns:a16="http://schemas.microsoft.com/office/drawing/2014/main" val="1145494209"/>
                    </a:ext>
                  </a:extLst>
                </a:gridCol>
              </a:tblGrid>
              <a:tr h="137885">
                <a:tc>
                  <a:txBody>
                    <a:bodyPr/>
                    <a:lstStyle/>
                    <a:p>
                      <a:pPr algn="ctr" fontAlgn="b"/>
                      <a:r>
                        <a:rPr lang="en-US" sz="900" b="1" i="0" u="none" strike="noStrike">
                          <a:solidFill>
                            <a:srgbClr val="FFFFFF"/>
                          </a:solidFill>
                          <a:effectLst/>
                          <a:latin typeface="Calibri" panose="020F0502020204030204" pitchFamily="34" charset="0"/>
                        </a:rPr>
                        <a:t>Name</a:t>
                      </a:r>
                    </a:p>
                  </a:txBody>
                  <a:tcPr marL="725" marR="725" marT="7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en-US" sz="900" b="1" i="0" u="none" strike="noStrike">
                          <a:solidFill>
                            <a:srgbClr val="FFFFFF"/>
                          </a:solidFill>
                          <a:effectLst/>
                          <a:latin typeface="Calibri" panose="020F0502020204030204" pitchFamily="34" charset="0"/>
                        </a:rPr>
                        <a:t>Functionality Required</a:t>
                      </a:r>
                    </a:p>
                  </a:txBody>
                  <a:tcPr marL="725" marR="725" marT="7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en-US" sz="900" b="1" i="0" u="none" strike="noStrike">
                          <a:solidFill>
                            <a:srgbClr val="FFFFFF"/>
                          </a:solidFill>
                          <a:effectLst/>
                          <a:latin typeface="Calibri" panose="020F0502020204030204" pitchFamily="34" charset="0"/>
                        </a:rPr>
                        <a:t>In Scope</a:t>
                      </a:r>
                    </a:p>
                  </a:txBody>
                  <a:tcPr marL="725" marR="725" marT="7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en-US" sz="900" b="1" i="0" u="none" strike="noStrike">
                          <a:solidFill>
                            <a:srgbClr val="FFFFFF"/>
                          </a:solidFill>
                          <a:effectLst/>
                          <a:latin typeface="Calibri" panose="020F0502020204030204" pitchFamily="34" charset="0"/>
                        </a:rPr>
                        <a:t>Out of Scope</a:t>
                      </a:r>
                    </a:p>
                  </a:txBody>
                  <a:tcPr marL="725" marR="725" marT="7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en-US" sz="900" b="1" i="0" u="none" strike="noStrike">
                          <a:solidFill>
                            <a:srgbClr val="FFFFFF"/>
                          </a:solidFill>
                          <a:effectLst/>
                          <a:latin typeface="Calibri" panose="020F0502020204030204" pitchFamily="34" charset="0"/>
                        </a:rPr>
                        <a:t>Team</a:t>
                      </a:r>
                    </a:p>
                  </a:txBody>
                  <a:tcPr marL="725" marR="725" marT="7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1836913942"/>
                  </a:ext>
                </a:extLst>
              </a:tr>
              <a:tr h="823685">
                <a:tc>
                  <a:txBody>
                    <a:bodyPr/>
                    <a:lstStyle/>
                    <a:p>
                      <a:pPr algn="ctr" fontAlgn="t"/>
                      <a:r>
                        <a:rPr lang="en-US" sz="900" b="1" i="0" u="none" strike="noStrike">
                          <a:solidFill>
                            <a:srgbClr val="000000"/>
                          </a:solidFill>
                          <a:effectLst/>
                          <a:latin typeface="Calibri" panose="020F0502020204030204" pitchFamily="34" charset="0"/>
                        </a:rPr>
                        <a:t>Supplemental Health Finance</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Calibri" panose="020F0502020204030204" pitchFamily="34" charset="0"/>
                        </a:rPr>
                        <a:t>Ensure that we create the appropriate supplemental health financial structure to book revenue;  there are three bill item types that can be booked by the Supplemental Health Finance team and be able to book revenue across multiple licenses (financial tagging). Cirrus sends the member counts for FPP and we need to include the BA member counts there is separate financial protection extract process for accounting.</a:t>
                      </a:r>
                    </a:p>
                    <a:p>
                      <a:pPr algn="l" fontAlgn="t"/>
                      <a:endParaRPr lang="en-US" sz="900" b="0" i="0" u="none" strike="noStrike">
                        <a:solidFill>
                          <a:srgbClr val="000000"/>
                        </a:solidFill>
                        <a:effectLst/>
                        <a:latin typeface="Calibri" panose="020F0502020204030204" pitchFamily="34" charset="0"/>
                      </a:endParaRP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900" b="0" i="0" u="none" strike="noStrike">
                          <a:solidFill>
                            <a:srgbClr val="000000"/>
                          </a:solidFill>
                          <a:effectLst/>
                          <a:latin typeface="Calibri" panose="020F0502020204030204" pitchFamily="34" charset="0"/>
                        </a:rPr>
                        <a:t>AK, AL, AR, AZ, DC, DE, FL, GA, HI, IA, ID, IL, IN, KS, KY, LA, MA, MD, ME, MI, MN, MO, MS, MT, NC, ND, NE, NH, NJ, NV, OH, OK, OR, PA, RI, SC, SD, TN, TX, UT, VA, WA, WI, WV, WY, </a:t>
                      </a:r>
                      <a:r>
                        <a:rPr lang="en-US" sz="800" b="0" i="0" u="none" strike="noStrike" kern="1200">
                          <a:solidFill>
                            <a:srgbClr val="000000"/>
                          </a:solidFill>
                          <a:effectLst/>
                          <a:latin typeface="Calibri" panose="020F0502020204030204" pitchFamily="34" charset="0"/>
                          <a:ea typeface="+mn-ea"/>
                          <a:cs typeface="+mn-cs"/>
                        </a:rPr>
                        <a:t>CO</a:t>
                      </a:r>
                      <a:br>
                        <a:rPr lang="en-US" sz="900" b="0" i="0" u="none" strike="noStrike">
                          <a:solidFill>
                            <a:srgbClr val="000000"/>
                          </a:solidFill>
                          <a:effectLst/>
                          <a:latin typeface="Calibri" panose="020F0502020204030204" pitchFamily="34" charset="0"/>
                        </a:rPr>
                      </a:br>
                      <a:r>
                        <a:rPr lang="en-US" sz="900" b="0" i="0" u="none" strike="noStrike">
                          <a:solidFill>
                            <a:srgbClr val="000000"/>
                          </a:solidFill>
                          <a:effectLst/>
                          <a:latin typeface="Calibri" panose="020F0502020204030204" pitchFamily="34" charset="0"/>
                        </a:rPr>
                        <a:t>Oxford Markets: NJ</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nn-NO" sz="900" b="0" i="0" u="none" strike="noStrike">
                          <a:solidFill>
                            <a:srgbClr val="000000"/>
                          </a:solidFill>
                          <a:effectLst/>
                          <a:latin typeface="Calibri" panose="020F0502020204030204" pitchFamily="34" charset="0"/>
                        </a:rPr>
                        <a:t>NM, CT, VT, CA, NY</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900" b="0" i="0" u="none" strike="noStrike">
                          <a:solidFill>
                            <a:srgbClr val="000000"/>
                          </a:solidFill>
                          <a:effectLst/>
                          <a:latin typeface="Calibri" panose="020F0502020204030204" pitchFamily="34" charset="0"/>
                        </a:rPr>
                        <a:t>Sara Swenson</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59007320"/>
                  </a:ext>
                </a:extLst>
              </a:tr>
            </a:tbl>
          </a:graphicData>
        </a:graphic>
      </p:graphicFrame>
    </p:spTree>
    <p:extLst>
      <p:ext uri="{BB962C8B-B14F-4D97-AF65-F5344CB8AC3E}">
        <p14:creationId xmlns:p14="http://schemas.microsoft.com/office/powerpoint/2010/main" val="26497835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AAB550-29F1-3066-9449-2270BE18B6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59F2E8-F36E-FF54-D4EE-EC8519D42FBD}"/>
              </a:ext>
            </a:extLst>
          </p:cNvPr>
          <p:cNvSpPr>
            <a:spLocks noGrp="1"/>
          </p:cNvSpPr>
          <p:nvPr>
            <p:ph type="title"/>
          </p:nvPr>
        </p:nvSpPr>
        <p:spPr>
          <a:xfrm>
            <a:off x="302004" y="70860"/>
            <a:ext cx="7127496" cy="693525"/>
          </a:xfrm>
        </p:spPr>
        <p:txBody>
          <a:bodyPr>
            <a:normAutofit fontScale="90000"/>
          </a:bodyPr>
          <a:lstStyle/>
          <a:p>
            <a:r>
              <a:rPr lang="en-US" sz="1800" dirty="0"/>
              <a:t>High Level E2E Architecture – Financial Accounting &amp; Reporting</a:t>
            </a:r>
            <a:br>
              <a:rPr lang="en-US" sz="2000" dirty="0"/>
            </a:br>
            <a:r>
              <a:rPr lang="en-US" sz="1600" dirty="0"/>
              <a:t>(Current State)</a:t>
            </a:r>
          </a:p>
        </p:txBody>
      </p:sp>
      <p:pic>
        <p:nvPicPr>
          <p:cNvPr id="5" name="Picture 4">
            <a:extLst>
              <a:ext uri="{FF2B5EF4-FFF2-40B4-BE49-F238E27FC236}">
                <a16:creationId xmlns:a16="http://schemas.microsoft.com/office/drawing/2014/main" id="{5174D628-AFC7-2D57-242A-4E181159ED6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04657" y="764385"/>
            <a:ext cx="8597152" cy="4193096"/>
          </a:xfrm>
          <a:prstGeom prst="rect">
            <a:avLst/>
          </a:prstGeom>
        </p:spPr>
      </p:pic>
      <p:sp>
        <p:nvSpPr>
          <p:cNvPr id="7" name="Rectangle 6">
            <a:extLst>
              <a:ext uri="{FF2B5EF4-FFF2-40B4-BE49-F238E27FC236}">
                <a16:creationId xmlns:a16="http://schemas.microsoft.com/office/drawing/2014/main" id="{A00AE321-C4DC-893E-4A81-C2D755C66EE3}"/>
              </a:ext>
            </a:extLst>
          </p:cNvPr>
          <p:cNvSpPr/>
          <p:nvPr/>
        </p:nvSpPr>
        <p:spPr>
          <a:xfrm>
            <a:off x="7997653" y="0"/>
            <a:ext cx="1056700" cy="400110"/>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w="12700" cmpd="sng">
                  <a:solidFill>
                    <a:srgbClr val="9521AD"/>
                  </a:solidFill>
                  <a:prstDash val="solid"/>
                </a:ln>
                <a:gradFill>
                  <a:gsLst>
                    <a:gs pos="0">
                      <a:srgbClr val="9521AD"/>
                    </a:gs>
                    <a:gs pos="4000">
                      <a:srgbClr val="9521AD">
                        <a:lumMod val="60000"/>
                        <a:lumOff val="40000"/>
                      </a:srgbClr>
                    </a:gs>
                    <a:gs pos="87000">
                      <a:srgbClr val="9521AD">
                        <a:lumMod val="20000"/>
                        <a:lumOff val="80000"/>
                      </a:srgbClr>
                    </a:gs>
                  </a:gsLst>
                  <a:lin ang="5400000"/>
                </a:gradFill>
                <a:effectLst/>
                <a:uLnTx/>
                <a:uFillTx/>
                <a:latin typeface="Arial"/>
                <a:ea typeface="+mn-ea"/>
                <a:cs typeface="+mn-cs"/>
              </a:rPr>
              <a:t>DRAFT</a:t>
            </a:r>
          </a:p>
        </p:txBody>
      </p:sp>
      <p:sp>
        <p:nvSpPr>
          <p:cNvPr id="3" name="Oval 2">
            <a:extLst>
              <a:ext uri="{FF2B5EF4-FFF2-40B4-BE49-F238E27FC236}">
                <a16:creationId xmlns:a16="http://schemas.microsoft.com/office/drawing/2014/main" id="{4595F5B6-52E7-FF1B-215B-9371414471FB}"/>
              </a:ext>
            </a:extLst>
          </p:cNvPr>
          <p:cNvSpPr/>
          <p:nvPr/>
        </p:nvSpPr>
        <p:spPr>
          <a:xfrm>
            <a:off x="6531677" y="2250143"/>
            <a:ext cx="2107666" cy="1470211"/>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65993121"/>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2B164-D9C5-9EC2-9F0A-801108D6D28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FD025E4-5C93-2053-378C-810F50033C64}"/>
              </a:ext>
            </a:extLst>
          </p:cNvPr>
          <p:cNvSpPr>
            <a:spLocks noGrp="1"/>
          </p:cNvSpPr>
          <p:nvPr>
            <p:ph idx="1"/>
          </p:nvPr>
        </p:nvSpPr>
        <p:spPr>
          <a:xfrm>
            <a:off x="244550" y="747169"/>
            <a:ext cx="8742432" cy="4037267"/>
          </a:xfrm>
        </p:spPr>
        <p:txBody>
          <a:bodyPr vert="horz" lIns="91440" tIns="45720" rIns="91440" bIns="45720" rtlCol="0" anchor="t">
            <a:noAutofit/>
          </a:bodyPr>
          <a:lstStyle/>
          <a:p>
            <a:pPr marL="0" indent="0">
              <a:buNone/>
            </a:pPr>
            <a:r>
              <a:rPr lang="en-US" sz="1200" b="1" dirty="0"/>
              <a:t>Financial Accounting &amp; Reporting: </a:t>
            </a:r>
            <a:r>
              <a:rPr lang="en-US" sz="1200" b="1" dirty="0">
                <a:solidFill>
                  <a:srgbClr val="000000"/>
                </a:solidFill>
                <a:latin typeface="Calibri" panose="020F0502020204030204" pitchFamily="34" charset="0"/>
              </a:rPr>
              <a:t>Supplemental Health Finance</a:t>
            </a:r>
          </a:p>
          <a:p>
            <a:pPr marL="0" indent="0">
              <a:buNone/>
            </a:pPr>
            <a:endParaRPr lang="en-US" sz="1200" b="1" dirty="0"/>
          </a:p>
          <a:p>
            <a:pPr marL="0" indent="0">
              <a:buNone/>
            </a:pPr>
            <a:r>
              <a:rPr lang="en-US" sz="1200" b="1" dirty="0"/>
              <a:t>Cirrus:</a:t>
            </a:r>
            <a:endParaRPr lang="en-US" sz="800" dirty="0">
              <a:effectLst/>
              <a:latin typeface="Calibri" panose="020F0502020204030204" pitchFamily="34" charset="0"/>
              <a:ea typeface="Calibri" panose="020F0502020204030204" pitchFamily="34" charset="0"/>
            </a:endParaRPr>
          </a:p>
          <a:p>
            <a:pPr>
              <a:spcAft>
                <a:spcPts val="0"/>
              </a:spcAft>
              <a:buFont typeface="Wingdings" panose="05000000000000000000" pitchFamily="2" charset="2"/>
              <a:buChar char="§"/>
            </a:pPr>
            <a:r>
              <a:rPr lang="en-US" sz="1200" dirty="0">
                <a:effectLst/>
                <a:latin typeface="Calibri" panose="020F0502020204030204" pitchFamily="34" charset="0"/>
                <a:ea typeface="Calibri" panose="020F0502020204030204" pitchFamily="34" charset="0"/>
              </a:rPr>
              <a:t>Cirrus has already made changes in past to implement  3 new bill item types and financial activity codes in Cirrus corresponding to 3 supplemental health insurance components, to support the financial accounting and reporting for BA UHF FI Oxford 100+, this same functionality and new bill item types and financial activity codes will be used for the rollout of BA to NB UHC FI &amp; Oxford 51-99 group</a:t>
            </a:r>
          </a:p>
          <a:p>
            <a:pPr>
              <a:spcAft>
                <a:spcPts val="0"/>
              </a:spcAft>
              <a:buFont typeface="Wingdings" panose="05000000000000000000" pitchFamily="2" charset="2"/>
              <a:buChar char="§"/>
            </a:pPr>
            <a:r>
              <a:rPr lang="en-US" sz="1200" dirty="0">
                <a:effectLst/>
                <a:latin typeface="Calibri" panose="020F0502020204030204" pitchFamily="34" charset="0"/>
                <a:ea typeface="Calibri" panose="020F0502020204030204" pitchFamily="34" charset="0"/>
              </a:rPr>
              <a:t>Cirrus has already made necessary changes to setup financial tagging rules and to do the financial tagging for BA charges and flows this info down to Cirrus PCMT &amp; FTS via UDW</a:t>
            </a:r>
          </a:p>
          <a:p>
            <a:pPr>
              <a:spcAft>
                <a:spcPts val="0"/>
              </a:spcAft>
              <a:buFont typeface="Wingdings" panose="05000000000000000000" pitchFamily="2" charset="2"/>
              <a:buChar char="Ø"/>
            </a:pPr>
            <a:endParaRPr lang="en-US" sz="800" dirty="0">
              <a:latin typeface="Calibri" panose="020F0502020204030204" pitchFamily="34" charset="0"/>
              <a:ea typeface="Calibri" panose="020F0502020204030204" pitchFamily="34" charset="0"/>
            </a:endParaRPr>
          </a:p>
          <a:p>
            <a:pPr marL="0" indent="0">
              <a:spcAft>
                <a:spcPts val="0"/>
              </a:spcAft>
              <a:buNone/>
            </a:pPr>
            <a:r>
              <a:rPr lang="en-US" sz="1200" b="1" dirty="0">
                <a:effectLst/>
                <a:latin typeface="Calibri" panose="020F0502020204030204" pitchFamily="34" charset="0"/>
                <a:ea typeface="Calibri" panose="020F0502020204030204" pitchFamily="34" charset="0"/>
              </a:rPr>
              <a:t>PCMT Extract:</a:t>
            </a:r>
          </a:p>
          <a:p>
            <a:pPr marL="0" indent="0">
              <a:spcAft>
                <a:spcPts val="0"/>
              </a:spcAft>
              <a:buNone/>
            </a:pPr>
            <a:endParaRPr lang="en-US" sz="800" dirty="0">
              <a:effectLst/>
              <a:latin typeface="Calibri" panose="020F0502020204030204" pitchFamily="34" charset="0"/>
              <a:ea typeface="Calibri" panose="020F0502020204030204" pitchFamily="34" charset="0"/>
            </a:endParaRPr>
          </a:p>
          <a:p>
            <a:pPr>
              <a:spcAft>
                <a:spcPts val="0"/>
              </a:spcAft>
              <a:buFont typeface="Wingdings" panose="05000000000000000000" pitchFamily="2" charset="2"/>
              <a:buChar char="§"/>
            </a:pPr>
            <a:r>
              <a:rPr lang="en-US" sz="1200" dirty="0">
                <a:latin typeface="Calibri" panose="020F0502020204030204" pitchFamily="34" charset="0"/>
                <a:ea typeface="Calibri" panose="020F0502020204030204" pitchFamily="34" charset="0"/>
              </a:rPr>
              <a:t>We need to verify and test the changes that were made in past to implement new bill item type, financial activity code and financial tagging rules for UHC FI Oxford 100+ will also work for the NB UHC FI &amp; Oxford 51-99 group size, by running the PCMT extract process in lower environment via UDW and loading the file in FTS and verifying the flow of data to downstream financial systems like FSDB , PS GL etc.</a:t>
            </a:r>
            <a:endParaRPr lang="en-US" sz="1200" dirty="0">
              <a:effectLst/>
              <a:latin typeface="Calibri" panose="020F0502020204030204" pitchFamily="34" charset="0"/>
              <a:ea typeface="Calibri" panose="020F0502020204030204" pitchFamily="34" charset="0"/>
            </a:endParaRPr>
          </a:p>
          <a:p>
            <a:pPr marR="0">
              <a:spcBef>
                <a:spcPts val="0"/>
              </a:spcBef>
              <a:spcAft>
                <a:spcPts val="0"/>
              </a:spcAft>
              <a:buFontTx/>
              <a:buChar char="-"/>
            </a:pPr>
            <a:endParaRPr lang="en-US" sz="1200" dirty="0">
              <a:latin typeface="Calibri" panose="020F0502020204030204" pitchFamily="34" charset="0"/>
              <a:ea typeface="Calibri" panose="020F0502020204030204" pitchFamily="34" charset="0"/>
            </a:endParaRPr>
          </a:p>
          <a:p>
            <a:pPr marL="0" marR="0" indent="0">
              <a:spcBef>
                <a:spcPts val="0"/>
              </a:spcBef>
              <a:spcAft>
                <a:spcPts val="0"/>
              </a:spcAft>
              <a:buNone/>
            </a:pPr>
            <a:r>
              <a:rPr lang="en-US" sz="1200" b="1" dirty="0">
                <a:latin typeface="Calibri" panose="020F0502020204030204" pitchFamily="34" charset="0"/>
                <a:ea typeface="Calibri" panose="020F0502020204030204" pitchFamily="34" charset="0"/>
              </a:rPr>
              <a:t>Note</a:t>
            </a:r>
            <a:r>
              <a:rPr lang="en-US" sz="1200" dirty="0">
                <a:latin typeface="Calibri" panose="020F0502020204030204" pitchFamily="34" charset="0"/>
                <a:ea typeface="Calibri" panose="020F0502020204030204" pitchFamily="34" charset="0"/>
              </a:rPr>
              <a:t>: the premium from BA are excluded from the premiums book for medical and this is done in BRMS reporting.</a:t>
            </a:r>
          </a:p>
          <a:p>
            <a:pPr marL="0" marR="0" indent="0">
              <a:spcBef>
                <a:spcPts val="0"/>
              </a:spcBef>
              <a:spcAft>
                <a:spcPts val="0"/>
              </a:spcAft>
              <a:buNone/>
            </a:pPr>
            <a:r>
              <a:rPr lang="en-US" sz="1200" dirty="0">
                <a:latin typeface="Calibri" panose="020F0502020204030204" pitchFamily="34" charset="0"/>
                <a:ea typeface="Calibri" panose="020F0502020204030204" pitchFamily="34" charset="0"/>
              </a:rPr>
              <a:t>We need to verify if there is any manual Supplemental Health Finance reporting or reconciliation that is happening and determine if the current process will support the BA UHC FI &amp; Oxford 51-99 group size as well.</a:t>
            </a:r>
          </a:p>
          <a:p>
            <a:pPr marR="0">
              <a:spcBef>
                <a:spcPts val="0"/>
              </a:spcBef>
              <a:spcAft>
                <a:spcPts val="0"/>
              </a:spcAft>
              <a:buFontTx/>
              <a:buChar char="-"/>
            </a:pPr>
            <a:endParaRPr lang="en-US" sz="1200" dirty="0">
              <a:effectLst/>
              <a:latin typeface="Calibri" panose="020F0502020204030204" pitchFamily="34" charset="0"/>
              <a:ea typeface="Calibri" panose="020F0502020204030204" pitchFamily="34" charset="0"/>
            </a:endParaRPr>
          </a:p>
          <a:p>
            <a:pPr marR="0">
              <a:spcBef>
                <a:spcPts val="0"/>
              </a:spcBef>
              <a:spcAft>
                <a:spcPts val="0"/>
              </a:spcAft>
              <a:buFontTx/>
              <a:buChar char="-"/>
            </a:pPr>
            <a:endParaRPr lang="en-US" sz="1200" dirty="0">
              <a:latin typeface="Calibri" panose="020F0502020204030204" pitchFamily="34" charset="0"/>
              <a:ea typeface="Calibri" panose="020F0502020204030204" pitchFamily="34" charset="0"/>
            </a:endParaRPr>
          </a:p>
          <a:p>
            <a:pPr marR="0">
              <a:spcBef>
                <a:spcPts val="0"/>
              </a:spcBef>
              <a:spcAft>
                <a:spcPts val="0"/>
              </a:spcAft>
              <a:buFontTx/>
              <a:buChar char="-"/>
            </a:pPr>
            <a:endParaRPr lang="en-US" sz="1200" dirty="0">
              <a:effectLst/>
              <a:latin typeface="Calibri" panose="020F0502020204030204" pitchFamily="34" charset="0"/>
              <a:ea typeface="Calibri" panose="020F0502020204030204" pitchFamily="34" charset="0"/>
            </a:endParaRPr>
          </a:p>
          <a:p>
            <a:pPr marR="0">
              <a:spcBef>
                <a:spcPts val="0"/>
              </a:spcBef>
              <a:spcAft>
                <a:spcPts val="0"/>
              </a:spcAft>
              <a:buFontTx/>
              <a:buChar char="-"/>
            </a:pPr>
            <a:endParaRPr lang="en-US" sz="1200" dirty="0">
              <a:latin typeface="Calibri" panose="020F0502020204030204" pitchFamily="34" charset="0"/>
              <a:ea typeface="Calibri" panose="020F0502020204030204" pitchFamily="34" charset="0"/>
            </a:endParaRPr>
          </a:p>
          <a:p>
            <a:pPr marR="0">
              <a:spcBef>
                <a:spcPts val="0"/>
              </a:spcBef>
              <a:spcAft>
                <a:spcPts val="0"/>
              </a:spcAft>
              <a:buFontTx/>
              <a:buChar char="-"/>
            </a:pPr>
            <a:endParaRPr lang="en-US" sz="1200" dirty="0">
              <a:effectLst/>
              <a:latin typeface="Calibri" panose="020F0502020204030204" pitchFamily="34" charset="0"/>
              <a:ea typeface="Calibri" panose="020F0502020204030204" pitchFamily="34" charset="0"/>
            </a:endParaRPr>
          </a:p>
          <a:p>
            <a:pPr marR="0">
              <a:spcBef>
                <a:spcPts val="0"/>
              </a:spcBef>
              <a:spcAft>
                <a:spcPts val="0"/>
              </a:spcAft>
              <a:buFontTx/>
              <a:buChar char="-"/>
            </a:pPr>
            <a:endParaRPr lang="en-US" sz="1200" dirty="0">
              <a:latin typeface="Calibri" panose="020F0502020204030204" pitchFamily="34" charset="0"/>
              <a:ea typeface="Calibri" panose="020F0502020204030204" pitchFamily="34" charset="0"/>
            </a:endParaRPr>
          </a:p>
          <a:p>
            <a:pPr marR="0">
              <a:spcBef>
                <a:spcPts val="0"/>
              </a:spcBef>
              <a:spcAft>
                <a:spcPts val="0"/>
              </a:spcAft>
              <a:buFontTx/>
              <a:buChar char="-"/>
            </a:pPr>
            <a:endParaRPr lang="en-US" sz="1200" dirty="0">
              <a:effectLst/>
              <a:latin typeface="Calibri" panose="020F0502020204030204" pitchFamily="34" charset="0"/>
              <a:ea typeface="Calibri" panose="020F0502020204030204" pitchFamily="34" charset="0"/>
            </a:endParaRPr>
          </a:p>
          <a:p>
            <a:pPr marR="0">
              <a:spcBef>
                <a:spcPts val="0"/>
              </a:spcBef>
              <a:spcAft>
                <a:spcPts val="0"/>
              </a:spcAft>
              <a:buFontTx/>
              <a:buChar char="-"/>
            </a:pPr>
            <a:endParaRPr lang="en-US" sz="1200" dirty="0">
              <a:latin typeface="Calibri" panose="020F0502020204030204" pitchFamily="34" charset="0"/>
              <a:ea typeface="Calibri" panose="020F0502020204030204" pitchFamily="34" charset="0"/>
            </a:endParaRPr>
          </a:p>
          <a:p>
            <a:pPr marR="0">
              <a:spcBef>
                <a:spcPts val="0"/>
              </a:spcBef>
              <a:spcAft>
                <a:spcPts val="0"/>
              </a:spcAft>
              <a:buFontTx/>
              <a:buChar char="-"/>
            </a:pPr>
            <a:endParaRPr lang="en-US" sz="1200" dirty="0">
              <a:effectLst/>
              <a:latin typeface="Calibri" panose="020F0502020204030204" pitchFamily="34" charset="0"/>
              <a:ea typeface="Calibri" panose="020F0502020204030204" pitchFamily="34" charset="0"/>
            </a:endParaRPr>
          </a:p>
          <a:p>
            <a:pPr marR="0">
              <a:spcBef>
                <a:spcPts val="0"/>
              </a:spcBef>
              <a:spcAft>
                <a:spcPts val="0"/>
              </a:spcAft>
              <a:buFontTx/>
              <a:buChar char="-"/>
            </a:pPr>
            <a:endParaRPr lang="en-US" sz="1200" dirty="0">
              <a:latin typeface="Calibri" panose="020F0502020204030204" pitchFamily="34" charset="0"/>
              <a:ea typeface="Calibri" panose="020F0502020204030204" pitchFamily="34" charset="0"/>
            </a:endParaRPr>
          </a:p>
          <a:p>
            <a:pPr marR="0">
              <a:spcBef>
                <a:spcPts val="0"/>
              </a:spcBef>
              <a:spcAft>
                <a:spcPts val="0"/>
              </a:spcAft>
              <a:buFontTx/>
              <a:buChar char="-"/>
            </a:pPr>
            <a:endParaRPr lang="en-US" sz="1200" dirty="0">
              <a:effectLst/>
              <a:latin typeface="Calibri" panose="020F0502020204030204" pitchFamily="34" charset="0"/>
              <a:ea typeface="Calibri" panose="020F0502020204030204" pitchFamily="34" charset="0"/>
            </a:endParaRPr>
          </a:p>
          <a:p>
            <a:pPr marR="0">
              <a:spcBef>
                <a:spcPts val="0"/>
              </a:spcBef>
              <a:spcAft>
                <a:spcPts val="0"/>
              </a:spcAft>
              <a:buFontTx/>
              <a:buChar char="-"/>
            </a:pPr>
            <a:endParaRPr lang="en-US" sz="1200" dirty="0">
              <a:latin typeface="Calibri" panose="020F0502020204030204" pitchFamily="34" charset="0"/>
              <a:ea typeface="Calibri" panose="020F0502020204030204" pitchFamily="34" charset="0"/>
            </a:endParaRPr>
          </a:p>
          <a:p>
            <a:pPr marR="0">
              <a:spcBef>
                <a:spcPts val="0"/>
              </a:spcBef>
              <a:spcAft>
                <a:spcPts val="0"/>
              </a:spcAft>
              <a:buFontTx/>
              <a:buChar char="-"/>
            </a:pPr>
            <a:endParaRPr lang="en-US" sz="1200" dirty="0">
              <a:effectLst/>
              <a:latin typeface="Calibri" panose="020F0502020204030204" pitchFamily="34" charset="0"/>
              <a:ea typeface="Calibri" panose="020F0502020204030204" pitchFamily="34" charset="0"/>
            </a:endParaRPr>
          </a:p>
          <a:p>
            <a:pPr marL="0" marR="0" indent="0">
              <a:spcBef>
                <a:spcPts val="0"/>
              </a:spcBef>
              <a:spcAft>
                <a:spcPts val="0"/>
              </a:spcAft>
              <a:buNone/>
            </a:pPr>
            <a:endParaRPr lang="en-US" sz="700" dirty="0">
              <a:effectLst/>
              <a:latin typeface="Calibri" panose="020F0502020204030204" pitchFamily="34" charset="0"/>
              <a:ea typeface="Calibri" panose="020F0502020204030204" pitchFamily="34" charset="0"/>
            </a:endParaRPr>
          </a:p>
        </p:txBody>
      </p:sp>
      <p:sp>
        <p:nvSpPr>
          <p:cNvPr id="3" name="Slide Number Placeholder 2">
            <a:extLst>
              <a:ext uri="{FF2B5EF4-FFF2-40B4-BE49-F238E27FC236}">
                <a16:creationId xmlns:a16="http://schemas.microsoft.com/office/drawing/2014/main" id="{3B0D489C-A656-6C4D-71D7-50414D0491FE}"/>
              </a:ext>
            </a:extLst>
          </p:cNvPr>
          <p:cNvSpPr>
            <a:spLocks noGrp="1"/>
          </p:cNvSpPr>
          <p:nvPr>
            <p:ph type="sldNum" sz="quarter" idx="12"/>
          </p:nvPr>
        </p:nvSpPr>
        <p:spPr/>
        <p:txBody>
          <a:bodyPr/>
          <a:lstStyle/>
          <a:p>
            <a:fld id="{90F9BDA0-AF0E-4BA8-B742-3B9C92A3E6FE}" type="slidenum">
              <a:rPr lang="en-US" smtClean="0"/>
              <a:t>29</a:t>
            </a:fld>
            <a:endParaRPr lang="en-US"/>
          </a:p>
        </p:txBody>
      </p:sp>
      <p:sp>
        <p:nvSpPr>
          <p:cNvPr id="5" name="Rectangle 4">
            <a:extLst>
              <a:ext uri="{FF2B5EF4-FFF2-40B4-BE49-F238E27FC236}">
                <a16:creationId xmlns:a16="http://schemas.microsoft.com/office/drawing/2014/main" id="{D908D952-0C08-2265-14A3-360601EB310E}"/>
              </a:ext>
            </a:extLst>
          </p:cNvPr>
          <p:cNvSpPr/>
          <p:nvPr/>
        </p:nvSpPr>
        <p:spPr>
          <a:xfrm>
            <a:off x="7182901" y="943490"/>
            <a:ext cx="1056700" cy="400110"/>
          </a:xfrm>
          <a:prstGeom prst="rect">
            <a:avLst/>
          </a:prstGeom>
          <a:noFill/>
        </p:spPr>
        <p:txBody>
          <a:bodyPr wrap="none" lIns="91440" tIns="45720" rIns="91440" bIns="45720">
            <a:spAutoFit/>
          </a:bodyPr>
          <a:lstStyle/>
          <a:p>
            <a:pPr algn="ctr"/>
            <a:r>
              <a:rPr lang="en-US" sz="2000" b="1" cap="none" spc="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rPr>
              <a:t>DRAFT</a:t>
            </a:r>
          </a:p>
        </p:txBody>
      </p:sp>
      <p:sp>
        <p:nvSpPr>
          <p:cNvPr id="6" name="Rectangle 5">
            <a:extLst>
              <a:ext uri="{FF2B5EF4-FFF2-40B4-BE49-F238E27FC236}">
                <a16:creationId xmlns:a16="http://schemas.microsoft.com/office/drawing/2014/main" id="{3AF59DCC-090D-1DC4-2E8A-8A86739B8C0E}"/>
              </a:ext>
            </a:extLst>
          </p:cNvPr>
          <p:cNvSpPr/>
          <p:nvPr/>
        </p:nvSpPr>
        <p:spPr>
          <a:xfrm>
            <a:off x="342900" y="116141"/>
            <a:ext cx="6968605" cy="523220"/>
          </a:xfrm>
          <a:prstGeom prst="rect">
            <a:avLst/>
          </a:prstGeom>
        </p:spPr>
        <p:txBody>
          <a:bodyPr wrap="square">
            <a:spAutoFit/>
          </a:bodyPr>
          <a:lstStyle/>
          <a:p>
            <a:r>
              <a:rPr lang="en-US" sz="1400" b="1">
                <a:solidFill>
                  <a:schemeClr val="accent1"/>
                </a:solidFill>
              </a:rPr>
              <a:t>Financial Management Capability – Financial Accounting &amp; Reporting – Application Impacts</a:t>
            </a:r>
          </a:p>
        </p:txBody>
      </p:sp>
    </p:spTree>
    <p:extLst>
      <p:ext uri="{BB962C8B-B14F-4D97-AF65-F5344CB8AC3E}">
        <p14:creationId xmlns:p14="http://schemas.microsoft.com/office/powerpoint/2010/main" val="861996318"/>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CE7642-56D8-AF1A-6E79-E59C15B594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1BAD47-3CFE-46C9-118B-99F17AD283C9}"/>
              </a:ext>
            </a:extLst>
          </p:cNvPr>
          <p:cNvSpPr>
            <a:spLocks noGrp="1"/>
          </p:cNvSpPr>
          <p:nvPr>
            <p:ph type="ctrTitle"/>
          </p:nvPr>
        </p:nvSpPr>
        <p:spPr>
          <a:xfrm>
            <a:off x="3993414" y="1469231"/>
            <a:ext cx="4762043" cy="1102519"/>
          </a:xfrm>
        </p:spPr>
        <p:txBody>
          <a:bodyPr/>
          <a:lstStyle/>
          <a:p>
            <a:r>
              <a:rPr lang="en-US" sz="2000" b="1" spc="-51">
                <a:solidFill>
                  <a:schemeClr val="tx1">
                    <a:lumMod val="50000"/>
                  </a:schemeClr>
                </a:solidFill>
                <a:latin typeface="+mj-lt"/>
                <a:ea typeface="+mj-ea"/>
                <a:cs typeface="+mj-cs"/>
              </a:rPr>
              <a:t>Member Management Product Family Capability &amp; DRA 1099 Reporting Capability:</a:t>
            </a:r>
            <a:br>
              <a:rPr lang="en-US" sz="2400" b="1" spc="-51">
                <a:solidFill>
                  <a:schemeClr val="tx1">
                    <a:lumMod val="50000"/>
                  </a:schemeClr>
                </a:solidFill>
                <a:latin typeface="+mj-lt"/>
                <a:ea typeface="+mj-ea"/>
                <a:cs typeface="+mj-cs"/>
              </a:rPr>
            </a:br>
            <a:br>
              <a:rPr lang="en-US" sz="2400" b="1" spc="-51">
                <a:solidFill>
                  <a:schemeClr val="tx1">
                    <a:lumMod val="50000"/>
                  </a:schemeClr>
                </a:solidFill>
                <a:latin typeface="+mj-lt"/>
                <a:ea typeface="+mj-ea"/>
                <a:cs typeface="+mj-cs"/>
              </a:rPr>
            </a:br>
            <a:r>
              <a:rPr lang="en-US" sz="1400">
                <a:solidFill>
                  <a:schemeClr val="accent2"/>
                </a:solidFill>
              </a:rPr>
              <a:t>Supplemental Health Implementation </a:t>
            </a:r>
            <a:br>
              <a:rPr lang="en-US" sz="2400" b="1" spc="-51">
                <a:solidFill>
                  <a:schemeClr val="tx1">
                    <a:lumMod val="50000"/>
                  </a:schemeClr>
                </a:solidFill>
                <a:latin typeface="+mj-lt"/>
                <a:ea typeface="+mj-ea"/>
                <a:cs typeface="+mj-cs"/>
              </a:rPr>
            </a:br>
            <a:r>
              <a:rPr lang="en-US" sz="1400"/>
              <a:t>Eligibility</a:t>
            </a:r>
            <a:r>
              <a:rPr lang="en-US" sz="2400" b="1" spc="-51">
                <a:solidFill>
                  <a:schemeClr val="tx1">
                    <a:lumMod val="50000"/>
                  </a:schemeClr>
                </a:solidFill>
                <a:latin typeface="+mj-lt"/>
                <a:ea typeface="+mj-ea"/>
                <a:cs typeface="+mj-cs"/>
              </a:rPr>
              <a:t> </a:t>
            </a:r>
            <a:r>
              <a:rPr lang="en-US" sz="1400"/>
              <a:t>&amp;</a:t>
            </a:r>
            <a:r>
              <a:rPr lang="en-US" sz="2400" b="1" spc="-51">
                <a:solidFill>
                  <a:schemeClr val="tx1">
                    <a:lumMod val="50000"/>
                  </a:schemeClr>
                </a:solidFill>
                <a:latin typeface="+mj-lt"/>
                <a:ea typeface="+mj-ea"/>
                <a:cs typeface="+mj-cs"/>
              </a:rPr>
              <a:t> </a:t>
            </a:r>
            <a:r>
              <a:rPr lang="en-US" sz="1400"/>
              <a:t>Financial 1099 Tax Reporting </a:t>
            </a:r>
            <a:r>
              <a:rPr lang="en-US" sz="1400" b="1">
                <a:solidFill>
                  <a:schemeClr val="accent1"/>
                </a:solidFill>
              </a:rPr>
              <a:t>- Large Group NB 51-99 </a:t>
            </a:r>
            <a:endParaRPr lang="en-US" sz="1400" b="1" spc="-51">
              <a:solidFill>
                <a:schemeClr val="tx1">
                  <a:lumMod val="50000"/>
                </a:schemeClr>
              </a:solidFill>
              <a:latin typeface="+mj-lt"/>
              <a:ea typeface="+mj-ea"/>
              <a:cs typeface="+mj-cs"/>
            </a:endParaRPr>
          </a:p>
        </p:txBody>
      </p:sp>
    </p:spTree>
    <p:extLst>
      <p:ext uri="{BB962C8B-B14F-4D97-AF65-F5344CB8AC3E}">
        <p14:creationId xmlns:p14="http://schemas.microsoft.com/office/powerpoint/2010/main" val="3692914756"/>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38E309-66E4-D9C8-7F5C-A36CA70406E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1BC1FA0-3353-BF36-5EEC-D98C8E9E323D}"/>
              </a:ext>
            </a:extLst>
          </p:cNvPr>
          <p:cNvSpPr txBox="1"/>
          <p:nvPr/>
        </p:nvSpPr>
        <p:spPr>
          <a:xfrm>
            <a:off x="850739" y="4635661"/>
            <a:ext cx="2239701" cy="300082"/>
          </a:xfrm>
          <a:prstGeom prst="rect">
            <a:avLst/>
          </a:prstGeom>
          <a:solidFill>
            <a:schemeClr val="bg1"/>
          </a:solidFill>
        </p:spPr>
        <p:txBody>
          <a:bodyPr wrap="square" rtlCol="0">
            <a:spAutoFit/>
          </a:bodyPr>
          <a:lstStyle/>
          <a:p>
            <a:endParaRPr lang="en-US" sz="1350"/>
          </a:p>
        </p:txBody>
      </p:sp>
      <p:sp>
        <p:nvSpPr>
          <p:cNvPr id="2" name="Title 1">
            <a:extLst>
              <a:ext uri="{FF2B5EF4-FFF2-40B4-BE49-F238E27FC236}">
                <a16:creationId xmlns:a16="http://schemas.microsoft.com/office/drawing/2014/main" id="{49C0390B-93C5-8426-CE32-781BA4387743}"/>
              </a:ext>
            </a:extLst>
          </p:cNvPr>
          <p:cNvSpPr>
            <a:spLocks noGrp="1"/>
          </p:cNvSpPr>
          <p:nvPr>
            <p:ph type="title"/>
          </p:nvPr>
        </p:nvSpPr>
        <p:spPr>
          <a:xfrm>
            <a:off x="226814" y="107576"/>
            <a:ext cx="7260336" cy="549381"/>
          </a:xfrm>
        </p:spPr>
        <p:txBody>
          <a:bodyPr>
            <a:noAutofit/>
          </a:bodyPr>
          <a:lstStyle/>
          <a:p>
            <a:r>
              <a:rPr lang="en-US" sz="2000"/>
              <a:t>Phase 2 - BA FI 51-99 - High Level requirements for 1099 Tax Reporting &amp; Claims Payment</a:t>
            </a:r>
          </a:p>
        </p:txBody>
      </p:sp>
      <p:graphicFrame>
        <p:nvGraphicFramePr>
          <p:cNvPr id="8" name="Table 7">
            <a:extLst>
              <a:ext uri="{FF2B5EF4-FFF2-40B4-BE49-F238E27FC236}">
                <a16:creationId xmlns:a16="http://schemas.microsoft.com/office/drawing/2014/main" id="{EDD93E42-D2EF-5A31-C353-48894FCEB5B0}"/>
              </a:ext>
            </a:extLst>
          </p:cNvPr>
          <p:cNvGraphicFramePr>
            <a:graphicFrameLocks noGrp="1"/>
          </p:cNvGraphicFramePr>
          <p:nvPr>
            <p:extLst>
              <p:ext uri="{D42A27DB-BD31-4B8C-83A1-F6EECF244321}">
                <p14:modId xmlns:p14="http://schemas.microsoft.com/office/powerpoint/2010/main" val="150798268"/>
              </p:ext>
            </p:extLst>
          </p:nvPr>
        </p:nvGraphicFramePr>
        <p:xfrm>
          <a:off x="226814" y="807265"/>
          <a:ext cx="8837611" cy="1785255"/>
        </p:xfrm>
        <a:graphic>
          <a:graphicData uri="http://schemas.openxmlformats.org/drawingml/2006/table">
            <a:tbl>
              <a:tblPr/>
              <a:tblGrid>
                <a:gridCol w="1217151">
                  <a:extLst>
                    <a:ext uri="{9D8B030D-6E8A-4147-A177-3AD203B41FA5}">
                      <a16:colId xmlns:a16="http://schemas.microsoft.com/office/drawing/2014/main" val="1962179033"/>
                    </a:ext>
                  </a:extLst>
                </a:gridCol>
                <a:gridCol w="4092531">
                  <a:extLst>
                    <a:ext uri="{9D8B030D-6E8A-4147-A177-3AD203B41FA5}">
                      <a16:colId xmlns:a16="http://schemas.microsoft.com/office/drawing/2014/main" val="130540882"/>
                    </a:ext>
                  </a:extLst>
                </a:gridCol>
                <a:gridCol w="2023685">
                  <a:extLst>
                    <a:ext uri="{9D8B030D-6E8A-4147-A177-3AD203B41FA5}">
                      <a16:colId xmlns:a16="http://schemas.microsoft.com/office/drawing/2014/main" val="751610378"/>
                    </a:ext>
                  </a:extLst>
                </a:gridCol>
                <a:gridCol w="734384">
                  <a:extLst>
                    <a:ext uri="{9D8B030D-6E8A-4147-A177-3AD203B41FA5}">
                      <a16:colId xmlns:a16="http://schemas.microsoft.com/office/drawing/2014/main" val="2701245817"/>
                    </a:ext>
                  </a:extLst>
                </a:gridCol>
                <a:gridCol w="769860">
                  <a:extLst>
                    <a:ext uri="{9D8B030D-6E8A-4147-A177-3AD203B41FA5}">
                      <a16:colId xmlns:a16="http://schemas.microsoft.com/office/drawing/2014/main" val="1145494209"/>
                    </a:ext>
                  </a:extLst>
                </a:gridCol>
              </a:tblGrid>
              <a:tr h="137885">
                <a:tc>
                  <a:txBody>
                    <a:bodyPr/>
                    <a:lstStyle/>
                    <a:p>
                      <a:pPr algn="ctr" fontAlgn="b"/>
                      <a:r>
                        <a:rPr lang="en-US" sz="900" b="1" i="0" u="none" strike="noStrike">
                          <a:solidFill>
                            <a:srgbClr val="FFFFFF"/>
                          </a:solidFill>
                          <a:effectLst/>
                          <a:latin typeface="Calibri" panose="020F0502020204030204" pitchFamily="34" charset="0"/>
                        </a:rPr>
                        <a:t>Name</a:t>
                      </a:r>
                    </a:p>
                  </a:txBody>
                  <a:tcPr marL="725" marR="725" marT="7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en-US" sz="900" b="1" i="0" u="none" strike="noStrike">
                          <a:solidFill>
                            <a:srgbClr val="FFFFFF"/>
                          </a:solidFill>
                          <a:effectLst/>
                          <a:latin typeface="Calibri" panose="020F0502020204030204" pitchFamily="34" charset="0"/>
                        </a:rPr>
                        <a:t>Functionality Required</a:t>
                      </a:r>
                    </a:p>
                  </a:txBody>
                  <a:tcPr marL="725" marR="725" marT="7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en-US" sz="900" b="1" i="0" u="none" strike="noStrike">
                          <a:solidFill>
                            <a:srgbClr val="FFFFFF"/>
                          </a:solidFill>
                          <a:effectLst/>
                          <a:latin typeface="Calibri" panose="020F0502020204030204" pitchFamily="34" charset="0"/>
                        </a:rPr>
                        <a:t>In Scope</a:t>
                      </a:r>
                    </a:p>
                  </a:txBody>
                  <a:tcPr marL="725" marR="725" marT="7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en-US" sz="900" b="1" i="0" u="none" strike="noStrike">
                          <a:solidFill>
                            <a:srgbClr val="FFFFFF"/>
                          </a:solidFill>
                          <a:effectLst/>
                          <a:latin typeface="Calibri" panose="020F0502020204030204" pitchFamily="34" charset="0"/>
                        </a:rPr>
                        <a:t>Out of Scope</a:t>
                      </a:r>
                    </a:p>
                  </a:txBody>
                  <a:tcPr marL="725" marR="725" marT="7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en-US" sz="900" b="1" i="0" u="none" strike="noStrike">
                          <a:solidFill>
                            <a:srgbClr val="FFFFFF"/>
                          </a:solidFill>
                          <a:effectLst/>
                          <a:latin typeface="Calibri" panose="020F0502020204030204" pitchFamily="34" charset="0"/>
                        </a:rPr>
                        <a:t>Team</a:t>
                      </a:r>
                    </a:p>
                  </a:txBody>
                  <a:tcPr marL="725" marR="725" marT="7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1836913942"/>
                  </a:ext>
                </a:extLst>
              </a:tr>
              <a:tr h="823685">
                <a:tc>
                  <a:txBody>
                    <a:bodyPr/>
                    <a:lstStyle/>
                    <a:p>
                      <a:pPr algn="ctr" fontAlgn="t"/>
                      <a:r>
                        <a:rPr lang="en-US" sz="900" b="1" i="0" u="none" strike="noStrike">
                          <a:solidFill>
                            <a:srgbClr val="000000"/>
                          </a:solidFill>
                          <a:effectLst/>
                          <a:latin typeface="Calibri" panose="020F0502020204030204" pitchFamily="34" charset="0"/>
                        </a:rPr>
                        <a:t>Supplemental Health Implementation </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Calibri" panose="020F0502020204030204" pitchFamily="34" charset="0"/>
                        </a:rPr>
                        <a:t>Send 51-99 FI Oxford and UHC data (claims and eligibility) from ARA to OnBase to setup policy within OnBase; Taxation will also be required to be setup within OnBase prior to client/policy activation and need stop gap to ensure data will not flow to OnBase until taxation is setup. </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900" b="0" i="0" u="none" strike="noStrike">
                          <a:solidFill>
                            <a:srgbClr val="000000"/>
                          </a:solidFill>
                          <a:effectLst/>
                          <a:latin typeface="Calibri" panose="020F0502020204030204" pitchFamily="34" charset="0"/>
                        </a:rPr>
                        <a:t>AK, AL, AR, AZ, DC, DE, FL, GA, HI, IA, ID, IL, IN, KS, KY, LA, MA, MD, ME, MI, MN, MO, MS, MT, NC, ND, NE, NH, NJ, NV, OH, OK, OR, PA, RI, SC, SD, TN, TX, UT, VA, WA, WI, WV, WY, </a:t>
                      </a:r>
                      <a:r>
                        <a:rPr lang="en-US" sz="800" b="0" i="0" u="none" strike="noStrike" kern="1200">
                          <a:solidFill>
                            <a:srgbClr val="000000"/>
                          </a:solidFill>
                          <a:effectLst/>
                          <a:latin typeface="Calibri" panose="020F0502020204030204" pitchFamily="34" charset="0"/>
                          <a:ea typeface="+mn-ea"/>
                          <a:cs typeface="+mn-cs"/>
                        </a:rPr>
                        <a:t>CO</a:t>
                      </a:r>
                      <a:br>
                        <a:rPr lang="en-US" sz="900" b="0" i="0" u="none" strike="noStrike">
                          <a:solidFill>
                            <a:srgbClr val="000000"/>
                          </a:solidFill>
                          <a:effectLst/>
                          <a:latin typeface="Calibri" panose="020F0502020204030204" pitchFamily="34" charset="0"/>
                        </a:rPr>
                      </a:br>
                      <a:r>
                        <a:rPr lang="en-US" sz="900" b="0" i="0" u="none" strike="noStrike">
                          <a:solidFill>
                            <a:srgbClr val="000000"/>
                          </a:solidFill>
                          <a:effectLst/>
                          <a:latin typeface="Calibri" panose="020F0502020204030204" pitchFamily="34" charset="0"/>
                        </a:rPr>
                        <a:t>Oxford Markets: NJ</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nn-NO" sz="900" b="0" i="0" u="none" strike="noStrike">
                          <a:solidFill>
                            <a:srgbClr val="000000"/>
                          </a:solidFill>
                          <a:effectLst/>
                          <a:latin typeface="Calibri" panose="020F0502020204030204" pitchFamily="34" charset="0"/>
                        </a:rPr>
                        <a:t>NM, CT, VT, CA, NY</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900" b="0" i="0" u="none" strike="noStrike">
                          <a:solidFill>
                            <a:srgbClr val="000000"/>
                          </a:solidFill>
                          <a:effectLst/>
                          <a:latin typeface="Calibri" panose="020F0502020204030204" pitchFamily="34" charset="0"/>
                        </a:rPr>
                        <a:t>Kathy McBride</a:t>
                      </a:r>
                      <a:br>
                        <a:rPr lang="en-US" sz="900" b="0" i="0" u="none" strike="noStrike">
                          <a:solidFill>
                            <a:srgbClr val="000000"/>
                          </a:solidFill>
                          <a:effectLst/>
                          <a:latin typeface="Calibri" panose="020F0502020204030204" pitchFamily="34" charset="0"/>
                        </a:rPr>
                      </a:br>
                      <a:r>
                        <a:rPr lang="en-US" sz="900" b="0" i="0" u="none" strike="noStrike">
                          <a:solidFill>
                            <a:srgbClr val="000000"/>
                          </a:solidFill>
                          <a:effectLst/>
                          <a:latin typeface="Calibri" panose="020F0502020204030204" pitchFamily="34" charset="0"/>
                        </a:rPr>
                        <a:t>Jonathan Mohr</a:t>
                      </a:r>
                      <a:br>
                        <a:rPr lang="en-US" sz="900" b="0" i="0" u="none" strike="noStrike">
                          <a:solidFill>
                            <a:srgbClr val="000000"/>
                          </a:solidFill>
                          <a:effectLst/>
                          <a:latin typeface="Calibri" panose="020F0502020204030204" pitchFamily="34" charset="0"/>
                        </a:rPr>
                      </a:br>
                      <a:r>
                        <a:rPr lang="en-US" sz="900" b="0" i="0" u="none" strike="noStrike">
                          <a:solidFill>
                            <a:srgbClr val="000000"/>
                          </a:solidFill>
                          <a:effectLst/>
                          <a:latin typeface="Calibri" panose="020F0502020204030204" pitchFamily="34" charset="0"/>
                        </a:rPr>
                        <a:t>Uday Vishnudas</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12171154"/>
                  </a:ext>
                </a:extLst>
              </a:tr>
              <a:tr h="823685">
                <a:tc>
                  <a:txBody>
                    <a:bodyPr/>
                    <a:lstStyle/>
                    <a:p>
                      <a:pPr algn="ctr" fontAlgn="t"/>
                      <a:r>
                        <a:rPr lang="en-US" sz="900" b="1" i="0" u="none" strike="noStrike">
                          <a:solidFill>
                            <a:srgbClr val="000000"/>
                          </a:solidFill>
                          <a:effectLst/>
                          <a:latin typeface="Calibri" panose="020F0502020204030204" pitchFamily="34" charset="0"/>
                        </a:rPr>
                        <a:t>Supplemental Health Administration</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Calibri" panose="020F0502020204030204" pitchFamily="34" charset="0"/>
                        </a:rPr>
                        <a:t>Setup OnBase to ingest claims and eligibility information for the 51-99 FI UHC and Oxford membership to pay claims for each of the eligible markets. Ensure all materials sent to the member post processing like the EOB and buck slip are updated to reflect any state nuances (like NY) or to adhere to plan branding or license. OnBase must have all coding completed by market which should be completed as part of the USP expansion. Requesting we validate as part of solutioning discussions. </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900" b="0" i="0" u="none" strike="noStrike">
                          <a:solidFill>
                            <a:srgbClr val="000000"/>
                          </a:solidFill>
                          <a:effectLst/>
                          <a:latin typeface="Calibri" panose="020F0502020204030204" pitchFamily="34" charset="0"/>
                        </a:rPr>
                        <a:t>AK, AL, AR, AZ, DC, DE, FL, GA, HI, IA, ID, IL, IN, KS, KY, LA, MA, MD, ME, MI, MN, MO, MS, MT, NC, ND, NE, NH, NJ, NV, OH, OK, OR, PA, RI, SC, SD, TN,</a:t>
                      </a:r>
                      <a:r>
                        <a:rPr lang="en-US" sz="800" b="0" i="0" u="none" strike="noStrike" kern="1200">
                          <a:solidFill>
                            <a:srgbClr val="000000"/>
                          </a:solidFill>
                          <a:effectLst/>
                          <a:latin typeface="Calibri" panose="020F0502020204030204" pitchFamily="34" charset="0"/>
                          <a:ea typeface="+mn-ea"/>
                          <a:cs typeface="+mn-cs"/>
                        </a:rPr>
                        <a:t> </a:t>
                      </a:r>
                      <a:r>
                        <a:rPr lang="en-US" sz="900" b="0" i="0" u="none" strike="noStrike">
                          <a:solidFill>
                            <a:srgbClr val="000000"/>
                          </a:solidFill>
                          <a:effectLst/>
                          <a:latin typeface="Calibri" panose="020F0502020204030204" pitchFamily="34" charset="0"/>
                        </a:rPr>
                        <a:t>TX, UT, VA, WA, WI, WV, WY, </a:t>
                      </a:r>
                      <a:r>
                        <a:rPr lang="en-US" sz="800" b="0" i="0" u="none" strike="noStrike" kern="1200">
                          <a:solidFill>
                            <a:srgbClr val="000000"/>
                          </a:solidFill>
                          <a:effectLst/>
                          <a:latin typeface="Calibri" panose="020F0502020204030204" pitchFamily="34" charset="0"/>
                          <a:ea typeface="+mn-ea"/>
                          <a:cs typeface="+mn-cs"/>
                        </a:rPr>
                        <a:t>CO</a:t>
                      </a:r>
                      <a:br>
                        <a:rPr lang="en-US" sz="900" b="0" i="0" u="none" strike="noStrike">
                          <a:solidFill>
                            <a:srgbClr val="000000"/>
                          </a:solidFill>
                          <a:effectLst/>
                          <a:latin typeface="Calibri" panose="020F0502020204030204" pitchFamily="34" charset="0"/>
                        </a:rPr>
                      </a:br>
                      <a:r>
                        <a:rPr lang="en-US" sz="900" b="0" i="0" u="none" strike="noStrike">
                          <a:solidFill>
                            <a:srgbClr val="000000"/>
                          </a:solidFill>
                          <a:effectLst/>
                          <a:latin typeface="Calibri" panose="020F0502020204030204" pitchFamily="34" charset="0"/>
                        </a:rPr>
                        <a:t>Oxford Markets: NJ</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nn-NO" sz="900" b="0" i="0" u="none" strike="noStrike">
                          <a:solidFill>
                            <a:srgbClr val="000000"/>
                          </a:solidFill>
                          <a:effectLst/>
                          <a:latin typeface="Calibri" panose="020F0502020204030204" pitchFamily="34" charset="0"/>
                        </a:rPr>
                        <a:t>NM, CT, VT, CA, NY</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900" b="0" i="0" u="none" strike="noStrike">
                          <a:solidFill>
                            <a:srgbClr val="000000"/>
                          </a:solidFill>
                          <a:effectLst/>
                          <a:latin typeface="Calibri" panose="020F0502020204030204" pitchFamily="34" charset="0"/>
                        </a:rPr>
                        <a:t>Kathy McBride</a:t>
                      </a:r>
                      <a:br>
                        <a:rPr lang="en-US" sz="900" b="0" i="0" u="none" strike="noStrike">
                          <a:solidFill>
                            <a:srgbClr val="000000"/>
                          </a:solidFill>
                          <a:effectLst/>
                          <a:latin typeface="Calibri" panose="020F0502020204030204" pitchFamily="34" charset="0"/>
                        </a:rPr>
                      </a:br>
                      <a:r>
                        <a:rPr lang="en-US" sz="900" b="0" i="0" u="none" strike="noStrike">
                          <a:solidFill>
                            <a:srgbClr val="000000"/>
                          </a:solidFill>
                          <a:effectLst/>
                          <a:latin typeface="Calibri" panose="020F0502020204030204" pitchFamily="34" charset="0"/>
                        </a:rPr>
                        <a:t>Jonathan Mohr</a:t>
                      </a:r>
                      <a:br>
                        <a:rPr lang="en-US" sz="900" b="0" i="0" u="none" strike="noStrike">
                          <a:solidFill>
                            <a:srgbClr val="000000"/>
                          </a:solidFill>
                          <a:effectLst/>
                          <a:latin typeface="Calibri" panose="020F0502020204030204" pitchFamily="34" charset="0"/>
                        </a:rPr>
                      </a:br>
                      <a:r>
                        <a:rPr lang="en-US" sz="900" b="0" i="0" u="none" strike="noStrike">
                          <a:solidFill>
                            <a:srgbClr val="000000"/>
                          </a:solidFill>
                          <a:effectLst/>
                          <a:latin typeface="Calibri" panose="020F0502020204030204" pitchFamily="34" charset="0"/>
                        </a:rPr>
                        <a:t>Uday Vishnudas</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77236304"/>
                  </a:ext>
                </a:extLst>
              </a:tr>
            </a:tbl>
          </a:graphicData>
        </a:graphic>
      </p:graphicFrame>
    </p:spTree>
    <p:extLst>
      <p:ext uri="{BB962C8B-B14F-4D97-AF65-F5344CB8AC3E}">
        <p14:creationId xmlns:p14="http://schemas.microsoft.com/office/powerpoint/2010/main" val="11399564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7B0F1-ABAC-4E55-8183-8AFA6C8FFDDA}"/>
              </a:ext>
            </a:extLst>
          </p:cNvPr>
          <p:cNvSpPr>
            <a:spLocks noGrp="1"/>
          </p:cNvSpPr>
          <p:nvPr>
            <p:ph type="title"/>
          </p:nvPr>
        </p:nvSpPr>
        <p:spPr>
          <a:xfrm>
            <a:off x="689182" y="117807"/>
            <a:ext cx="7342710" cy="508270"/>
          </a:xfrm>
        </p:spPr>
        <p:txBody>
          <a:bodyPr>
            <a:normAutofit fontScale="90000"/>
          </a:bodyPr>
          <a:lstStyle/>
          <a:p>
            <a:r>
              <a:rPr lang="en-US" sz="1800" b="1">
                <a:solidFill>
                  <a:schemeClr val="accent1"/>
                </a:solidFill>
              </a:rPr>
              <a:t>Eligibility &amp; Claims (Medical &amp; Supplemental) - Large Group 99+) – Current State</a:t>
            </a:r>
            <a:endParaRPr lang="en-US" sz="1800"/>
          </a:p>
        </p:txBody>
      </p:sp>
      <p:pic>
        <p:nvPicPr>
          <p:cNvPr id="5" name="Picture 4">
            <a:extLst>
              <a:ext uri="{FF2B5EF4-FFF2-40B4-BE49-F238E27FC236}">
                <a16:creationId xmlns:a16="http://schemas.microsoft.com/office/drawing/2014/main" id="{7E87319A-C297-430F-938B-8F1BBDBB5E6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89182" y="752475"/>
            <a:ext cx="7511843" cy="4103387"/>
          </a:xfrm>
          <a:prstGeom prst="rect">
            <a:avLst/>
          </a:prstGeom>
        </p:spPr>
      </p:pic>
      <p:sp>
        <p:nvSpPr>
          <p:cNvPr id="3" name="Rectangle 2">
            <a:extLst>
              <a:ext uri="{FF2B5EF4-FFF2-40B4-BE49-F238E27FC236}">
                <a16:creationId xmlns:a16="http://schemas.microsoft.com/office/drawing/2014/main" id="{82718BA2-78D4-EB4A-6493-779A08E72C4D}"/>
              </a:ext>
            </a:extLst>
          </p:cNvPr>
          <p:cNvSpPr/>
          <p:nvPr/>
        </p:nvSpPr>
        <p:spPr>
          <a:xfrm>
            <a:off x="942975" y="752475"/>
            <a:ext cx="4667250" cy="2952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3723321B-A1F8-D813-921F-657E1BDA0D68}"/>
              </a:ext>
            </a:extLst>
          </p:cNvPr>
          <p:cNvSpPr/>
          <p:nvPr/>
        </p:nvSpPr>
        <p:spPr>
          <a:xfrm>
            <a:off x="5381625" y="2705100"/>
            <a:ext cx="1009650" cy="781050"/>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00217815"/>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4AB70C-553C-86BB-0AD5-F941DEE0252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C858415-C527-8392-DCF6-F7E9BDD2FF85}"/>
              </a:ext>
            </a:extLst>
          </p:cNvPr>
          <p:cNvSpPr>
            <a:spLocks noGrp="1"/>
          </p:cNvSpPr>
          <p:nvPr>
            <p:ph idx="1"/>
          </p:nvPr>
        </p:nvSpPr>
        <p:spPr>
          <a:xfrm>
            <a:off x="244550" y="747169"/>
            <a:ext cx="8742432" cy="4037267"/>
          </a:xfrm>
        </p:spPr>
        <p:txBody>
          <a:bodyPr vert="horz" lIns="91440" tIns="45720" rIns="91440" bIns="45720" rtlCol="0" anchor="t">
            <a:noAutofit/>
          </a:bodyPr>
          <a:lstStyle/>
          <a:p>
            <a:pPr marL="0" indent="0">
              <a:buNone/>
            </a:pPr>
            <a:r>
              <a:rPr lang="en-US" sz="1200" b="1" dirty="0"/>
              <a:t>Supplemental Health Plan Implementation : Eligibility &amp; 1099 Tax Reporting</a:t>
            </a:r>
            <a:endParaRPr lang="en-US" sz="1200" b="1" dirty="0">
              <a:solidFill>
                <a:srgbClr val="000000"/>
              </a:solidFill>
              <a:latin typeface="Calibri" panose="020F0502020204030204" pitchFamily="34" charset="0"/>
            </a:endParaRPr>
          </a:p>
          <a:p>
            <a:pPr marL="0" indent="0">
              <a:buNone/>
            </a:pPr>
            <a:endParaRPr lang="en-US" sz="1200" b="1" dirty="0"/>
          </a:p>
          <a:p>
            <a:pPr marL="0" indent="0">
              <a:buNone/>
            </a:pPr>
            <a:r>
              <a:rPr lang="en-US" sz="1200" b="1" dirty="0"/>
              <a:t>Cirrus:</a:t>
            </a:r>
            <a:endParaRPr lang="en-US" sz="800" dirty="0">
              <a:effectLst/>
              <a:latin typeface="Calibri" panose="020F0502020204030204" pitchFamily="34" charset="0"/>
              <a:ea typeface="Calibri" panose="020F0502020204030204" pitchFamily="34" charset="0"/>
            </a:endParaRPr>
          </a:p>
          <a:p>
            <a:pPr>
              <a:spcAft>
                <a:spcPts val="0"/>
              </a:spcAft>
              <a:buFont typeface="Wingdings" panose="05000000000000000000" pitchFamily="2" charset="2"/>
              <a:buChar char="§"/>
            </a:pPr>
            <a:r>
              <a:rPr lang="en-US" sz="1200" dirty="0">
                <a:effectLst/>
                <a:latin typeface="Calibri" panose="020F0502020204030204" pitchFamily="34" charset="0"/>
                <a:ea typeface="Calibri" panose="020F0502020204030204" pitchFamily="34" charset="0"/>
              </a:rPr>
              <a:t>Cirrus has already made changes in past to utilize standard processes to load eligibility files containing member group and member enrollment information received from customers into Cirrus</a:t>
            </a:r>
          </a:p>
          <a:p>
            <a:pPr>
              <a:spcAft>
                <a:spcPts val="0"/>
              </a:spcAft>
              <a:buFont typeface="Wingdings" panose="05000000000000000000" pitchFamily="2" charset="2"/>
              <a:buChar char="§"/>
            </a:pPr>
            <a:r>
              <a:rPr lang="en-US" sz="1200" dirty="0">
                <a:effectLst/>
                <a:latin typeface="Calibri" panose="020F0502020204030204" pitchFamily="34" charset="0"/>
                <a:ea typeface="Calibri" panose="020F0502020204030204" pitchFamily="34" charset="0"/>
              </a:rPr>
              <a:t>Cirrus and Nimbus have made changes in past to flow the eligibility information to downstream systems via the near real time Kafka data streaming and via updates to the Nimbus APIS.  We just need to verify and test that existing functionality will also support the UHC FI Oxford 51-99 group size as well. </a:t>
            </a:r>
          </a:p>
          <a:p>
            <a:pPr>
              <a:spcAft>
                <a:spcPts val="0"/>
              </a:spcAft>
              <a:buFont typeface="Wingdings" panose="05000000000000000000" pitchFamily="2" charset="2"/>
              <a:buChar char="§"/>
            </a:pPr>
            <a:r>
              <a:rPr lang="en-US" sz="1200" dirty="0">
                <a:effectLst/>
                <a:latin typeface="Calibri" panose="020F0502020204030204" pitchFamily="34" charset="0"/>
                <a:ea typeface="Calibri" panose="020F0502020204030204" pitchFamily="34" charset="0"/>
              </a:rPr>
              <a:t>implement  3 new bill item types and financial activity codes in Cirrus corresponding to 3 supplemental health insurance components, to support the financial accounting and reporting for BA FI Oxford 100+, this same functionality and new bill item types and financial activity codes will be used for the rollout of BA to UHC FI &amp; Oxford 51-99 group</a:t>
            </a:r>
          </a:p>
          <a:p>
            <a:pPr>
              <a:spcAft>
                <a:spcPts val="0"/>
              </a:spcAft>
              <a:buFont typeface="Wingdings" panose="05000000000000000000" pitchFamily="2" charset="2"/>
              <a:buChar char="§"/>
            </a:pPr>
            <a:r>
              <a:rPr lang="en-US" sz="1200" dirty="0">
                <a:effectLst/>
                <a:latin typeface="Calibri" panose="020F0502020204030204" pitchFamily="34" charset="0"/>
                <a:ea typeface="Calibri" panose="020F0502020204030204" pitchFamily="34" charset="0"/>
              </a:rPr>
              <a:t>Cirrus has already made necessary changes to setup financial tagging rules and to do the financial tagging for BA charges and flows this info down to Cirrus PCMT &amp; FTS via UDW</a:t>
            </a:r>
          </a:p>
          <a:p>
            <a:pPr>
              <a:spcAft>
                <a:spcPts val="0"/>
              </a:spcAft>
              <a:buFont typeface="Wingdings" panose="05000000000000000000" pitchFamily="2" charset="2"/>
              <a:buChar char="Ø"/>
            </a:pPr>
            <a:endParaRPr lang="en-US" sz="800" dirty="0">
              <a:latin typeface="Calibri" panose="020F0502020204030204" pitchFamily="34" charset="0"/>
              <a:ea typeface="Calibri" panose="020F0502020204030204" pitchFamily="34" charset="0"/>
            </a:endParaRPr>
          </a:p>
          <a:p>
            <a:pPr marL="0" indent="0">
              <a:spcAft>
                <a:spcPts val="0"/>
              </a:spcAft>
              <a:buNone/>
            </a:pPr>
            <a:r>
              <a:rPr lang="en-US" sz="1200" b="1" dirty="0">
                <a:effectLst/>
                <a:latin typeface="Calibri" panose="020F0502020204030204" pitchFamily="34" charset="0"/>
                <a:ea typeface="Calibri" panose="020F0502020204030204" pitchFamily="34" charset="0"/>
              </a:rPr>
              <a:t>OnBase:</a:t>
            </a:r>
          </a:p>
          <a:p>
            <a:pPr marL="0" indent="0">
              <a:spcAft>
                <a:spcPts val="0"/>
              </a:spcAft>
              <a:buNone/>
            </a:pPr>
            <a:endParaRPr lang="en-US" sz="800" dirty="0">
              <a:effectLst/>
              <a:latin typeface="Calibri" panose="020F0502020204030204" pitchFamily="34" charset="0"/>
              <a:ea typeface="Calibri" panose="020F0502020204030204" pitchFamily="34" charset="0"/>
            </a:endParaRPr>
          </a:p>
          <a:p>
            <a:pPr>
              <a:spcAft>
                <a:spcPts val="0"/>
              </a:spcAft>
              <a:buFont typeface="Wingdings" panose="05000000000000000000" pitchFamily="2" charset="2"/>
              <a:buChar char="§"/>
            </a:pPr>
            <a:r>
              <a:rPr lang="en-US" sz="1200" dirty="0">
                <a:latin typeface="Calibri" panose="020F0502020204030204" pitchFamily="34" charset="0"/>
                <a:ea typeface="Calibri" panose="020F0502020204030204" pitchFamily="34" charset="0"/>
              </a:rPr>
              <a:t>We have made changes in the past to support OnBase to pick the BA Eligibility information from the Nimbus Kafka data streams and load the eligibility information into OnBase, we need to verify and test this existing functionality will work for 51-99 group size as well.</a:t>
            </a:r>
          </a:p>
          <a:p>
            <a:pPr>
              <a:spcAft>
                <a:spcPts val="0"/>
              </a:spcAft>
              <a:buFont typeface="Wingdings" panose="05000000000000000000" pitchFamily="2" charset="2"/>
              <a:buChar char="§"/>
            </a:pPr>
            <a:r>
              <a:rPr lang="en-US" sz="1200" dirty="0">
                <a:latin typeface="Calibri" panose="020F0502020204030204" pitchFamily="34" charset="0"/>
                <a:ea typeface="Calibri" panose="020F0502020204030204" pitchFamily="34" charset="0"/>
              </a:rPr>
              <a:t>The eligible Claims information currently flow from Cirrus to UDW and RRT team has setup batch processes to create claims extract file and send it to OnBase which utilizes FPBOTS to load the claims information from Cirrus into OnBase.</a:t>
            </a:r>
          </a:p>
          <a:p>
            <a:pPr>
              <a:spcAft>
                <a:spcPts val="0"/>
              </a:spcAft>
              <a:buFont typeface="Wingdings" panose="05000000000000000000" pitchFamily="2" charset="2"/>
              <a:buChar char="§"/>
            </a:pPr>
            <a:r>
              <a:rPr lang="en-US" sz="1200" dirty="0">
                <a:latin typeface="Calibri" panose="020F0502020204030204" pitchFamily="34" charset="0"/>
                <a:ea typeface="Calibri" panose="020F0502020204030204" pitchFamily="34" charset="0"/>
              </a:rPr>
              <a:t>The policy information is setup in OnBase and the 1099 Tax reporting is currently supported by the RRT team and Specialty Finance creates reports from Specialty ODS.</a:t>
            </a:r>
          </a:p>
          <a:p>
            <a:pPr>
              <a:spcAft>
                <a:spcPts val="0"/>
              </a:spcAft>
              <a:buFont typeface="Wingdings" panose="05000000000000000000" pitchFamily="2" charset="2"/>
              <a:buChar char="§"/>
            </a:pPr>
            <a:endParaRPr lang="en-US" sz="1200" dirty="0">
              <a:latin typeface="Calibri" panose="020F0502020204030204" pitchFamily="34" charset="0"/>
              <a:ea typeface="Calibri" panose="020F0502020204030204" pitchFamily="34" charset="0"/>
            </a:endParaRPr>
          </a:p>
          <a:p>
            <a:pPr marR="0">
              <a:spcBef>
                <a:spcPts val="0"/>
              </a:spcBef>
              <a:spcAft>
                <a:spcPts val="0"/>
              </a:spcAft>
              <a:buFontTx/>
              <a:buChar char="-"/>
            </a:pPr>
            <a:endParaRPr lang="en-US" sz="1200" dirty="0">
              <a:effectLst/>
              <a:latin typeface="Calibri" panose="020F0502020204030204" pitchFamily="34" charset="0"/>
              <a:ea typeface="Calibri" panose="020F0502020204030204" pitchFamily="34" charset="0"/>
            </a:endParaRPr>
          </a:p>
          <a:p>
            <a:pPr marR="0">
              <a:spcBef>
                <a:spcPts val="0"/>
              </a:spcBef>
              <a:spcAft>
                <a:spcPts val="0"/>
              </a:spcAft>
              <a:buFontTx/>
              <a:buChar char="-"/>
            </a:pPr>
            <a:endParaRPr lang="en-US" sz="1200" dirty="0">
              <a:latin typeface="Calibri" panose="020F0502020204030204" pitchFamily="34" charset="0"/>
              <a:ea typeface="Calibri" panose="020F0502020204030204" pitchFamily="34" charset="0"/>
            </a:endParaRPr>
          </a:p>
          <a:p>
            <a:pPr marR="0">
              <a:spcBef>
                <a:spcPts val="0"/>
              </a:spcBef>
              <a:spcAft>
                <a:spcPts val="0"/>
              </a:spcAft>
              <a:buFontTx/>
              <a:buChar char="-"/>
            </a:pPr>
            <a:endParaRPr lang="en-US" sz="1200" dirty="0">
              <a:effectLst/>
              <a:latin typeface="Calibri" panose="020F0502020204030204" pitchFamily="34" charset="0"/>
              <a:ea typeface="Calibri" panose="020F0502020204030204" pitchFamily="34" charset="0"/>
            </a:endParaRPr>
          </a:p>
          <a:p>
            <a:pPr marR="0">
              <a:spcBef>
                <a:spcPts val="0"/>
              </a:spcBef>
              <a:spcAft>
                <a:spcPts val="0"/>
              </a:spcAft>
              <a:buFontTx/>
              <a:buChar char="-"/>
            </a:pPr>
            <a:endParaRPr lang="en-US" sz="1200" dirty="0">
              <a:latin typeface="Calibri" panose="020F0502020204030204" pitchFamily="34" charset="0"/>
              <a:ea typeface="Calibri" panose="020F0502020204030204" pitchFamily="34" charset="0"/>
            </a:endParaRPr>
          </a:p>
          <a:p>
            <a:pPr marR="0">
              <a:spcBef>
                <a:spcPts val="0"/>
              </a:spcBef>
              <a:spcAft>
                <a:spcPts val="0"/>
              </a:spcAft>
              <a:buFontTx/>
              <a:buChar char="-"/>
            </a:pPr>
            <a:endParaRPr lang="en-US" sz="1200" dirty="0">
              <a:effectLst/>
              <a:latin typeface="Calibri" panose="020F0502020204030204" pitchFamily="34" charset="0"/>
              <a:ea typeface="Calibri" panose="020F0502020204030204" pitchFamily="34" charset="0"/>
            </a:endParaRPr>
          </a:p>
          <a:p>
            <a:pPr marR="0">
              <a:spcBef>
                <a:spcPts val="0"/>
              </a:spcBef>
              <a:spcAft>
                <a:spcPts val="0"/>
              </a:spcAft>
              <a:buFontTx/>
              <a:buChar char="-"/>
            </a:pPr>
            <a:endParaRPr lang="en-US" sz="1200" dirty="0">
              <a:latin typeface="Calibri" panose="020F0502020204030204" pitchFamily="34" charset="0"/>
              <a:ea typeface="Calibri" panose="020F0502020204030204" pitchFamily="34" charset="0"/>
            </a:endParaRPr>
          </a:p>
          <a:p>
            <a:pPr marR="0">
              <a:spcBef>
                <a:spcPts val="0"/>
              </a:spcBef>
              <a:spcAft>
                <a:spcPts val="0"/>
              </a:spcAft>
              <a:buFontTx/>
              <a:buChar char="-"/>
            </a:pPr>
            <a:endParaRPr lang="en-US" sz="1200" dirty="0">
              <a:effectLst/>
              <a:latin typeface="Calibri" panose="020F0502020204030204" pitchFamily="34" charset="0"/>
              <a:ea typeface="Calibri" panose="020F0502020204030204" pitchFamily="34" charset="0"/>
            </a:endParaRPr>
          </a:p>
          <a:p>
            <a:pPr marR="0">
              <a:spcBef>
                <a:spcPts val="0"/>
              </a:spcBef>
              <a:spcAft>
                <a:spcPts val="0"/>
              </a:spcAft>
              <a:buFontTx/>
              <a:buChar char="-"/>
            </a:pPr>
            <a:endParaRPr lang="en-US" sz="1200" dirty="0">
              <a:latin typeface="Calibri" panose="020F0502020204030204" pitchFamily="34" charset="0"/>
              <a:ea typeface="Calibri" panose="020F0502020204030204" pitchFamily="34" charset="0"/>
            </a:endParaRPr>
          </a:p>
          <a:p>
            <a:pPr marR="0">
              <a:spcBef>
                <a:spcPts val="0"/>
              </a:spcBef>
              <a:spcAft>
                <a:spcPts val="0"/>
              </a:spcAft>
              <a:buFontTx/>
              <a:buChar char="-"/>
            </a:pPr>
            <a:endParaRPr lang="en-US" sz="1200" dirty="0">
              <a:effectLst/>
              <a:latin typeface="Calibri" panose="020F0502020204030204" pitchFamily="34" charset="0"/>
              <a:ea typeface="Calibri" panose="020F0502020204030204" pitchFamily="34" charset="0"/>
            </a:endParaRPr>
          </a:p>
          <a:p>
            <a:pPr marR="0">
              <a:spcBef>
                <a:spcPts val="0"/>
              </a:spcBef>
              <a:spcAft>
                <a:spcPts val="0"/>
              </a:spcAft>
              <a:buFontTx/>
              <a:buChar char="-"/>
            </a:pPr>
            <a:endParaRPr lang="en-US" sz="1200" dirty="0">
              <a:latin typeface="Calibri" panose="020F0502020204030204" pitchFamily="34" charset="0"/>
              <a:ea typeface="Calibri" panose="020F0502020204030204" pitchFamily="34" charset="0"/>
            </a:endParaRPr>
          </a:p>
          <a:p>
            <a:pPr marR="0">
              <a:spcBef>
                <a:spcPts val="0"/>
              </a:spcBef>
              <a:spcAft>
                <a:spcPts val="0"/>
              </a:spcAft>
              <a:buFontTx/>
              <a:buChar char="-"/>
            </a:pPr>
            <a:endParaRPr lang="en-US" sz="1200" dirty="0">
              <a:effectLst/>
              <a:latin typeface="Calibri" panose="020F0502020204030204" pitchFamily="34" charset="0"/>
              <a:ea typeface="Calibri" panose="020F0502020204030204" pitchFamily="34" charset="0"/>
            </a:endParaRPr>
          </a:p>
          <a:p>
            <a:pPr marR="0">
              <a:spcBef>
                <a:spcPts val="0"/>
              </a:spcBef>
              <a:spcAft>
                <a:spcPts val="0"/>
              </a:spcAft>
              <a:buFontTx/>
              <a:buChar char="-"/>
            </a:pPr>
            <a:endParaRPr lang="en-US" sz="1200" dirty="0">
              <a:latin typeface="Calibri" panose="020F0502020204030204" pitchFamily="34" charset="0"/>
              <a:ea typeface="Calibri" panose="020F0502020204030204" pitchFamily="34" charset="0"/>
            </a:endParaRPr>
          </a:p>
          <a:p>
            <a:pPr marR="0">
              <a:spcBef>
                <a:spcPts val="0"/>
              </a:spcBef>
              <a:spcAft>
                <a:spcPts val="0"/>
              </a:spcAft>
              <a:buFontTx/>
              <a:buChar char="-"/>
            </a:pPr>
            <a:endParaRPr lang="en-US" sz="1200" dirty="0">
              <a:effectLst/>
              <a:latin typeface="Calibri" panose="020F0502020204030204" pitchFamily="34" charset="0"/>
              <a:ea typeface="Calibri" panose="020F0502020204030204" pitchFamily="34" charset="0"/>
            </a:endParaRPr>
          </a:p>
          <a:p>
            <a:pPr marL="0" marR="0" indent="0">
              <a:spcBef>
                <a:spcPts val="0"/>
              </a:spcBef>
              <a:spcAft>
                <a:spcPts val="0"/>
              </a:spcAft>
              <a:buNone/>
            </a:pPr>
            <a:endParaRPr lang="en-US" sz="700" dirty="0">
              <a:effectLst/>
              <a:latin typeface="Calibri" panose="020F0502020204030204" pitchFamily="34" charset="0"/>
              <a:ea typeface="Calibri" panose="020F0502020204030204" pitchFamily="34" charset="0"/>
            </a:endParaRPr>
          </a:p>
        </p:txBody>
      </p:sp>
      <p:sp>
        <p:nvSpPr>
          <p:cNvPr id="3" name="Slide Number Placeholder 2">
            <a:extLst>
              <a:ext uri="{FF2B5EF4-FFF2-40B4-BE49-F238E27FC236}">
                <a16:creationId xmlns:a16="http://schemas.microsoft.com/office/drawing/2014/main" id="{AE53BB7B-F03E-A50A-14AD-A68DFB8B38B0}"/>
              </a:ext>
            </a:extLst>
          </p:cNvPr>
          <p:cNvSpPr>
            <a:spLocks noGrp="1"/>
          </p:cNvSpPr>
          <p:nvPr>
            <p:ph type="sldNum" sz="quarter" idx="12"/>
          </p:nvPr>
        </p:nvSpPr>
        <p:spPr/>
        <p:txBody>
          <a:bodyPr/>
          <a:lstStyle/>
          <a:p>
            <a:fld id="{90F9BDA0-AF0E-4BA8-B742-3B9C92A3E6FE}" type="slidenum">
              <a:rPr lang="en-US" smtClean="0"/>
              <a:t>33</a:t>
            </a:fld>
            <a:endParaRPr lang="en-US"/>
          </a:p>
        </p:txBody>
      </p:sp>
      <p:sp>
        <p:nvSpPr>
          <p:cNvPr id="5" name="Rectangle 4">
            <a:extLst>
              <a:ext uri="{FF2B5EF4-FFF2-40B4-BE49-F238E27FC236}">
                <a16:creationId xmlns:a16="http://schemas.microsoft.com/office/drawing/2014/main" id="{8AB2BC0A-57FC-7E3E-A4AE-54D048D2564D}"/>
              </a:ext>
            </a:extLst>
          </p:cNvPr>
          <p:cNvSpPr/>
          <p:nvPr/>
        </p:nvSpPr>
        <p:spPr>
          <a:xfrm>
            <a:off x="7182901" y="943490"/>
            <a:ext cx="1056700" cy="400110"/>
          </a:xfrm>
          <a:prstGeom prst="rect">
            <a:avLst/>
          </a:prstGeom>
          <a:noFill/>
        </p:spPr>
        <p:txBody>
          <a:bodyPr wrap="none" lIns="91440" tIns="45720" rIns="91440" bIns="45720">
            <a:spAutoFit/>
          </a:bodyPr>
          <a:lstStyle/>
          <a:p>
            <a:pPr algn="ctr"/>
            <a:r>
              <a:rPr lang="en-US" sz="2000" b="1" cap="none" spc="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rPr>
              <a:t>DRAFT</a:t>
            </a:r>
          </a:p>
        </p:txBody>
      </p:sp>
      <p:sp>
        <p:nvSpPr>
          <p:cNvPr id="6" name="Rectangle 5">
            <a:extLst>
              <a:ext uri="{FF2B5EF4-FFF2-40B4-BE49-F238E27FC236}">
                <a16:creationId xmlns:a16="http://schemas.microsoft.com/office/drawing/2014/main" id="{508EB95E-B5C5-4657-D3F4-20D26B55A77F}"/>
              </a:ext>
            </a:extLst>
          </p:cNvPr>
          <p:cNvSpPr/>
          <p:nvPr/>
        </p:nvSpPr>
        <p:spPr>
          <a:xfrm>
            <a:off x="342900" y="116141"/>
            <a:ext cx="6968605" cy="307777"/>
          </a:xfrm>
          <a:prstGeom prst="rect">
            <a:avLst/>
          </a:prstGeom>
        </p:spPr>
        <p:txBody>
          <a:bodyPr wrap="square">
            <a:spAutoFit/>
          </a:bodyPr>
          <a:lstStyle/>
          <a:p>
            <a:r>
              <a:rPr lang="en-US" sz="1400" b="1">
                <a:solidFill>
                  <a:schemeClr val="accent1"/>
                </a:solidFill>
              </a:rPr>
              <a:t>Member Management Capability – Financial Tax Reporting – Application Impacts</a:t>
            </a:r>
          </a:p>
        </p:txBody>
      </p:sp>
    </p:spTree>
    <p:extLst>
      <p:ext uri="{BB962C8B-B14F-4D97-AF65-F5344CB8AC3E}">
        <p14:creationId xmlns:p14="http://schemas.microsoft.com/office/powerpoint/2010/main" val="4218374004"/>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F2F461-3E76-4922-B54D-3088598D06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AAE1ED-F3E8-33E8-AEA3-6A0469D2160F}"/>
              </a:ext>
            </a:extLst>
          </p:cNvPr>
          <p:cNvSpPr>
            <a:spLocks noGrp="1"/>
          </p:cNvSpPr>
          <p:nvPr>
            <p:ph type="ctrTitle"/>
          </p:nvPr>
        </p:nvSpPr>
        <p:spPr>
          <a:xfrm>
            <a:off x="3993414" y="1602831"/>
            <a:ext cx="4762043" cy="1102519"/>
          </a:xfrm>
        </p:spPr>
        <p:txBody>
          <a:bodyPr/>
          <a:lstStyle/>
          <a:p>
            <a:r>
              <a:rPr lang="en-US" sz="2000" b="1" spc="-51">
                <a:solidFill>
                  <a:schemeClr val="tx1">
                    <a:lumMod val="50000"/>
                  </a:schemeClr>
                </a:solidFill>
                <a:latin typeface="+mj-lt"/>
                <a:ea typeface="+mj-ea"/>
                <a:cs typeface="+mj-cs"/>
              </a:rPr>
              <a:t>Claims Management Product Family Capability : Claims Payment &amp; Presentment</a:t>
            </a:r>
            <a:br>
              <a:rPr lang="en-US" sz="2400" b="1" spc="-51">
                <a:solidFill>
                  <a:schemeClr val="tx1">
                    <a:lumMod val="50000"/>
                  </a:schemeClr>
                </a:solidFill>
                <a:latin typeface="+mj-lt"/>
                <a:ea typeface="+mj-ea"/>
                <a:cs typeface="+mj-cs"/>
              </a:rPr>
            </a:br>
            <a:br>
              <a:rPr lang="en-US" sz="2400" b="1" spc="-51">
                <a:solidFill>
                  <a:schemeClr val="tx1">
                    <a:lumMod val="50000"/>
                  </a:schemeClr>
                </a:solidFill>
                <a:latin typeface="+mj-lt"/>
                <a:ea typeface="+mj-ea"/>
                <a:cs typeface="+mj-cs"/>
              </a:rPr>
            </a:br>
            <a:r>
              <a:rPr lang="en-US" sz="1400">
                <a:solidFill>
                  <a:schemeClr val="accent2"/>
                </a:solidFill>
              </a:rPr>
              <a:t>Supplemental Health Administration</a:t>
            </a:r>
            <a:br>
              <a:rPr lang="en-US" sz="2400" b="1" spc="-51">
                <a:solidFill>
                  <a:schemeClr val="tx1">
                    <a:lumMod val="50000"/>
                  </a:schemeClr>
                </a:solidFill>
                <a:latin typeface="+mj-lt"/>
                <a:ea typeface="+mj-ea"/>
                <a:cs typeface="+mj-cs"/>
              </a:rPr>
            </a:br>
            <a:r>
              <a:rPr lang="en-US" sz="1400"/>
              <a:t>Claims EOBs</a:t>
            </a:r>
            <a:r>
              <a:rPr lang="en-US" sz="2400" b="1" spc="-51">
                <a:solidFill>
                  <a:schemeClr val="tx1">
                    <a:lumMod val="50000"/>
                  </a:schemeClr>
                </a:solidFill>
                <a:latin typeface="+mj-lt"/>
                <a:ea typeface="+mj-ea"/>
                <a:cs typeface="+mj-cs"/>
              </a:rPr>
              <a:t> </a:t>
            </a:r>
            <a:r>
              <a:rPr lang="en-US" sz="1400"/>
              <a:t>&amp;</a:t>
            </a:r>
            <a:r>
              <a:rPr lang="en-US" sz="2400" b="1" spc="-51">
                <a:solidFill>
                  <a:schemeClr val="tx1">
                    <a:lumMod val="50000"/>
                  </a:schemeClr>
                </a:solidFill>
                <a:latin typeface="+mj-lt"/>
                <a:ea typeface="+mj-ea"/>
                <a:cs typeface="+mj-cs"/>
              </a:rPr>
              <a:t> </a:t>
            </a:r>
            <a:r>
              <a:rPr lang="en-US" sz="1400"/>
              <a:t>Eligibility</a:t>
            </a:r>
            <a:r>
              <a:rPr lang="en-US" sz="2400" b="1" spc="-51">
                <a:solidFill>
                  <a:schemeClr val="tx1">
                    <a:lumMod val="50000"/>
                  </a:schemeClr>
                </a:solidFill>
                <a:latin typeface="+mj-lt"/>
                <a:ea typeface="+mj-ea"/>
                <a:cs typeface="+mj-cs"/>
              </a:rPr>
              <a:t> </a:t>
            </a:r>
            <a:r>
              <a:rPr lang="en-US" sz="1400" b="1">
                <a:solidFill>
                  <a:schemeClr val="accent1"/>
                </a:solidFill>
              </a:rPr>
              <a:t>- Large Group NB 51-99 </a:t>
            </a:r>
            <a:endParaRPr lang="en-US" sz="1400" b="1" spc="-51">
              <a:solidFill>
                <a:schemeClr val="tx1">
                  <a:lumMod val="50000"/>
                </a:schemeClr>
              </a:solidFill>
              <a:latin typeface="+mj-lt"/>
              <a:ea typeface="+mj-ea"/>
              <a:cs typeface="+mj-cs"/>
            </a:endParaRPr>
          </a:p>
        </p:txBody>
      </p:sp>
    </p:spTree>
    <p:extLst>
      <p:ext uri="{BB962C8B-B14F-4D97-AF65-F5344CB8AC3E}">
        <p14:creationId xmlns:p14="http://schemas.microsoft.com/office/powerpoint/2010/main" val="1136468592"/>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D3897A-94A2-40F0-8CB4-56B028CA1EC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722CCF4-F541-C317-944C-D575676367BC}"/>
              </a:ext>
            </a:extLst>
          </p:cNvPr>
          <p:cNvSpPr>
            <a:spLocks noGrp="1"/>
          </p:cNvSpPr>
          <p:nvPr>
            <p:ph idx="1"/>
          </p:nvPr>
        </p:nvSpPr>
        <p:spPr>
          <a:xfrm>
            <a:off x="244550" y="747169"/>
            <a:ext cx="8742432" cy="4149027"/>
          </a:xfrm>
        </p:spPr>
        <p:txBody>
          <a:bodyPr vert="horz" lIns="91440" tIns="45720" rIns="91440" bIns="45720" rtlCol="0" anchor="t">
            <a:noAutofit/>
          </a:bodyPr>
          <a:lstStyle/>
          <a:p>
            <a:pPr marL="0" indent="0">
              <a:buNone/>
            </a:pPr>
            <a:r>
              <a:rPr lang="en-US" sz="1200" b="1" dirty="0"/>
              <a:t>Supplemental Health Plan Administration : Claims EOBs, Buck Slips etc.</a:t>
            </a:r>
            <a:endParaRPr lang="en-US" sz="1200" b="1" dirty="0">
              <a:solidFill>
                <a:srgbClr val="000000"/>
              </a:solidFill>
              <a:latin typeface="Calibri" panose="020F0502020204030204" pitchFamily="34" charset="0"/>
            </a:endParaRPr>
          </a:p>
          <a:p>
            <a:pPr marL="0" indent="0">
              <a:buNone/>
            </a:pPr>
            <a:r>
              <a:rPr lang="en-US" sz="1200" b="1" dirty="0"/>
              <a:t>Cirrus:</a:t>
            </a:r>
            <a:endParaRPr lang="en-US" sz="1200" dirty="0">
              <a:effectLst/>
              <a:latin typeface="Calibri" panose="020F0502020204030204" pitchFamily="34" charset="0"/>
              <a:ea typeface="Calibri" panose="020F0502020204030204" pitchFamily="34" charset="0"/>
            </a:endParaRPr>
          </a:p>
          <a:p>
            <a:pPr>
              <a:spcAft>
                <a:spcPts val="0"/>
              </a:spcAft>
              <a:buFont typeface="Wingdings" panose="05000000000000000000" pitchFamily="2" charset="2"/>
              <a:buChar char="§"/>
            </a:pPr>
            <a:r>
              <a:rPr lang="en-US" sz="1200" dirty="0">
                <a:effectLst/>
                <a:latin typeface="Calibri" panose="020F0502020204030204" pitchFamily="34" charset="0"/>
                <a:ea typeface="Calibri" panose="020F0502020204030204" pitchFamily="34" charset="0"/>
              </a:rPr>
              <a:t>Cirrus has already made changes in past to utilize standard processes to load eligibility files containing member group and member enrollment information received from customers into Cirrus and the BA member eligibility information is published to Nimbus Kafka data streams for downstream consumption.</a:t>
            </a:r>
          </a:p>
          <a:p>
            <a:pPr>
              <a:spcAft>
                <a:spcPts val="0"/>
              </a:spcAft>
              <a:buFont typeface="Wingdings" panose="05000000000000000000" pitchFamily="2" charset="2"/>
              <a:buChar char="§"/>
            </a:pPr>
            <a:r>
              <a:rPr lang="en-US" sz="1200" dirty="0">
                <a:effectLst/>
                <a:latin typeface="Calibri" panose="020F0502020204030204" pitchFamily="34" charset="0"/>
                <a:ea typeface="Calibri" panose="020F0502020204030204" pitchFamily="34" charset="0"/>
              </a:rPr>
              <a:t>Cirrus has already made changes in past to send the medical claims information associated with BA members to UDW via Data Lake.</a:t>
            </a:r>
          </a:p>
          <a:p>
            <a:pPr marL="0" indent="0">
              <a:spcAft>
                <a:spcPts val="0"/>
              </a:spcAft>
              <a:buNone/>
            </a:pPr>
            <a:endParaRPr lang="en-US" sz="900" dirty="0">
              <a:latin typeface="Calibri" panose="020F0502020204030204" pitchFamily="34" charset="0"/>
              <a:ea typeface="Calibri" panose="020F0502020204030204" pitchFamily="34" charset="0"/>
            </a:endParaRPr>
          </a:p>
          <a:p>
            <a:pPr marL="0" indent="0">
              <a:buNone/>
            </a:pPr>
            <a:r>
              <a:rPr lang="en-US" sz="1200" b="1" dirty="0"/>
              <a:t>UDW:</a:t>
            </a:r>
          </a:p>
          <a:p>
            <a:pPr>
              <a:spcAft>
                <a:spcPts val="0"/>
              </a:spcAft>
              <a:buFont typeface="Wingdings" panose="05000000000000000000" pitchFamily="2" charset="2"/>
              <a:buChar char="§"/>
            </a:pPr>
            <a:r>
              <a:rPr lang="en-US" sz="1200" dirty="0">
                <a:latin typeface="Calibri" panose="020F0502020204030204" pitchFamily="34" charset="0"/>
                <a:ea typeface="Calibri" panose="020F0502020204030204" pitchFamily="34" charset="0"/>
              </a:rPr>
              <a:t>There are batch processes already setup by RRT to create medical claims extract file for BA members and send it to FPBOT for it to be processed and loaded into OnBase.</a:t>
            </a:r>
            <a:r>
              <a:rPr lang="en-US" sz="1200" dirty="0">
                <a:effectLst/>
                <a:latin typeface="Calibri" panose="020F0502020204030204" pitchFamily="34" charset="0"/>
                <a:ea typeface="Calibri" panose="020F0502020204030204" pitchFamily="34" charset="0"/>
              </a:rPr>
              <a:t> We need to validate this existing batch process can handle additional UHC FI &amp; Oxford 51-99 group volume.</a:t>
            </a:r>
          </a:p>
          <a:p>
            <a:pPr marL="0" indent="0">
              <a:spcAft>
                <a:spcPts val="0"/>
              </a:spcAft>
              <a:buNone/>
            </a:pPr>
            <a:endParaRPr lang="en-US" sz="900" dirty="0">
              <a:latin typeface="Calibri" panose="020F0502020204030204" pitchFamily="34" charset="0"/>
              <a:ea typeface="Calibri" panose="020F0502020204030204" pitchFamily="34" charset="0"/>
            </a:endParaRPr>
          </a:p>
          <a:p>
            <a:pPr marL="0" indent="0">
              <a:buNone/>
            </a:pPr>
            <a:r>
              <a:rPr lang="en-US" sz="1200" b="1" dirty="0"/>
              <a:t>OnBase:</a:t>
            </a:r>
            <a:endParaRPr lang="en-US" sz="1200" dirty="0">
              <a:effectLst/>
              <a:latin typeface="Calibri" panose="020F0502020204030204" pitchFamily="34" charset="0"/>
              <a:ea typeface="Calibri" panose="020F0502020204030204" pitchFamily="34" charset="0"/>
            </a:endParaRPr>
          </a:p>
          <a:p>
            <a:pPr>
              <a:spcAft>
                <a:spcPts val="0"/>
              </a:spcAft>
              <a:buFont typeface="Wingdings" panose="05000000000000000000" pitchFamily="2" charset="2"/>
              <a:buChar char="§"/>
            </a:pPr>
            <a:r>
              <a:rPr lang="en-US" sz="1200" dirty="0">
                <a:effectLst/>
                <a:latin typeface="Calibri" panose="020F0502020204030204" pitchFamily="34" charset="0"/>
                <a:ea typeface="Calibri" panose="020F0502020204030204" pitchFamily="34" charset="0"/>
              </a:rPr>
              <a:t>Currently the supplemental heal</a:t>
            </a:r>
            <a:r>
              <a:rPr lang="en-US" sz="1200" dirty="0">
                <a:latin typeface="Calibri" panose="020F0502020204030204" pitchFamily="34" charset="0"/>
                <a:ea typeface="Calibri" panose="020F0502020204030204" pitchFamily="34" charset="0"/>
              </a:rPr>
              <a:t>th claim gets processed and paid on the OnBase system, however no supplemental health claims EOB or letter that is generated and sent to the member, this is existing functionality gap. (There was item on OnBase product backlog to generate letter for member who get their claims processed on OnBase and it was not implemented in past)</a:t>
            </a:r>
          </a:p>
          <a:p>
            <a:pPr>
              <a:spcAft>
                <a:spcPts val="0"/>
              </a:spcAft>
              <a:buFont typeface="Wingdings" panose="05000000000000000000" pitchFamily="2" charset="2"/>
              <a:buChar char="§"/>
            </a:pPr>
            <a:r>
              <a:rPr lang="en-US" sz="1200" dirty="0">
                <a:latin typeface="Calibri" panose="020F0502020204030204" pitchFamily="34" charset="0"/>
                <a:ea typeface="Calibri" panose="020F0502020204030204" pitchFamily="34" charset="0"/>
              </a:rPr>
              <a:t>We need to send the supplemental health claim information for EOB generation from OnBase to Shutterfly to generate the Supplemental claims EOB or use the existing medical EOB claims process and modify it to include the supplemental claim information and send it out to BA members.</a:t>
            </a:r>
          </a:p>
          <a:p>
            <a:pPr>
              <a:spcAft>
                <a:spcPts val="0"/>
              </a:spcAft>
              <a:buFont typeface="Wingdings" panose="05000000000000000000" pitchFamily="2" charset="2"/>
              <a:buChar char="§"/>
            </a:pPr>
            <a:r>
              <a:rPr lang="en-US" sz="1200" dirty="0">
                <a:latin typeface="Calibri" panose="020F0502020204030204" pitchFamily="34" charset="0"/>
                <a:ea typeface="Calibri" panose="020F0502020204030204" pitchFamily="34" charset="0"/>
              </a:rPr>
              <a:t>Implement the appropriate branding (name and logo) in the EOB statements as per the state specific guidelines and license requirements. </a:t>
            </a:r>
          </a:p>
          <a:p>
            <a:pPr>
              <a:spcAft>
                <a:spcPts val="0"/>
              </a:spcAft>
              <a:buFont typeface="Wingdings" panose="05000000000000000000" pitchFamily="2" charset="2"/>
              <a:buChar char="§"/>
            </a:pPr>
            <a:r>
              <a:rPr lang="en-US" sz="1200" dirty="0">
                <a:latin typeface="Calibri" panose="020F0502020204030204" pitchFamily="34" charset="0"/>
                <a:ea typeface="Calibri" panose="020F0502020204030204" pitchFamily="34" charset="0"/>
              </a:rPr>
              <a:t>The customer preference related to 1099 Tax reporting needs to be picked up by OnBase from the stream as part group eligibility information </a:t>
            </a:r>
            <a:endParaRPr lang="en-US" sz="800" dirty="0">
              <a:latin typeface="Calibri" panose="020F0502020204030204" pitchFamily="34" charset="0"/>
              <a:ea typeface="Calibri" panose="020F0502020204030204" pitchFamily="34" charset="0"/>
            </a:endParaRPr>
          </a:p>
          <a:p>
            <a:pPr marL="0" indent="0">
              <a:spcAft>
                <a:spcPts val="0"/>
              </a:spcAft>
              <a:buNone/>
            </a:pPr>
            <a:r>
              <a:rPr lang="en-US" sz="1200" dirty="0">
                <a:latin typeface="Calibri" panose="020F0502020204030204" pitchFamily="34" charset="0"/>
                <a:ea typeface="Calibri" panose="020F0502020204030204" pitchFamily="34" charset="0"/>
              </a:rPr>
              <a:t>.</a:t>
            </a:r>
          </a:p>
          <a:p>
            <a:pPr>
              <a:spcAft>
                <a:spcPts val="0"/>
              </a:spcAft>
              <a:buFont typeface="Wingdings" panose="05000000000000000000" pitchFamily="2" charset="2"/>
              <a:buChar char="§"/>
            </a:pPr>
            <a:endParaRPr lang="en-US" sz="1200" dirty="0">
              <a:latin typeface="Calibri" panose="020F0502020204030204" pitchFamily="34" charset="0"/>
              <a:ea typeface="Calibri" panose="020F0502020204030204" pitchFamily="34" charset="0"/>
            </a:endParaRPr>
          </a:p>
          <a:p>
            <a:pPr marR="0">
              <a:spcBef>
                <a:spcPts val="0"/>
              </a:spcBef>
              <a:spcAft>
                <a:spcPts val="0"/>
              </a:spcAft>
              <a:buFontTx/>
              <a:buChar char="-"/>
            </a:pPr>
            <a:endParaRPr lang="en-US" sz="1200" dirty="0">
              <a:effectLst/>
              <a:latin typeface="Calibri" panose="020F0502020204030204" pitchFamily="34" charset="0"/>
              <a:ea typeface="Calibri" panose="020F0502020204030204" pitchFamily="34" charset="0"/>
            </a:endParaRPr>
          </a:p>
          <a:p>
            <a:pPr marR="0">
              <a:spcBef>
                <a:spcPts val="0"/>
              </a:spcBef>
              <a:spcAft>
                <a:spcPts val="0"/>
              </a:spcAft>
              <a:buFontTx/>
              <a:buChar char="-"/>
            </a:pPr>
            <a:endParaRPr lang="en-US" sz="1200" dirty="0">
              <a:latin typeface="Calibri" panose="020F0502020204030204" pitchFamily="34" charset="0"/>
              <a:ea typeface="Calibri" panose="020F0502020204030204" pitchFamily="34" charset="0"/>
            </a:endParaRPr>
          </a:p>
          <a:p>
            <a:pPr marR="0">
              <a:spcBef>
                <a:spcPts val="0"/>
              </a:spcBef>
              <a:spcAft>
                <a:spcPts val="0"/>
              </a:spcAft>
              <a:buFontTx/>
              <a:buChar char="-"/>
            </a:pPr>
            <a:endParaRPr lang="en-US" sz="1200" dirty="0">
              <a:effectLst/>
              <a:latin typeface="Calibri" panose="020F0502020204030204" pitchFamily="34" charset="0"/>
              <a:ea typeface="Calibri" panose="020F0502020204030204" pitchFamily="34" charset="0"/>
            </a:endParaRPr>
          </a:p>
          <a:p>
            <a:pPr marR="0">
              <a:spcBef>
                <a:spcPts val="0"/>
              </a:spcBef>
              <a:spcAft>
                <a:spcPts val="0"/>
              </a:spcAft>
              <a:buFontTx/>
              <a:buChar char="-"/>
            </a:pPr>
            <a:endParaRPr lang="en-US" sz="1200" dirty="0">
              <a:latin typeface="Calibri" panose="020F0502020204030204" pitchFamily="34" charset="0"/>
              <a:ea typeface="Calibri" panose="020F0502020204030204" pitchFamily="34" charset="0"/>
            </a:endParaRPr>
          </a:p>
          <a:p>
            <a:pPr marR="0">
              <a:spcBef>
                <a:spcPts val="0"/>
              </a:spcBef>
              <a:spcAft>
                <a:spcPts val="0"/>
              </a:spcAft>
              <a:buFontTx/>
              <a:buChar char="-"/>
            </a:pPr>
            <a:endParaRPr lang="en-US" sz="1200" dirty="0">
              <a:effectLst/>
              <a:latin typeface="Calibri" panose="020F0502020204030204" pitchFamily="34" charset="0"/>
              <a:ea typeface="Calibri" panose="020F0502020204030204" pitchFamily="34" charset="0"/>
            </a:endParaRPr>
          </a:p>
          <a:p>
            <a:pPr marR="0">
              <a:spcBef>
                <a:spcPts val="0"/>
              </a:spcBef>
              <a:spcAft>
                <a:spcPts val="0"/>
              </a:spcAft>
              <a:buFontTx/>
              <a:buChar char="-"/>
            </a:pPr>
            <a:endParaRPr lang="en-US" sz="1200" dirty="0">
              <a:latin typeface="Calibri" panose="020F0502020204030204" pitchFamily="34" charset="0"/>
              <a:ea typeface="Calibri" panose="020F0502020204030204" pitchFamily="34" charset="0"/>
            </a:endParaRPr>
          </a:p>
          <a:p>
            <a:pPr marR="0">
              <a:spcBef>
                <a:spcPts val="0"/>
              </a:spcBef>
              <a:spcAft>
                <a:spcPts val="0"/>
              </a:spcAft>
              <a:buFontTx/>
              <a:buChar char="-"/>
            </a:pPr>
            <a:endParaRPr lang="en-US" sz="1200" dirty="0">
              <a:effectLst/>
              <a:latin typeface="Calibri" panose="020F0502020204030204" pitchFamily="34" charset="0"/>
              <a:ea typeface="Calibri" panose="020F0502020204030204" pitchFamily="34" charset="0"/>
            </a:endParaRPr>
          </a:p>
          <a:p>
            <a:pPr marR="0">
              <a:spcBef>
                <a:spcPts val="0"/>
              </a:spcBef>
              <a:spcAft>
                <a:spcPts val="0"/>
              </a:spcAft>
              <a:buFontTx/>
              <a:buChar char="-"/>
            </a:pPr>
            <a:endParaRPr lang="en-US" sz="1200" dirty="0">
              <a:latin typeface="Calibri" panose="020F0502020204030204" pitchFamily="34" charset="0"/>
              <a:ea typeface="Calibri" panose="020F0502020204030204" pitchFamily="34" charset="0"/>
            </a:endParaRPr>
          </a:p>
          <a:p>
            <a:pPr marR="0">
              <a:spcBef>
                <a:spcPts val="0"/>
              </a:spcBef>
              <a:spcAft>
                <a:spcPts val="0"/>
              </a:spcAft>
              <a:buFontTx/>
              <a:buChar char="-"/>
            </a:pPr>
            <a:endParaRPr lang="en-US" sz="1200" dirty="0">
              <a:effectLst/>
              <a:latin typeface="Calibri" panose="020F0502020204030204" pitchFamily="34" charset="0"/>
              <a:ea typeface="Calibri" panose="020F0502020204030204" pitchFamily="34" charset="0"/>
            </a:endParaRPr>
          </a:p>
          <a:p>
            <a:pPr marR="0">
              <a:spcBef>
                <a:spcPts val="0"/>
              </a:spcBef>
              <a:spcAft>
                <a:spcPts val="0"/>
              </a:spcAft>
              <a:buFontTx/>
              <a:buChar char="-"/>
            </a:pPr>
            <a:endParaRPr lang="en-US" sz="1200" dirty="0">
              <a:latin typeface="Calibri" panose="020F0502020204030204" pitchFamily="34" charset="0"/>
              <a:ea typeface="Calibri" panose="020F0502020204030204" pitchFamily="34" charset="0"/>
            </a:endParaRPr>
          </a:p>
          <a:p>
            <a:pPr marR="0">
              <a:spcBef>
                <a:spcPts val="0"/>
              </a:spcBef>
              <a:spcAft>
                <a:spcPts val="0"/>
              </a:spcAft>
              <a:buFontTx/>
              <a:buChar char="-"/>
            </a:pPr>
            <a:endParaRPr lang="en-US" sz="1200" dirty="0">
              <a:effectLst/>
              <a:latin typeface="Calibri" panose="020F0502020204030204" pitchFamily="34" charset="0"/>
              <a:ea typeface="Calibri" panose="020F0502020204030204" pitchFamily="34" charset="0"/>
            </a:endParaRPr>
          </a:p>
          <a:p>
            <a:pPr marR="0">
              <a:spcBef>
                <a:spcPts val="0"/>
              </a:spcBef>
              <a:spcAft>
                <a:spcPts val="0"/>
              </a:spcAft>
              <a:buFontTx/>
              <a:buChar char="-"/>
            </a:pPr>
            <a:endParaRPr lang="en-US" sz="1200" dirty="0">
              <a:latin typeface="Calibri" panose="020F0502020204030204" pitchFamily="34" charset="0"/>
              <a:ea typeface="Calibri" panose="020F0502020204030204" pitchFamily="34" charset="0"/>
            </a:endParaRPr>
          </a:p>
          <a:p>
            <a:pPr marR="0">
              <a:spcBef>
                <a:spcPts val="0"/>
              </a:spcBef>
              <a:spcAft>
                <a:spcPts val="0"/>
              </a:spcAft>
              <a:buFontTx/>
              <a:buChar char="-"/>
            </a:pPr>
            <a:endParaRPr lang="en-US" sz="1200" dirty="0">
              <a:effectLst/>
              <a:latin typeface="Calibri" panose="020F0502020204030204" pitchFamily="34" charset="0"/>
              <a:ea typeface="Calibri" panose="020F0502020204030204" pitchFamily="34" charset="0"/>
            </a:endParaRPr>
          </a:p>
          <a:p>
            <a:pPr marL="0" marR="0" indent="0">
              <a:spcBef>
                <a:spcPts val="0"/>
              </a:spcBef>
              <a:spcAft>
                <a:spcPts val="0"/>
              </a:spcAft>
              <a:buNone/>
            </a:pPr>
            <a:endParaRPr lang="en-US" sz="700" dirty="0">
              <a:effectLst/>
              <a:latin typeface="Calibri" panose="020F0502020204030204" pitchFamily="34" charset="0"/>
              <a:ea typeface="Calibri" panose="020F0502020204030204" pitchFamily="34" charset="0"/>
            </a:endParaRPr>
          </a:p>
        </p:txBody>
      </p:sp>
      <p:sp>
        <p:nvSpPr>
          <p:cNvPr id="3" name="Slide Number Placeholder 2">
            <a:extLst>
              <a:ext uri="{FF2B5EF4-FFF2-40B4-BE49-F238E27FC236}">
                <a16:creationId xmlns:a16="http://schemas.microsoft.com/office/drawing/2014/main" id="{E564B912-9C8D-40BB-9FB0-F4CCBFF572F2}"/>
              </a:ext>
            </a:extLst>
          </p:cNvPr>
          <p:cNvSpPr>
            <a:spLocks noGrp="1"/>
          </p:cNvSpPr>
          <p:nvPr>
            <p:ph type="sldNum" sz="quarter" idx="12"/>
          </p:nvPr>
        </p:nvSpPr>
        <p:spPr/>
        <p:txBody>
          <a:bodyPr/>
          <a:lstStyle/>
          <a:p>
            <a:fld id="{90F9BDA0-AF0E-4BA8-B742-3B9C92A3E6FE}" type="slidenum">
              <a:rPr lang="en-US" smtClean="0"/>
              <a:t>35</a:t>
            </a:fld>
            <a:endParaRPr lang="en-US"/>
          </a:p>
        </p:txBody>
      </p:sp>
      <p:sp>
        <p:nvSpPr>
          <p:cNvPr id="5" name="Rectangle 4">
            <a:extLst>
              <a:ext uri="{FF2B5EF4-FFF2-40B4-BE49-F238E27FC236}">
                <a16:creationId xmlns:a16="http://schemas.microsoft.com/office/drawing/2014/main" id="{F3DDF8DB-7B39-4896-746C-40881B22B9B7}"/>
              </a:ext>
            </a:extLst>
          </p:cNvPr>
          <p:cNvSpPr/>
          <p:nvPr/>
        </p:nvSpPr>
        <p:spPr>
          <a:xfrm>
            <a:off x="7182901" y="943490"/>
            <a:ext cx="1056700" cy="400110"/>
          </a:xfrm>
          <a:prstGeom prst="rect">
            <a:avLst/>
          </a:prstGeom>
          <a:noFill/>
        </p:spPr>
        <p:txBody>
          <a:bodyPr wrap="none" lIns="91440" tIns="45720" rIns="91440" bIns="45720">
            <a:spAutoFit/>
          </a:bodyPr>
          <a:lstStyle/>
          <a:p>
            <a:pPr algn="ctr"/>
            <a:r>
              <a:rPr lang="en-US" sz="2000" b="1" cap="none" spc="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rPr>
              <a:t>DRAFT</a:t>
            </a:r>
          </a:p>
        </p:txBody>
      </p:sp>
      <p:sp>
        <p:nvSpPr>
          <p:cNvPr id="6" name="Rectangle 5">
            <a:extLst>
              <a:ext uri="{FF2B5EF4-FFF2-40B4-BE49-F238E27FC236}">
                <a16:creationId xmlns:a16="http://schemas.microsoft.com/office/drawing/2014/main" id="{1FF96527-EF4E-B32C-7606-BA3F4551DB1E}"/>
              </a:ext>
            </a:extLst>
          </p:cNvPr>
          <p:cNvSpPr/>
          <p:nvPr/>
        </p:nvSpPr>
        <p:spPr>
          <a:xfrm>
            <a:off x="342900" y="116141"/>
            <a:ext cx="6968605" cy="523220"/>
          </a:xfrm>
          <a:prstGeom prst="rect">
            <a:avLst/>
          </a:prstGeom>
        </p:spPr>
        <p:txBody>
          <a:bodyPr wrap="square">
            <a:spAutoFit/>
          </a:bodyPr>
          <a:lstStyle/>
          <a:p>
            <a:r>
              <a:rPr lang="en-US" sz="1400" b="1">
                <a:solidFill>
                  <a:schemeClr val="accent1"/>
                </a:solidFill>
              </a:rPr>
              <a:t>Claims Management Capability – Claims Payment &amp; Presentment </a:t>
            </a:r>
          </a:p>
          <a:p>
            <a:r>
              <a:rPr lang="en-US" sz="1400" b="1">
                <a:solidFill>
                  <a:schemeClr val="accent1"/>
                </a:solidFill>
              </a:rPr>
              <a:t>Claims EOBs – Application Impacts</a:t>
            </a:r>
          </a:p>
        </p:txBody>
      </p:sp>
    </p:spTree>
    <p:extLst>
      <p:ext uri="{BB962C8B-B14F-4D97-AF65-F5344CB8AC3E}">
        <p14:creationId xmlns:p14="http://schemas.microsoft.com/office/powerpoint/2010/main" val="54154265"/>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816A71-D13C-9765-1359-F02FD733C8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233CC9-C2C0-71A3-A1E2-922D3616CBFF}"/>
              </a:ext>
            </a:extLst>
          </p:cNvPr>
          <p:cNvSpPr>
            <a:spLocks noGrp="1"/>
          </p:cNvSpPr>
          <p:nvPr>
            <p:ph type="ctrTitle"/>
          </p:nvPr>
        </p:nvSpPr>
        <p:spPr>
          <a:xfrm>
            <a:off x="3981450" y="1545682"/>
            <a:ext cx="4888307" cy="1330868"/>
          </a:xfrm>
        </p:spPr>
        <p:txBody>
          <a:bodyPr/>
          <a:lstStyle/>
          <a:p>
            <a:r>
              <a:rPr lang="en-US" sz="2000" b="1" spc="-51">
                <a:solidFill>
                  <a:schemeClr val="tx1">
                    <a:lumMod val="50000"/>
                  </a:schemeClr>
                </a:solidFill>
                <a:latin typeface="+mj-lt"/>
                <a:ea typeface="+mj-ea"/>
                <a:cs typeface="+mj-cs"/>
              </a:rPr>
              <a:t>Member Management Product Family Capability : Member Fulfillment</a:t>
            </a:r>
            <a:br>
              <a:rPr lang="en-US" sz="2400" b="1" spc="-51">
                <a:solidFill>
                  <a:schemeClr val="tx1">
                    <a:lumMod val="50000"/>
                  </a:schemeClr>
                </a:solidFill>
                <a:latin typeface="+mj-lt"/>
                <a:ea typeface="+mj-ea"/>
                <a:cs typeface="+mj-cs"/>
              </a:rPr>
            </a:br>
            <a:br>
              <a:rPr lang="en-US" sz="2400" b="1" spc="-51">
                <a:solidFill>
                  <a:schemeClr val="tx1">
                    <a:lumMod val="50000"/>
                  </a:schemeClr>
                </a:solidFill>
                <a:latin typeface="+mj-lt"/>
                <a:ea typeface="+mj-ea"/>
                <a:cs typeface="+mj-cs"/>
              </a:rPr>
            </a:br>
            <a:r>
              <a:rPr lang="en-US" sz="1400">
                <a:solidFill>
                  <a:schemeClr val="accent2"/>
                </a:solidFill>
              </a:rPr>
              <a:t>Supplemental Health Contracts &amp; Fulfillments</a:t>
            </a:r>
            <a:br>
              <a:rPr lang="en-US" sz="1400">
                <a:solidFill>
                  <a:schemeClr val="accent2"/>
                </a:solidFill>
              </a:rPr>
            </a:br>
            <a:r>
              <a:rPr lang="en-US" sz="1400"/>
              <a:t>Supp</a:t>
            </a:r>
            <a:r>
              <a:rPr lang="en-US" sz="1400">
                <a:solidFill>
                  <a:schemeClr val="accent2"/>
                </a:solidFill>
              </a:rPr>
              <a:t> </a:t>
            </a:r>
            <a:r>
              <a:rPr lang="en-US" sz="1400"/>
              <a:t>COCs</a:t>
            </a:r>
            <a:r>
              <a:rPr lang="en-US" sz="1400">
                <a:solidFill>
                  <a:schemeClr val="accent2"/>
                </a:solidFill>
              </a:rPr>
              <a:t> </a:t>
            </a:r>
            <a:r>
              <a:rPr lang="en-US" sz="1400" b="1">
                <a:solidFill>
                  <a:schemeClr val="accent1"/>
                </a:solidFill>
              </a:rPr>
              <a:t>- Large Group NB 51-99 </a:t>
            </a:r>
            <a:endParaRPr lang="en-US" sz="1400" b="1" spc="-51">
              <a:solidFill>
                <a:schemeClr val="tx1">
                  <a:lumMod val="50000"/>
                </a:schemeClr>
              </a:solidFill>
              <a:latin typeface="+mj-lt"/>
              <a:ea typeface="+mj-ea"/>
              <a:cs typeface="+mj-cs"/>
            </a:endParaRPr>
          </a:p>
        </p:txBody>
      </p:sp>
    </p:spTree>
    <p:extLst>
      <p:ext uri="{BB962C8B-B14F-4D97-AF65-F5344CB8AC3E}">
        <p14:creationId xmlns:p14="http://schemas.microsoft.com/office/powerpoint/2010/main" val="717757225"/>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36DE8E-58C3-FA0A-CF67-05F1469318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7C24EE-3A52-FF04-59BE-C183FCA6BEFD}"/>
              </a:ext>
            </a:extLst>
          </p:cNvPr>
          <p:cNvSpPr>
            <a:spLocks noGrp="1"/>
          </p:cNvSpPr>
          <p:nvPr>
            <p:ph type="title"/>
          </p:nvPr>
        </p:nvSpPr>
        <p:spPr>
          <a:xfrm>
            <a:off x="226814" y="0"/>
            <a:ext cx="7260336" cy="549381"/>
          </a:xfrm>
        </p:spPr>
        <p:txBody>
          <a:bodyPr>
            <a:normAutofit fontScale="90000"/>
          </a:bodyPr>
          <a:lstStyle/>
          <a:p>
            <a:r>
              <a:rPr lang="en-US"/>
              <a:t>Phase 2 - BA FI 51-99 - High Level requirements for Contracts &amp; Fulfillment</a:t>
            </a:r>
            <a:endParaRPr lang="en-US" sz="1800"/>
          </a:p>
        </p:txBody>
      </p:sp>
      <p:graphicFrame>
        <p:nvGraphicFramePr>
          <p:cNvPr id="8" name="Table 7">
            <a:extLst>
              <a:ext uri="{FF2B5EF4-FFF2-40B4-BE49-F238E27FC236}">
                <a16:creationId xmlns:a16="http://schemas.microsoft.com/office/drawing/2014/main" id="{787F8014-7287-2836-4D71-57280819B30D}"/>
              </a:ext>
            </a:extLst>
          </p:cNvPr>
          <p:cNvGraphicFramePr>
            <a:graphicFrameLocks noGrp="1"/>
          </p:cNvGraphicFramePr>
          <p:nvPr>
            <p:extLst>
              <p:ext uri="{D42A27DB-BD31-4B8C-83A1-F6EECF244321}">
                <p14:modId xmlns:p14="http://schemas.microsoft.com/office/powerpoint/2010/main" val="903153046"/>
              </p:ext>
            </p:extLst>
          </p:nvPr>
        </p:nvGraphicFramePr>
        <p:xfrm>
          <a:off x="262673" y="791429"/>
          <a:ext cx="8677481" cy="992894"/>
        </p:xfrm>
        <a:graphic>
          <a:graphicData uri="http://schemas.openxmlformats.org/drawingml/2006/table">
            <a:tbl>
              <a:tblPr/>
              <a:tblGrid>
                <a:gridCol w="1160424">
                  <a:extLst>
                    <a:ext uri="{9D8B030D-6E8A-4147-A177-3AD203B41FA5}">
                      <a16:colId xmlns:a16="http://schemas.microsoft.com/office/drawing/2014/main" val="1962179033"/>
                    </a:ext>
                  </a:extLst>
                </a:gridCol>
                <a:gridCol w="4126033">
                  <a:extLst>
                    <a:ext uri="{9D8B030D-6E8A-4147-A177-3AD203B41FA5}">
                      <a16:colId xmlns:a16="http://schemas.microsoft.com/office/drawing/2014/main" val="130540882"/>
                    </a:ext>
                  </a:extLst>
                </a:gridCol>
                <a:gridCol w="1837645">
                  <a:extLst>
                    <a:ext uri="{9D8B030D-6E8A-4147-A177-3AD203B41FA5}">
                      <a16:colId xmlns:a16="http://schemas.microsoft.com/office/drawing/2014/main" val="751610378"/>
                    </a:ext>
                  </a:extLst>
                </a:gridCol>
                <a:gridCol w="710787">
                  <a:extLst>
                    <a:ext uri="{9D8B030D-6E8A-4147-A177-3AD203B41FA5}">
                      <a16:colId xmlns:a16="http://schemas.microsoft.com/office/drawing/2014/main" val="2701245817"/>
                    </a:ext>
                  </a:extLst>
                </a:gridCol>
                <a:gridCol w="842592">
                  <a:extLst>
                    <a:ext uri="{9D8B030D-6E8A-4147-A177-3AD203B41FA5}">
                      <a16:colId xmlns:a16="http://schemas.microsoft.com/office/drawing/2014/main" val="1145494209"/>
                    </a:ext>
                  </a:extLst>
                </a:gridCol>
              </a:tblGrid>
              <a:tr h="169209">
                <a:tc>
                  <a:txBody>
                    <a:bodyPr/>
                    <a:lstStyle/>
                    <a:p>
                      <a:pPr algn="ctr" fontAlgn="b"/>
                      <a:r>
                        <a:rPr lang="en-US" sz="900" b="1" i="0" u="none" strike="noStrike">
                          <a:solidFill>
                            <a:srgbClr val="FFFFFF"/>
                          </a:solidFill>
                          <a:effectLst/>
                          <a:latin typeface="Calibri" panose="020F0502020204030204" pitchFamily="34" charset="0"/>
                        </a:rPr>
                        <a:t>Name</a:t>
                      </a:r>
                    </a:p>
                  </a:txBody>
                  <a:tcPr marL="725" marR="725" marT="7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en-US" sz="900" b="1" i="0" u="none" strike="noStrike">
                          <a:solidFill>
                            <a:srgbClr val="FFFFFF"/>
                          </a:solidFill>
                          <a:effectLst/>
                          <a:latin typeface="Calibri" panose="020F0502020204030204" pitchFamily="34" charset="0"/>
                        </a:rPr>
                        <a:t>Functionality Required</a:t>
                      </a:r>
                    </a:p>
                  </a:txBody>
                  <a:tcPr marL="725" marR="725" marT="7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en-US" sz="900" b="1" i="0" u="none" strike="noStrike">
                          <a:solidFill>
                            <a:srgbClr val="FFFFFF"/>
                          </a:solidFill>
                          <a:effectLst/>
                          <a:latin typeface="Calibri" panose="020F0502020204030204" pitchFamily="34" charset="0"/>
                        </a:rPr>
                        <a:t>In Scope</a:t>
                      </a:r>
                    </a:p>
                  </a:txBody>
                  <a:tcPr marL="725" marR="725" marT="7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en-US" sz="900" b="1" i="0" u="none" strike="noStrike">
                          <a:solidFill>
                            <a:srgbClr val="FFFFFF"/>
                          </a:solidFill>
                          <a:effectLst/>
                          <a:latin typeface="Calibri" panose="020F0502020204030204" pitchFamily="34" charset="0"/>
                        </a:rPr>
                        <a:t>Out of Scope</a:t>
                      </a:r>
                    </a:p>
                  </a:txBody>
                  <a:tcPr marL="725" marR="725" marT="7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en-US" sz="900" b="1" i="0" u="none" strike="noStrike">
                          <a:solidFill>
                            <a:srgbClr val="FFFFFF"/>
                          </a:solidFill>
                          <a:effectLst/>
                          <a:latin typeface="Calibri" panose="020F0502020204030204" pitchFamily="34" charset="0"/>
                        </a:rPr>
                        <a:t>Team</a:t>
                      </a:r>
                    </a:p>
                  </a:txBody>
                  <a:tcPr marL="725" marR="725" marT="7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1836913942"/>
                  </a:ext>
                </a:extLst>
              </a:tr>
              <a:tr h="823685">
                <a:tc>
                  <a:txBody>
                    <a:bodyPr/>
                    <a:lstStyle/>
                    <a:p>
                      <a:pPr algn="ctr" fontAlgn="t"/>
                      <a:r>
                        <a:rPr lang="en-US" sz="900" b="1" i="0" u="none" strike="noStrike">
                          <a:solidFill>
                            <a:srgbClr val="000000"/>
                          </a:solidFill>
                          <a:effectLst/>
                          <a:latin typeface="Calibri" panose="020F0502020204030204" pitchFamily="34" charset="0"/>
                        </a:rPr>
                        <a:t>Supplemental Health Contracts &amp; Fulfillment</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Calibri" panose="020F0502020204030204" pitchFamily="34" charset="0"/>
                        </a:rPr>
                        <a:t>Build an automated process - similar to Oxford FI NY/NJ 100+ where we can automate the COC and make accessible via Doc360; this requirement needs to be vetted with RRT team before we move forward with this requirement. </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900" b="0" i="0" u="none" strike="noStrike">
                          <a:solidFill>
                            <a:srgbClr val="000000"/>
                          </a:solidFill>
                          <a:effectLst/>
                          <a:latin typeface="Calibri" panose="020F0502020204030204" pitchFamily="34" charset="0"/>
                        </a:rPr>
                        <a:t>AK, AL, AR, AZ, DC, DE, FL, GA, HI, IA, ID, IL, IN, KS, KY, LA, MA, MD, ME, MI, MN, MO, MS, MT, NC, ND, NE, NH, NJ, NV, OH, OK, OR, PA, RI, SC, SD, TN, TX, UT, VA, WA, WI, WV, WY, </a:t>
                      </a:r>
                      <a:r>
                        <a:rPr lang="en-US" sz="800" b="0" i="0" u="none" strike="noStrike" kern="1200">
                          <a:solidFill>
                            <a:srgbClr val="000000"/>
                          </a:solidFill>
                          <a:effectLst/>
                          <a:latin typeface="Calibri" panose="020F0502020204030204" pitchFamily="34" charset="0"/>
                          <a:ea typeface="+mn-ea"/>
                          <a:cs typeface="+mn-cs"/>
                        </a:rPr>
                        <a:t>CO</a:t>
                      </a:r>
                      <a:br>
                        <a:rPr lang="en-US" sz="900" b="0" i="0" u="none" strike="noStrike">
                          <a:solidFill>
                            <a:srgbClr val="000000"/>
                          </a:solidFill>
                          <a:effectLst/>
                          <a:latin typeface="Calibri" panose="020F0502020204030204" pitchFamily="34" charset="0"/>
                        </a:rPr>
                      </a:br>
                      <a:r>
                        <a:rPr lang="en-US" sz="900" b="0" i="0" u="none" strike="noStrike">
                          <a:solidFill>
                            <a:srgbClr val="000000"/>
                          </a:solidFill>
                          <a:effectLst/>
                          <a:latin typeface="Calibri" panose="020F0502020204030204" pitchFamily="34" charset="0"/>
                        </a:rPr>
                        <a:t>Oxford Markets: NJ</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nn-NO" sz="900" b="0" i="0" u="none" strike="noStrike">
                          <a:solidFill>
                            <a:srgbClr val="000000"/>
                          </a:solidFill>
                          <a:effectLst/>
                          <a:latin typeface="Calibri" panose="020F0502020204030204" pitchFamily="34" charset="0"/>
                        </a:rPr>
                        <a:t>NM, CT, VT, CA, NY</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900" b="0" i="0" u="none" strike="noStrike">
                          <a:solidFill>
                            <a:srgbClr val="000000"/>
                          </a:solidFill>
                          <a:effectLst/>
                          <a:latin typeface="Calibri" panose="020F0502020204030204" pitchFamily="34" charset="0"/>
                        </a:rPr>
                        <a:t>Jonathan Mohr, Valerie Martinez, Karthik </a:t>
                      </a:r>
                      <a:r>
                        <a:rPr lang="en-US" sz="900" b="0" i="0" u="none" strike="noStrike" err="1">
                          <a:solidFill>
                            <a:srgbClr val="000000"/>
                          </a:solidFill>
                          <a:effectLst/>
                          <a:latin typeface="Calibri" panose="020F0502020204030204" pitchFamily="34" charset="0"/>
                        </a:rPr>
                        <a:t>Thilager</a:t>
                      </a:r>
                      <a:r>
                        <a:rPr lang="en-US" sz="900" b="0" i="0" u="none" strike="noStrike">
                          <a:solidFill>
                            <a:srgbClr val="000000"/>
                          </a:solidFill>
                          <a:effectLst/>
                          <a:latin typeface="Calibri" panose="020F0502020204030204" pitchFamily="34" charset="0"/>
                        </a:rPr>
                        <a:t>, Michael Dircz </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28509516"/>
                  </a:ext>
                </a:extLst>
              </a:tr>
            </a:tbl>
          </a:graphicData>
        </a:graphic>
      </p:graphicFrame>
    </p:spTree>
    <p:extLst>
      <p:ext uri="{BB962C8B-B14F-4D97-AF65-F5344CB8AC3E}">
        <p14:creationId xmlns:p14="http://schemas.microsoft.com/office/powerpoint/2010/main" val="418702461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3EDC4-F559-E80D-9461-675B7F16A6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F6B50A-A077-DC3C-C08D-2C1291F39F40}"/>
              </a:ext>
            </a:extLst>
          </p:cNvPr>
          <p:cNvSpPr>
            <a:spLocks noGrp="1"/>
          </p:cNvSpPr>
          <p:nvPr>
            <p:ph type="title"/>
          </p:nvPr>
        </p:nvSpPr>
        <p:spPr>
          <a:xfrm>
            <a:off x="689182" y="117807"/>
            <a:ext cx="7342710" cy="508270"/>
          </a:xfrm>
        </p:spPr>
        <p:txBody>
          <a:bodyPr>
            <a:normAutofit fontScale="90000"/>
          </a:bodyPr>
          <a:lstStyle/>
          <a:p>
            <a:r>
              <a:rPr lang="en-US" sz="1800" b="1">
                <a:solidFill>
                  <a:schemeClr val="accent1"/>
                </a:solidFill>
              </a:rPr>
              <a:t>Member Management – Member Fulfillment – Supplemental Health COCs NB Large Group 99+ – Current State</a:t>
            </a:r>
            <a:endParaRPr lang="en-US" sz="1800"/>
          </a:p>
        </p:txBody>
      </p:sp>
      <p:pic>
        <p:nvPicPr>
          <p:cNvPr id="5" name="Picture 4">
            <a:extLst>
              <a:ext uri="{FF2B5EF4-FFF2-40B4-BE49-F238E27FC236}">
                <a16:creationId xmlns:a16="http://schemas.microsoft.com/office/drawing/2014/main" id="{2AE29068-EF8A-8DAF-90A4-AF2D7105710E}"/>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036384" y="752475"/>
            <a:ext cx="6817438" cy="4103387"/>
          </a:xfrm>
          <a:prstGeom prst="rect">
            <a:avLst/>
          </a:prstGeom>
        </p:spPr>
      </p:pic>
      <p:sp>
        <p:nvSpPr>
          <p:cNvPr id="3" name="Rectangle 2">
            <a:extLst>
              <a:ext uri="{FF2B5EF4-FFF2-40B4-BE49-F238E27FC236}">
                <a16:creationId xmlns:a16="http://schemas.microsoft.com/office/drawing/2014/main" id="{BF9F1F3F-5BC2-AC02-BB8E-AECF652BA9B4}"/>
              </a:ext>
            </a:extLst>
          </p:cNvPr>
          <p:cNvSpPr/>
          <p:nvPr/>
        </p:nvSpPr>
        <p:spPr>
          <a:xfrm>
            <a:off x="942975" y="752475"/>
            <a:ext cx="4667250" cy="2952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30603950"/>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30D65-C3FF-A8E9-3B8E-4388A1C131F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2FCAFDD-A6D1-88E0-4ED5-EDA805B7182C}"/>
              </a:ext>
            </a:extLst>
          </p:cNvPr>
          <p:cNvSpPr>
            <a:spLocks noGrp="1"/>
          </p:cNvSpPr>
          <p:nvPr>
            <p:ph idx="1"/>
          </p:nvPr>
        </p:nvSpPr>
        <p:spPr>
          <a:xfrm>
            <a:off x="244550" y="747169"/>
            <a:ext cx="8742432" cy="4037267"/>
          </a:xfrm>
        </p:spPr>
        <p:txBody>
          <a:bodyPr vert="horz" lIns="91440" tIns="45720" rIns="91440" bIns="45720" rtlCol="0" anchor="t">
            <a:noAutofit/>
          </a:bodyPr>
          <a:lstStyle/>
          <a:p>
            <a:pPr marL="0" indent="0">
              <a:buNone/>
            </a:pPr>
            <a:r>
              <a:rPr lang="en-US" sz="1200" b="1" dirty="0"/>
              <a:t>Supplemental Health Contracts &amp; Fulfillment : Current State process</a:t>
            </a:r>
            <a:endParaRPr lang="en-US" sz="1200" b="1" dirty="0">
              <a:solidFill>
                <a:srgbClr val="000000"/>
              </a:solidFill>
              <a:latin typeface="Calibri" panose="020F0502020204030204" pitchFamily="34" charset="0"/>
            </a:endParaRPr>
          </a:p>
          <a:p>
            <a:pPr marL="0" indent="0">
              <a:buNone/>
            </a:pPr>
            <a:r>
              <a:rPr lang="en-US" sz="1200" b="1" dirty="0"/>
              <a:t>AXIS:</a:t>
            </a:r>
            <a:endParaRPr lang="en-US" sz="1200" dirty="0">
              <a:effectLst/>
              <a:latin typeface="Calibri" panose="020F0502020204030204" pitchFamily="34" charset="0"/>
              <a:ea typeface="Calibri" panose="020F0502020204030204" pitchFamily="34" charset="0"/>
            </a:endParaRPr>
          </a:p>
          <a:p>
            <a:pPr>
              <a:spcAft>
                <a:spcPts val="0"/>
              </a:spcAft>
              <a:buFont typeface="Wingdings" panose="05000000000000000000" pitchFamily="2" charset="2"/>
              <a:buChar char="§"/>
            </a:pPr>
            <a:r>
              <a:rPr lang="en-US" sz="1200" dirty="0">
                <a:effectLst/>
                <a:latin typeface="Calibri" panose="020F0502020204030204" pitchFamily="34" charset="0"/>
                <a:ea typeface="Calibri" panose="020F0502020204030204" pitchFamily="34" charset="0"/>
              </a:rPr>
              <a:t>IMO Implementation Manager assigned to sold case will manually open task in AXIS to have the </a:t>
            </a:r>
            <a:r>
              <a:rPr lang="en-US" sz="1200" dirty="0">
                <a:latin typeface="Calibri" panose="020F0502020204030204" pitchFamily="34" charset="0"/>
                <a:ea typeface="Calibri" panose="020F0502020204030204" pitchFamily="34" charset="0"/>
              </a:rPr>
              <a:t>supplemental health COCs generated. </a:t>
            </a:r>
          </a:p>
          <a:p>
            <a:pPr marL="0" indent="0">
              <a:spcAft>
                <a:spcPts val="0"/>
              </a:spcAft>
              <a:buNone/>
            </a:pPr>
            <a:endParaRPr lang="en-US" sz="1200" dirty="0">
              <a:effectLst/>
              <a:latin typeface="Calibri" panose="020F0502020204030204" pitchFamily="34" charset="0"/>
              <a:ea typeface="Calibri" panose="020F0502020204030204" pitchFamily="34" charset="0"/>
            </a:endParaRPr>
          </a:p>
          <a:p>
            <a:pPr marL="0" indent="0">
              <a:buNone/>
            </a:pPr>
            <a:r>
              <a:rPr lang="en-US" sz="1200" b="1" dirty="0"/>
              <a:t>OBM:</a:t>
            </a:r>
          </a:p>
          <a:p>
            <a:pPr>
              <a:spcAft>
                <a:spcPts val="0"/>
              </a:spcAft>
              <a:buFont typeface="Wingdings" panose="05000000000000000000" pitchFamily="2" charset="2"/>
              <a:buChar char="§"/>
            </a:pPr>
            <a:r>
              <a:rPr lang="en-US" sz="1200" dirty="0">
                <a:effectLst/>
                <a:latin typeface="Calibri" panose="020F0502020204030204" pitchFamily="34" charset="0"/>
                <a:ea typeface="Calibri" panose="020F0502020204030204" pitchFamily="34" charset="0"/>
              </a:rPr>
              <a:t>OBM will do the customer onboarding and </a:t>
            </a:r>
            <a:r>
              <a:rPr lang="en-US" sz="1200" dirty="0">
                <a:latin typeface="Calibri" panose="020F0502020204030204" pitchFamily="34" charset="0"/>
                <a:ea typeface="Calibri" panose="020F0502020204030204" pitchFamily="34" charset="0"/>
              </a:rPr>
              <a:t>compile the sold case information for the customer. </a:t>
            </a:r>
            <a:r>
              <a:rPr lang="en-US" sz="1200" dirty="0">
                <a:effectLst/>
                <a:latin typeface="Calibri" panose="020F0502020204030204" pitchFamily="34" charset="0"/>
                <a:ea typeface="Calibri" panose="020F0502020204030204" pitchFamily="34" charset="0"/>
              </a:rPr>
              <a:t>Cirrus has already made changes in past to utilize standard processes to load eligibility files containing member group and member enrollment information received from customers into Cirrus and the BA member eligibility information is published to Nimbus Kafka data streams for downstream consumption.</a:t>
            </a:r>
          </a:p>
          <a:p>
            <a:pPr>
              <a:spcAft>
                <a:spcPts val="0"/>
              </a:spcAft>
              <a:buFont typeface="Wingdings" panose="05000000000000000000" pitchFamily="2" charset="2"/>
              <a:buChar char="§"/>
            </a:pPr>
            <a:r>
              <a:rPr lang="en-US" sz="1200" dirty="0">
                <a:effectLst/>
                <a:latin typeface="Calibri" panose="020F0502020204030204" pitchFamily="34" charset="0"/>
                <a:ea typeface="Calibri" panose="020F0502020204030204" pitchFamily="34" charset="0"/>
              </a:rPr>
              <a:t>Cirrus has already made changes in past to send the medical claims information associate with BA members to UDW via Data Lake.</a:t>
            </a:r>
          </a:p>
          <a:p>
            <a:pPr>
              <a:spcAft>
                <a:spcPts val="0"/>
              </a:spcAft>
              <a:buFont typeface="Wingdings" panose="05000000000000000000" pitchFamily="2" charset="2"/>
              <a:buChar char="§"/>
            </a:pPr>
            <a:endParaRPr lang="en-US" sz="1200" dirty="0">
              <a:latin typeface="Calibri" panose="020F0502020204030204" pitchFamily="34" charset="0"/>
              <a:ea typeface="Calibri" panose="020F0502020204030204" pitchFamily="34" charset="0"/>
            </a:endParaRPr>
          </a:p>
          <a:p>
            <a:pPr marL="0" indent="0">
              <a:buNone/>
            </a:pPr>
            <a:r>
              <a:rPr lang="en-US" sz="1200" b="1" dirty="0"/>
              <a:t>Supplemental Health COC Automation BOT:</a:t>
            </a:r>
          </a:p>
          <a:p>
            <a:pPr>
              <a:spcAft>
                <a:spcPts val="0"/>
              </a:spcAft>
              <a:buFont typeface="Wingdings" panose="05000000000000000000" pitchFamily="2" charset="2"/>
              <a:buChar char="§"/>
            </a:pPr>
            <a:r>
              <a:rPr lang="en-US" sz="1200" dirty="0">
                <a:latin typeface="Calibri" panose="020F0502020204030204" pitchFamily="34" charset="0"/>
                <a:ea typeface="Calibri" panose="020F0502020204030204" pitchFamily="34" charset="0"/>
              </a:rPr>
              <a:t>RRT has created automation BOT few years ago, which looks at AXIS backend tables and identifies the tasks for creation of COCs and then it gathers the necessary Customer sold case information from OBM and fetches the appropriate COCs template from NAS drive and populates it and generates the COCs and uploads it into DOC360 and sends email notifications to business OPS team. </a:t>
            </a:r>
          </a:p>
          <a:p>
            <a:pPr>
              <a:spcAft>
                <a:spcPts val="0"/>
              </a:spcAft>
              <a:buFont typeface="Wingdings" panose="05000000000000000000" pitchFamily="2" charset="2"/>
              <a:buChar char="§"/>
            </a:pPr>
            <a:r>
              <a:rPr lang="en-US" sz="1200" dirty="0">
                <a:latin typeface="Calibri" panose="020F0502020204030204" pitchFamily="34" charset="0"/>
                <a:ea typeface="Calibri" panose="020F0502020204030204" pitchFamily="34" charset="0"/>
              </a:rPr>
              <a:t>The business OPS team pulls the Supplemental Health COCs for BA and packages it with medical COCs and sends it to members.</a:t>
            </a:r>
          </a:p>
          <a:p>
            <a:pPr>
              <a:spcAft>
                <a:spcPts val="0"/>
              </a:spcAft>
              <a:buFont typeface="Wingdings" panose="05000000000000000000" pitchFamily="2" charset="2"/>
              <a:buChar char="§"/>
            </a:pPr>
            <a:r>
              <a:rPr lang="en-US" sz="1200" dirty="0">
                <a:latin typeface="Calibri" panose="020F0502020204030204" pitchFamily="34" charset="0"/>
                <a:ea typeface="Calibri" panose="020F0502020204030204" pitchFamily="34" charset="0"/>
              </a:rPr>
              <a:t>The Supplemental Health Ops team manually creates the templates for the COCs and stores it in the NAS drive. </a:t>
            </a:r>
          </a:p>
          <a:p>
            <a:pPr>
              <a:spcAft>
                <a:spcPts val="0"/>
              </a:spcAft>
              <a:buFont typeface="Wingdings" panose="05000000000000000000" pitchFamily="2" charset="2"/>
              <a:buChar char="§"/>
            </a:pPr>
            <a:endParaRPr lang="en-US" sz="1200" dirty="0">
              <a:latin typeface="Calibri" panose="020F0502020204030204" pitchFamily="34" charset="0"/>
              <a:ea typeface="Calibri" panose="020F0502020204030204" pitchFamily="34" charset="0"/>
            </a:endParaRPr>
          </a:p>
          <a:p>
            <a:pPr marL="0" indent="0">
              <a:spcAft>
                <a:spcPts val="0"/>
              </a:spcAft>
              <a:buNone/>
            </a:pPr>
            <a:r>
              <a:rPr lang="en-US" sz="1200" b="1" dirty="0">
                <a:latin typeface="Calibri" panose="020F0502020204030204" pitchFamily="34" charset="0"/>
                <a:ea typeface="Calibri" panose="020F0502020204030204" pitchFamily="34" charset="0"/>
              </a:rPr>
              <a:t>Note: </a:t>
            </a:r>
            <a:r>
              <a:rPr lang="en-US" sz="1200" dirty="0">
                <a:latin typeface="Calibri" panose="020F0502020204030204" pitchFamily="34" charset="0"/>
                <a:ea typeface="Calibri" panose="020F0502020204030204" pitchFamily="34" charset="0"/>
              </a:rPr>
              <a:t>Business needs to make decision if we are going to leverage the current state process for Supplemental COCs or pivot to using the strategic COM360 asset for generating the Supplemental Health COCs to support the BA FI 51-99 market expansion.</a:t>
            </a:r>
          </a:p>
          <a:p>
            <a:pPr marL="0" indent="0">
              <a:spcAft>
                <a:spcPts val="0"/>
              </a:spcAft>
              <a:buNone/>
            </a:pPr>
            <a:r>
              <a:rPr lang="en-US" sz="1200" dirty="0">
                <a:latin typeface="Calibri" panose="020F0502020204030204" pitchFamily="34" charset="0"/>
                <a:ea typeface="Calibri" panose="020F0502020204030204" pitchFamily="34" charset="0"/>
              </a:rPr>
              <a:t>.</a:t>
            </a:r>
          </a:p>
          <a:p>
            <a:pPr>
              <a:spcAft>
                <a:spcPts val="0"/>
              </a:spcAft>
              <a:buFont typeface="Wingdings" panose="05000000000000000000" pitchFamily="2" charset="2"/>
              <a:buChar char="§"/>
            </a:pPr>
            <a:endParaRPr lang="en-US" sz="1200" dirty="0">
              <a:latin typeface="Calibri" panose="020F0502020204030204" pitchFamily="34" charset="0"/>
              <a:ea typeface="Calibri" panose="020F0502020204030204" pitchFamily="34" charset="0"/>
            </a:endParaRPr>
          </a:p>
          <a:p>
            <a:pPr marR="0">
              <a:spcBef>
                <a:spcPts val="0"/>
              </a:spcBef>
              <a:spcAft>
                <a:spcPts val="0"/>
              </a:spcAft>
              <a:buFontTx/>
              <a:buChar char="-"/>
            </a:pPr>
            <a:endParaRPr lang="en-US" sz="1200" dirty="0">
              <a:effectLst/>
              <a:latin typeface="Calibri" panose="020F0502020204030204" pitchFamily="34" charset="0"/>
              <a:ea typeface="Calibri" panose="020F0502020204030204" pitchFamily="34" charset="0"/>
            </a:endParaRPr>
          </a:p>
          <a:p>
            <a:pPr marR="0">
              <a:spcBef>
                <a:spcPts val="0"/>
              </a:spcBef>
              <a:spcAft>
                <a:spcPts val="0"/>
              </a:spcAft>
              <a:buFontTx/>
              <a:buChar char="-"/>
            </a:pPr>
            <a:endParaRPr lang="en-US" sz="1200" dirty="0">
              <a:latin typeface="Calibri" panose="020F0502020204030204" pitchFamily="34" charset="0"/>
              <a:ea typeface="Calibri" panose="020F0502020204030204" pitchFamily="34" charset="0"/>
            </a:endParaRPr>
          </a:p>
          <a:p>
            <a:pPr marR="0">
              <a:spcBef>
                <a:spcPts val="0"/>
              </a:spcBef>
              <a:spcAft>
                <a:spcPts val="0"/>
              </a:spcAft>
              <a:buFontTx/>
              <a:buChar char="-"/>
            </a:pPr>
            <a:endParaRPr lang="en-US" sz="1200" dirty="0">
              <a:effectLst/>
              <a:latin typeface="Calibri" panose="020F0502020204030204" pitchFamily="34" charset="0"/>
              <a:ea typeface="Calibri" panose="020F0502020204030204" pitchFamily="34" charset="0"/>
            </a:endParaRPr>
          </a:p>
          <a:p>
            <a:pPr marR="0">
              <a:spcBef>
                <a:spcPts val="0"/>
              </a:spcBef>
              <a:spcAft>
                <a:spcPts val="0"/>
              </a:spcAft>
              <a:buFontTx/>
              <a:buChar char="-"/>
            </a:pPr>
            <a:endParaRPr lang="en-US" sz="1200" dirty="0">
              <a:latin typeface="Calibri" panose="020F0502020204030204" pitchFamily="34" charset="0"/>
              <a:ea typeface="Calibri" panose="020F0502020204030204" pitchFamily="34" charset="0"/>
            </a:endParaRPr>
          </a:p>
          <a:p>
            <a:pPr marR="0">
              <a:spcBef>
                <a:spcPts val="0"/>
              </a:spcBef>
              <a:spcAft>
                <a:spcPts val="0"/>
              </a:spcAft>
              <a:buFontTx/>
              <a:buChar char="-"/>
            </a:pPr>
            <a:endParaRPr lang="en-US" sz="1200" dirty="0">
              <a:effectLst/>
              <a:latin typeface="Calibri" panose="020F0502020204030204" pitchFamily="34" charset="0"/>
              <a:ea typeface="Calibri" panose="020F0502020204030204" pitchFamily="34" charset="0"/>
            </a:endParaRPr>
          </a:p>
          <a:p>
            <a:pPr marR="0">
              <a:spcBef>
                <a:spcPts val="0"/>
              </a:spcBef>
              <a:spcAft>
                <a:spcPts val="0"/>
              </a:spcAft>
              <a:buFontTx/>
              <a:buChar char="-"/>
            </a:pPr>
            <a:endParaRPr lang="en-US" sz="1200" dirty="0">
              <a:latin typeface="Calibri" panose="020F0502020204030204" pitchFamily="34" charset="0"/>
              <a:ea typeface="Calibri" panose="020F0502020204030204" pitchFamily="34" charset="0"/>
            </a:endParaRPr>
          </a:p>
          <a:p>
            <a:pPr marR="0">
              <a:spcBef>
                <a:spcPts val="0"/>
              </a:spcBef>
              <a:spcAft>
                <a:spcPts val="0"/>
              </a:spcAft>
              <a:buFontTx/>
              <a:buChar char="-"/>
            </a:pPr>
            <a:endParaRPr lang="en-US" sz="1200" dirty="0">
              <a:effectLst/>
              <a:latin typeface="Calibri" panose="020F0502020204030204" pitchFamily="34" charset="0"/>
              <a:ea typeface="Calibri" panose="020F0502020204030204" pitchFamily="34" charset="0"/>
            </a:endParaRPr>
          </a:p>
          <a:p>
            <a:pPr marR="0">
              <a:spcBef>
                <a:spcPts val="0"/>
              </a:spcBef>
              <a:spcAft>
                <a:spcPts val="0"/>
              </a:spcAft>
              <a:buFontTx/>
              <a:buChar char="-"/>
            </a:pPr>
            <a:endParaRPr lang="en-US" sz="1200" dirty="0">
              <a:latin typeface="Calibri" panose="020F0502020204030204" pitchFamily="34" charset="0"/>
              <a:ea typeface="Calibri" panose="020F0502020204030204" pitchFamily="34" charset="0"/>
            </a:endParaRPr>
          </a:p>
          <a:p>
            <a:pPr marR="0">
              <a:spcBef>
                <a:spcPts val="0"/>
              </a:spcBef>
              <a:spcAft>
                <a:spcPts val="0"/>
              </a:spcAft>
              <a:buFontTx/>
              <a:buChar char="-"/>
            </a:pPr>
            <a:endParaRPr lang="en-US" sz="1200" dirty="0">
              <a:effectLst/>
              <a:latin typeface="Calibri" panose="020F0502020204030204" pitchFamily="34" charset="0"/>
              <a:ea typeface="Calibri" panose="020F0502020204030204" pitchFamily="34" charset="0"/>
            </a:endParaRPr>
          </a:p>
          <a:p>
            <a:pPr marR="0">
              <a:spcBef>
                <a:spcPts val="0"/>
              </a:spcBef>
              <a:spcAft>
                <a:spcPts val="0"/>
              </a:spcAft>
              <a:buFontTx/>
              <a:buChar char="-"/>
            </a:pPr>
            <a:endParaRPr lang="en-US" sz="1200" dirty="0">
              <a:latin typeface="Calibri" panose="020F0502020204030204" pitchFamily="34" charset="0"/>
              <a:ea typeface="Calibri" panose="020F0502020204030204" pitchFamily="34" charset="0"/>
            </a:endParaRPr>
          </a:p>
          <a:p>
            <a:pPr marR="0">
              <a:spcBef>
                <a:spcPts val="0"/>
              </a:spcBef>
              <a:spcAft>
                <a:spcPts val="0"/>
              </a:spcAft>
              <a:buFontTx/>
              <a:buChar char="-"/>
            </a:pPr>
            <a:endParaRPr lang="en-US" sz="1200" dirty="0">
              <a:effectLst/>
              <a:latin typeface="Calibri" panose="020F0502020204030204" pitchFamily="34" charset="0"/>
              <a:ea typeface="Calibri" panose="020F0502020204030204" pitchFamily="34" charset="0"/>
            </a:endParaRPr>
          </a:p>
          <a:p>
            <a:pPr marR="0">
              <a:spcBef>
                <a:spcPts val="0"/>
              </a:spcBef>
              <a:spcAft>
                <a:spcPts val="0"/>
              </a:spcAft>
              <a:buFontTx/>
              <a:buChar char="-"/>
            </a:pPr>
            <a:endParaRPr lang="en-US" sz="1200" dirty="0">
              <a:latin typeface="Calibri" panose="020F0502020204030204" pitchFamily="34" charset="0"/>
              <a:ea typeface="Calibri" panose="020F0502020204030204" pitchFamily="34" charset="0"/>
            </a:endParaRPr>
          </a:p>
          <a:p>
            <a:pPr marR="0">
              <a:spcBef>
                <a:spcPts val="0"/>
              </a:spcBef>
              <a:spcAft>
                <a:spcPts val="0"/>
              </a:spcAft>
              <a:buFontTx/>
              <a:buChar char="-"/>
            </a:pPr>
            <a:endParaRPr lang="en-US" sz="1200" dirty="0">
              <a:effectLst/>
              <a:latin typeface="Calibri" panose="020F0502020204030204" pitchFamily="34" charset="0"/>
              <a:ea typeface="Calibri" panose="020F0502020204030204" pitchFamily="34" charset="0"/>
            </a:endParaRPr>
          </a:p>
          <a:p>
            <a:pPr marL="0" marR="0" indent="0">
              <a:spcBef>
                <a:spcPts val="0"/>
              </a:spcBef>
              <a:spcAft>
                <a:spcPts val="0"/>
              </a:spcAft>
              <a:buNone/>
            </a:pPr>
            <a:endParaRPr lang="en-US" sz="700" dirty="0">
              <a:effectLst/>
              <a:latin typeface="Calibri" panose="020F0502020204030204" pitchFamily="34" charset="0"/>
              <a:ea typeface="Calibri" panose="020F0502020204030204" pitchFamily="34" charset="0"/>
            </a:endParaRPr>
          </a:p>
        </p:txBody>
      </p:sp>
      <p:sp>
        <p:nvSpPr>
          <p:cNvPr id="3" name="Slide Number Placeholder 2">
            <a:extLst>
              <a:ext uri="{FF2B5EF4-FFF2-40B4-BE49-F238E27FC236}">
                <a16:creationId xmlns:a16="http://schemas.microsoft.com/office/drawing/2014/main" id="{80E52040-7374-638F-1E69-74CA73673A90}"/>
              </a:ext>
            </a:extLst>
          </p:cNvPr>
          <p:cNvSpPr>
            <a:spLocks noGrp="1"/>
          </p:cNvSpPr>
          <p:nvPr>
            <p:ph type="sldNum" sz="quarter" idx="12"/>
          </p:nvPr>
        </p:nvSpPr>
        <p:spPr/>
        <p:txBody>
          <a:bodyPr/>
          <a:lstStyle/>
          <a:p>
            <a:fld id="{90F9BDA0-AF0E-4BA8-B742-3B9C92A3E6FE}" type="slidenum">
              <a:rPr lang="en-US" smtClean="0"/>
              <a:t>39</a:t>
            </a:fld>
            <a:endParaRPr lang="en-US"/>
          </a:p>
        </p:txBody>
      </p:sp>
      <p:sp>
        <p:nvSpPr>
          <p:cNvPr id="5" name="Rectangle 4">
            <a:extLst>
              <a:ext uri="{FF2B5EF4-FFF2-40B4-BE49-F238E27FC236}">
                <a16:creationId xmlns:a16="http://schemas.microsoft.com/office/drawing/2014/main" id="{D9E5C2B5-C4A5-DBED-CBD5-FEDD3921F0BC}"/>
              </a:ext>
            </a:extLst>
          </p:cNvPr>
          <p:cNvSpPr/>
          <p:nvPr/>
        </p:nvSpPr>
        <p:spPr>
          <a:xfrm>
            <a:off x="7182901" y="943490"/>
            <a:ext cx="1056700" cy="400110"/>
          </a:xfrm>
          <a:prstGeom prst="rect">
            <a:avLst/>
          </a:prstGeom>
          <a:noFill/>
        </p:spPr>
        <p:txBody>
          <a:bodyPr wrap="none" lIns="91440" tIns="45720" rIns="91440" bIns="45720">
            <a:spAutoFit/>
          </a:bodyPr>
          <a:lstStyle/>
          <a:p>
            <a:pPr algn="ctr"/>
            <a:r>
              <a:rPr lang="en-US" sz="2000" b="1" cap="none" spc="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rPr>
              <a:t>DRAFT</a:t>
            </a:r>
          </a:p>
        </p:txBody>
      </p:sp>
      <p:sp>
        <p:nvSpPr>
          <p:cNvPr id="6" name="Rectangle 5">
            <a:extLst>
              <a:ext uri="{FF2B5EF4-FFF2-40B4-BE49-F238E27FC236}">
                <a16:creationId xmlns:a16="http://schemas.microsoft.com/office/drawing/2014/main" id="{EBA96C05-1B8E-C2D9-8544-8F36D6CC34D8}"/>
              </a:ext>
            </a:extLst>
          </p:cNvPr>
          <p:cNvSpPr/>
          <p:nvPr/>
        </p:nvSpPr>
        <p:spPr>
          <a:xfrm>
            <a:off x="342900" y="116141"/>
            <a:ext cx="6968605" cy="523220"/>
          </a:xfrm>
          <a:prstGeom prst="rect">
            <a:avLst/>
          </a:prstGeom>
        </p:spPr>
        <p:txBody>
          <a:bodyPr wrap="square">
            <a:spAutoFit/>
          </a:bodyPr>
          <a:lstStyle/>
          <a:p>
            <a:r>
              <a:rPr lang="en-US" sz="1400" b="1">
                <a:solidFill>
                  <a:schemeClr val="accent1"/>
                </a:solidFill>
              </a:rPr>
              <a:t>Member Management Capability – Member Fulfillment</a:t>
            </a:r>
          </a:p>
          <a:p>
            <a:r>
              <a:rPr lang="en-US" sz="1400" b="1">
                <a:solidFill>
                  <a:schemeClr val="accent1"/>
                </a:solidFill>
              </a:rPr>
              <a:t>COCs – Application Impacts</a:t>
            </a:r>
          </a:p>
        </p:txBody>
      </p:sp>
    </p:spTree>
    <p:extLst>
      <p:ext uri="{BB962C8B-B14F-4D97-AF65-F5344CB8AC3E}">
        <p14:creationId xmlns:p14="http://schemas.microsoft.com/office/powerpoint/2010/main" val="913162742"/>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7B0F1-ABAC-4E55-8183-8AFA6C8FFDDA}"/>
              </a:ext>
            </a:extLst>
          </p:cNvPr>
          <p:cNvSpPr>
            <a:spLocks noGrp="1"/>
          </p:cNvSpPr>
          <p:nvPr>
            <p:ph type="title"/>
          </p:nvPr>
        </p:nvSpPr>
        <p:spPr>
          <a:xfrm>
            <a:off x="302004" y="70860"/>
            <a:ext cx="7127496" cy="693525"/>
          </a:xfrm>
        </p:spPr>
        <p:txBody>
          <a:bodyPr>
            <a:normAutofit/>
          </a:bodyPr>
          <a:lstStyle/>
          <a:p>
            <a:r>
              <a:rPr lang="en-US" sz="1800"/>
              <a:t>Large Group 99+ – Medical COCs &amp; BA COCs </a:t>
            </a:r>
            <a:br>
              <a:rPr lang="en-US" sz="1800"/>
            </a:br>
            <a:r>
              <a:rPr lang="en-US" sz="1800"/>
              <a:t>(Fulfillment Materials) – Future State – Target Architecture</a:t>
            </a:r>
          </a:p>
        </p:txBody>
      </p:sp>
      <p:pic>
        <p:nvPicPr>
          <p:cNvPr id="5" name="Picture 4">
            <a:extLst>
              <a:ext uri="{FF2B5EF4-FFF2-40B4-BE49-F238E27FC236}">
                <a16:creationId xmlns:a16="http://schemas.microsoft.com/office/drawing/2014/main" id="{7E87319A-C297-430F-938B-8F1BBDBB5E6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06931" y="764385"/>
            <a:ext cx="6067645" cy="4068871"/>
          </a:xfrm>
          <a:prstGeom prst="rect">
            <a:avLst/>
          </a:prstGeom>
        </p:spPr>
      </p:pic>
      <p:sp>
        <p:nvSpPr>
          <p:cNvPr id="7" name="Rectangle 6">
            <a:extLst>
              <a:ext uri="{FF2B5EF4-FFF2-40B4-BE49-F238E27FC236}">
                <a16:creationId xmlns:a16="http://schemas.microsoft.com/office/drawing/2014/main" id="{5CBF350A-7E35-438A-B6D7-AD418AF9C803}"/>
              </a:ext>
            </a:extLst>
          </p:cNvPr>
          <p:cNvSpPr/>
          <p:nvPr/>
        </p:nvSpPr>
        <p:spPr>
          <a:xfrm>
            <a:off x="6045338" y="2598765"/>
            <a:ext cx="1056700" cy="400110"/>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w="12700" cmpd="sng">
                  <a:solidFill>
                    <a:srgbClr val="9521AD"/>
                  </a:solidFill>
                  <a:prstDash val="solid"/>
                </a:ln>
                <a:gradFill>
                  <a:gsLst>
                    <a:gs pos="0">
                      <a:srgbClr val="9521AD"/>
                    </a:gs>
                    <a:gs pos="4000">
                      <a:srgbClr val="9521AD">
                        <a:lumMod val="60000"/>
                        <a:lumOff val="40000"/>
                      </a:srgbClr>
                    </a:gs>
                    <a:gs pos="87000">
                      <a:srgbClr val="9521AD">
                        <a:lumMod val="20000"/>
                        <a:lumOff val="80000"/>
                      </a:srgbClr>
                    </a:gs>
                  </a:gsLst>
                  <a:lin ang="5400000"/>
                </a:gradFill>
                <a:effectLst/>
                <a:uLnTx/>
                <a:uFillTx/>
                <a:latin typeface="Arial"/>
                <a:ea typeface="+mn-ea"/>
                <a:cs typeface="+mn-cs"/>
              </a:rPr>
              <a:t>DRAFT</a:t>
            </a:r>
          </a:p>
        </p:txBody>
      </p:sp>
      <p:sp>
        <p:nvSpPr>
          <p:cNvPr id="3" name="Oval 2">
            <a:extLst>
              <a:ext uri="{FF2B5EF4-FFF2-40B4-BE49-F238E27FC236}">
                <a16:creationId xmlns:a16="http://schemas.microsoft.com/office/drawing/2014/main" id="{63024E56-0282-55E6-4E38-9DF562B6D5A9}"/>
              </a:ext>
            </a:extLst>
          </p:cNvPr>
          <p:cNvSpPr/>
          <p:nvPr/>
        </p:nvSpPr>
        <p:spPr>
          <a:xfrm>
            <a:off x="3038475" y="1457910"/>
            <a:ext cx="933450" cy="914400"/>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39622478"/>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0FEDE8-B77E-B562-804B-BB8704D1A7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4E2C1D-2560-1C51-9560-A5DE2F61089A}"/>
              </a:ext>
            </a:extLst>
          </p:cNvPr>
          <p:cNvSpPr>
            <a:spLocks noGrp="1"/>
          </p:cNvSpPr>
          <p:nvPr>
            <p:ph type="ctrTitle"/>
          </p:nvPr>
        </p:nvSpPr>
        <p:spPr>
          <a:xfrm>
            <a:off x="3962400" y="1698082"/>
            <a:ext cx="4888307" cy="1092744"/>
          </a:xfrm>
        </p:spPr>
        <p:txBody>
          <a:bodyPr/>
          <a:lstStyle/>
          <a:p>
            <a:r>
              <a:rPr lang="en-US" sz="2000" b="1" spc="-51" dirty="0">
                <a:solidFill>
                  <a:schemeClr val="tx1">
                    <a:lumMod val="50000"/>
                  </a:schemeClr>
                </a:solidFill>
                <a:latin typeface="+mj-lt"/>
                <a:ea typeface="+mj-ea"/>
                <a:cs typeface="+mj-cs"/>
              </a:rPr>
              <a:t>Member Management Product Family Capability : Member Self Service</a:t>
            </a:r>
            <a:br>
              <a:rPr lang="en-US" sz="2400" b="1" spc="-51" dirty="0">
                <a:solidFill>
                  <a:schemeClr val="tx1">
                    <a:lumMod val="50000"/>
                  </a:schemeClr>
                </a:solidFill>
                <a:latin typeface="+mj-lt"/>
                <a:ea typeface="+mj-ea"/>
                <a:cs typeface="+mj-cs"/>
              </a:rPr>
            </a:br>
            <a:br>
              <a:rPr lang="en-US" sz="2400" b="1" spc="-51" dirty="0">
                <a:solidFill>
                  <a:schemeClr val="tx1">
                    <a:lumMod val="50000"/>
                  </a:schemeClr>
                </a:solidFill>
                <a:latin typeface="+mj-lt"/>
                <a:ea typeface="+mj-ea"/>
                <a:cs typeface="+mj-cs"/>
              </a:rPr>
            </a:br>
            <a:r>
              <a:rPr lang="en-US" sz="1400" dirty="0">
                <a:solidFill>
                  <a:schemeClr val="accent2"/>
                </a:solidFill>
              </a:rPr>
              <a:t>Member Access to Benefit Ally Information</a:t>
            </a:r>
            <a:br>
              <a:rPr lang="en-US" sz="1400" dirty="0">
                <a:solidFill>
                  <a:srgbClr val="000000"/>
                </a:solidFill>
                <a:latin typeface="Calibri" panose="020F0502020204030204" pitchFamily="34" charset="0"/>
              </a:rPr>
            </a:br>
            <a:r>
              <a:rPr lang="en-US" sz="1400" dirty="0"/>
              <a:t>Benefit Summaries </a:t>
            </a:r>
            <a:r>
              <a:rPr lang="en-US" sz="1400" b="1" dirty="0">
                <a:solidFill>
                  <a:schemeClr val="accent1"/>
                </a:solidFill>
              </a:rPr>
              <a:t>- Large Group NB 51-99 </a:t>
            </a:r>
            <a:endParaRPr lang="en-US" sz="1400" b="1" spc="-51" dirty="0">
              <a:solidFill>
                <a:schemeClr val="tx1">
                  <a:lumMod val="50000"/>
                </a:schemeClr>
              </a:solidFill>
              <a:latin typeface="+mj-lt"/>
              <a:ea typeface="+mj-ea"/>
              <a:cs typeface="+mj-cs"/>
            </a:endParaRPr>
          </a:p>
        </p:txBody>
      </p:sp>
    </p:spTree>
    <p:extLst>
      <p:ext uri="{BB962C8B-B14F-4D97-AF65-F5344CB8AC3E}">
        <p14:creationId xmlns:p14="http://schemas.microsoft.com/office/powerpoint/2010/main" val="495861314"/>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89DC61-02B8-AFD7-8093-114633390F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CFCA1D-AE8C-DADC-CE54-7E5AB5998194}"/>
              </a:ext>
            </a:extLst>
          </p:cNvPr>
          <p:cNvSpPr>
            <a:spLocks noGrp="1"/>
          </p:cNvSpPr>
          <p:nvPr>
            <p:ph type="title"/>
          </p:nvPr>
        </p:nvSpPr>
        <p:spPr>
          <a:xfrm>
            <a:off x="226814" y="0"/>
            <a:ext cx="7260336" cy="549381"/>
          </a:xfrm>
        </p:spPr>
        <p:txBody>
          <a:bodyPr>
            <a:normAutofit fontScale="90000"/>
          </a:bodyPr>
          <a:lstStyle/>
          <a:p>
            <a:r>
              <a:rPr lang="en-US"/>
              <a:t>Phase 2 - BA FI 51-99 - High Level requirements for Member Access to BA info</a:t>
            </a:r>
            <a:endParaRPr lang="en-US" sz="1800"/>
          </a:p>
        </p:txBody>
      </p:sp>
      <p:graphicFrame>
        <p:nvGraphicFramePr>
          <p:cNvPr id="8" name="Table 7">
            <a:extLst>
              <a:ext uri="{FF2B5EF4-FFF2-40B4-BE49-F238E27FC236}">
                <a16:creationId xmlns:a16="http://schemas.microsoft.com/office/drawing/2014/main" id="{6F3E2C7C-0D3E-27DB-6D98-8768E4D7396E}"/>
              </a:ext>
            </a:extLst>
          </p:cNvPr>
          <p:cNvGraphicFramePr>
            <a:graphicFrameLocks noGrp="1"/>
          </p:cNvGraphicFramePr>
          <p:nvPr>
            <p:extLst>
              <p:ext uri="{D42A27DB-BD31-4B8C-83A1-F6EECF244321}">
                <p14:modId xmlns:p14="http://schemas.microsoft.com/office/powerpoint/2010/main" val="3138729016"/>
              </p:ext>
            </p:extLst>
          </p:nvPr>
        </p:nvGraphicFramePr>
        <p:xfrm>
          <a:off x="226814" y="800394"/>
          <a:ext cx="8856419" cy="992894"/>
        </p:xfrm>
        <a:graphic>
          <a:graphicData uri="http://schemas.openxmlformats.org/drawingml/2006/table">
            <a:tbl>
              <a:tblPr/>
              <a:tblGrid>
                <a:gridCol w="1184353">
                  <a:extLst>
                    <a:ext uri="{9D8B030D-6E8A-4147-A177-3AD203B41FA5}">
                      <a16:colId xmlns:a16="http://schemas.microsoft.com/office/drawing/2014/main" val="1962179033"/>
                    </a:ext>
                  </a:extLst>
                </a:gridCol>
                <a:gridCol w="4211116">
                  <a:extLst>
                    <a:ext uri="{9D8B030D-6E8A-4147-A177-3AD203B41FA5}">
                      <a16:colId xmlns:a16="http://schemas.microsoft.com/office/drawing/2014/main" val="130540882"/>
                    </a:ext>
                  </a:extLst>
                </a:gridCol>
                <a:gridCol w="1875539">
                  <a:extLst>
                    <a:ext uri="{9D8B030D-6E8A-4147-A177-3AD203B41FA5}">
                      <a16:colId xmlns:a16="http://schemas.microsoft.com/office/drawing/2014/main" val="751610378"/>
                    </a:ext>
                  </a:extLst>
                </a:gridCol>
                <a:gridCol w="725444">
                  <a:extLst>
                    <a:ext uri="{9D8B030D-6E8A-4147-A177-3AD203B41FA5}">
                      <a16:colId xmlns:a16="http://schemas.microsoft.com/office/drawing/2014/main" val="2701245817"/>
                    </a:ext>
                  </a:extLst>
                </a:gridCol>
                <a:gridCol w="859967">
                  <a:extLst>
                    <a:ext uri="{9D8B030D-6E8A-4147-A177-3AD203B41FA5}">
                      <a16:colId xmlns:a16="http://schemas.microsoft.com/office/drawing/2014/main" val="1145494209"/>
                    </a:ext>
                  </a:extLst>
                </a:gridCol>
              </a:tblGrid>
              <a:tr h="169209">
                <a:tc>
                  <a:txBody>
                    <a:bodyPr/>
                    <a:lstStyle/>
                    <a:p>
                      <a:pPr algn="ctr" fontAlgn="b"/>
                      <a:r>
                        <a:rPr lang="en-US" sz="900" b="1" i="0" u="none" strike="noStrike">
                          <a:solidFill>
                            <a:srgbClr val="FFFFFF"/>
                          </a:solidFill>
                          <a:effectLst/>
                          <a:latin typeface="Calibri" panose="020F0502020204030204" pitchFamily="34" charset="0"/>
                        </a:rPr>
                        <a:t>Name</a:t>
                      </a:r>
                    </a:p>
                  </a:txBody>
                  <a:tcPr marL="725" marR="725" marT="7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en-US" sz="900" b="1" i="0" u="none" strike="noStrike">
                          <a:solidFill>
                            <a:srgbClr val="FFFFFF"/>
                          </a:solidFill>
                          <a:effectLst/>
                          <a:latin typeface="Calibri" panose="020F0502020204030204" pitchFamily="34" charset="0"/>
                        </a:rPr>
                        <a:t>Functionality Required</a:t>
                      </a:r>
                    </a:p>
                  </a:txBody>
                  <a:tcPr marL="725" marR="725" marT="7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en-US" sz="900" b="1" i="0" u="none" strike="noStrike">
                          <a:solidFill>
                            <a:srgbClr val="FFFFFF"/>
                          </a:solidFill>
                          <a:effectLst/>
                          <a:latin typeface="Calibri" panose="020F0502020204030204" pitchFamily="34" charset="0"/>
                        </a:rPr>
                        <a:t>In Scope</a:t>
                      </a:r>
                    </a:p>
                  </a:txBody>
                  <a:tcPr marL="725" marR="725" marT="7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en-US" sz="900" b="1" i="0" u="none" strike="noStrike">
                          <a:solidFill>
                            <a:srgbClr val="FFFFFF"/>
                          </a:solidFill>
                          <a:effectLst/>
                          <a:latin typeface="Calibri" panose="020F0502020204030204" pitchFamily="34" charset="0"/>
                        </a:rPr>
                        <a:t>Out of Scope</a:t>
                      </a:r>
                    </a:p>
                  </a:txBody>
                  <a:tcPr marL="725" marR="725" marT="7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en-US" sz="900" b="1" i="0" u="none" strike="noStrike">
                          <a:solidFill>
                            <a:srgbClr val="FFFFFF"/>
                          </a:solidFill>
                          <a:effectLst/>
                          <a:latin typeface="Calibri" panose="020F0502020204030204" pitchFamily="34" charset="0"/>
                        </a:rPr>
                        <a:t>Team</a:t>
                      </a:r>
                    </a:p>
                  </a:txBody>
                  <a:tcPr marL="725" marR="725" marT="7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1836913942"/>
                  </a:ext>
                </a:extLst>
              </a:tr>
              <a:tr h="823685">
                <a:tc>
                  <a:txBody>
                    <a:bodyPr/>
                    <a:lstStyle/>
                    <a:p>
                      <a:pPr algn="ctr" fontAlgn="t"/>
                      <a:r>
                        <a:rPr lang="en-US" sz="900" b="1" i="0" u="none" strike="noStrike">
                          <a:solidFill>
                            <a:srgbClr val="000000"/>
                          </a:solidFill>
                          <a:effectLst/>
                          <a:latin typeface="Calibri" panose="020F0502020204030204" pitchFamily="34" charset="0"/>
                        </a:rPr>
                        <a:t>Member Access to Benefit Ally Information</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Calibri" panose="020F0502020204030204" pitchFamily="34" charset="0"/>
                        </a:rPr>
                        <a:t>DOB's accessible via myuhc.com - all documents MUST go through UA before posting - need process for this. </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900" b="0" i="0" u="none" strike="noStrike">
                          <a:solidFill>
                            <a:srgbClr val="000000"/>
                          </a:solidFill>
                          <a:effectLst/>
                          <a:latin typeface="Calibri" panose="020F0502020204030204" pitchFamily="34" charset="0"/>
                        </a:rPr>
                        <a:t>AK, AL, AR, AZ, DC, DE, FL, GA, HI, IA, ID, IL, IN, KS, KY, LA, MA, MD, ME, MI, MN, MO, MS, MT, NC, ND, NE, NH, NJ, NV, OH, OK, OR, PA, RI, SC, SD, TN, TX, UT, VA, WA, WI, WV, WY, </a:t>
                      </a:r>
                      <a:r>
                        <a:rPr lang="en-US" sz="800" b="0" i="0" u="none" strike="noStrike" kern="1200">
                          <a:solidFill>
                            <a:srgbClr val="000000"/>
                          </a:solidFill>
                          <a:effectLst/>
                          <a:latin typeface="Calibri" panose="020F0502020204030204" pitchFamily="34" charset="0"/>
                          <a:ea typeface="+mn-ea"/>
                          <a:cs typeface="+mn-cs"/>
                        </a:rPr>
                        <a:t>CO</a:t>
                      </a:r>
                      <a:br>
                        <a:rPr lang="en-US" sz="900" b="0" i="0" u="none" strike="noStrike">
                          <a:solidFill>
                            <a:srgbClr val="000000"/>
                          </a:solidFill>
                          <a:effectLst/>
                          <a:latin typeface="Calibri" panose="020F0502020204030204" pitchFamily="34" charset="0"/>
                        </a:rPr>
                      </a:br>
                      <a:r>
                        <a:rPr lang="en-US" sz="900" b="0" i="0" u="none" strike="noStrike">
                          <a:solidFill>
                            <a:srgbClr val="000000"/>
                          </a:solidFill>
                          <a:effectLst/>
                          <a:latin typeface="Calibri" panose="020F0502020204030204" pitchFamily="34" charset="0"/>
                        </a:rPr>
                        <a:t>Oxford Markets: NJ</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nn-NO" sz="900" b="0" i="0" u="none" strike="noStrike">
                          <a:solidFill>
                            <a:srgbClr val="000000"/>
                          </a:solidFill>
                          <a:effectLst/>
                          <a:latin typeface="Calibri" panose="020F0502020204030204" pitchFamily="34" charset="0"/>
                        </a:rPr>
                        <a:t>NM, CT, VT, CA, NY</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900" b="0" i="0" u="none" strike="noStrike">
                          <a:solidFill>
                            <a:srgbClr val="000000"/>
                          </a:solidFill>
                          <a:effectLst/>
                          <a:latin typeface="Calibri" panose="020F0502020204030204" pitchFamily="34" charset="0"/>
                        </a:rPr>
                        <a:t>Jonathan Mohr, Valerie Martinez, Karthik </a:t>
                      </a:r>
                      <a:r>
                        <a:rPr lang="en-US" sz="900" b="0" i="0" u="none" strike="noStrike" err="1">
                          <a:solidFill>
                            <a:srgbClr val="000000"/>
                          </a:solidFill>
                          <a:effectLst/>
                          <a:latin typeface="Calibri" panose="020F0502020204030204" pitchFamily="34" charset="0"/>
                        </a:rPr>
                        <a:t>Thilager</a:t>
                      </a:r>
                      <a:r>
                        <a:rPr lang="en-US" sz="900" b="0" i="0" u="none" strike="noStrike">
                          <a:solidFill>
                            <a:srgbClr val="000000"/>
                          </a:solidFill>
                          <a:effectLst/>
                          <a:latin typeface="Calibri" panose="020F0502020204030204" pitchFamily="34" charset="0"/>
                        </a:rPr>
                        <a:t> and </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83688203"/>
                  </a:ext>
                </a:extLst>
              </a:tr>
            </a:tbl>
          </a:graphicData>
        </a:graphic>
      </p:graphicFrame>
    </p:spTree>
    <p:extLst>
      <p:ext uri="{BB962C8B-B14F-4D97-AF65-F5344CB8AC3E}">
        <p14:creationId xmlns:p14="http://schemas.microsoft.com/office/powerpoint/2010/main" val="52242474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7B0F1-ABAC-4E55-8183-8AFA6C8FFDDA}"/>
              </a:ext>
            </a:extLst>
          </p:cNvPr>
          <p:cNvSpPr>
            <a:spLocks noGrp="1"/>
          </p:cNvSpPr>
          <p:nvPr>
            <p:ph type="title"/>
          </p:nvPr>
        </p:nvSpPr>
        <p:spPr>
          <a:xfrm>
            <a:off x="302004" y="70860"/>
            <a:ext cx="7127496" cy="693525"/>
          </a:xfrm>
        </p:spPr>
        <p:txBody>
          <a:bodyPr>
            <a:normAutofit/>
          </a:bodyPr>
          <a:lstStyle/>
          <a:p>
            <a:r>
              <a:rPr lang="en-US" sz="2000"/>
              <a:t>Member Portal – Member Self Service </a:t>
            </a:r>
            <a:br>
              <a:rPr lang="en-US" sz="2000"/>
            </a:br>
            <a:r>
              <a:rPr lang="en-US" sz="2000"/>
              <a:t>Member Access of BA info (Current State)</a:t>
            </a:r>
            <a:endParaRPr lang="en-US" sz="1600"/>
          </a:p>
        </p:txBody>
      </p:sp>
      <p:pic>
        <p:nvPicPr>
          <p:cNvPr id="5" name="Picture 4">
            <a:extLst>
              <a:ext uri="{FF2B5EF4-FFF2-40B4-BE49-F238E27FC236}">
                <a16:creationId xmlns:a16="http://schemas.microsoft.com/office/drawing/2014/main" id="{7E87319A-C297-430F-938B-8F1BBDBB5E6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81191" y="764385"/>
            <a:ext cx="7381618" cy="4102890"/>
          </a:xfrm>
          <a:prstGeom prst="rect">
            <a:avLst/>
          </a:prstGeom>
        </p:spPr>
      </p:pic>
      <p:sp>
        <p:nvSpPr>
          <p:cNvPr id="7" name="Rectangle 6">
            <a:extLst>
              <a:ext uri="{FF2B5EF4-FFF2-40B4-BE49-F238E27FC236}">
                <a16:creationId xmlns:a16="http://schemas.microsoft.com/office/drawing/2014/main" id="{5CBF350A-7E35-438A-B6D7-AD418AF9C803}"/>
              </a:ext>
            </a:extLst>
          </p:cNvPr>
          <p:cNvSpPr/>
          <p:nvPr/>
        </p:nvSpPr>
        <p:spPr>
          <a:xfrm>
            <a:off x="6830000" y="764385"/>
            <a:ext cx="1056700" cy="400110"/>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w="12700" cmpd="sng">
                  <a:solidFill>
                    <a:srgbClr val="9521AD"/>
                  </a:solidFill>
                  <a:prstDash val="solid"/>
                </a:ln>
                <a:gradFill>
                  <a:gsLst>
                    <a:gs pos="0">
                      <a:srgbClr val="9521AD"/>
                    </a:gs>
                    <a:gs pos="4000">
                      <a:srgbClr val="9521AD">
                        <a:lumMod val="60000"/>
                        <a:lumOff val="40000"/>
                      </a:srgbClr>
                    </a:gs>
                    <a:gs pos="87000">
                      <a:srgbClr val="9521AD">
                        <a:lumMod val="20000"/>
                        <a:lumOff val="80000"/>
                      </a:srgbClr>
                    </a:gs>
                  </a:gsLst>
                  <a:lin ang="5400000"/>
                </a:gradFill>
                <a:effectLst/>
                <a:uLnTx/>
                <a:uFillTx/>
                <a:latin typeface="Arial"/>
                <a:ea typeface="+mn-ea"/>
                <a:cs typeface="+mn-cs"/>
              </a:rPr>
              <a:t>DRAFT</a:t>
            </a:r>
          </a:p>
        </p:txBody>
      </p:sp>
      <p:sp>
        <p:nvSpPr>
          <p:cNvPr id="3" name="Rectangle 2">
            <a:extLst>
              <a:ext uri="{FF2B5EF4-FFF2-40B4-BE49-F238E27FC236}">
                <a16:creationId xmlns:a16="http://schemas.microsoft.com/office/drawing/2014/main" id="{24DAE484-DCEC-35D8-1A3F-A634B28F4DF4}"/>
              </a:ext>
            </a:extLst>
          </p:cNvPr>
          <p:cNvSpPr/>
          <p:nvPr/>
        </p:nvSpPr>
        <p:spPr>
          <a:xfrm>
            <a:off x="4257674" y="3464715"/>
            <a:ext cx="2714625" cy="10596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64904403"/>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7B0F1-ABAC-4E55-8183-8AFA6C8FFDDA}"/>
              </a:ext>
            </a:extLst>
          </p:cNvPr>
          <p:cNvSpPr>
            <a:spLocks noGrp="1"/>
          </p:cNvSpPr>
          <p:nvPr>
            <p:ph type="title"/>
          </p:nvPr>
        </p:nvSpPr>
        <p:spPr>
          <a:xfrm>
            <a:off x="302004" y="70860"/>
            <a:ext cx="7127496" cy="693525"/>
          </a:xfrm>
        </p:spPr>
        <p:txBody>
          <a:bodyPr>
            <a:normAutofit fontScale="90000"/>
          </a:bodyPr>
          <a:lstStyle/>
          <a:p>
            <a:r>
              <a:rPr lang="en-US" sz="2000"/>
              <a:t>High Level Architecture – Member Portal &amp; ACET </a:t>
            </a:r>
            <a:br>
              <a:rPr lang="en-US" sz="2000"/>
            </a:br>
            <a:r>
              <a:rPr lang="en-US" sz="2000"/>
              <a:t>      Benefit Summaries Document – Target State Architecture</a:t>
            </a:r>
            <a:endParaRPr lang="en-US" sz="1600"/>
          </a:p>
        </p:txBody>
      </p:sp>
      <p:pic>
        <p:nvPicPr>
          <p:cNvPr id="5" name="Picture 4">
            <a:extLst>
              <a:ext uri="{FF2B5EF4-FFF2-40B4-BE49-F238E27FC236}">
                <a16:creationId xmlns:a16="http://schemas.microsoft.com/office/drawing/2014/main" id="{7E87319A-C297-430F-938B-8F1BBDBB5E6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81190" y="1164496"/>
            <a:ext cx="7447263" cy="2996546"/>
          </a:xfrm>
          <a:prstGeom prst="rect">
            <a:avLst/>
          </a:prstGeom>
        </p:spPr>
      </p:pic>
      <p:sp>
        <p:nvSpPr>
          <p:cNvPr id="7" name="Rectangle 6">
            <a:extLst>
              <a:ext uri="{FF2B5EF4-FFF2-40B4-BE49-F238E27FC236}">
                <a16:creationId xmlns:a16="http://schemas.microsoft.com/office/drawing/2014/main" id="{5CBF350A-7E35-438A-B6D7-AD418AF9C803}"/>
              </a:ext>
            </a:extLst>
          </p:cNvPr>
          <p:cNvSpPr/>
          <p:nvPr/>
        </p:nvSpPr>
        <p:spPr>
          <a:xfrm>
            <a:off x="6830000" y="764385"/>
            <a:ext cx="1056700" cy="400110"/>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w="12700" cmpd="sng">
                  <a:solidFill>
                    <a:srgbClr val="9521AD"/>
                  </a:solidFill>
                  <a:prstDash val="solid"/>
                </a:ln>
                <a:gradFill>
                  <a:gsLst>
                    <a:gs pos="0">
                      <a:srgbClr val="9521AD"/>
                    </a:gs>
                    <a:gs pos="4000">
                      <a:srgbClr val="9521AD">
                        <a:lumMod val="60000"/>
                        <a:lumOff val="40000"/>
                      </a:srgbClr>
                    </a:gs>
                    <a:gs pos="87000">
                      <a:srgbClr val="9521AD">
                        <a:lumMod val="20000"/>
                        <a:lumOff val="80000"/>
                      </a:srgbClr>
                    </a:gs>
                  </a:gsLst>
                  <a:lin ang="5400000"/>
                </a:gradFill>
                <a:effectLst/>
                <a:uLnTx/>
                <a:uFillTx/>
                <a:latin typeface="Arial"/>
                <a:ea typeface="+mn-ea"/>
                <a:cs typeface="+mn-cs"/>
              </a:rPr>
              <a:t>DRAFT</a:t>
            </a:r>
          </a:p>
        </p:txBody>
      </p:sp>
    </p:spTree>
    <p:extLst>
      <p:ext uri="{BB962C8B-B14F-4D97-AF65-F5344CB8AC3E}">
        <p14:creationId xmlns:p14="http://schemas.microsoft.com/office/powerpoint/2010/main" val="574610208"/>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7B0F1-ABAC-4E55-8183-8AFA6C8FFDDA}"/>
              </a:ext>
            </a:extLst>
          </p:cNvPr>
          <p:cNvSpPr>
            <a:spLocks noGrp="1"/>
          </p:cNvSpPr>
          <p:nvPr>
            <p:ph type="title"/>
          </p:nvPr>
        </p:nvSpPr>
        <p:spPr>
          <a:xfrm>
            <a:off x="849010" y="188714"/>
            <a:ext cx="7127496" cy="400110"/>
          </a:xfrm>
        </p:spPr>
        <p:txBody>
          <a:bodyPr>
            <a:normAutofit/>
          </a:bodyPr>
          <a:lstStyle/>
          <a:p>
            <a:r>
              <a:rPr lang="en-US" sz="1400"/>
              <a:t>(Current State – USP – BA Supplemental Health content displayed in myUHC)</a:t>
            </a:r>
          </a:p>
        </p:txBody>
      </p:sp>
      <p:pic>
        <p:nvPicPr>
          <p:cNvPr id="5" name="Picture 4">
            <a:extLst>
              <a:ext uri="{FF2B5EF4-FFF2-40B4-BE49-F238E27FC236}">
                <a16:creationId xmlns:a16="http://schemas.microsoft.com/office/drawing/2014/main" id="{7E87319A-C297-430F-938B-8F1BBDBB5E6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979714" y="974349"/>
            <a:ext cx="5524915" cy="3624452"/>
          </a:xfrm>
          <a:prstGeom prst="rect">
            <a:avLst/>
          </a:prstGeom>
        </p:spPr>
      </p:pic>
      <p:sp>
        <p:nvSpPr>
          <p:cNvPr id="7" name="Rectangle 6">
            <a:extLst>
              <a:ext uri="{FF2B5EF4-FFF2-40B4-BE49-F238E27FC236}">
                <a16:creationId xmlns:a16="http://schemas.microsoft.com/office/drawing/2014/main" id="{5CBF350A-7E35-438A-B6D7-AD418AF9C803}"/>
              </a:ext>
            </a:extLst>
          </p:cNvPr>
          <p:cNvSpPr/>
          <p:nvPr/>
        </p:nvSpPr>
        <p:spPr>
          <a:xfrm>
            <a:off x="6650385" y="1398315"/>
            <a:ext cx="1056700" cy="400110"/>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w="12700" cmpd="sng">
                  <a:solidFill>
                    <a:srgbClr val="9521AD"/>
                  </a:solidFill>
                  <a:prstDash val="solid"/>
                </a:ln>
                <a:gradFill>
                  <a:gsLst>
                    <a:gs pos="0">
                      <a:srgbClr val="9521AD"/>
                    </a:gs>
                    <a:gs pos="4000">
                      <a:srgbClr val="9521AD">
                        <a:lumMod val="60000"/>
                        <a:lumOff val="40000"/>
                      </a:srgbClr>
                    </a:gs>
                    <a:gs pos="87000">
                      <a:srgbClr val="9521AD">
                        <a:lumMod val="20000"/>
                        <a:lumOff val="80000"/>
                      </a:srgbClr>
                    </a:gs>
                  </a:gsLst>
                  <a:lin ang="5400000"/>
                </a:gradFill>
                <a:effectLst/>
                <a:uLnTx/>
                <a:uFillTx/>
                <a:latin typeface="Arial"/>
                <a:ea typeface="+mn-ea"/>
                <a:cs typeface="+mn-cs"/>
              </a:rPr>
              <a:t>DRAFT</a:t>
            </a:r>
          </a:p>
        </p:txBody>
      </p:sp>
    </p:spTree>
    <p:extLst>
      <p:ext uri="{BB962C8B-B14F-4D97-AF65-F5344CB8AC3E}">
        <p14:creationId xmlns:p14="http://schemas.microsoft.com/office/powerpoint/2010/main" val="3707850133"/>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7B0F1-ABAC-4E55-8183-8AFA6C8FFDDA}"/>
              </a:ext>
            </a:extLst>
          </p:cNvPr>
          <p:cNvSpPr>
            <a:spLocks noGrp="1"/>
          </p:cNvSpPr>
          <p:nvPr>
            <p:ph type="title"/>
          </p:nvPr>
        </p:nvSpPr>
        <p:spPr>
          <a:xfrm>
            <a:off x="734711" y="81643"/>
            <a:ext cx="7127496" cy="611882"/>
          </a:xfrm>
        </p:spPr>
        <p:txBody>
          <a:bodyPr>
            <a:normAutofit/>
          </a:bodyPr>
          <a:lstStyle/>
          <a:p>
            <a:r>
              <a:rPr lang="en-US" sz="1400"/>
              <a:t>Current State – USP – SBC pdf &amp; content displayed under Coverage &amp; Benefits tab in myUHC </a:t>
            </a:r>
          </a:p>
        </p:txBody>
      </p:sp>
      <p:pic>
        <p:nvPicPr>
          <p:cNvPr id="5" name="Picture 4">
            <a:extLst>
              <a:ext uri="{FF2B5EF4-FFF2-40B4-BE49-F238E27FC236}">
                <a16:creationId xmlns:a16="http://schemas.microsoft.com/office/drawing/2014/main" id="{7E87319A-C297-430F-938B-8F1BBDBB5E6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979714" y="1167494"/>
            <a:ext cx="5524915" cy="3053442"/>
          </a:xfrm>
          <a:prstGeom prst="rect">
            <a:avLst/>
          </a:prstGeom>
        </p:spPr>
      </p:pic>
      <p:sp>
        <p:nvSpPr>
          <p:cNvPr id="7" name="Rectangle 6">
            <a:extLst>
              <a:ext uri="{FF2B5EF4-FFF2-40B4-BE49-F238E27FC236}">
                <a16:creationId xmlns:a16="http://schemas.microsoft.com/office/drawing/2014/main" id="{5CBF350A-7E35-438A-B6D7-AD418AF9C803}"/>
              </a:ext>
            </a:extLst>
          </p:cNvPr>
          <p:cNvSpPr/>
          <p:nvPr/>
        </p:nvSpPr>
        <p:spPr>
          <a:xfrm>
            <a:off x="7581114" y="1267687"/>
            <a:ext cx="1056700" cy="400110"/>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w="12700" cmpd="sng">
                  <a:solidFill>
                    <a:srgbClr val="9521AD"/>
                  </a:solidFill>
                  <a:prstDash val="solid"/>
                </a:ln>
                <a:gradFill>
                  <a:gsLst>
                    <a:gs pos="0">
                      <a:srgbClr val="9521AD"/>
                    </a:gs>
                    <a:gs pos="4000">
                      <a:srgbClr val="9521AD">
                        <a:lumMod val="60000"/>
                        <a:lumOff val="40000"/>
                      </a:srgbClr>
                    </a:gs>
                    <a:gs pos="87000">
                      <a:srgbClr val="9521AD">
                        <a:lumMod val="20000"/>
                        <a:lumOff val="80000"/>
                      </a:srgbClr>
                    </a:gs>
                  </a:gsLst>
                  <a:lin ang="5400000"/>
                </a:gradFill>
                <a:effectLst/>
                <a:uLnTx/>
                <a:uFillTx/>
                <a:latin typeface="Arial"/>
                <a:ea typeface="+mn-ea"/>
                <a:cs typeface="+mn-cs"/>
              </a:rPr>
              <a:t>DRAFT</a:t>
            </a:r>
          </a:p>
        </p:txBody>
      </p:sp>
    </p:spTree>
    <p:extLst>
      <p:ext uri="{BB962C8B-B14F-4D97-AF65-F5344CB8AC3E}">
        <p14:creationId xmlns:p14="http://schemas.microsoft.com/office/powerpoint/2010/main" val="1477191974"/>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6C37A01-B7CF-48AD-B7A9-584FEF7174D6}"/>
              </a:ext>
            </a:extLst>
          </p:cNvPr>
          <p:cNvSpPr>
            <a:spLocks noGrp="1"/>
          </p:cNvSpPr>
          <p:nvPr>
            <p:ph idx="1"/>
          </p:nvPr>
        </p:nvSpPr>
        <p:spPr>
          <a:xfrm>
            <a:off x="462889" y="685191"/>
            <a:ext cx="8550646" cy="4218364"/>
          </a:xfrm>
        </p:spPr>
        <p:txBody>
          <a:bodyPr vert="horz" lIns="91416" tIns="45708" rIns="91416" bIns="45708" rtlCol="0" anchor="t">
            <a:noAutofit/>
          </a:bodyPr>
          <a:lstStyle/>
          <a:p>
            <a:pPr marL="166640" lvl="1" indent="0">
              <a:buNone/>
            </a:pPr>
            <a:r>
              <a:rPr lang="en-US" sz="1200" b="1" dirty="0" err="1">
                <a:ea typeface="+mn-lt"/>
                <a:cs typeface="+mn-lt"/>
              </a:rPr>
              <a:t>myUHC</a:t>
            </a:r>
            <a:r>
              <a:rPr lang="en-US" sz="1200" b="1" dirty="0">
                <a:ea typeface="+mn-lt"/>
                <a:cs typeface="+mn-lt"/>
              </a:rPr>
              <a:t>:</a:t>
            </a:r>
          </a:p>
          <a:p>
            <a:pPr marL="338090" lvl="1" indent="-171450">
              <a:buFontTx/>
              <a:buChar char="-"/>
            </a:pPr>
            <a:r>
              <a:rPr lang="en-US" sz="1200" dirty="0">
                <a:ea typeface="+mn-lt"/>
                <a:cs typeface="+mn-lt"/>
              </a:rPr>
              <a:t>Validate if the process that was implemented in 2022 as part of BA Oxford 100+, to intake the benefit summary PDF document for BA and store it in its internal content repository and fetch and retrieve the document using its existing API services and display benefit summary document to eligible BA member under the </a:t>
            </a:r>
            <a:r>
              <a:rPr lang="en-US" sz="1200" dirty="0">
                <a:solidFill>
                  <a:schemeClr val="tx2"/>
                </a:solidFill>
                <a:ea typeface="+mn-lt"/>
                <a:cs typeface="+mn-lt"/>
              </a:rPr>
              <a:t>Coverage &amp; Benefits </a:t>
            </a:r>
            <a:r>
              <a:rPr lang="en-US" sz="1200" dirty="0">
                <a:ea typeface="+mn-lt"/>
                <a:cs typeface="+mn-lt"/>
              </a:rPr>
              <a:t>tab – </a:t>
            </a:r>
            <a:r>
              <a:rPr lang="en-US" sz="1200" dirty="0">
                <a:solidFill>
                  <a:schemeClr val="tx2"/>
                </a:solidFill>
                <a:ea typeface="+mn-lt"/>
                <a:cs typeface="+mn-lt"/>
              </a:rPr>
              <a:t>Plan &amp; Documents </a:t>
            </a:r>
            <a:r>
              <a:rPr lang="en-US" sz="1200" dirty="0">
                <a:ea typeface="+mn-lt"/>
                <a:cs typeface="+mn-lt"/>
              </a:rPr>
              <a:t>section of member portal is still in place and being used.</a:t>
            </a:r>
          </a:p>
          <a:p>
            <a:pPr marL="338090" lvl="1" indent="-171450">
              <a:buFontTx/>
              <a:buChar char="-"/>
            </a:pPr>
            <a:r>
              <a:rPr lang="en-US" sz="1200" dirty="0">
                <a:ea typeface="+mn-lt"/>
                <a:cs typeface="+mn-lt"/>
              </a:rPr>
              <a:t>Validate if the DBS solution approach that was proposed in 2022 </a:t>
            </a:r>
            <a:r>
              <a:rPr lang="en-US" sz="1200">
                <a:ea typeface="+mn-lt"/>
                <a:cs typeface="+mn-lt"/>
              </a:rPr>
              <a:t>was implemented</a:t>
            </a:r>
            <a:r>
              <a:rPr lang="en-US" sz="1200" dirty="0">
                <a:ea typeface="+mn-lt"/>
                <a:cs typeface="+mn-lt"/>
              </a:rPr>
              <a:t>, i.e. to have business ops team create the Benefit Summaries document in DBS and store it in DBS repository, then create integration of consumer portals like myuhc with DBS API to fetch and display the Benefit Summary document for BA from DBS repository to eligible BA member under the </a:t>
            </a:r>
            <a:r>
              <a:rPr lang="en-US" sz="1200" dirty="0">
                <a:solidFill>
                  <a:schemeClr val="tx2"/>
                </a:solidFill>
                <a:ea typeface="+mn-lt"/>
                <a:cs typeface="+mn-lt"/>
              </a:rPr>
              <a:t>Coverage &amp; Benefits </a:t>
            </a:r>
            <a:r>
              <a:rPr lang="en-US" sz="1200" dirty="0">
                <a:ea typeface="+mn-lt"/>
                <a:cs typeface="+mn-lt"/>
              </a:rPr>
              <a:t>tab – </a:t>
            </a:r>
            <a:r>
              <a:rPr lang="en-US" sz="1200" dirty="0">
                <a:solidFill>
                  <a:schemeClr val="tx2"/>
                </a:solidFill>
                <a:ea typeface="+mn-lt"/>
                <a:cs typeface="+mn-lt"/>
              </a:rPr>
              <a:t>Plan &amp; Documents </a:t>
            </a:r>
            <a:r>
              <a:rPr lang="en-US" sz="1200" dirty="0">
                <a:ea typeface="+mn-lt"/>
                <a:cs typeface="+mn-lt"/>
              </a:rPr>
              <a:t>section of member portal.</a:t>
            </a:r>
          </a:p>
          <a:p>
            <a:pPr marL="338090" lvl="1" indent="-171450">
              <a:buFontTx/>
              <a:buChar char="-"/>
            </a:pPr>
            <a:r>
              <a:rPr lang="en-US" sz="1200" dirty="0">
                <a:ea typeface="+mn-lt"/>
                <a:cs typeface="+mn-lt"/>
              </a:rPr>
              <a:t>Validate what APIs myuhc is using, and whether its existing APIs need to be retrofitted to include new BA attributes which will enable myUHC to identify and create awareness of which members are eligible for BA on member portal</a:t>
            </a:r>
          </a:p>
          <a:p>
            <a:pPr marL="338090" lvl="1" indent="-171450">
              <a:buFontTx/>
              <a:buChar char="-"/>
            </a:pPr>
            <a:endParaRPr lang="en-US" sz="1200" dirty="0">
              <a:ea typeface="+mn-lt"/>
              <a:cs typeface="+mn-lt"/>
            </a:endParaRPr>
          </a:p>
          <a:p>
            <a:pPr marL="166640" lvl="1" indent="0">
              <a:buNone/>
            </a:pPr>
            <a:r>
              <a:rPr lang="en-US" sz="1200" b="1" dirty="0">
                <a:ea typeface="+mn-lt"/>
                <a:cs typeface="+mn-lt"/>
              </a:rPr>
              <a:t>Note</a:t>
            </a:r>
            <a:r>
              <a:rPr lang="en-US" sz="1200" dirty="0">
                <a:ea typeface="+mn-lt"/>
                <a:cs typeface="+mn-lt"/>
              </a:rPr>
              <a:t>: need to validate the current state with myuhc team. What APIs are being used to fetch BA benefit summary info. Have the APIs changed over the years.?</a:t>
            </a:r>
          </a:p>
          <a:p>
            <a:pPr marL="166640" lvl="1" indent="0">
              <a:buNone/>
            </a:pPr>
            <a:r>
              <a:rPr lang="en-US" sz="1200" b="1" dirty="0">
                <a:ea typeface="+mn-lt"/>
                <a:cs typeface="+mn-lt"/>
              </a:rPr>
              <a:t>Verification Updates</a:t>
            </a:r>
            <a:r>
              <a:rPr lang="en-US" sz="1200" dirty="0">
                <a:ea typeface="+mn-lt"/>
                <a:cs typeface="+mn-lt"/>
              </a:rPr>
              <a:t>: It seems the current BA functionality in myuhc is not working as there was production issue reported around in 2025, and I believe the production issue was resolved, however we had done quick verification with few member records with myuhc team in 2026, and it still didn’t work so this issue needs to be fixed. Either as part of this initiative under this capability or by logging production incident.</a:t>
            </a:r>
          </a:p>
          <a:p>
            <a:pPr marL="166640" lvl="1" indent="0">
              <a:buNone/>
            </a:pPr>
            <a:r>
              <a:rPr lang="en-US" sz="1200" b="1" dirty="0">
                <a:ea typeface="+mn-lt"/>
                <a:cs typeface="+mn-lt"/>
              </a:rPr>
              <a:t>Question</a:t>
            </a:r>
            <a:r>
              <a:rPr lang="en-US" sz="1200" dirty="0">
                <a:ea typeface="+mn-lt"/>
                <a:cs typeface="+mn-lt"/>
              </a:rPr>
              <a:t>: Currently myuhc can shows medical claims, similarly is there a requirement to do we have requirement to display BA claims in myuhc. ?  ( TBD) </a:t>
            </a:r>
          </a:p>
          <a:p>
            <a:pPr marL="166640" lvl="1" indent="0">
              <a:buNone/>
            </a:pPr>
            <a:endParaRPr lang="en-US" sz="1200" b="1" dirty="0">
              <a:ea typeface="+mn-lt"/>
              <a:cs typeface="+mn-lt"/>
            </a:endParaRPr>
          </a:p>
          <a:p>
            <a:pPr marL="166640" lvl="1" indent="0">
              <a:buNone/>
            </a:pPr>
            <a:endParaRPr lang="en-US" sz="800" b="1" dirty="0">
              <a:ea typeface="+mn-lt"/>
              <a:cs typeface="+mn-lt"/>
            </a:endParaRPr>
          </a:p>
          <a:p>
            <a:pPr marL="166640" lvl="1" indent="0">
              <a:buNone/>
            </a:pPr>
            <a:endParaRPr lang="en-US" sz="800" b="1" dirty="0">
              <a:ea typeface="+mn-lt"/>
              <a:cs typeface="+mn-lt"/>
            </a:endParaRPr>
          </a:p>
        </p:txBody>
      </p:sp>
      <p:sp>
        <p:nvSpPr>
          <p:cNvPr id="3" name="Slide Number Placeholder 2">
            <a:extLst>
              <a:ext uri="{FF2B5EF4-FFF2-40B4-BE49-F238E27FC236}">
                <a16:creationId xmlns:a16="http://schemas.microsoft.com/office/drawing/2014/main" id="{FA9ABF99-5DB3-49CC-8CB1-F5C887616983}"/>
              </a:ext>
            </a:extLst>
          </p:cNvPr>
          <p:cNvSpPr>
            <a:spLocks noGrp="1"/>
          </p:cNvSpPr>
          <p:nvPr>
            <p:ph type="sldNum" sz="quarter" idx="12"/>
          </p:nvPr>
        </p:nvSpPr>
        <p:spPr/>
        <p:txBody>
          <a:bodyPr/>
          <a:lstStyle/>
          <a:p>
            <a:pPr defTabSz="914171"/>
            <a:fld id="{90F9BDA0-AF0E-4BA8-B742-3B9C92A3E6FE}" type="slidenum">
              <a:rPr lang="en-US">
                <a:solidFill>
                  <a:srgbClr val="8C9599"/>
                </a:solidFill>
                <a:latin typeface="Arial"/>
              </a:rPr>
              <a:pPr defTabSz="914171"/>
              <a:t>47</a:t>
            </a:fld>
            <a:endParaRPr lang="en-US">
              <a:solidFill>
                <a:srgbClr val="8C9599"/>
              </a:solidFill>
              <a:latin typeface="Arial"/>
            </a:endParaRPr>
          </a:p>
        </p:txBody>
      </p:sp>
      <p:sp>
        <p:nvSpPr>
          <p:cNvPr id="4" name="Title 3">
            <a:extLst>
              <a:ext uri="{FF2B5EF4-FFF2-40B4-BE49-F238E27FC236}">
                <a16:creationId xmlns:a16="http://schemas.microsoft.com/office/drawing/2014/main" id="{27A650EE-D079-423C-AA95-7554C6B87124}"/>
              </a:ext>
            </a:extLst>
          </p:cNvPr>
          <p:cNvSpPr>
            <a:spLocks noGrp="1"/>
          </p:cNvSpPr>
          <p:nvPr>
            <p:ph type="title"/>
          </p:nvPr>
        </p:nvSpPr>
        <p:spPr>
          <a:xfrm>
            <a:off x="800100" y="221850"/>
            <a:ext cx="5921975" cy="525319"/>
          </a:xfrm>
        </p:spPr>
        <p:txBody>
          <a:bodyPr>
            <a:normAutofit/>
          </a:bodyPr>
          <a:lstStyle/>
          <a:p>
            <a:r>
              <a:rPr lang="en-US" sz="1400"/>
              <a:t>Member Portal – Member Self Service - Member Access of BA info </a:t>
            </a:r>
            <a:br>
              <a:rPr lang="en-US" sz="1400">
                <a:solidFill>
                  <a:schemeClr val="accent1"/>
                </a:solidFill>
              </a:rPr>
            </a:br>
            <a:r>
              <a:rPr lang="en-US" sz="1400">
                <a:solidFill>
                  <a:schemeClr val="accent1"/>
                </a:solidFill>
              </a:rPr>
              <a:t>(</a:t>
            </a:r>
            <a:r>
              <a:rPr lang="en-US" sz="1400" b="1">
                <a:solidFill>
                  <a:schemeClr val="accent1"/>
                </a:solidFill>
              </a:rPr>
              <a:t>Large Group 100+ ) </a:t>
            </a:r>
            <a:r>
              <a:rPr lang="en-US" sz="1400"/>
              <a:t>– Applications Impact</a:t>
            </a:r>
          </a:p>
        </p:txBody>
      </p:sp>
      <p:sp>
        <p:nvSpPr>
          <p:cNvPr id="5" name="Rectangle 4">
            <a:extLst>
              <a:ext uri="{FF2B5EF4-FFF2-40B4-BE49-F238E27FC236}">
                <a16:creationId xmlns:a16="http://schemas.microsoft.com/office/drawing/2014/main" id="{5DC8437F-475D-41CB-87D4-D253A5645297}"/>
              </a:ext>
            </a:extLst>
          </p:cNvPr>
          <p:cNvSpPr/>
          <p:nvPr/>
        </p:nvSpPr>
        <p:spPr>
          <a:xfrm>
            <a:off x="6563348" y="306943"/>
            <a:ext cx="1056652" cy="400085"/>
          </a:xfrm>
          <a:prstGeom prst="rect">
            <a:avLst/>
          </a:prstGeom>
          <a:noFill/>
        </p:spPr>
        <p:txBody>
          <a:bodyPr wrap="none" lIns="91416" tIns="45708" rIns="91416" bIns="45708">
            <a:spAutoFit/>
          </a:bodyPr>
          <a:lstStyle/>
          <a:p>
            <a:pPr algn="ctr" defTabSz="914171"/>
            <a:r>
              <a:rPr lang="en-US" sz="2000" b="1">
                <a:ln w="12700" cmpd="sng">
                  <a:solidFill>
                    <a:srgbClr val="9521AD"/>
                  </a:solidFill>
                  <a:prstDash val="solid"/>
                </a:ln>
                <a:gradFill>
                  <a:gsLst>
                    <a:gs pos="0">
                      <a:srgbClr val="9521AD"/>
                    </a:gs>
                    <a:gs pos="4000">
                      <a:srgbClr val="9521AD">
                        <a:lumMod val="60000"/>
                        <a:lumOff val="40000"/>
                      </a:srgbClr>
                    </a:gs>
                    <a:gs pos="87000">
                      <a:srgbClr val="9521AD">
                        <a:lumMod val="20000"/>
                        <a:lumOff val="80000"/>
                      </a:srgbClr>
                    </a:gs>
                  </a:gsLst>
                  <a:lin ang="5400000"/>
                </a:gradFill>
                <a:latin typeface="Arial"/>
              </a:rPr>
              <a:t>DRAFT</a:t>
            </a:r>
          </a:p>
        </p:txBody>
      </p:sp>
    </p:spTree>
    <p:extLst>
      <p:ext uri="{BB962C8B-B14F-4D97-AF65-F5344CB8AC3E}">
        <p14:creationId xmlns:p14="http://schemas.microsoft.com/office/powerpoint/2010/main" val="4155235589"/>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4EDEAE-0DB3-98F5-75D0-8B701DCDFA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5A87BE-6CB6-4681-5B59-31EA649F2F1D}"/>
              </a:ext>
            </a:extLst>
          </p:cNvPr>
          <p:cNvSpPr>
            <a:spLocks noGrp="1"/>
          </p:cNvSpPr>
          <p:nvPr>
            <p:ph type="ctrTitle"/>
          </p:nvPr>
        </p:nvSpPr>
        <p:spPr>
          <a:xfrm>
            <a:off x="4048125" y="1631406"/>
            <a:ext cx="4888307" cy="1302293"/>
          </a:xfrm>
        </p:spPr>
        <p:txBody>
          <a:bodyPr/>
          <a:lstStyle/>
          <a:p>
            <a:r>
              <a:rPr lang="en-US" sz="2000" b="1" spc="-51">
                <a:solidFill>
                  <a:schemeClr val="tx1">
                    <a:lumMod val="50000"/>
                  </a:schemeClr>
                </a:solidFill>
                <a:latin typeface="+mj-lt"/>
                <a:ea typeface="+mj-ea"/>
                <a:cs typeface="+mj-cs"/>
              </a:rPr>
              <a:t>Sales Product Family Capability : Sell To Customers</a:t>
            </a:r>
            <a:br>
              <a:rPr lang="en-US" sz="2400" b="1" spc="-51">
                <a:solidFill>
                  <a:schemeClr val="tx1">
                    <a:lumMod val="50000"/>
                  </a:schemeClr>
                </a:solidFill>
                <a:latin typeface="+mj-lt"/>
                <a:ea typeface="+mj-ea"/>
                <a:cs typeface="+mj-cs"/>
              </a:rPr>
            </a:br>
            <a:br>
              <a:rPr lang="en-US" sz="2400" b="1" spc="-51">
                <a:solidFill>
                  <a:schemeClr val="tx1">
                    <a:lumMod val="50000"/>
                  </a:schemeClr>
                </a:solidFill>
                <a:latin typeface="+mj-lt"/>
                <a:ea typeface="+mj-ea"/>
                <a:cs typeface="+mj-cs"/>
              </a:rPr>
            </a:br>
            <a:r>
              <a:rPr lang="en-US" sz="1400">
                <a:solidFill>
                  <a:schemeClr val="accent2"/>
                </a:solidFill>
              </a:rPr>
              <a:t>Broker and Employer Access to Benefit Ally Information</a:t>
            </a:r>
            <a:br>
              <a:rPr lang="en-US" sz="1400">
                <a:solidFill>
                  <a:srgbClr val="000000"/>
                </a:solidFill>
                <a:latin typeface="Calibri" panose="020F0502020204030204" pitchFamily="34" charset="0"/>
              </a:rPr>
            </a:br>
            <a:r>
              <a:rPr lang="en-US" sz="1400"/>
              <a:t>Constituent Services </a:t>
            </a:r>
            <a:r>
              <a:rPr lang="en-US" sz="1400" b="1">
                <a:solidFill>
                  <a:schemeClr val="accent1"/>
                </a:solidFill>
              </a:rPr>
              <a:t>- Large Group NB 51-99 </a:t>
            </a:r>
            <a:endParaRPr lang="en-US" sz="1400" b="1" spc="-51">
              <a:solidFill>
                <a:schemeClr val="tx1">
                  <a:lumMod val="50000"/>
                </a:schemeClr>
              </a:solidFill>
              <a:latin typeface="+mj-lt"/>
              <a:ea typeface="+mj-ea"/>
              <a:cs typeface="+mj-cs"/>
            </a:endParaRPr>
          </a:p>
        </p:txBody>
      </p:sp>
    </p:spTree>
    <p:extLst>
      <p:ext uri="{BB962C8B-B14F-4D97-AF65-F5344CB8AC3E}">
        <p14:creationId xmlns:p14="http://schemas.microsoft.com/office/powerpoint/2010/main" val="382051432"/>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3A4633-4512-D76A-5875-5BAED519CD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525513-1C4B-301C-88D0-F7C76E863B37}"/>
              </a:ext>
            </a:extLst>
          </p:cNvPr>
          <p:cNvSpPr>
            <a:spLocks noGrp="1"/>
          </p:cNvSpPr>
          <p:nvPr>
            <p:ph type="title"/>
          </p:nvPr>
        </p:nvSpPr>
        <p:spPr>
          <a:xfrm>
            <a:off x="226814" y="0"/>
            <a:ext cx="7260336" cy="549381"/>
          </a:xfrm>
        </p:spPr>
        <p:txBody>
          <a:bodyPr>
            <a:normAutofit fontScale="90000"/>
          </a:bodyPr>
          <a:lstStyle/>
          <a:p>
            <a:r>
              <a:rPr lang="en-US"/>
              <a:t>Phase 2 - BA FI 51-99 - High Level requirements for  Broker &amp; Employer Access to BA</a:t>
            </a:r>
            <a:endParaRPr lang="en-US" sz="1800"/>
          </a:p>
        </p:txBody>
      </p:sp>
      <p:graphicFrame>
        <p:nvGraphicFramePr>
          <p:cNvPr id="8" name="Table 7">
            <a:extLst>
              <a:ext uri="{FF2B5EF4-FFF2-40B4-BE49-F238E27FC236}">
                <a16:creationId xmlns:a16="http://schemas.microsoft.com/office/drawing/2014/main" id="{19C4CE61-1C1E-A1CC-D586-4402D83E9D1D}"/>
              </a:ext>
            </a:extLst>
          </p:cNvPr>
          <p:cNvGraphicFramePr>
            <a:graphicFrameLocks noGrp="1"/>
          </p:cNvGraphicFramePr>
          <p:nvPr>
            <p:extLst>
              <p:ext uri="{D42A27DB-BD31-4B8C-83A1-F6EECF244321}">
                <p14:modId xmlns:p14="http://schemas.microsoft.com/office/powerpoint/2010/main" val="4175682691"/>
              </p:ext>
            </p:extLst>
          </p:nvPr>
        </p:nvGraphicFramePr>
        <p:xfrm>
          <a:off x="226814" y="764535"/>
          <a:ext cx="8856419" cy="992894"/>
        </p:xfrm>
        <a:graphic>
          <a:graphicData uri="http://schemas.openxmlformats.org/drawingml/2006/table">
            <a:tbl>
              <a:tblPr/>
              <a:tblGrid>
                <a:gridCol w="1184353">
                  <a:extLst>
                    <a:ext uri="{9D8B030D-6E8A-4147-A177-3AD203B41FA5}">
                      <a16:colId xmlns:a16="http://schemas.microsoft.com/office/drawing/2014/main" val="1962179033"/>
                    </a:ext>
                  </a:extLst>
                </a:gridCol>
                <a:gridCol w="4211116">
                  <a:extLst>
                    <a:ext uri="{9D8B030D-6E8A-4147-A177-3AD203B41FA5}">
                      <a16:colId xmlns:a16="http://schemas.microsoft.com/office/drawing/2014/main" val="130540882"/>
                    </a:ext>
                  </a:extLst>
                </a:gridCol>
                <a:gridCol w="1875539">
                  <a:extLst>
                    <a:ext uri="{9D8B030D-6E8A-4147-A177-3AD203B41FA5}">
                      <a16:colId xmlns:a16="http://schemas.microsoft.com/office/drawing/2014/main" val="751610378"/>
                    </a:ext>
                  </a:extLst>
                </a:gridCol>
                <a:gridCol w="725444">
                  <a:extLst>
                    <a:ext uri="{9D8B030D-6E8A-4147-A177-3AD203B41FA5}">
                      <a16:colId xmlns:a16="http://schemas.microsoft.com/office/drawing/2014/main" val="2701245817"/>
                    </a:ext>
                  </a:extLst>
                </a:gridCol>
                <a:gridCol w="859967">
                  <a:extLst>
                    <a:ext uri="{9D8B030D-6E8A-4147-A177-3AD203B41FA5}">
                      <a16:colId xmlns:a16="http://schemas.microsoft.com/office/drawing/2014/main" val="1145494209"/>
                    </a:ext>
                  </a:extLst>
                </a:gridCol>
              </a:tblGrid>
              <a:tr h="169209">
                <a:tc>
                  <a:txBody>
                    <a:bodyPr/>
                    <a:lstStyle/>
                    <a:p>
                      <a:pPr algn="ctr" fontAlgn="b"/>
                      <a:r>
                        <a:rPr lang="en-US" sz="900" b="1" i="0" u="none" strike="noStrike">
                          <a:solidFill>
                            <a:srgbClr val="FFFFFF"/>
                          </a:solidFill>
                          <a:effectLst/>
                          <a:latin typeface="Calibri" panose="020F0502020204030204" pitchFamily="34" charset="0"/>
                        </a:rPr>
                        <a:t>Name</a:t>
                      </a:r>
                    </a:p>
                  </a:txBody>
                  <a:tcPr marL="725" marR="725" marT="7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en-US" sz="900" b="1" i="0" u="none" strike="noStrike">
                          <a:solidFill>
                            <a:srgbClr val="FFFFFF"/>
                          </a:solidFill>
                          <a:effectLst/>
                          <a:latin typeface="Calibri" panose="020F0502020204030204" pitchFamily="34" charset="0"/>
                        </a:rPr>
                        <a:t>Functionality Required</a:t>
                      </a:r>
                    </a:p>
                  </a:txBody>
                  <a:tcPr marL="725" marR="725" marT="7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en-US" sz="900" b="1" i="0" u="none" strike="noStrike">
                          <a:solidFill>
                            <a:srgbClr val="FFFFFF"/>
                          </a:solidFill>
                          <a:effectLst/>
                          <a:latin typeface="Calibri" panose="020F0502020204030204" pitchFamily="34" charset="0"/>
                        </a:rPr>
                        <a:t>In Scope</a:t>
                      </a:r>
                    </a:p>
                  </a:txBody>
                  <a:tcPr marL="725" marR="725" marT="7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en-US" sz="900" b="1" i="0" u="none" strike="noStrike">
                          <a:solidFill>
                            <a:srgbClr val="FFFFFF"/>
                          </a:solidFill>
                          <a:effectLst/>
                          <a:latin typeface="Calibri" panose="020F0502020204030204" pitchFamily="34" charset="0"/>
                        </a:rPr>
                        <a:t>Out of Scope</a:t>
                      </a:r>
                    </a:p>
                  </a:txBody>
                  <a:tcPr marL="725" marR="725" marT="7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en-US" sz="900" b="1" i="0" u="none" strike="noStrike">
                          <a:solidFill>
                            <a:srgbClr val="FFFFFF"/>
                          </a:solidFill>
                          <a:effectLst/>
                          <a:latin typeface="Calibri" panose="020F0502020204030204" pitchFamily="34" charset="0"/>
                        </a:rPr>
                        <a:t>Team</a:t>
                      </a:r>
                    </a:p>
                  </a:txBody>
                  <a:tcPr marL="725" marR="725" marT="7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1836913942"/>
                  </a:ext>
                </a:extLst>
              </a:tr>
              <a:tr h="823685">
                <a:tc>
                  <a:txBody>
                    <a:bodyPr/>
                    <a:lstStyle/>
                    <a:p>
                      <a:pPr algn="ctr" fontAlgn="t"/>
                      <a:r>
                        <a:rPr lang="en-US" sz="900" b="1" i="0" u="none" strike="noStrike">
                          <a:solidFill>
                            <a:srgbClr val="000000"/>
                          </a:solidFill>
                          <a:effectLst/>
                          <a:latin typeface="Calibri" panose="020F0502020204030204" pitchFamily="34" charset="0"/>
                        </a:rPr>
                        <a:t>Broker and Employer Access to Benefit Ally Information</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Calibri" panose="020F0502020204030204" pitchFamily="34" charset="0"/>
                        </a:rPr>
                        <a:t>Make COC's and invoices available via B&amp;E portal for 51-99 for Oxford and UHC. </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900" b="0" i="0" u="none" strike="noStrike">
                          <a:solidFill>
                            <a:srgbClr val="000000"/>
                          </a:solidFill>
                          <a:effectLst/>
                          <a:latin typeface="Calibri" panose="020F0502020204030204" pitchFamily="34" charset="0"/>
                        </a:rPr>
                        <a:t>AK, AL, AR, AZ, DC, DE, FL, GA, HI, IA, ID, IL, IN, KS, KY, LA, MA, MD, ME, MI, MN, MO, MS, MT, NC, ND, NE, NH, NJ, NV, OH, OK, OR, PA, RI, SC, SD, TN, TX, UT, VA, WA, WI, WV, WY, </a:t>
                      </a:r>
                      <a:r>
                        <a:rPr lang="en-US" sz="800" b="0" i="0" u="none" strike="noStrike" kern="1200">
                          <a:solidFill>
                            <a:srgbClr val="000000"/>
                          </a:solidFill>
                          <a:effectLst/>
                          <a:latin typeface="Calibri" panose="020F0502020204030204" pitchFamily="34" charset="0"/>
                          <a:ea typeface="+mn-ea"/>
                          <a:cs typeface="+mn-cs"/>
                        </a:rPr>
                        <a:t>CO</a:t>
                      </a:r>
                      <a:br>
                        <a:rPr lang="en-US" sz="900" b="0" i="0" u="none" strike="noStrike">
                          <a:solidFill>
                            <a:srgbClr val="000000"/>
                          </a:solidFill>
                          <a:effectLst/>
                          <a:latin typeface="Calibri" panose="020F0502020204030204" pitchFamily="34" charset="0"/>
                        </a:rPr>
                      </a:br>
                      <a:r>
                        <a:rPr lang="en-US" sz="900" b="0" i="0" u="none" strike="noStrike">
                          <a:solidFill>
                            <a:srgbClr val="000000"/>
                          </a:solidFill>
                          <a:effectLst/>
                          <a:latin typeface="Calibri" panose="020F0502020204030204" pitchFamily="34" charset="0"/>
                        </a:rPr>
                        <a:t>Oxford Markets: NJ</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nn-NO" sz="900" b="0" i="0" u="none" strike="noStrike">
                          <a:solidFill>
                            <a:srgbClr val="000000"/>
                          </a:solidFill>
                          <a:effectLst/>
                          <a:latin typeface="Calibri" panose="020F0502020204030204" pitchFamily="34" charset="0"/>
                        </a:rPr>
                        <a:t>NM, CT, VT, CA, NY</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900" b="0" i="0" u="none" strike="noStrike">
                          <a:solidFill>
                            <a:srgbClr val="000000"/>
                          </a:solidFill>
                          <a:effectLst/>
                          <a:latin typeface="Calibri" panose="020F0502020204030204" pitchFamily="34" charset="0"/>
                        </a:rPr>
                        <a:t>Jonathan Mohr, Valerie Martinez, Karthik </a:t>
                      </a:r>
                      <a:r>
                        <a:rPr lang="en-US" sz="900" b="0" i="0" u="none" strike="noStrike" err="1">
                          <a:solidFill>
                            <a:srgbClr val="000000"/>
                          </a:solidFill>
                          <a:effectLst/>
                          <a:latin typeface="Calibri" panose="020F0502020204030204" pitchFamily="34" charset="0"/>
                        </a:rPr>
                        <a:t>Thilager</a:t>
                      </a:r>
                      <a:r>
                        <a:rPr lang="en-US" sz="900" b="0" i="0" u="none" strike="noStrike">
                          <a:solidFill>
                            <a:srgbClr val="000000"/>
                          </a:solidFill>
                          <a:effectLst/>
                          <a:latin typeface="Calibri" panose="020F0502020204030204" pitchFamily="34" charset="0"/>
                        </a:rPr>
                        <a:t> </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84911578"/>
                  </a:ext>
                </a:extLst>
              </a:tr>
            </a:tbl>
          </a:graphicData>
        </a:graphic>
      </p:graphicFrame>
    </p:spTree>
    <p:extLst>
      <p:ext uri="{BB962C8B-B14F-4D97-AF65-F5344CB8AC3E}">
        <p14:creationId xmlns:p14="http://schemas.microsoft.com/office/powerpoint/2010/main" val="41176700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04A59F-6169-B8C6-2926-BBF00D448A6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8930F8C-63D5-5E51-E563-9DEA4AC165C2}"/>
              </a:ext>
            </a:extLst>
          </p:cNvPr>
          <p:cNvSpPr>
            <a:spLocks noGrp="1"/>
          </p:cNvSpPr>
          <p:nvPr>
            <p:ph idx="1"/>
          </p:nvPr>
        </p:nvSpPr>
        <p:spPr>
          <a:xfrm>
            <a:off x="462889" y="685191"/>
            <a:ext cx="8550646" cy="4218364"/>
          </a:xfrm>
        </p:spPr>
        <p:txBody>
          <a:bodyPr vert="horz" lIns="91416" tIns="45708" rIns="91416" bIns="45708" rtlCol="0" anchor="t">
            <a:noAutofit/>
          </a:bodyPr>
          <a:lstStyle/>
          <a:p>
            <a:pPr marL="166640" lvl="1" indent="0">
              <a:buNone/>
            </a:pPr>
            <a:r>
              <a:rPr lang="en-US" sz="1200" b="1">
                <a:ea typeface="+mn-lt"/>
                <a:cs typeface="+mn-lt"/>
              </a:rPr>
              <a:t>B&amp;E Portal:</a:t>
            </a:r>
          </a:p>
          <a:p>
            <a:pPr marL="338090" lvl="1" indent="-171450">
              <a:buFontTx/>
              <a:buChar char="-"/>
            </a:pPr>
            <a:r>
              <a:rPr lang="en-US" sz="1200">
                <a:ea typeface="+mn-lt"/>
                <a:cs typeface="+mn-lt"/>
              </a:rPr>
              <a:t>Need to validate in B&amp;E portal, and ensure existing process displays the benefit summary PDF document and COCs</a:t>
            </a:r>
          </a:p>
          <a:p>
            <a:pPr marL="338090" lvl="1" indent="-171450">
              <a:buFontTx/>
              <a:buChar char="-"/>
            </a:pPr>
            <a:r>
              <a:rPr lang="en-US" sz="1200">
                <a:ea typeface="+mn-lt"/>
                <a:cs typeface="+mn-lt"/>
              </a:rPr>
              <a:t>Need to validate in B&amp;E portal if we currently display the billing statements for customers?.</a:t>
            </a:r>
          </a:p>
          <a:p>
            <a:pPr marL="338090" lvl="1" indent="-171450">
              <a:buFontTx/>
              <a:buChar char="-"/>
            </a:pPr>
            <a:r>
              <a:rPr lang="en-US" sz="1200">
                <a:ea typeface="+mn-lt"/>
                <a:cs typeface="+mn-lt"/>
              </a:rPr>
              <a:t>Need to validate in B&amp;E portal if we currently display any BA reports for customers? </a:t>
            </a:r>
          </a:p>
          <a:p>
            <a:pPr marL="338090" lvl="1" indent="-171450">
              <a:buFontTx/>
              <a:buChar char="-"/>
            </a:pPr>
            <a:r>
              <a:rPr lang="en-US" sz="1200">
                <a:ea typeface="+mn-lt"/>
                <a:cs typeface="+mn-lt"/>
              </a:rPr>
              <a:t>Need to validate in B&amp;E portal if we are displaying any BA materials or content on the site? </a:t>
            </a:r>
          </a:p>
          <a:p>
            <a:pPr marL="166640" lvl="1" indent="0">
              <a:buNone/>
            </a:pPr>
            <a:r>
              <a:rPr lang="en-US" sz="1200" b="1">
                <a:ea typeface="+mn-lt"/>
                <a:cs typeface="+mn-lt"/>
              </a:rPr>
              <a:t>Note</a:t>
            </a:r>
            <a:r>
              <a:rPr lang="en-US" sz="1200">
                <a:ea typeface="+mn-lt"/>
                <a:cs typeface="+mn-lt"/>
              </a:rPr>
              <a:t>: need to validate the current state with B&amp;E portal team</a:t>
            </a:r>
          </a:p>
          <a:p>
            <a:pPr marL="166640" lvl="1" indent="0">
              <a:buNone/>
            </a:pPr>
            <a:endParaRPr lang="en-US" sz="1200" b="1">
              <a:ea typeface="+mn-lt"/>
              <a:cs typeface="+mn-lt"/>
            </a:endParaRPr>
          </a:p>
          <a:p>
            <a:pPr marL="166640" lvl="1" indent="0">
              <a:buNone/>
            </a:pPr>
            <a:endParaRPr lang="en-US" sz="800" b="1">
              <a:ea typeface="+mn-lt"/>
              <a:cs typeface="+mn-lt"/>
            </a:endParaRPr>
          </a:p>
          <a:p>
            <a:pPr marL="166640" lvl="1" indent="0">
              <a:buNone/>
            </a:pPr>
            <a:endParaRPr lang="en-US" sz="800" b="1">
              <a:ea typeface="+mn-lt"/>
              <a:cs typeface="+mn-lt"/>
            </a:endParaRPr>
          </a:p>
        </p:txBody>
      </p:sp>
      <p:sp>
        <p:nvSpPr>
          <p:cNvPr id="3" name="Slide Number Placeholder 2">
            <a:extLst>
              <a:ext uri="{FF2B5EF4-FFF2-40B4-BE49-F238E27FC236}">
                <a16:creationId xmlns:a16="http://schemas.microsoft.com/office/drawing/2014/main" id="{1A1D4B59-8295-0477-F63D-B8193C3ED3C2}"/>
              </a:ext>
            </a:extLst>
          </p:cNvPr>
          <p:cNvSpPr>
            <a:spLocks noGrp="1"/>
          </p:cNvSpPr>
          <p:nvPr>
            <p:ph type="sldNum" sz="quarter" idx="12"/>
          </p:nvPr>
        </p:nvSpPr>
        <p:spPr/>
        <p:txBody>
          <a:bodyPr/>
          <a:lstStyle/>
          <a:p>
            <a:pPr defTabSz="914171"/>
            <a:fld id="{90F9BDA0-AF0E-4BA8-B742-3B9C92A3E6FE}" type="slidenum">
              <a:rPr lang="en-US">
                <a:solidFill>
                  <a:srgbClr val="8C9599"/>
                </a:solidFill>
                <a:latin typeface="Arial"/>
              </a:rPr>
              <a:pPr defTabSz="914171"/>
              <a:t>50</a:t>
            </a:fld>
            <a:endParaRPr lang="en-US">
              <a:solidFill>
                <a:srgbClr val="8C9599"/>
              </a:solidFill>
              <a:latin typeface="Arial"/>
            </a:endParaRPr>
          </a:p>
        </p:txBody>
      </p:sp>
      <p:sp>
        <p:nvSpPr>
          <p:cNvPr id="4" name="Title 3">
            <a:extLst>
              <a:ext uri="{FF2B5EF4-FFF2-40B4-BE49-F238E27FC236}">
                <a16:creationId xmlns:a16="http://schemas.microsoft.com/office/drawing/2014/main" id="{975431BC-7317-ADA4-8C59-F987AE424001}"/>
              </a:ext>
            </a:extLst>
          </p:cNvPr>
          <p:cNvSpPr>
            <a:spLocks noGrp="1"/>
          </p:cNvSpPr>
          <p:nvPr>
            <p:ph type="title"/>
          </p:nvPr>
        </p:nvSpPr>
        <p:spPr>
          <a:xfrm>
            <a:off x="800100" y="221850"/>
            <a:ext cx="5921975" cy="525319"/>
          </a:xfrm>
        </p:spPr>
        <p:txBody>
          <a:bodyPr>
            <a:normAutofit/>
          </a:bodyPr>
          <a:lstStyle/>
          <a:p>
            <a:r>
              <a:rPr lang="en-US" sz="1400"/>
              <a:t>Sales – Sell to Customers - Brokers Access of BA info </a:t>
            </a:r>
            <a:br>
              <a:rPr lang="en-US" sz="1400">
                <a:solidFill>
                  <a:schemeClr val="accent1"/>
                </a:solidFill>
              </a:rPr>
            </a:br>
            <a:r>
              <a:rPr lang="en-US" sz="1400">
                <a:solidFill>
                  <a:schemeClr val="accent1"/>
                </a:solidFill>
              </a:rPr>
              <a:t>(</a:t>
            </a:r>
            <a:r>
              <a:rPr lang="en-US" sz="1400" b="1">
                <a:solidFill>
                  <a:schemeClr val="accent1"/>
                </a:solidFill>
              </a:rPr>
              <a:t>Large Group 100+ ) </a:t>
            </a:r>
            <a:r>
              <a:rPr lang="en-US" sz="1400"/>
              <a:t>– Applications Impact</a:t>
            </a:r>
          </a:p>
        </p:txBody>
      </p:sp>
      <p:sp>
        <p:nvSpPr>
          <p:cNvPr id="5" name="Rectangle 4">
            <a:extLst>
              <a:ext uri="{FF2B5EF4-FFF2-40B4-BE49-F238E27FC236}">
                <a16:creationId xmlns:a16="http://schemas.microsoft.com/office/drawing/2014/main" id="{C4384832-AE03-DF6F-4A7C-F66C937065EA}"/>
              </a:ext>
            </a:extLst>
          </p:cNvPr>
          <p:cNvSpPr/>
          <p:nvPr/>
        </p:nvSpPr>
        <p:spPr>
          <a:xfrm>
            <a:off x="6563348" y="306943"/>
            <a:ext cx="1056652" cy="400085"/>
          </a:xfrm>
          <a:prstGeom prst="rect">
            <a:avLst/>
          </a:prstGeom>
          <a:noFill/>
        </p:spPr>
        <p:txBody>
          <a:bodyPr wrap="none" lIns="91416" tIns="45708" rIns="91416" bIns="45708">
            <a:spAutoFit/>
          </a:bodyPr>
          <a:lstStyle/>
          <a:p>
            <a:pPr algn="ctr" defTabSz="914171"/>
            <a:r>
              <a:rPr lang="en-US" sz="2000" b="1">
                <a:ln w="12700" cmpd="sng">
                  <a:solidFill>
                    <a:srgbClr val="9521AD"/>
                  </a:solidFill>
                  <a:prstDash val="solid"/>
                </a:ln>
                <a:gradFill>
                  <a:gsLst>
                    <a:gs pos="0">
                      <a:srgbClr val="9521AD"/>
                    </a:gs>
                    <a:gs pos="4000">
                      <a:srgbClr val="9521AD">
                        <a:lumMod val="60000"/>
                        <a:lumOff val="40000"/>
                      </a:srgbClr>
                    </a:gs>
                    <a:gs pos="87000">
                      <a:srgbClr val="9521AD">
                        <a:lumMod val="20000"/>
                        <a:lumOff val="80000"/>
                      </a:srgbClr>
                    </a:gs>
                  </a:gsLst>
                  <a:lin ang="5400000"/>
                </a:gradFill>
                <a:latin typeface="Arial"/>
              </a:rPr>
              <a:t>DRAFT</a:t>
            </a:r>
          </a:p>
        </p:txBody>
      </p:sp>
    </p:spTree>
    <p:extLst>
      <p:ext uri="{BB962C8B-B14F-4D97-AF65-F5344CB8AC3E}">
        <p14:creationId xmlns:p14="http://schemas.microsoft.com/office/powerpoint/2010/main" val="1323834434"/>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D8232-916A-64A1-0DEB-D1BE8CE62C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DED55C-61F4-36D2-0A7E-6E614169C2D4}"/>
              </a:ext>
            </a:extLst>
          </p:cNvPr>
          <p:cNvSpPr>
            <a:spLocks noGrp="1"/>
          </p:cNvSpPr>
          <p:nvPr>
            <p:ph type="ctrTitle"/>
          </p:nvPr>
        </p:nvSpPr>
        <p:spPr>
          <a:xfrm>
            <a:off x="4048125" y="1631406"/>
            <a:ext cx="4888307" cy="1302293"/>
          </a:xfrm>
        </p:spPr>
        <p:txBody>
          <a:bodyPr/>
          <a:lstStyle/>
          <a:p>
            <a:r>
              <a:rPr lang="en-US" sz="2000" b="1" spc="-51">
                <a:solidFill>
                  <a:schemeClr val="tx1">
                    <a:lumMod val="50000"/>
                  </a:schemeClr>
                </a:solidFill>
                <a:latin typeface="+mj-lt"/>
                <a:ea typeface="+mj-ea"/>
                <a:cs typeface="+mj-cs"/>
              </a:rPr>
              <a:t>Advocacy Product Family Capability : Guided Experience</a:t>
            </a:r>
            <a:br>
              <a:rPr lang="en-US" sz="2400" b="1" spc="-51">
                <a:solidFill>
                  <a:schemeClr val="tx1">
                    <a:lumMod val="50000"/>
                  </a:schemeClr>
                </a:solidFill>
                <a:latin typeface="+mj-lt"/>
                <a:ea typeface="+mj-ea"/>
                <a:cs typeface="+mj-cs"/>
              </a:rPr>
            </a:br>
            <a:br>
              <a:rPr lang="en-US" sz="2400" b="1" spc="-51">
                <a:solidFill>
                  <a:schemeClr val="tx1">
                    <a:lumMod val="50000"/>
                  </a:schemeClr>
                </a:solidFill>
                <a:latin typeface="+mj-lt"/>
                <a:ea typeface="+mj-ea"/>
                <a:cs typeface="+mj-cs"/>
              </a:rPr>
            </a:br>
            <a:r>
              <a:rPr lang="en-US" sz="1400">
                <a:solidFill>
                  <a:schemeClr val="accent2"/>
                </a:solidFill>
              </a:rPr>
              <a:t>Customer Service  </a:t>
            </a:r>
            <a:br>
              <a:rPr lang="en-US" sz="1400">
                <a:solidFill>
                  <a:srgbClr val="000000"/>
                </a:solidFill>
                <a:latin typeface="Calibri" panose="020F0502020204030204" pitchFamily="34" charset="0"/>
              </a:rPr>
            </a:br>
            <a:r>
              <a:rPr lang="en-US" sz="1400"/>
              <a:t>Constituent Services </a:t>
            </a:r>
            <a:r>
              <a:rPr lang="en-US" sz="1400" b="1">
                <a:solidFill>
                  <a:schemeClr val="accent1"/>
                </a:solidFill>
              </a:rPr>
              <a:t>- Large Group NB 51-99 </a:t>
            </a:r>
            <a:endParaRPr lang="en-US" sz="1400" b="1" spc="-51">
              <a:solidFill>
                <a:schemeClr val="tx1">
                  <a:lumMod val="50000"/>
                </a:schemeClr>
              </a:solidFill>
              <a:latin typeface="+mj-lt"/>
              <a:ea typeface="+mj-ea"/>
              <a:cs typeface="+mj-cs"/>
            </a:endParaRPr>
          </a:p>
        </p:txBody>
      </p:sp>
    </p:spTree>
    <p:extLst>
      <p:ext uri="{BB962C8B-B14F-4D97-AF65-F5344CB8AC3E}">
        <p14:creationId xmlns:p14="http://schemas.microsoft.com/office/powerpoint/2010/main" val="2901751461"/>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8723A4-F59D-48D3-67B3-399F26B40D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AF2FBD-A912-E34D-F209-9416B69FD8CF}"/>
              </a:ext>
            </a:extLst>
          </p:cNvPr>
          <p:cNvSpPr>
            <a:spLocks noGrp="1"/>
          </p:cNvSpPr>
          <p:nvPr>
            <p:ph type="title"/>
          </p:nvPr>
        </p:nvSpPr>
        <p:spPr>
          <a:xfrm>
            <a:off x="226814" y="80683"/>
            <a:ext cx="7260336" cy="549381"/>
          </a:xfrm>
        </p:spPr>
        <p:txBody>
          <a:bodyPr>
            <a:normAutofit fontScale="90000"/>
          </a:bodyPr>
          <a:lstStyle/>
          <a:p>
            <a:r>
              <a:rPr lang="en-US"/>
              <a:t>Phase 2 - BA FI 51-99 - High Level requirements for  Customer Service</a:t>
            </a:r>
            <a:endParaRPr lang="en-US" sz="1800"/>
          </a:p>
        </p:txBody>
      </p:sp>
      <p:graphicFrame>
        <p:nvGraphicFramePr>
          <p:cNvPr id="8" name="Table 7">
            <a:extLst>
              <a:ext uri="{FF2B5EF4-FFF2-40B4-BE49-F238E27FC236}">
                <a16:creationId xmlns:a16="http://schemas.microsoft.com/office/drawing/2014/main" id="{08264A8C-7F33-2C25-C792-8C7B5FC6F00C}"/>
              </a:ext>
            </a:extLst>
          </p:cNvPr>
          <p:cNvGraphicFramePr>
            <a:graphicFrameLocks noGrp="1"/>
          </p:cNvGraphicFramePr>
          <p:nvPr>
            <p:extLst>
              <p:ext uri="{D42A27DB-BD31-4B8C-83A1-F6EECF244321}">
                <p14:modId xmlns:p14="http://schemas.microsoft.com/office/powerpoint/2010/main" val="139771576"/>
              </p:ext>
            </p:extLst>
          </p:nvPr>
        </p:nvGraphicFramePr>
        <p:xfrm>
          <a:off x="226814" y="800394"/>
          <a:ext cx="8856419" cy="992894"/>
        </p:xfrm>
        <a:graphic>
          <a:graphicData uri="http://schemas.openxmlformats.org/drawingml/2006/table">
            <a:tbl>
              <a:tblPr/>
              <a:tblGrid>
                <a:gridCol w="1184353">
                  <a:extLst>
                    <a:ext uri="{9D8B030D-6E8A-4147-A177-3AD203B41FA5}">
                      <a16:colId xmlns:a16="http://schemas.microsoft.com/office/drawing/2014/main" val="1962179033"/>
                    </a:ext>
                  </a:extLst>
                </a:gridCol>
                <a:gridCol w="4211116">
                  <a:extLst>
                    <a:ext uri="{9D8B030D-6E8A-4147-A177-3AD203B41FA5}">
                      <a16:colId xmlns:a16="http://schemas.microsoft.com/office/drawing/2014/main" val="130540882"/>
                    </a:ext>
                  </a:extLst>
                </a:gridCol>
                <a:gridCol w="1875539">
                  <a:extLst>
                    <a:ext uri="{9D8B030D-6E8A-4147-A177-3AD203B41FA5}">
                      <a16:colId xmlns:a16="http://schemas.microsoft.com/office/drawing/2014/main" val="751610378"/>
                    </a:ext>
                  </a:extLst>
                </a:gridCol>
                <a:gridCol w="725444">
                  <a:extLst>
                    <a:ext uri="{9D8B030D-6E8A-4147-A177-3AD203B41FA5}">
                      <a16:colId xmlns:a16="http://schemas.microsoft.com/office/drawing/2014/main" val="2701245817"/>
                    </a:ext>
                  </a:extLst>
                </a:gridCol>
                <a:gridCol w="859967">
                  <a:extLst>
                    <a:ext uri="{9D8B030D-6E8A-4147-A177-3AD203B41FA5}">
                      <a16:colId xmlns:a16="http://schemas.microsoft.com/office/drawing/2014/main" val="1145494209"/>
                    </a:ext>
                  </a:extLst>
                </a:gridCol>
              </a:tblGrid>
              <a:tr h="169209">
                <a:tc>
                  <a:txBody>
                    <a:bodyPr/>
                    <a:lstStyle/>
                    <a:p>
                      <a:pPr algn="ctr" fontAlgn="b"/>
                      <a:r>
                        <a:rPr lang="en-US" sz="900" b="1" i="0" u="none" strike="noStrike">
                          <a:solidFill>
                            <a:srgbClr val="FFFFFF"/>
                          </a:solidFill>
                          <a:effectLst/>
                          <a:latin typeface="Calibri" panose="020F0502020204030204" pitchFamily="34" charset="0"/>
                        </a:rPr>
                        <a:t>Name</a:t>
                      </a:r>
                    </a:p>
                  </a:txBody>
                  <a:tcPr marL="725" marR="725" marT="7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en-US" sz="900" b="1" i="0" u="none" strike="noStrike">
                          <a:solidFill>
                            <a:srgbClr val="FFFFFF"/>
                          </a:solidFill>
                          <a:effectLst/>
                          <a:latin typeface="Calibri" panose="020F0502020204030204" pitchFamily="34" charset="0"/>
                        </a:rPr>
                        <a:t>Functionality Required</a:t>
                      </a:r>
                    </a:p>
                  </a:txBody>
                  <a:tcPr marL="725" marR="725" marT="7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en-US" sz="900" b="1" i="0" u="none" strike="noStrike">
                          <a:solidFill>
                            <a:srgbClr val="FFFFFF"/>
                          </a:solidFill>
                          <a:effectLst/>
                          <a:latin typeface="Calibri" panose="020F0502020204030204" pitchFamily="34" charset="0"/>
                        </a:rPr>
                        <a:t>In Scope</a:t>
                      </a:r>
                    </a:p>
                  </a:txBody>
                  <a:tcPr marL="725" marR="725" marT="7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en-US" sz="900" b="1" i="0" u="none" strike="noStrike">
                          <a:solidFill>
                            <a:srgbClr val="FFFFFF"/>
                          </a:solidFill>
                          <a:effectLst/>
                          <a:latin typeface="Calibri" panose="020F0502020204030204" pitchFamily="34" charset="0"/>
                        </a:rPr>
                        <a:t>Out of Scope</a:t>
                      </a:r>
                    </a:p>
                  </a:txBody>
                  <a:tcPr marL="725" marR="725" marT="7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en-US" sz="900" b="1" i="0" u="none" strike="noStrike">
                          <a:solidFill>
                            <a:srgbClr val="FFFFFF"/>
                          </a:solidFill>
                          <a:effectLst/>
                          <a:latin typeface="Calibri" panose="020F0502020204030204" pitchFamily="34" charset="0"/>
                        </a:rPr>
                        <a:t>Team</a:t>
                      </a:r>
                    </a:p>
                  </a:txBody>
                  <a:tcPr marL="725" marR="725" marT="7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1836913942"/>
                  </a:ext>
                </a:extLst>
              </a:tr>
              <a:tr h="823685">
                <a:tc>
                  <a:txBody>
                    <a:bodyPr/>
                    <a:lstStyle/>
                    <a:p>
                      <a:pPr algn="ctr" fontAlgn="t"/>
                      <a:r>
                        <a:rPr lang="en-US" sz="900" b="1" i="0" u="none" strike="noStrike">
                          <a:solidFill>
                            <a:srgbClr val="000000"/>
                          </a:solidFill>
                          <a:effectLst/>
                          <a:latin typeface="Calibri" panose="020F0502020204030204" pitchFamily="34" charset="0"/>
                        </a:rPr>
                        <a:t>Customer Service</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Calibri" panose="020F0502020204030204" pitchFamily="34" charset="0"/>
                        </a:rPr>
                        <a:t>Ensure customer support (OST) and supplemental health customer support are able to intake the volume for 51-99 for Oxford and UHC. Process should not change for customer service - it should be the exact same for KA FI 100+ Oxford NJ. </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900" b="0" i="0" u="none" strike="noStrike">
                          <a:solidFill>
                            <a:srgbClr val="000000"/>
                          </a:solidFill>
                          <a:effectLst/>
                          <a:latin typeface="Calibri" panose="020F0502020204030204" pitchFamily="34" charset="0"/>
                        </a:rPr>
                        <a:t>AK, AL, AR, AZ, DC, DE, FL, GA, HI, IA, ID, IL, IN, KS, KY, LA, MA, MD, ME, MI, MN, MO, MS, MT, NC, ND, NE, NH, NJ, NV, OH, OK, OR, PA, RI, SC, SD, TN, TX, UT, VA, WA, WI, WV, WY, </a:t>
                      </a:r>
                      <a:r>
                        <a:rPr lang="en-US" sz="800" b="0" i="0" u="none" strike="noStrike" kern="1200">
                          <a:solidFill>
                            <a:srgbClr val="000000"/>
                          </a:solidFill>
                          <a:effectLst/>
                          <a:latin typeface="Calibri" panose="020F0502020204030204" pitchFamily="34" charset="0"/>
                          <a:ea typeface="+mn-ea"/>
                          <a:cs typeface="+mn-cs"/>
                        </a:rPr>
                        <a:t>CO</a:t>
                      </a:r>
                      <a:br>
                        <a:rPr lang="en-US" sz="900" b="0" i="0" u="none" strike="noStrike">
                          <a:solidFill>
                            <a:srgbClr val="000000"/>
                          </a:solidFill>
                          <a:effectLst/>
                          <a:latin typeface="Calibri" panose="020F0502020204030204" pitchFamily="34" charset="0"/>
                        </a:rPr>
                      </a:br>
                      <a:r>
                        <a:rPr lang="en-US" sz="900" b="0" i="0" u="none" strike="noStrike">
                          <a:solidFill>
                            <a:srgbClr val="000000"/>
                          </a:solidFill>
                          <a:effectLst/>
                          <a:latin typeface="Calibri" panose="020F0502020204030204" pitchFamily="34" charset="0"/>
                        </a:rPr>
                        <a:t>Oxford Markets: NJ</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nn-NO" sz="900" b="0" i="0" u="none" strike="noStrike">
                          <a:solidFill>
                            <a:srgbClr val="000000"/>
                          </a:solidFill>
                          <a:effectLst/>
                          <a:latin typeface="Calibri" panose="020F0502020204030204" pitchFamily="34" charset="0"/>
                        </a:rPr>
                        <a:t>NM, CT, VT, CA, NY</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900" b="0" i="0" u="none" strike="noStrike">
                          <a:solidFill>
                            <a:srgbClr val="000000"/>
                          </a:solidFill>
                          <a:effectLst/>
                          <a:latin typeface="Calibri" panose="020F0502020204030204" pitchFamily="34" charset="0"/>
                        </a:rPr>
                        <a:t>Jennifer Hamilton and Harpreet </a:t>
                      </a:r>
                      <a:r>
                        <a:rPr lang="en-US" sz="900" b="0" i="0" u="none" strike="noStrike" err="1">
                          <a:solidFill>
                            <a:srgbClr val="000000"/>
                          </a:solidFill>
                          <a:effectLst/>
                          <a:latin typeface="Calibri" panose="020F0502020204030204" pitchFamily="34" charset="0"/>
                        </a:rPr>
                        <a:t>Churiwalla</a:t>
                      </a:r>
                      <a:br>
                        <a:rPr lang="en-US" sz="900" b="0" i="0" u="none" strike="noStrike">
                          <a:solidFill>
                            <a:srgbClr val="000000"/>
                          </a:solidFill>
                          <a:effectLst/>
                          <a:latin typeface="Calibri" panose="020F0502020204030204" pitchFamily="34" charset="0"/>
                        </a:rPr>
                      </a:br>
                      <a:endParaRPr lang="en-US" sz="900" b="0" i="0" u="none" strike="noStrike">
                        <a:solidFill>
                          <a:srgbClr val="000000"/>
                        </a:solidFill>
                        <a:effectLst/>
                        <a:latin typeface="Calibri" panose="020F0502020204030204" pitchFamily="34" charset="0"/>
                      </a:endParaRP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9230400"/>
                  </a:ext>
                </a:extLst>
              </a:tr>
            </a:tbl>
          </a:graphicData>
        </a:graphic>
      </p:graphicFrame>
    </p:spTree>
    <p:extLst>
      <p:ext uri="{BB962C8B-B14F-4D97-AF65-F5344CB8AC3E}">
        <p14:creationId xmlns:p14="http://schemas.microsoft.com/office/powerpoint/2010/main" val="401470978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06E2C1-EBD8-D352-71A3-27A5879D6FB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47B22C4-4B30-261A-23A4-FBF7114B8D4A}"/>
              </a:ext>
            </a:extLst>
          </p:cNvPr>
          <p:cNvSpPr>
            <a:spLocks noGrp="1"/>
          </p:cNvSpPr>
          <p:nvPr>
            <p:ph idx="1"/>
          </p:nvPr>
        </p:nvSpPr>
        <p:spPr>
          <a:xfrm>
            <a:off x="462889" y="685191"/>
            <a:ext cx="8550646" cy="4218364"/>
          </a:xfrm>
        </p:spPr>
        <p:txBody>
          <a:bodyPr vert="horz" lIns="91416" tIns="45708" rIns="91416" bIns="45708" rtlCol="0" anchor="t">
            <a:noAutofit/>
          </a:bodyPr>
          <a:lstStyle/>
          <a:p>
            <a:pPr marL="166640" lvl="1" indent="0">
              <a:buNone/>
            </a:pPr>
            <a:r>
              <a:rPr lang="en-US" sz="1200" b="1" dirty="0">
                <a:ea typeface="+mn-lt"/>
                <a:cs typeface="+mn-lt"/>
              </a:rPr>
              <a:t>ACET USP </a:t>
            </a:r>
            <a:r>
              <a:rPr lang="en-US" sz="1200" b="1" strike="sngStrike" dirty="0">
                <a:ea typeface="+mn-lt"/>
                <a:cs typeface="+mn-lt"/>
              </a:rPr>
              <a:t>Commons</a:t>
            </a:r>
            <a:r>
              <a:rPr lang="en-US" sz="1200" b="1" dirty="0">
                <a:ea typeface="+mn-lt"/>
                <a:cs typeface="+mn-lt"/>
              </a:rPr>
              <a:t>:</a:t>
            </a:r>
          </a:p>
          <a:p>
            <a:pPr marL="338090" lvl="1" indent="-171450">
              <a:buFontTx/>
              <a:buChar char="-"/>
            </a:pPr>
            <a:r>
              <a:rPr lang="en-US" sz="1200" dirty="0">
                <a:ea typeface="+mn-lt"/>
                <a:cs typeface="+mn-lt"/>
              </a:rPr>
              <a:t>When BA was initially rolled out to Oxford FI 100+ at that ACET was using hard coding to interpret the BA plan code and add static text BA in the ACET GUI.</a:t>
            </a:r>
          </a:p>
          <a:p>
            <a:pPr marL="338090" lvl="1" indent="-171450">
              <a:buFontTx/>
              <a:buChar char="-"/>
            </a:pPr>
            <a:r>
              <a:rPr lang="en-US" sz="1200" dirty="0">
                <a:ea typeface="+mn-lt"/>
                <a:cs typeface="+mn-lt"/>
              </a:rPr>
              <a:t>Since the initial implementation of BA , the ACET application has been split into ACET USP </a:t>
            </a:r>
            <a:r>
              <a:rPr lang="en-US" sz="1200" strike="sngStrike" dirty="0">
                <a:ea typeface="+mn-lt"/>
                <a:cs typeface="+mn-lt"/>
              </a:rPr>
              <a:t>Commons</a:t>
            </a:r>
            <a:r>
              <a:rPr lang="en-US" sz="1200" dirty="0">
                <a:ea typeface="+mn-lt"/>
                <a:cs typeface="+mn-lt"/>
              </a:rPr>
              <a:t> and ACET BEO</a:t>
            </a:r>
          </a:p>
          <a:p>
            <a:pPr marL="338090" lvl="1" indent="-171450">
              <a:buFontTx/>
              <a:buChar char="-"/>
            </a:pPr>
            <a:r>
              <a:rPr lang="en-US" sz="1200" dirty="0">
                <a:ea typeface="+mn-lt"/>
                <a:cs typeface="+mn-lt"/>
              </a:rPr>
              <a:t>ACET USP </a:t>
            </a:r>
            <a:r>
              <a:rPr lang="en-US" sz="1200" strike="sngStrike" dirty="0">
                <a:ea typeface="+mn-lt"/>
                <a:cs typeface="+mn-lt"/>
              </a:rPr>
              <a:t>Commons</a:t>
            </a:r>
            <a:r>
              <a:rPr lang="en-US" sz="1200" dirty="0">
                <a:ea typeface="+mn-lt"/>
                <a:cs typeface="+mn-lt"/>
              </a:rPr>
              <a:t> tool is used by CSR to support the member inquiry calls.</a:t>
            </a:r>
          </a:p>
          <a:p>
            <a:pPr marL="338090" lvl="1" indent="-171450">
              <a:buFontTx/>
              <a:buChar char="-"/>
            </a:pPr>
            <a:r>
              <a:rPr lang="en-US" sz="1200" dirty="0">
                <a:ea typeface="+mn-lt"/>
                <a:cs typeface="+mn-lt"/>
              </a:rPr>
              <a:t>We need to switch from hard coding to using the standard APIs in ACET USP </a:t>
            </a:r>
            <a:r>
              <a:rPr lang="en-US" sz="1200" strike="sngStrike" dirty="0">
                <a:ea typeface="+mn-lt"/>
                <a:cs typeface="+mn-lt"/>
              </a:rPr>
              <a:t>Commons</a:t>
            </a:r>
            <a:r>
              <a:rPr lang="en-US" sz="1200" dirty="0">
                <a:ea typeface="+mn-lt"/>
                <a:cs typeface="+mn-lt"/>
              </a:rPr>
              <a:t> tool to display BA eligibility and plan information.</a:t>
            </a:r>
          </a:p>
          <a:p>
            <a:pPr marL="166640" lvl="1" indent="0">
              <a:buNone/>
            </a:pPr>
            <a:r>
              <a:rPr lang="en-US" sz="1200" b="1" dirty="0">
                <a:ea typeface="+mn-lt"/>
                <a:cs typeface="+mn-lt"/>
              </a:rPr>
              <a:t>ACET BEO:</a:t>
            </a:r>
          </a:p>
          <a:p>
            <a:pPr marL="338090" lvl="1" indent="-171450">
              <a:buFontTx/>
              <a:buChar char="-"/>
            </a:pPr>
            <a:r>
              <a:rPr lang="en-US" sz="1200" dirty="0">
                <a:ea typeface="+mn-lt"/>
                <a:cs typeface="+mn-lt"/>
              </a:rPr>
              <a:t>ACET BEO tool is used by CSR to support the Broker inquiry calls. </a:t>
            </a:r>
          </a:p>
          <a:p>
            <a:pPr marL="338090" lvl="1" indent="-171450">
              <a:buFontTx/>
              <a:buChar char="-"/>
            </a:pPr>
            <a:r>
              <a:rPr lang="en-US" sz="1200" dirty="0">
                <a:ea typeface="+mn-lt"/>
                <a:cs typeface="+mn-lt"/>
              </a:rPr>
              <a:t>We need to switch from hard coding to using the standard APIs in ACET BEO tools to display BA eligibility and plan information.</a:t>
            </a:r>
          </a:p>
          <a:p>
            <a:pPr marL="166640" lvl="1" indent="0">
              <a:buNone/>
            </a:pPr>
            <a:endParaRPr lang="en-US" sz="1200" dirty="0">
              <a:ea typeface="+mn-lt"/>
              <a:cs typeface="+mn-lt"/>
            </a:endParaRPr>
          </a:p>
          <a:p>
            <a:pPr marL="166640" lvl="1" indent="0">
              <a:buNone/>
            </a:pPr>
            <a:r>
              <a:rPr lang="en-US" sz="1200" b="1" dirty="0">
                <a:ea typeface="+mn-lt"/>
                <a:cs typeface="+mn-lt"/>
              </a:rPr>
              <a:t>Note</a:t>
            </a:r>
            <a:r>
              <a:rPr lang="en-US" sz="1200" dirty="0">
                <a:ea typeface="+mn-lt"/>
                <a:cs typeface="+mn-lt"/>
              </a:rPr>
              <a:t>: need to validate the current state with ACET teams</a:t>
            </a:r>
          </a:p>
          <a:p>
            <a:pPr marL="166640" lvl="1" indent="0">
              <a:buNone/>
            </a:pPr>
            <a:r>
              <a:rPr lang="en-US" sz="1200" dirty="0"/>
              <a:t>When we initially implemented BA, we had to build logic in ACET to show "Benefit Ally" based on certain plan codes since there was nothing in the API response that said, "Benefit Ally".  It only showed the SH plan option.</a:t>
            </a:r>
          </a:p>
          <a:p>
            <a:pPr marL="166640" lvl="1" indent="0">
              <a:buNone/>
            </a:pPr>
            <a:r>
              <a:rPr lang="en-US" sz="1200" dirty="0">
                <a:ea typeface="+mn-lt"/>
                <a:cs typeface="+mn-lt"/>
              </a:rPr>
              <a:t>The </a:t>
            </a:r>
            <a:r>
              <a:rPr lang="en-US" sz="1200" b="1" dirty="0">
                <a:ea typeface="+mn-lt"/>
                <a:cs typeface="+mn-lt"/>
              </a:rPr>
              <a:t>HCP Eligibility GQL API </a:t>
            </a:r>
            <a:r>
              <a:rPr lang="en-US" sz="1200" dirty="0">
                <a:ea typeface="+mn-lt"/>
                <a:cs typeface="+mn-lt"/>
              </a:rPr>
              <a:t>is now used by ACET USP, we need to ensure that this API provides the BA information in its response. If the BA info is not showing in the API response we have impact HCP./Nimbus.</a:t>
            </a:r>
          </a:p>
          <a:p>
            <a:pPr marL="166640" lvl="1" indent="0">
              <a:buNone/>
            </a:pPr>
            <a:endParaRPr lang="en-US" sz="1200" b="1" dirty="0">
              <a:ea typeface="+mn-lt"/>
              <a:cs typeface="+mn-lt"/>
            </a:endParaRPr>
          </a:p>
          <a:p>
            <a:pPr marL="166640" lvl="1" indent="0">
              <a:buNone/>
            </a:pPr>
            <a:endParaRPr lang="en-US" sz="800" b="1" dirty="0">
              <a:ea typeface="+mn-lt"/>
              <a:cs typeface="+mn-lt"/>
            </a:endParaRPr>
          </a:p>
          <a:p>
            <a:pPr marL="166640" lvl="1" indent="0">
              <a:buNone/>
            </a:pPr>
            <a:endParaRPr lang="en-US" sz="800" b="1" dirty="0">
              <a:ea typeface="+mn-lt"/>
              <a:cs typeface="+mn-lt"/>
            </a:endParaRPr>
          </a:p>
        </p:txBody>
      </p:sp>
      <p:sp>
        <p:nvSpPr>
          <p:cNvPr id="3" name="Slide Number Placeholder 2">
            <a:extLst>
              <a:ext uri="{FF2B5EF4-FFF2-40B4-BE49-F238E27FC236}">
                <a16:creationId xmlns:a16="http://schemas.microsoft.com/office/drawing/2014/main" id="{BCA57AF9-5DCC-F7F9-E77D-91E4D8B30C69}"/>
              </a:ext>
            </a:extLst>
          </p:cNvPr>
          <p:cNvSpPr>
            <a:spLocks noGrp="1"/>
          </p:cNvSpPr>
          <p:nvPr>
            <p:ph type="sldNum" sz="quarter" idx="12"/>
          </p:nvPr>
        </p:nvSpPr>
        <p:spPr/>
        <p:txBody>
          <a:bodyPr/>
          <a:lstStyle/>
          <a:p>
            <a:pPr defTabSz="914171"/>
            <a:fld id="{90F9BDA0-AF0E-4BA8-B742-3B9C92A3E6FE}" type="slidenum">
              <a:rPr lang="en-US">
                <a:solidFill>
                  <a:srgbClr val="8C9599"/>
                </a:solidFill>
                <a:latin typeface="Arial"/>
              </a:rPr>
              <a:pPr defTabSz="914171"/>
              <a:t>53</a:t>
            </a:fld>
            <a:endParaRPr lang="en-US">
              <a:solidFill>
                <a:srgbClr val="8C9599"/>
              </a:solidFill>
              <a:latin typeface="Arial"/>
            </a:endParaRPr>
          </a:p>
        </p:txBody>
      </p:sp>
      <p:sp>
        <p:nvSpPr>
          <p:cNvPr id="4" name="Title 3">
            <a:extLst>
              <a:ext uri="{FF2B5EF4-FFF2-40B4-BE49-F238E27FC236}">
                <a16:creationId xmlns:a16="http://schemas.microsoft.com/office/drawing/2014/main" id="{3924F578-462D-5FDE-3A7B-05F669AD9A6D}"/>
              </a:ext>
            </a:extLst>
          </p:cNvPr>
          <p:cNvSpPr>
            <a:spLocks noGrp="1"/>
          </p:cNvSpPr>
          <p:nvPr>
            <p:ph type="title"/>
          </p:nvPr>
        </p:nvSpPr>
        <p:spPr>
          <a:xfrm>
            <a:off x="800100" y="221850"/>
            <a:ext cx="5921975" cy="525319"/>
          </a:xfrm>
        </p:spPr>
        <p:txBody>
          <a:bodyPr>
            <a:normAutofit/>
          </a:bodyPr>
          <a:lstStyle/>
          <a:p>
            <a:r>
              <a:rPr lang="en-US" sz="1400"/>
              <a:t>Advocacy – Customer Service – ACET display of BA info </a:t>
            </a:r>
            <a:br>
              <a:rPr lang="en-US" sz="1400">
                <a:solidFill>
                  <a:schemeClr val="accent1"/>
                </a:solidFill>
              </a:rPr>
            </a:br>
            <a:r>
              <a:rPr lang="en-US" sz="1400">
                <a:solidFill>
                  <a:schemeClr val="accent1"/>
                </a:solidFill>
              </a:rPr>
              <a:t>(</a:t>
            </a:r>
            <a:r>
              <a:rPr lang="en-US" sz="1400" b="1">
                <a:solidFill>
                  <a:schemeClr val="accent1"/>
                </a:solidFill>
              </a:rPr>
              <a:t>Large Group 100+ ) </a:t>
            </a:r>
            <a:r>
              <a:rPr lang="en-US" sz="1400"/>
              <a:t>– Applications Impact</a:t>
            </a:r>
          </a:p>
        </p:txBody>
      </p:sp>
      <p:sp>
        <p:nvSpPr>
          <p:cNvPr id="5" name="Rectangle 4">
            <a:extLst>
              <a:ext uri="{FF2B5EF4-FFF2-40B4-BE49-F238E27FC236}">
                <a16:creationId xmlns:a16="http://schemas.microsoft.com/office/drawing/2014/main" id="{F03EF8AA-AC2A-E8D5-9F26-9F119725F3C7}"/>
              </a:ext>
            </a:extLst>
          </p:cNvPr>
          <p:cNvSpPr/>
          <p:nvPr/>
        </p:nvSpPr>
        <p:spPr>
          <a:xfrm>
            <a:off x="6722075" y="0"/>
            <a:ext cx="1056652" cy="400085"/>
          </a:xfrm>
          <a:prstGeom prst="rect">
            <a:avLst/>
          </a:prstGeom>
          <a:noFill/>
        </p:spPr>
        <p:txBody>
          <a:bodyPr wrap="none" lIns="91416" tIns="45708" rIns="91416" bIns="45708">
            <a:spAutoFit/>
          </a:bodyPr>
          <a:lstStyle/>
          <a:p>
            <a:pPr algn="ctr" defTabSz="914171"/>
            <a:r>
              <a:rPr lang="en-US" sz="2000" b="1" dirty="0">
                <a:ln w="12700" cmpd="sng">
                  <a:solidFill>
                    <a:srgbClr val="9521AD"/>
                  </a:solidFill>
                  <a:prstDash val="solid"/>
                </a:ln>
                <a:gradFill>
                  <a:gsLst>
                    <a:gs pos="0">
                      <a:srgbClr val="9521AD"/>
                    </a:gs>
                    <a:gs pos="4000">
                      <a:srgbClr val="9521AD">
                        <a:lumMod val="60000"/>
                        <a:lumOff val="40000"/>
                      </a:srgbClr>
                    </a:gs>
                    <a:gs pos="87000">
                      <a:srgbClr val="9521AD">
                        <a:lumMod val="20000"/>
                        <a:lumOff val="80000"/>
                      </a:srgbClr>
                    </a:gs>
                  </a:gsLst>
                  <a:lin ang="5400000"/>
                </a:gradFill>
                <a:latin typeface="Arial"/>
              </a:rPr>
              <a:t>DRAFT</a:t>
            </a:r>
          </a:p>
        </p:txBody>
      </p:sp>
    </p:spTree>
    <p:extLst>
      <p:ext uri="{BB962C8B-B14F-4D97-AF65-F5344CB8AC3E}">
        <p14:creationId xmlns:p14="http://schemas.microsoft.com/office/powerpoint/2010/main" val="793816309"/>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2B1FE1-8674-42C1-E847-3D3E422508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87D448-D263-3850-3978-7F5302F8AD29}"/>
              </a:ext>
            </a:extLst>
          </p:cNvPr>
          <p:cNvSpPr>
            <a:spLocks noGrp="1"/>
          </p:cNvSpPr>
          <p:nvPr>
            <p:ph type="title"/>
          </p:nvPr>
        </p:nvSpPr>
        <p:spPr>
          <a:xfrm>
            <a:off x="302004" y="70860"/>
            <a:ext cx="7127496" cy="693525"/>
          </a:xfrm>
        </p:spPr>
        <p:txBody>
          <a:bodyPr>
            <a:normAutofit fontScale="90000"/>
          </a:bodyPr>
          <a:lstStyle/>
          <a:p>
            <a:r>
              <a:rPr lang="en-US" sz="2000" dirty="0"/>
              <a:t>High Level Architecture – ACET USP </a:t>
            </a:r>
            <a:r>
              <a:rPr lang="en-US" sz="2000" strike="sngStrike" dirty="0"/>
              <a:t>Commons</a:t>
            </a:r>
            <a:br>
              <a:rPr lang="en-US" sz="2000" dirty="0"/>
            </a:br>
            <a:r>
              <a:rPr lang="en-US" sz="2000" dirty="0"/>
              <a:t>      BA Coverage Display in ACET for Customer Service Rep</a:t>
            </a:r>
            <a:endParaRPr lang="en-US" sz="1600" dirty="0"/>
          </a:p>
        </p:txBody>
      </p:sp>
      <p:pic>
        <p:nvPicPr>
          <p:cNvPr id="5" name="Picture 4">
            <a:extLst>
              <a:ext uri="{FF2B5EF4-FFF2-40B4-BE49-F238E27FC236}">
                <a16:creationId xmlns:a16="http://schemas.microsoft.com/office/drawing/2014/main" id="{C2AF151D-ADF7-B6AE-87AD-F3CC3E5F50A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48368" y="1111302"/>
            <a:ext cx="7447263" cy="1493435"/>
          </a:xfrm>
          <a:prstGeom prst="rect">
            <a:avLst/>
          </a:prstGeom>
        </p:spPr>
      </p:pic>
      <p:sp>
        <p:nvSpPr>
          <p:cNvPr id="7" name="Rectangle 6">
            <a:extLst>
              <a:ext uri="{FF2B5EF4-FFF2-40B4-BE49-F238E27FC236}">
                <a16:creationId xmlns:a16="http://schemas.microsoft.com/office/drawing/2014/main" id="{B9F0F3E7-33F8-18E9-1016-41AE35F16B5F}"/>
              </a:ext>
            </a:extLst>
          </p:cNvPr>
          <p:cNvSpPr/>
          <p:nvPr/>
        </p:nvSpPr>
        <p:spPr>
          <a:xfrm>
            <a:off x="6830000" y="764385"/>
            <a:ext cx="1056700" cy="400110"/>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w="12700" cmpd="sng">
                  <a:solidFill>
                    <a:srgbClr val="9521AD"/>
                  </a:solidFill>
                  <a:prstDash val="solid"/>
                </a:ln>
                <a:gradFill>
                  <a:gsLst>
                    <a:gs pos="0">
                      <a:srgbClr val="9521AD"/>
                    </a:gs>
                    <a:gs pos="4000">
                      <a:srgbClr val="9521AD">
                        <a:lumMod val="60000"/>
                        <a:lumOff val="40000"/>
                      </a:srgbClr>
                    </a:gs>
                    <a:gs pos="87000">
                      <a:srgbClr val="9521AD">
                        <a:lumMod val="20000"/>
                        <a:lumOff val="80000"/>
                      </a:srgbClr>
                    </a:gs>
                  </a:gsLst>
                  <a:lin ang="5400000"/>
                </a:gradFill>
                <a:effectLst/>
                <a:uLnTx/>
                <a:uFillTx/>
                <a:latin typeface="Arial"/>
                <a:ea typeface="+mn-ea"/>
                <a:cs typeface="+mn-cs"/>
              </a:rPr>
              <a:t>DRAFT</a:t>
            </a:r>
          </a:p>
        </p:txBody>
      </p:sp>
    </p:spTree>
    <p:extLst>
      <p:ext uri="{BB962C8B-B14F-4D97-AF65-F5344CB8AC3E}">
        <p14:creationId xmlns:p14="http://schemas.microsoft.com/office/powerpoint/2010/main" val="231919295"/>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808D9A-25A9-501C-3300-E442035B50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463338-5624-3126-CF4A-19D7F10A21AF}"/>
              </a:ext>
            </a:extLst>
          </p:cNvPr>
          <p:cNvSpPr>
            <a:spLocks noGrp="1"/>
          </p:cNvSpPr>
          <p:nvPr>
            <p:ph type="title"/>
          </p:nvPr>
        </p:nvSpPr>
        <p:spPr>
          <a:xfrm>
            <a:off x="302004" y="70860"/>
            <a:ext cx="7127496" cy="693525"/>
          </a:xfrm>
        </p:spPr>
        <p:txBody>
          <a:bodyPr>
            <a:normAutofit fontScale="90000"/>
          </a:bodyPr>
          <a:lstStyle/>
          <a:p>
            <a:r>
              <a:rPr lang="en-US" sz="2000" dirty="0"/>
              <a:t>High Level Architecture – ACET USP </a:t>
            </a:r>
            <a:r>
              <a:rPr lang="en-US" sz="2000" strike="sngStrike" dirty="0"/>
              <a:t>Commons</a:t>
            </a:r>
            <a:br>
              <a:rPr lang="en-US" sz="2000" dirty="0"/>
            </a:br>
            <a:r>
              <a:rPr lang="en-US" sz="2000" dirty="0"/>
              <a:t>      BA Benefit Summaries Display for Customer Service Rep</a:t>
            </a:r>
            <a:endParaRPr lang="en-US" sz="1600" dirty="0"/>
          </a:p>
        </p:txBody>
      </p:sp>
      <p:pic>
        <p:nvPicPr>
          <p:cNvPr id="5" name="Picture 4">
            <a:extLst>
              <a:ext uri="{FF2B5EF4-FFF2-40B4-BE49-F238E27FC236}">
                <a16:creationId xmlns:a16="http://schemas.microsoft.com/office/drawing/2014/main" id="{7B411EE3-7AA8-A7DE-56C7-C93F730422E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73985" y="1111302"/>
            <a:ext cx="6988889" cy="2470172"/>
          </a:xfrm>
          <a:prstGeom prst="rect">
            <a:avLst/>
          </a:prstGeom>
        </p:spPr>
      </p:pic>
      <p:sp>
        <p:nvSpPr>
          <p:cNvPr id="7" name="Rectangle 6">
            <a:extLst>
              <a:ext uri="{FF2B5EF4-FFF2-40B4-BE49-F238E27FC236}">
                <a16:creationId xmlns:a16="http://schemas.microsoft.com/office/drawing/2014/main" id="{7DA67987-4E30-3170-543C-A2A3ACC6D3B7}"/>
              </a:ext>
            </a:extLst>
          </p:cNvPr>
          <p:cNvSpPr/>
          <p:nvPr/>
        </p:nvSpPr>
        <p:spPr>
          <a:xfrm>
            <a:off x="6830000" y="764385"/>
            <a:ext cx="1056700" cy="400110"/>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w="12700" cmpd="sng">
                  <a:solidFill>
                    <a:srgbClr val="9521AD"/>
                  </a:solidFill>
                  <a:prstDash val="solid"/>
                </a:ln>
                <a:gradFill>
                  <a:gsLst>
                    <a:gs pos="0">
                      <a:srgbClr val="9521AD"/>
                    </a:gs>
                    <a:gs pos="4000">
                      <a:srgbClr val="9521AD">
                        <a:lumMod val="60000"/>
                        <a:lumOff val="40000"/>
                      </a:srgbClr>
                    </a:gs>
                    <a:gs pos="87000">
                      <a:srgbClr val="9521AD">
                        <a:lumMod val="20000"/>
                        <a:lumOff val="80000"/>
                      </a:srgbClr>
                    </a:gs>
                  </a:gsLst>
                  <a:lin ang="5400000"/>
                </a:gradFill>
                <a:effectLst/>
                <a:uLnTx/>
                <a:uFillTx/>
                <a:latin typeface="Arial"/>
                <a:ea typeface="+mn-ea"/>
                <a:cs typeface="+mn-cs"/>
              </a:rPr>
              <a:t>DRAFT</a:t>
            </a:r>
          </a:p>
        </p:txBody>
      </p:sp>
    </p:spTree>
    <p:extLst>
      <p:ext uri="{BB962C8B-B14F-4D97-AF65-F5344CB8AC3E}">
        <p14:creationId xmlns:p14="http://schemas.microsoft.com/office/powerpoint/2010/main" val="709022976"/>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B61A72-3659-4C21-1549-22BD2CC959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DF0877-C208-CFA7-810C-D48FEF982E0E}"/>
              </a:ext>
            </a:extLst>
          </p:cNvPr>
          <p:cNvSpPr>
            <a:spLocks noGrp="1"/>
          </p:cNvSpPr>
          <p:nvPr>
            <p:ph type="title"/>
          </p:nvPr>
        </p:nvSpPr>
        <p:spPr>
          <a:xfrm>
            <a:off x="302004" y="70860"/>
            <a:ext cx="7127496" cy="693525"/>
          </a:xfrm>
        </p:spPr>
        <p:txBody>
          <a:bodyPr>
            <a:normAutofit/>
          </a:bodyPr>
          <a:lstStyle/>
          <a:p>
            <a:r>
              <a:rPr lang="en-US" sz="2000"/>
              <a:t>ACET BEO – Application Impacts</a:t>
            </a:r>
            <a:br>
              <a:rPr lang="en-US" sz="2000"/>
            </a:br>
            <a:r>
              <a:rPr lang="en-US" sz="2000"/>
              <a:t>      General Information Display</a:t>
            </a:r>
            <a:endParaRPr lang="en-US" sz="1600"/>
          </a:p>
        </p:txBody>
      </p:sp>
      <p:pic>
        <p:nvPicPr>
          <p:cNvPr id="5" name="Picture 4">
            <a:extLst>
              <a:ext uri="{FF2B5EF4-FFF2-40B4-BE49-F238E27FC236}">
                <a16:creationId xmlns:a16="http://schemas.microsoft.com/office/drawing/2014/main" id="{8575E5B3-B953-EA7C-8620-B89D12795BA3}"/>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609600" y="764385"/>
            <a:ext cx="6381454" cy="3906423"/>
          </a:xfrm>
          <a:prstGeom prst="rect">
            <a:avLst/>
          </a:prstGeom>
        </p:spPr>
      </p:pic>
      <p:sp>
        <p:nvSpPr>
          <p:cNvPr id="7" name="Rectangle 6">
            <a:extLst>
              <a:ext uri="{FF2B5EF4-FFF2-40B4-BE49-F238E27FC236}">
                <a16:creationId xmlns:a16="http://schemas.microsoft.com/office/drawing/2014/main" id="{B5D82D70-6734-AEC9-840A-455EFB0381FB}"/>
              </a:ext>
            </a:extLst>
          </p:cNvPr>
          <p:cNvSpPr/>
          <p:nvPr/>
        </p:nvSpPr>
        <p:spPr>
          <a:xfrm>
            <a:off x="7696775" y="2385"/>
            <a:ext cx="1056700" cy="400110"/>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w="12700" cmpd="sng">
                  <a:solidFill>
                    <a:srgbClr val="9521AD"/>
                  </a:solidFill>
                  <a:prstDash val="solid"/>
                </a:ln>
                <a:gradFill>
                  <a:gsLst>
                    <a:gs pos="0">
                      <a:srgbClr val="9521AD"/>
                    </a:gs>
                    <a:gs pos="4000">
                      <a:srgbClr val="9521AD">
                        <a:lumMod val="60000"/>
                        <a:lumOff val="40000"/>
                      </a:srgbClr>
                    </a:gs>
                    <a:gs pos="87000">
                      <a:srgbClr val="9521AD">
                        <a:lumMod val="20000"/>
                        <a:lumOff val="80000"/>
                      </a:srgbClr>
                    </a:gs>
                  </a:gsLst>
                  <a:lin ang="5400000"/>
                </a:gradFill>
                <a:effectLst/>
                <a:uLnTx/>
                <a:uFillTx/>
                <a:latin typeface="Arial"/>
                <a:ea typeface="+mn-ea"/>
                <a:cs typeface="+mn-cs"/>
              </a:rPr>
              <a:t>DRAFT</a:t>
            </a:r>
          </a:p>
        </p:txBody>
      </p:sp>
    </p:spTree>
    <p:extLst>
      <p:ext uri="{BB962C8B-B14F-4D97-AF65-F5344CB8AC3E}">
        <p14:creationId xmlns:p14="http://schemas.microsoft.com/office/powerpoint/2010/main" val="2139100105"/>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3E82FD-BF80-1C3C-A9A9-A3CD61EB85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ABCD4B-CD26-0D40-BA8D-1E1C9D949BB8}"/>
              </a:ext>
            </a:extLst>
          </p:cNvPr>
          <p:cNvSpPr>
            <a:spLocks noGrp="1"/>
          </p:cNvSpPr>
          <p:nvPr>
            <p:ph type="title"/>
          </p:nvPr>
        </p:nvSpPr>
        <p:spPr>
          <a:xfrm>
            <a:off x="302004" y="70860"/>
            <a:ext cx="7127496" cy="693525"/>
          </a:xfrm>
        </p:spPr>
        <p:txBody>
          <a:bodyPr>
            <a:normAutofit/>
          </a:bodyPr>
          <a:lstStyle/>
          <a:p>
            <a:r>
              <a:rPr lang="en-US" sz="2000" dirty="0"/>
              <a:t>ACET USP </a:t>
            </a:r>
            <a:r>
              <a:rPr lang="en-US" sz="2000" strike="sngStrike" dirty="0"/>
              <a:t>Commons</a:t>
            </a:r>
            <a:r>
              <a:rPr lang="en-US" sz="2000" dirty="0"/>
              <a:t> – Application Impacts</a:t>
            </a:r>
            <a:br>
              <a:rPr lang="en-US" sz="2000" dirty="0"/>
            </a:br>
            <a:r>
              <a:rPr lang="en-US" sz="2000" dirty="0"/>
              <a:t>Group Plan Info Display</a:t>
            </a:r>
            <a:endParaRPr lang="en-US" sz="1600" dirty="0"/>
          </a:p>
        </p:txBody>
      </p:sp>
      <p:pic>
        <p:nvPicPr>
          <p:cNvPr id="5" name="Picture 4">
            <a:extLst>
              <a:ext uri="{FF2B5EF4-FFF2-40B4-BE49-F238E27FC236}">
                <a16:creationId xmlns:a16="http://schemas.microsoft.com/office/drawing/2014/main" id="{0BDAB957-206E-6077-FDBD-BCE76C9C8822}"/>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33401" y="764385"/>
            <a:ext cx="6217646" cy="3969540"/>
          </a:xfrm>
          <a:prstGeom prst="rect">
            <a:avLst/>
          </a:prstGeom>
        </p:spPr>
      </p:pic>
      <p:sp>
        <p:nvSpPr>
          <p:cNvPr id="7" name="Rectangle 6">
            <a:extLst>
              <a:ext uri="{FF2B5EF4-FFF2-40B4-BE49-F238E27FC236}">
                <a16:creationId xmlns:a16="http://schemas.microsoft.com/office/drawing/2014/main" id="{EFAAAE5E-A2ED-20C9-B9FE-47C086CD1AD5}"/>
              </a:ext>
            </a:extLst>
          </p:cNvPr>
          <p:cNvSpPr/>
          <p:nvPr/>
        </p:nvSpPr>
        <p:spPr>
          <a:xfrm>
            <a:off x="6830000" y="764385"/>
            <a:ext cx="1056700" cy="400110"/>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w="12700" cmpd="sng">
                  <a:solidFill>
                    <a:srgbClr val="9521AD"/>
                  </a:solidFill>
                  <a:prstDash val="solid"/>
                </a:ln>
                <a:gradFill>
                  <a:gsLst>
                    <a:gs pos="0">
                      <a:srgbClr val="9521AD"/>
                    </a:gs>
                    <a:gs pos="4000">
                      <a:srgbClr val="9521AD">
                        <a:lumMod val="60000"/>
                        <a:lumOff val="40000"/>
                      </a:srgbClr>
                    </a:gs>
                    <a:gs pos="87000">
                      <a:srgbClr val="9521AD">
                        <a:lumMod val="20000"/>
                        <a:lumOff val="80000"/>
                      </a:srgbClr>
                    </a:gs>
                  </a:gsLst>
                  <a:lin ang="5400000"/>
                </a:gradFill>
                <a:effectLst/>
                <a:uLnTx/>
                <a:uFillTx/>
                <a:latin typeface="Arial"/>
                <a:ea typeface="+mn-ea"/>
                <a:cs typeface="+mn-cs"/>
              </a:rPr>
              <a:t>DRAFT</a:t>
            </a:r>
          </a:p>
        </p:txBody>
      </p:sp>
    </p:spTree>
    <p:extLst>
      <p:ext uri="{BB962C8B-B14F-4D97-AF65-F5344CB8AC3E}">
        <p14:creationId xmlns:p14="http://schemas.microsoft.com/office/powerpoint/2010/main" val="93923856"/>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34187-B4F5-2150-BD95-74A9B574AA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5A335E-2069-A43E-777E-E49262624310}"/>
              </a:ext>
            </a:extLst>
          </p:cNvPr>
          <p:cNvSpPr>
            <a:spLocks noGrp="1"/>
          </p:cNvSpPr>
          <p:nvPr>
            <p:ph type="title"/>
          </p:nvPr>
        </p:nvSpPr>
        <p:spPr>
          <a:xfrm>
            <a:off x="302004" y="70860"/>
            <a:ext cx="7127496" cy="693525"/>
          </a:xfrm>
        </p:spPr>
        <p:txBody>
          <a:bodyPr>
            <a:normAutofit/>
          </a:bodyPr>
          <a:lstStyle/>
          <a:p>
            <a:r>
              <a:rPr lang="en-US" sz="2000" dirty="0"/>
              <a:t>High Level Architecture – ACET USP </a:t>
            </a:r>
            <a:r>
              <a:rPr lang="en-US" sz="2000" strike="sngStrike" dirty="0"/>
              <a:t>Commons</a:t>
            </a:r>
            <a:br>
              <a:rPr lang="en-US" sz="2000" strike="sngStrike" dirty="0"/>
            </a:br>
            <a:r>
              <a:rPr lang="en-US" sz="2000" dirty="0"/>
              <a:t>      Group Plan Display with Contract Options</a:t>
            </a:r>
            <a:endParaRPr lang="en-US" sz="1600" dirty="0"/>
          </a:p>
        </p:txBody>
      </p:sp>
      <p:pic>
        <p:nvPicPr>
          <p:cNvPr id="5" name="Picture 4">
            <a:extLst>
              <a:ext uri="{FF2B5EF4-FFF2-40B4-BE49-F238E27FC236}">
                <a16:creationId xmlns:a16="http://schemas.microsoft.com/office/drawing/2014/main" id="{AA188969-EA62-861A-1EEF-2E8F3A42E93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657225" y="764385"/>
            <a:ext cx="4809747" cy="3912390"/>
          </a:xfrm>
          <a:prstGeom prst="rect">
            <a:avLst/>
          </a:prstGeom>
        </p:spPr>
      </p:pic>
      <p:sp>
        <p:nvSpPr>
          <p:cNvPr id="7" name="Rectangle 6">
            <a:extLst>
              <a:ext uri="{FF2B5EF4-FFF2-40B4-BE49-F238E27FC236}">
                <a16:creationId xmlns:a16="http://schemas.microsoft.com/office/drawing/2014/main" id="{32D35625-8223-D7FD-E60C-767E6B9C4FDB}"/>
              </a:ext>
            </a:extLst>
          </p:cNvPr>
          <p:cNvSpPr/>
          <p:nvPr/>
        </p:nvSpPr>
        <p:spPr>
          <a:xfrm>
            <a:off x="6830000" y="764385"/>
            <a:ext cx="1056700" cy="400110"/>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w="12700" cmpd="sng">
                  <a:solidFill>
                    <a:srgbClr val="9521AD"/>
                  </a:solidFill>
                  <a:prstDash val="solid"/>
                </a:ln>
                <a:gradFill>
                  <a:gsLst>
                    <a:gs pos="0">
                      <a:srgbClr val="9521AD"/>
                    </a:gs>
                    <a:gs pos="4000">
                      <a:srgbClr val="9521AD">
                        <a:lumMod val="60000"/>
                        <a:lumOff val="40000"/>
                      </a:srgbClr>
                    </a:gs>
                    <a:gs pos="87000">
                      <a:srgbClr val="9521AD">
                        <a:lumMod val="20000"/>
                        <a:lumOff val="80000"/>
                      </a:srgbClr>
                    </a:gs>
                  </a:gsLst>
                  <a:lin ang="5400000"/>
                </a:gradFill>
                <a:effectLst/>
                <a:uLnTx/>
                <a:uFillTx/>
                <a:latin typeface="Arial"/>
                <a:ea typeface="+mn-ea"/>
                <a:cs typeface="+mn-cs"/>
              </a:rPr>
              <a:t>DRAFT</a:t>
            </a:r>
          </a:p>
        </p:txBody>
      </p:sp>
    </p:spTree>
    <p:extLst>
      <p:ext uri="{BB962C8B-B14F-4D97-AF65-F5344CB8AC3E}">
        <p14:creationId xmlns:p14="http://schemas.microsoft.com/office/powerpoint/2010/main" val="390803737"/>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A3A75B-9B69-6973-5437-AB6FB87E55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BB60E2-893D-341A-CA4C-F9FC7AC1C995}"/>
              </a:ext>
            </a:extLst>
          </p:cNvPr>
          <p:cNvSpPr>
            <a:spLocks noGrp="1"/>
          </p:cNvSpPr>
          <p:nvPr>
            <p:ph type="ctrTitle"/>
          </p:nvPr>
        </p:nvSpPr>
        <p:spPr>
          <a:xfrm>
            <a:off x="4048125" y="1631406"/>
            <a:ext cx="4888307" cy="1302293"/>
          </a:xfrm>
        </p:spPr>
        <p:txBody>
          <a:bodyPr/>
          <a:lstStyle/>
          <a:p>
            <a:r>
              <a:rPr lang="en-US" sz="2000" b="1" spc="-51">
                <a:solidFill>
                  <a:schemeClr val="tx1">
                    <a:lumMod val="50000"/>
                  </a:schemeClr>
                </a:solidFill>
                <a:latin typeface="+mj-lt"/>
                <a:ea typeface="+mj-ea"/>
                <a:cs typeface="+mj-cs"/>
              </a:rPr>
              <a:t>DRA Product Family Capability : Operational &amp; Analytical Reporting</a:t>
            </a:r>
            <a:br>
              <a:rPr lang="en-US" sz="2400" b="1" spc="-51">
                <a:solidFill>
                  <a:schemeClr val="tx1">
                    <a:lumMod val="50000"/>
                  </a:schemeClr>
                </a:solidFill>
                <a:latin typeface="+mj-lt"/>
                <a:ea typeface="+mj-ea"/>
                <a:cs typeface="+mj-cs"/>
              </a:rPr>
            </a:br>
            <a:br>
              <a:rPr lang="en-US" sz="2400" b="1" spc="-51">
                <a:solidFill>
                  <a:schemeClr val="tx1">
                    <a:lumMod val="50000"/>
                  </a:schemeClr>
                </a:solidFill>
                <a:latin typeface="+mj-lt"/>
                <a:ea typeface="+mj-ea"/>
                <a:cs typeface="+mj-cs"/>
              </a:rPr>
            </a:br>
            <a:r>
              <a:rPr lang="en-US" sz="1400">
                <a:solidFill>
                  <a:schemeClr val="accent2"/>
                </a:solidFill>
              </a:rPr>
              <a:t>Supplemental Health Reporting </a:t>
            </a:r>
            <a:br>
              <a:rPr lang="en-US" sz="1400">
                <a:solidFill>
                  <a:srgbClr val="000000"/>
                </a:solidFill>
                <a:latin typeface="Calibri" panose="020F0502020204030204" pitchFamily="34" charset="0"/>
              </a:rPr>
            </a:br>
            <a:r>
              <a:rPr lang="en-US" sz="1400"/>
              <a:t>BA</a:t>
            </a:r>
            <a:r>
              <a:rPr lang="en-US" sz="1400">
                <a:solidFill>
                  <a:srgbClr val="000000"/>
                </a:solidFill>
                <a:latin typeface="Calibri" panose="020F0502020204030204" pitchFamily="34" charset="0"/>
              </a:rPr>
              <a:t> </a:t>
            </a:r>
            <a:r>
              <a:rPr lang="en-US" sz="1400"/>
              <a:t>Customer Reporting  </a:t>
            </a:r>
            <a:r>
              <a:rPr lang="en-US" sz="1400" b="1">
                <a:solidFill>
                  <a:schemeClr val="accent1"/>
                </a:solidFill>
              </a:rPr>
              <a:t>- Large Group NB 51-99 </a:t>
            </a:r>
            <a:endParaRPr lang="en-US" sz="1400" b="1" spc="-51">
              <a:solidFill>
                <a:schemeClr val="tx1">
                  <a:lumMod val="50000"/>
                </a:schemeClr>
              </a:solidFill>
              <a:latin typeface="+mj-lt"/>
              <a:ea typeface="+mj-ea"/>
              <a:cs typeface="+mj-cs"/>
            </a:endParaRPr>
          </a:p>
        </p:txBody>
      </p:sp>
    </p:spTree>
    <p:extLst>
      <p:ext uri="{BB962C8B-B14F-4D97-AF65-F5344CB8AC3E}">
        <p14:creationId xmlns:p14="http://schemas.microsoft.com/office/powerpoint/2010/main" val="443183181"/>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9D760E-6542-C3A4-B882-04E1F446CB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0BD893-0F02-C18E-F294-912390688B44}"/>
              </a:ext>
            </a:extLst>
          </p:cNvPr>
          <p:cNvSpPr>
            <a:spLocks noGrp="1"/>
          </p:cNvSpPr>
          <p:nvPr>
            <p:ph type="title"/>
          </p:nvPr>
        </p:nvSpPr>
        <p:spPr>
          <a:xfrm>
            <a:off x="226814" y="0"/>
            <a:ext cx="7260336" cy="549381"/>
          </a:xfrm>
        </p:spPr>
        <p:txBody>
          <a:bodyPr>
            <a:normAutofit fontScale="90000"/>
          </a:bodyPr>
          <a:lstStyle/>
          <a:p>
            <a:r>
              <a:rPr lang="en-US"/>
              <a:t>Phase 2 - BA FI 51-99 - High Level requirements for  Supplemental Health Reporting</a:t>
            </a:r>
            <a:endParaRPr lang="en-US" sz="1800"/>
          </a:p>
        </p:txBody>
      </p:sp>
      <p:graphicFrame>
        <p:nvGraphicFramePr>
          <p:cNvPr id="8" name="Table 7">
            <a:extLst>
              <a:ext uri="{FF2B5EF4-FFF2-40B4-BE49-F238E27FC236}">
                <a16:creationId xmlns:a16="http://schemas.microsoft.com/office/drawing/2014/main" id="{E585462E-59BC-1310-325F-5D08A70D6491}"/>
              </a:ext>
            </a:extLst>
          </p:cNvPr>
          <p:cNvGraphicFramePr>
            <a:graphicFrameLocks noGrp="1"/>
          </p:cNvGraphicFramePr>
          <p:nvPr>
            <p:extLst>
              <p:ext uri="{D42A27DB-BD31-4B8C-83A1-F6EECF244321}">
                <p14:modId xmlns:p14="http://schemas.microsoft.com/office/powerpoint/2010/main" val="1782990094"/>
              </p:ext>
            </p:extLst>
          </p:nvPr>
        </p:nvGraphicFramePr>
        <p:xfrm>
          <a:off x="143791" y="549382"/>
          <a:ext cx="8856419" cy="992894"/>
        </p:xfrm>
        <a:graphic>
          <a:graphicData uri="http://schemas.openxmlformats.org/drawingml/2006/table">
            <a:tbl>
              <a:tblPr/>
              <a:tblGrid>
                <a:gridCol w="1184353">
                  <a:extLst>
                    <a:ext uri="{9D8B030D-6E8A-4147-A177-3AD203B41FA5}">
                      <a16:colId xmlns:a16="http://schemas.microsoft.com/office/drawing/2014/main" val="1962179033"/>
                    </a:ext>
                  </a:extLst>
                </a:gridCol>
                <a:gridCol w="4211116">
                  <a:extLst>
                    <a:ext uri="{9D8B030D-6E8A-4147-A177-3AD203B41FA5}">
                      <a16:colId xmlns:a16="http://schemas.microsoft.com/office/drawing/2014/main" val="130540882"/>
                    </a:ext>
                  </a:extLst>
                </a:gridCol>
                <a:gridCol w="1875539">
                  <a:extLst>
                    <a:ext uri="{9D8B030D-6E8A-4147-A177-3AD203B41FA5}">
                      <a16:colId xmlns:a16="http://schemas.microsoft.com/office/drawing/2014/main" val="751610378"/>
                    </a:ext>
                  </a:extLst>
                </a:gridCol>
                <a:gridCol w="725444">
                  <a:extLst>
                    <a:ext uri="{9D8B030D-6E8A-4147-A177-3AD203B41FA5}">
                      <a16:colId xmlns:a16="http://schemas.microsoft.com/office/drawing/2014/main" val="2701245817"/>
                    </a:ext>
                  </a:extLst>
                </a:gridCol>
                <a:gridCol w="859967">
                  <a:extLst>
                    <a:ext uri="{9D8B030D-6E8A-4147-A177-3AD203B41FA5}">
                      <a16:colId xmlns:a16="http://schemas.microsoft.com/office/drawing/2014/main" val="1145494209"/>
                    </a:ext>
                  </a:extLst>
                </a:gridCol>
              </a:tblGrid>
              <a:tr h="169209">
                <a:tc>
                  <a:txBody>
                    <a:bodyPr/>
                    <a:lstStyle/>
                    <a:p>
                      <a:pPr algn="ctr" fontAlgn="b"/>
                      <a:r>
                        <a:rPr lang="en-US" sz="900" b="1" i="0" u="none" strike="noStrike">
                          <a:solidFill>
                            <a:srgbClr val="FFFFFF"/>
                          </a:solidFill>
                          <a:effectLst/>
                          <a:latin typeface="Calibri" panose="020F0502020204030204" pitchFamily="34" charset="0"/>
                        </a:rPr>
                        <a:t>Name</a:t>
                      </a:r>
                    </a:p>
                  </a:txBody>
                  <a:tcPr marL="725" marR="725" marT="7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en-US" sz="900" b="1" i="0" u="none" strike="noStrike">
                          <a:solidFill>
                            <a:srgbClr val="FFFFFF"/>
                          </a:solidFill>
                          <a:effectLst/>
                          <a:latin typeface="Calibri" panose="020F0502020204030204" pitchFamily="34" charset="0"/>
                        </a:rPr>
                        <a:t>Functionality Required</a:t>
                      </a:r>
                    </a:p>
                  </a:txBody>
                  <a:tcPr marL="725" marR="725" marT="7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en-US" sz="900" b="1" i="0" u="none" strike="noStrike">
                          <a:solidFill>
                            <a:srgbClr val="FFFFFF"/>
                          </a:solidFill>
                          <a:effectLst/>
                          <a:latin typeface="Calibri" panose="020F0502020204030204" pitchFamily="34" charset="0"/>
                        </a:rPr>
                        <a:t>In Scope</a:t>
                      </a:r>
                    </a:p>
                  </a:txBody>
                  <a:tcPr marL="725" marR="725" marT="7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en-US" sz="900" b="1" i="0" u="none" strike="noStrike">
                          <a:solidFill>
                            <a:srgbClr val="FFFFFF"/>
                          </a:solidFill>
                          <a:effectLst/>
                          <a:latin typeface="Calibri" panose="020F0502020204030204" pitchFamily="34" charset="0"/>
                        </a:rPr>
                        <a:t>Out of Scope</a:t>
                      </a:r>
                    </a:p>
                  </a:txBody>
                  <a:tcPr marL="725" marR="725" marT="7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en-US" sz="900" b="1" i="0" u="none" strike="noStrike">
                          <a:solidFill>
                            <a:srgbClr val="FFFFFF"/>
                          </a:solidFill>
                          <a:effectLst/>
                          <a:latin typeface="Calibri" panose="020F0502020204030204" pitchFamily="34" charset="0"/>
                        </a:rPr>
                        <a:t>Team</a:t>
                      </a:r>
                    </a:p>
                  </a:txBody>
                  <a:tcPr marL="725" marR="725" marT="7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1836913942"/>
                  </a:ext>
                </a:extLst>
              </a:tr>
              <a:tr h="823685">
                <a:tc>
                  <a:txBody>
                    <a:bodyPr/>
                    <a:lstStyle/>
                    <a:p>
                      <a:pPr algn="ctr" fontAlgn="t"/>
                      <a:r>
                        <a:rPr lang="en-US" sz="900" b="1" i="0" u="none" strike="noStrike">
                          <a:solidFill>
                            <a:srgbClr val="000000"/>
                          </a:solidFill>
                          <a:effectLst/>
                          <a:latin typeface="Calibri" panose="020F0502020204030204" pitchFamily="34" charset="0"/>
                        </a:rPr>
                        <a:t>Supplemental Health Reporting </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900" b="0" i="0" u="none" strike="noStrike">
                          <a:solidFill>
                            <a:srgbClr val="000000"/>
                          </a:solidFill>
                          <a:effectLst/>
                          <a:latin typeface="Calibri" panose="020F0502020204030204" pitchFamily="34" charset="0"/>
                        </a:rPr>
                        <a:t>Ensure reporting and appropriate data fields is accessible via PRO/Tableau team to report on; requirements will be to report both UHC and Oxford 51-99 membership by market, by client, by supplemental health product (CIPP/HIPP/APP). </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900" b="0" i="0" u="none" strike="noStrike">
                          <a:solidFill>
                            <a:srgbClr val="000000"/>
                          </a:solidFill>
                          <a:effectLst/>
                          <a:latin typeface="Calibri" panose="020F0502020204030204" pitchFamily="34" charset="0"/>
                        </a:rPr>
                        <a:t>AK, AL, AR, AZ, DC, DE, FL, GA, HI, IA, ID, IL, IN, KS, KY, LA, MA, MD, ME, MI, MN, MO, MS, MT, NC, ND, NE, NH, NJ, NV, OH, OK, OR, PA, RI, SC, SD, TN, TX, UT, VA, WA, WI, WV, WY, </a:t>
                      </a:r>
                      <a:r>
                        <a:rPr lang="en-US" sz="800" b="0" i="0" u="none" strike="noStrike" kern="1200">
                          <a:solidFill>
                            <a:srgbClr val="000000"/>
                          </a:solidFill>
                          <a:effectLst/>
                          <a:latin typeface="Calibri" panose="020F0502020204030204" pitchFamily="34" charset="0"/>
                          <a:ea typeface="+mn-ea"/>
                          <a:cs typeface="+mn-cs"/>
                        </a:rPr>
                        <a:t>CO</a:t>
                      </a:r>
                      <a:br>
                        <a:rPr lang="en-US" sz="900" b="0" i="0" u="none" strike="noStrike">
                          <a:solidFill>
                            <a:srgbClr val="000000"/>
                          </a:solidFill>
                          <a:effectLst/>
                          <a:latin typeface="Calibri" panose="020F0502020204030204" pitchFamily="34" charset="0"/>
                        </a:rPr>
                      </a:br>
                      <a:r>
                        <a:rPr lang="en-US" sz="900" b="0" i="0" u="none" strike="noStrike">
                          <a:solidFill>
                            <a:srgbClr val="000000"/>
                          </a:solidFill>
                          <a:effectLst/>
                          <a:latin typeface="Calibri" panose="020F0502020204030204" pitchFamily="34" charset="0"/>
                        </a:rPr>
                        <a:t>Oxford Markets: NJ</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nn-NO" sz="900" b="0" i="0" u="none" strike="noStrike">
                          <a:solidFill>
                            <a:srgbClr val="000000"/>
                          </a:solidFill>
                          <a:effectLst/>
                          <a:latin typeface="Calibri" panose="020F0502020204030204" pitchFamily="34" charset="0"/>
                        </a:rPr>
                        <a:t>NM, CT, VT, CA, NY</a:t>
                      </a: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900" b="0" i="0" u="none" strike="noStrike">
                          <a:solidFill>
                            <a:srgbClr val="000000"/>
                          </a:solidFill>
                          <a:effectLst/>
                          <a:latin typeface="Calibri" panose="020F0502020204030204" pitchFamily="34" charset="0"/>
                        </a:rPr>
                        <a:t>Theresa Niu</a:t>
                      </a:r>
                      <a:br>
                        <a:rPr lang="en-US" sz="900" b="0" i="0" u="none" strike="noStrike">
                          <a:solidFill>
                            <a:srgbClr val="000000"/>
                          </a:solidFill>
                          <a:effectLst/>
                          <a:latin typeface="Calibri" panose="020F0502020204030204" pitchFamily="34" charset="0"/>
                        </a:rPr>
                      </a:br>
                      <a:r>
                        <a:rPr lang="en-US" sz="900" b="0" i="0" u="none" strike="noStrike">
                          <a:solidFill>
                            <a:srgbClr val="000000"/>
                          </a:solidFill>
                          <a:effectLst/>
                          <a:latin typeface="Calibri" panose="020F0502020204030204" pitchFamily="34" charset="0"/>
                        </a:rPr>
                        <a:t>Marie Antoinette </a:t>
                      </a:r>
                      <a:r>
                        <a:rPr lang="en-US" sz="900" b="0" i="0" u="none" strike="noStrike" err="1">
                          <a:solidFill>
                            <a:srgbClr val="000000"/>
                          </a:solidFill>
                          <a:effectLst/>
                          <a:latin typeface="Calibri" panose="020F0502020204030204" pitchFamily="34" charset="0"/>
                        </a:rPr>
                        <a:t>Burkhartt</a:t>
                      </a:r>
                      <a:endParaRPr lang="en-US" sz="900" b="0" i="0" u="none" strike="noStrike">
                        <a:solidFill>
                          <a:srgbClr val="000000"/>
                        </a:solidFill>
                        <a:effectLst/>
                        <a:latin typeface="Calibri" panose="020F0502020204030204" pitchFamily="34" charset="0"/>
                      </a:endParaRPr>
                    </a:p>
                  </a:txBody>
                  <a:tcPr marL="725" marR="725" marT="7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99159072"/>
                  </a:ext>
                </a:extLst>
              </a:tr>
            </a:tbl>
          </a:graphicData>
        </a:graphic>
      </p:graphicFrame>
    </p:spTree>
    <p:extLst>
      <p:ext uri="{BB962C8B-B14F-4D97-AF65-F5344CB8AC3E}">
        <p14:creationId xmlns:p14="http://schemas.microsoft.com/office/powerpoint/2010/main" val="20595229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ADA059-B0C7-9786-5366-77135914984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ACAC816-CEF7-1C6E-F464-A36B70FC1C81}"/>
              </a:ext>
            </a:extLst>
          </p:cNvPr>
          <p:cNvSpPr>
            <a:spLocks noGrp="1"/>
          </p:cNvSpPr>
          <p:nvPr>
            <p:ph idx="1"/>
          </p:nvPr>
        </p:nvSpPr>
        <p:spPr>
          <a:xfrm>
            <a:off x="462889" y="685191"/>
            <a:ext cx="8550646" cy="4218364"/>
          </a:xfrm>
        </p:spPr>
        <p:txBody>
          <a:bodyPr vert="horz" lIns="91416" tIns="45708" rIns="91416" bIns="45708" rtlCol="0" anchor="t">
            <a:noAutofit/>
          </a:bodyPr>
          <a:lstStyle/>
          <a:p>
            <a:pPr marL="166640" lvl="1" indent="0">
              <a:buNone/>
            </a:pPr>
            <a:r>
              <a:rPr lang="en-US" sz="1200" b="1">
                <a:ea typeface="+mn-lt"/>
                <a:cs typeface="+mn-lt"/>
              </a:rPr>
              <a:t>PRO / Tableau :</a:t>
            </a:r>
          </a:p>
          <a:p>
            <a:pPr marL="338090" lvl="1" indent="-171450">
              <a:buFontTx/>
              <a:buChar char="-"/>
            </a:pPr>
            <a:r>
              <a:rPr lang="en-US" sz="1200">
                <a:ea typeface="+mn-lt"/>
                <a:cs typeface="+mn-lt"/>
              </a:rPr>
              <a:t>Need to validate with the Business Ops team supporting the operational and analytics reporting for BA by market segments. Identify the reporting for internal stakeholders versus external customers.</a:t>
            </a:r>
          </a:p>
          <a:p>
            <a:pPr marL="338090" lvl="1" indent="-171450">
              <a:buFontTx/>
              <a:buChar char="-"/>
            </a:pPr>
            <a:r>
              <a:rPr lang="en-US" sz="1200">
                <a:ea typeface="+mn-lt"/>
                <a:cs typeface="+mn-lt"/>
              </a:rPr>
              <a:t>Need to capture the current state of how BA data flows to the reporting tools used by business ops team. Identify the list of reports currently generated to report on BA.</a:t>
            </a:r>
          </a:p>
          <a:p>
            <a:pPr marL="338090" lvl="1" indent="-171450">
              <a:buFontTx/>
              <a:buChar char="-"/>
            </a:pPr>
            <a:r>
              <a:rPr lang="en-US" sz="1200">
                <a:ea typeface="+mn-lt"/>
                <a:cs typeface="+mn-lt"/>
              </a:rPr>
              <a:t>Identify opportunities for alignment Update existing process to intake the benefit summary PDF document for BA and store it in its internal content repository and fetch and retrieve the document using its existing API services and display benefit summary document to eligible BA member under the </a:t>
            </a:r>
            <a:r>
              <a:rPr lang="en-US" sz="1200">
                <a:solidFill>
                  <a:schemeClr val="tx2"/>
                </a:solidFill>
                <a:ea typeface="+mn-lt"/>
                <a:cs typeface="+mn-lt"/>
              </a:rPr>
              <a:t>Coverage &amp; Benefits </a:t>
            </a:r>
            <a:r>
              <a:rPr lang="en-US" sz="1200">
                <a:ea typeface="+mn-lt"/>
                <a:cs typeface="+mn-lt"/>
              </a:rPr>
              <a:t>tab – </a:t>
            </a:r>
            <a:r>
              <a:rPr lang="en-US" sz="1200">
                <a:solidFill>
                  <a:schemeClr val="tx2"/>
                </a:solidFill>
                <a:ea typeface="+mn-lt"/>
                <a:cs typeface="+mn-lt"/>
              </a:rPr>
              <a:t>Plan &amp; Documents </a:t>
            </a:r>
            <a:r>
              <a:rPr lang="en-US" sz="1200">
                <a:ea typeface="+mn-lt"/>
                <a:cs typeface="+mn-lt"/>
              </a:rPr>
              <a:t>section of member portal.</a:t>
            </a:r>
          </a:p>
          <a:p>
            <a:pPr marL="166640" lvl="1" indent="0">
              <a:buNone/>
            </a:pPr>
            <a:r>
              <a:rPr lang="en-US" sz="1200" b="1">
                <a:ea typeface="+mn-lt"/>
                <a:cs typeface="+mn-lt"/>
              </a:rPr>
              <a:t>UDW/Stratus:</a:t>
            </a:r>
          </a:p>
          <a:p>
            <a:pPr marL="338090" lvl="1" indent="-171450"/>
            <a:r>
              <a:rPr lang="en-US" sz="1200">
                <a:ea typeface="+mn-lt"/>
                <a:cs typeface="+mn-lt"/>
              </a:rPr>
              <a:t>Need to validate that BA information flows to UDW and UDW stakeholders and users are able to identify BA</a:t>
            </a:r>
          </a:p>
          <a:p>
            <a:pPr marL="166640" lvl="1" indent="0">
              <a:buNone/>
            </a:pPr>
            <a:endParaRPr lang="en-US" sz="1200">
              <a:ea typeface="+mn-lt"/>
              <a:cs typeface="+mn-lt"/>
            </a:endParaRPr>
          </a:p>
          <a:p>
            <a:pPr marL="166640" lvl="1" indent="0">
              <a:buNone/>
            </a:pPr>
            <a:r>
              <a:rPr lang="en-US" sz="1200" b="1">
                <a:ea typeface="+mn-lt"/>
                <a:cs typeface="+mn-lt"/>
              </a:rPr>
              <a:t>Note</a:t>
            </a:r>
            <a:r>
              <a:rPr lang="en-US" sz="1200">
                <a:ea typeface="+mn-lt"/>
                <a:cs typeface="+mn-lt"/>
              </a:rPr>
              <a:t>: need to validate the current state with Reporting teams</a:t>
            </a:r>
          </a:p>
          <a:p>
            <a:pPr marL="166640" lvl="1" indent="0">
              <a:buNone/>
            </a:pPr>
            <a:endParaRPr lang="en-US" sz="1200" b="1">
              <a:ea typeface="+mn-lt"/>
              <a:cs typeface="+mn-lt"/>
            </a:endParaRPr>
          </a:p>
          <a:p>
            <a:pPr marL="166640" lvl="1" indent="0">
              <a:buNone/>
            </a:pPr>
            <a:endParaRPr lang="en-US" sz="800" b="1">
              <a:ea typeface="+mn-lt"/>
              <a:cs typeface="+mn-lt"/>
            </a:endParaRPr>
          </a:p>
          <a:p>
            <a:pPr marL="166640" lvl="1" indent="0">
              <a:buNone/>
            </a:pPr>
            <a:endParaRPr lang="en-US" sz="800" b="1">
              <a:ea typeface="+mn-lt"/>
              <a:cs typeface="+mn-lt"/>
            </a:endParaRPr>
          </a:p>
        </p:txBody>
      </p:sp>
      <p:sp>
        <p:nvSpPr>
          <p:cNvPr id="3" name="Slide Number Placeholder 2">
            <a:extLst>
              <a:ext uri="{FF2B5EF4-FFF2-40B4-BE49-F238E27FC236}">
                <a16:creationId xmlns:a16="http://schemas.microsoft.com/office/drawing/2014/main" id="{5351DC5B-226A-0AAE-7B62-DD660A64E592}"/>
              </a:ext>
            </a:extLst>
          </p:cNvPr>
          <p:cNvSpPr>
            <a:spLocks noGrp="1"/>
          </p:cNvSpPr>
          <p:nvPr>
            <p:ph type="sldNum" sz="quarter" idx="12"/>
          </p:nvPr>
        </p:nvSpPr>
        <p:spPr/>
        <p:txBody>
          <a:bodyPr/>
          <a:lstStyle/>
          <a:p>
            <a:pPr defTabSz="914171"/>
            <a:fld id="{90F9BDA0-AF0E-4BA8-B742-3B9C92A3E6FE}" type="slidenum">
              <a:rPr lang="en-US">
                <a:solidFill>
                  <a:srgbClr val="8C9599"/>
                </a:solidFill>
                <a:latin typeface="Arial"/>
              </a:rPr>
              <a:pPr defTabSz="914171"/>
              <a:t>61</a:t>
            </a:fld>
            <a:endParaRPr lang="en-US">
              <a:solidFill>
                <a:srgbClr val="8C9599"/>
              </a:solidFill>
              <a:latin typeface="Arial"/>
            </a:endParaRPr>
          </a:p>
        </p:txBody>
      </p:sp>
      <p:sp>
        <p:nvSpPr>
          <p:cNvPr id="4" name="Title 3">
            <a:extLst>
              <a:ext uri="{FF2B5EF4-FFF2-40B4-BE49-F238E27FC236}">
                <a16:creationId xmlns:a16="http://schemas.microsoft.com/office/drawing/2014/main" id="{CDB063EB-0FC2-AD8C-93B3-1C190C1C5C31}"/>
              </a:ext>
            </a:extLst>
          </p:cNvPr>
          <p:cNvSpPr>
            <a:spLocks noGrp="1"/>
          </p:cNvSpPr>
          <p:nvPr>
            <p:ph type="title"/>
          </p:nvPr>
        </p:nvSpPr>
        <p:spPr>
          <a:xfrm>
            <a:off x="800100" y="221850"/>
            <a:ext cx="5921975" cy="525319"/>
          </a:xfrm>
        </p:spPr>
        <p:txBody>
          <a:bodyPr>
            <a:normAutofit/>
          </a:bodyPr>
          <a:lstStyle/>
          <a:p>
            <a:r>
              <a:rPr lang="en-US" sz="1400"/>
              <a:t>DRA – Operational &amp; Analytical Reporting – BA Customer Reports</a:t>
            </a:r>
            <a:br>
              <a:rPr lang="en-US" sz="1400">
                <a:solidFill>
                  <a:schemeClr val="accent1"/>
                </a:solidFill>
              </a:rPr>
            </a:br>
            <a:r>
              <a:rPr lang="en-US" sz="1400">
                <a:solidFill>
                  <a:schemeClr val="accent1"/>
                </a:solidFill>
              </a:rPr>
              <a:t>(</a:t>
            </a:r>
            <a:r>
              <a:rPr lang="en-US" sz="1400" b="1">
                <a:solidFill>
                  <a:schemeClr val="accent1"/>
                </a:solidFill>
              </a:rPr>
              <a:t>Large Group 100+ ) </a:t>
            </a:r>
            <a:r>
              <a:rPr lang="en-US" sz="1400"/>
              <a:t>– Applications Impact</a:t>
            </a:r>
          </a:p>
        </p:txBody>
      </p:sp>
      <p:sp>
        <p:nvSpPr>
          <p:cNvPr id="5" name="Rectangle 4">
            <a:extLst>
              <a:ext uri="{FF2B5EF4-FFF2-40B4-BE49-F238E27FC236}">
                <a16:creationId xmlns:a16="http://schemas.microsoft.com/office/drawing/2014/main" id="{8B9BCC9E-0A73-D474-21B0-C29B61BDD88F}"/>
              </a:ext>
            </a:extLst>
          </p:cNvPr>
          <p:cNvSpPr/>
          <p:nvPr/>
        </p:nvSpPr>
        <p:spPr>
          <a:xfrm>
            <a:off x="8087348" y="39902"/>
            <a:ext cx="1056652" cy="400085"/>
          </a:xfrm>
          <a:prstGeom prst="rect">
            <a:avLst/>
          </a:prstGeom>
          <a:noFill/>
        </p:spPr>
        <p:txBody>
          <a:bodyPr wrap="none" lIns="91416" tIns="45708" rIns="91416" bIns="45708">
            <a:spAutoFit/>
          </a:bodyPr>
          <a:lstStyle/>
          <a:p>
            <a:pPr algn="ctr" defTabSz="914171"/>
            <a:r>
              <a:rPr lang="en-US" sz="2000" b="1">
                <a:ln w="12700" cmpd="sng">
                  <a:solidFill>
                    <a:srgbClr val="9521AD"/>
                  </a:solidFill>
                  <a:prstDash val="solid"/>
                </a:ln>
                <a:gradFill>
                  <a:gsLst>
                    <a:gs pos="0">
                      <a:srgbClr val="9521AD"/>
                    </a:gs>
                    <a:gs pos="4000">
                      <a:srgbClr val="9521AD">
                        <a:lumMod val="60000"/>
                        <a:lumOff val="40000"/>
                      </a:srgbClr>
                    </a:gs>
                    <a:gs pos="87000">
                      <a:srgbClr val="9521AD">
                        <a:lumMod val="20000"/>
                        <a:lumOff val="80000"/>
                      </a:srgbClr>
                    </a:gs>
                  </a:gsLst>
                  <a:lin ang="5400000"/>
                </a:gradFill>
                <a:latin typeface="Arial"/>
              </a:rPr>
              <a:t>DRAFT</a:t>
            </a:r>
          </a:p>
        </p:txBody>
      </p:sp>
    </p:spTree>
    <p:extLst>
      <p:ext uri="{BB962C8B-B14F-4D97-AF65-F5344CB8AC3E}">
        <p14:creationId xmlns:p14="http://schemas.microsoft.com/office/powerpoint/2010/main" val="622537802"/>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7B0F1-ABAC-4E55-8183-8AFA6C8FFDDA}"/>
              </a:ext>
            </a:extLst>
          </p:cNvPr>
          <p:cNvSpPr>
            <a:spLocks noGrp="1"/>
          </p:cNvSpPr>
          <p:nvPr>
            <p:ph type="title"/>
          </p:nvPr>
        </p:nvSpPr>
        <p:spPr>
          <a:xfrm>
            <a:off x="302004" y="70860"/>
            <a:ext cx="7127496" cy="693525"/>
          </a:xfrm>
        </p:spPr>
        <p:txBody>
          <a:bodyPr>
            <a:normAutofit/>
          </a:bodyPr>
          <a:lstStyle/>
          <a:p>
            <a:r>
              <a:rPr lang="en-US" sz="2000"/>
              <a:t>High Level Architecture – Reporting</a:t>
            </a:r>
            <a:r>
              <a:rPr lang="en-US" sz="2000" b="1">
                <a:solidFill>
                  <a:schemeClr val="accent1"/>
                </a:solidFill>
              </a:rPr>
              <a:t>– Internal Rpts</a:t>
            </a:r>
            <a:br>
              <a:rPr lang="en-US" sz="2000"/>
            </a:br>
            <a:r>
              <a:rPr lang="en-US" sz="2000"/>
              <a:t>     </a:t>
            </a:r>
            <a:r>
              <a:rPr lang="en-US" sz="1600"/>
              <a:t>Future State – USP – BA Reporting – Day 1</a:t>
            </a:r>
          </a:p>
        </p:txBody>
      </p:sp>
      <p:pic>
        <p:nvPicPr>
          <p:cNvPr id="5" name="Picture 4">
            <a:extLst>
              <a:ext uri="{FF2B5EF4-FFF2-40B4-BE49-F238E27FC236}">
                <a16:creationId xmlns:a16="http://schemas.microsoft.com/office/drawing/2014/main" id="{7E87319A-C297-430F-938B-8F1BBDBB5E6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33400" y="776931"/>
            <a:ext cx="6204803" cy="4077797"/>
          </a:xfrm>
          <a:prstGeom prst="rect">
            <a:avLst/>
          </a:prstGeom>
        </p:spPr>
      </p:pic>
      <p:sp>
        <p:nvSpPr>
          <p:cNvPr id="7" name="Rectangle 6">
            <a:extLst>
              <a:ext uri="{FF2B5EF4-FFF2-40B4-BE49-F238E27FC236}">
                <a16:creationId xmlns:a16="http://schemas.microsoft.com/office/drawing/2014/main" id="{5CBF350A-7E35-438A-B6D7-AD418AF9C803}"/>
              </a:ext>
            </a:extLst>
          </p:cNvPr>
          <p:cNvSpPr/>
          <p:nvPr/>
        </p:nvSpPr>
        <p:spPr>
          <a:xfrm>
            <a:off x="7122443" y="776931"/>
            <a:ext cx="1056700" cy="400110"/>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w="12700" cmpd="sng">
                  <a:solidFill>
                    <a:srgbClr val="9521AD"/>
                  </a:solidFill>
                  <a:prstDash val="solid"/>
                </a:ln>
                <a:gradFill>
                  <a:gsLst>
                    <a:gs pos="0">
                      <a:srgbClr val="9521AD"/>
                    </a:gs>
                    <a:gs pos="4000">
                      <a:srgbClr val="9521AD">
                        <a:lumMod val="60000"/>
                        <a:lumOff val="40000"/>
                      </a:srgbClr>
                    </a:gs>
                    <a:gs pos="87000">
                      <a:srgbClr val="9521AD">
                        <a:lumMod val="20000"/>
                        <a:lumOff val="80000"/>
                      </a:srgbClr>
                    </a:gs>
                  </a:gsLst>
                  <a:lin ang="5400000"/>
                </a:gradFill>
                <a:effectLst/>
                <a:uLnTx/>
                <a:uFillTx/>
                <a:latin typeface="Arial"/>
                <a:ea typeface="+mn-ea"/>
                <a:cs typeface="+mn-cs"/>
              </a:rPr>
              <a:t>DRAFT</a:t>
            </a:r>
          </a:p>
        </p:txBody>
      </p:sp>
    </p:spTree>
    <p:extLst>
      <p:ext uri="{BB962C8B-B14F-4D97-AF65-F5344CB8AC3E}">
        <p14:creationId xmlns:p14="http://schemas.microsoft.com/office/powerpoint/2010/main" val="559657568"/>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7B0F1-ABAC-4E55-8183-8AFA6C8FFDDA}"/>
              </a:ext>
            </a:extLst>
          </p:cNvPr>
          <p:cNvSpPr>
            <a:spLocks noGrp="1"/>
          </p:cNvSpPr>
          <p:nvPr>
            <p:ph type="title"/>
          </p:nvPr>
        </p:nvSpPr>
        <p:spPr>
          <a:xfrm>
            <a:off x="302004" y="70860"/>
            <a:ext cx="7127496" cy="693525"/>
          </a:xfrm>
        </p:spPr>
        <p:txBody>
          <a:bodyPr>
            <a:normAutofit fontScale="90000"/>
          </a:bodyPr>
          <a:lstStyle/>
          <a:p>
            <a:r>
              <a:rPr lang="en-US" sz="2000"/>
              <a:t>High Level Architecture – Reporting (</a:t>
            </a:r>
            <a:r>
              <a:rPr lang="en-US" sz="2000" b="1">
                <a:solidFill>
                  <a:schemeClr val="accent1"/>
                </a:solidFill>
              </a:rPr>
              <a:t>C101744) – Internal Rpts</a:t>
            </a:r>
            <a:br>
              <a:rPr lang="en-US" sz="2000"/>
            </a:br>
            <a:r>
              <a:rPr lang="en-US" sz="1600"/>
              <a:t>(Future State – USP – BA Reporting – Day 2 Target Architecture Solution )</a:t>
            </a:r>
          </a:p>
        </p:txBody>
      </p:sp>
      <p:pic>
        <p:nvPicPr>
          <p:cNvPr id="5" name="Picture 4">
            <a:extLst>
              <a:ext uri="{FF2B5EF4-FFF2-40B4-BE49-F238E27FC236}">
                <a16:creationId xmlns:a16="http://schemas.microsoft.com/office/drawing/2014/main" id="{7E87319A-C297-430F-938B-8F1BBDBB5E6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93876" y="764385"/>
            <a:ext cx="5809053" cy="4102890"/>
          </a:xfrm>
          <a:prstGeom prst="rect">
            <a:avLst/>
          </a:prstGeom>
        </p:spPr>
      </p:pic>
      <p:sp>
        <p:nvSpPr>
          <p:cNvPr id="7" name="Rectangle 6">
            <a:extLst>
              <a:ext uri="{FF2B5EF4-FFF2-40B4-BE49-F238E27FC236}">
                <a16:creationId xmlns:a16="http://schemas.microsoft.com/office/drawing/2014/main" id="{5CBF350A-7E35-438A-B6D7-AD418AF9C803}"/>
              </a:ext>
            </a:extLst>
          </p:cNvPr>
          <p:cNvSpPr/>
          <p:nvPr/>
        </p:nvSpPr>
        <p:spPr>
          <a:xfrm>
            <a:off x="5458400" y="1257855"/>
            <a:ext cx="1056700" cy="400110"/>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w="12700" cmpd="sng">
                  <a:solidFill>
                    <a:srgbClr val="9521AD"/>
                  </a:solidFill>
                  <a:prstDash val="solid"/>
                </a:ln>
                <a:gradFill>
                  <a:gsLst>
                    <a:gs pos="0">
                      <a:srgbClr val="9521AD"/>
                    </a:gs>
                    <a:gs pos="4000">
                      <a:srgbClr val="9521AD">
                        <a:lumMod val="60000"/>
                        <a:lumOff val="40000"/>
                      </a:srgbClr>
                    </a:gs>
                    <a:gs pos="87000">
                      <a:srgbClr val="9521AD">
                        <a:lumMod val="20000"/>
                        <a:lumOff val="80000"/>
                      </a:srgbClr>
                    </a:gs>
                  </a:gsLst>
                  <a:lin ang="5400000"/>
                </a:gradFill>
                <a:effectLst/>
                <a:uLnTx/>
                <a:uFillTx/>
                <a:latin typeface="Arial"/>
                <a:ea typeface="+mn-ea"/>
                <a:cs typeface="+mn-cs"/>
              </a:rPr>
              <a:t>DRAFT</a:t>
            </a:r>
          </a:p>
        </p:txBody>
      </p:sp>
    </p:spTree>
    <p:extLst>
      <p:ext uri="{BB962C8B-B14F-4D97-AF65-F5344CB8AC3E}">
        <p14:creationId xmlns:p14="http://schemas.microsoft.com/office/powerpoint/2010/main" val="2747738244"/>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7B0F1-ABAC-4E55-8183-8AFA6C8FFDDA}"/>
              </a:ext>
            </a:extLst>
          </p:cNvPr>
          <p:cNvSpPr>
            <a:spLocks noGrp="1"/>
          </p:cNvSpPr>
          <p:nvPr>
            <p:ph type="title"/>
          </p:nvPr>
        </p:nvSpPr>
        <p:spPr>
          <a:xfrm>
            <a:off x="302004" y="70860"/>
            <a:ext cx="7127496" cy="693525"/>
          </a:xfrm>
        </p:spPr>
        <p:txBody>
          <a:bodyPr>
            <a:normAutofit/>
          </a:bodyPr>
          <a:lstStyle/>
          <a:p>
            <a:r>
              <a:rPr lang="en-US" sz="1400"/>
              <a:t>High Level Architecture – BA Reporting (</a:t>
            </a:r>
            <a:r>
              <a:rPr lang="en-US" sz="1400" b="1">
                <a:solidFill>
                  <a:schemeClr val="accent1"/>
                </a:solidFill>
              </a:rPr>
              <a:t>C101744) – External</a:t>
            </a:r>
            <a:br>
              <a:rPr lang="en-US" sz="1400" b="1">
                <a:solidFill>
                  <a:schemeClr val="accent1"/>
                </a:solidFill>
              </a:rPr>
            </a:br>
            <a:r>
              <a:rPr lang="en-US" sz="1400"/>
              <a:t>(Future State – USP – BA External Reports implementation for Customers)</a:t>
            </a:r>
          </a:p>
        </p:txBody>
      </p:sp>
      <p:pic>
        <p:nvPicPr>
          <p:cNvPr id="5" name="Picture 4">
            <a:extLst>
              <a:ext uri="{FF2B5EF4-FFF2-40B4-BE49-F238E27FC236}">
                <a16:creationId xmlns:a16="http://schemas.microsoft.com/office/drawing/2014/main" id="{7E87319A-C297-430F-938B-8F1BBDBB5E6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61214" y="764385"/>
            <a:ext cx="5910512" cy="4068871"/>
          </a:xfrm>
          <a:prstGeom prst="rect">
            <a:avLst/>
          </a:prstGeom>
        </p:spPr>
      </p:pic>
      <p:sp>
        <p:nvSpPr>
          <p:cNvPr id="7" name="Rectangle 6">
            <a:extLst>
              <a:ext uri="{FF2B5EF4-FFF2-40B4-BE49-F238E27FC236}">
                <a16:creationId xmlns:a16="http://schemas.microsoft.com/office/drawing/2014/main" id="{5CBF350A-7E35-438A-B6D7-AD418AF9C803}"/>
              </a:ext>
            </a:extLst>
          </p:cNvPr>
          <p:cNvSpPr/>
          <p:nvPr/>
        </p:nvSpPr>
        <p:spPr>
          <a:xfrm>
            <a:off x="5842121" y="1137059"/>
            <a:ext cx="1056700" cy="400110"/>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w="12700" cmpd="sng">
                  <a:solidFill>
                    <a:srgbClr val="9521AD"/>
                  </a:solidFill>
                  <a:prstDash val="solid"/>
                </a:ln>
                <a:gradFill>
                  <a:gsLst>
                    <a:gs pos="0">
                      <a:srgbClr val="9521AD"/>
                    </a:gs>
                    <a:gs pos="4000">
                      <a:srgbClr val="9521AD">
                        <a:lumMod val="60000"/>
                        <a:lumOff val="40000"/>
                      </a:srgbClr>
                    </a:gs>
                    <a:gs pos="87000">
                      <a:srgbClr val="9521AD">
                        <a:lumMod val="20000"/>
                        <a:lumOff val="80000"/>
                      </a:srgbClr>
                    </a:gs>
                  </a:gsLst>
                  <a:lin ang="5400000"/>
                </a:gradFill>
                <a:effectLst/>
                <a:uLnTx/>
                <a:uFillTx/>
                <a:latin typeface="Arial"/>
                <a:ea typeface="+mn-ea"/>
                <a:cs typeface="+mn-cs"/>
              </a:rPr>
              <a:t>DRAFT</a:t>
            </a:r>
          </a:p>
        </p:txBody>
      </p:sp>
    </p:spTree>
    <p:extLst>
      <p:ext uri="{BB962C8B-B14F-4D97-AF65-F5344CB8AC3E}">
        <p14:creationId xmlns:p14="http://schemas.microsoft.com/office/powerpoint/2010/main" val="1943060665"/>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6C37A01-B7CF-48AD-B7A9-584FEF7174D6}"/>
              </a:ext>
            </a:extLst>
          </p:cNvPr>
          <p:cNvSpPr>
            <a:spLocks noGrp="1"/>
          </p:cNvSpPr>
          <p:nvPr>
            <p:ph idx="1"/>
          </p:nvPr>
        </p:nvSpPr>
        <p:spPr>
          <a:xfrm>
            <a:off x="244550" y="747169"/>
            <a:ext cx="8742432" cy="4037267"/>
          </a:xfrm>
        </p:spPr>
        <p:txBody>
          <a:bodyPr vert="horz" lIns="91440" tIns="45720" rIns="91440" bIns="45720" rtlCol="0" anchor="t">
            <a:noAutofit/>
          </a:bodyPr>
          <a:lstStyle/>
          <a:p>
            <a:pPr marL="0" indent="0">
              <a:buNone/>
            </a:pPr>
            <a:r>
              <a:rPr lang="en-US" sz="1200" b="1"/>
              <a:t> UDW:</a:t>
            </a:r>
          </a:p>
          <a:p>
            <a:pPr>
              <a:buFont typeface="Wingdings" panose="05000000000000000000" pitchFamily="2" charset="2"/>
              <a:buChar char="Ø"/>
            </a:pPr>
            <a:r>
              <a:rPr lang="en-US" sz="1200">
                <a:latin typeface="Calibri" panose="020F0502020204030204" pitchFamily="34" charset="0"/>
                <a:ea typeface="Calibri" panose="020F0502020204030204" pitchFamily="34" charset="0"/>
              </a:rPr>
              <a:t>Updates to existing data ingestion processes from Cirrus / DL to capture and store the new attributes related to BA </a:t>
            </a:r>
          </a:p>
          <a:p>
            <a:pPr>
              <a:buFont typeface="Wingdings" panose="05000000000000000000" pitchFamily="2" charset="2"/>
              <a:buChar char="Ø"/>
            </a:pPr>
            <a:r>
              <a:rPr lang="en-US" sz="1200">
                <a:latin typeface="Calibri" panose="020F0502020204030204" pitchFamily="34" charset="0"/>
                <a:ea typeface="Calibri" panose="020F0502020204030204" pitchFamily="34" charset="0"/>
              </a:rPr>
              <a:t>Updates to existing data feeds from systems downstream to UDW to include BA information, namely Stratus &amp; CER </a:t>
            </a:r>
          </a:p>
          <a:p>
            <a:pPr marL="0" indent="0">
              <a:buNone/>
            </a:pPr>
            <a:r>
              <a:rPr lang="en-US" sz="1200" b="1"/>
              <a:t>Stratus:</a:t>
            </a:r>
          </a:p>
          <a:p>
            <a:pPr>
              <a:buFont typeface="Wingdings" panose="05000000000000000000" pitchFamily="2" charset="2"/>
              <a:buChar char="Ø"/>
            </a:pPr>
            <a:r>
              <a:rPr lang="en-US" sz="1200">
                <a:latin typeface="Calibri" panose="020F0502020204030204" pitchFamily="34" charset="0"/>
                <a:ea typeface="Calibri" panose="020F0502020204030204" pitchFamily="34" charset="0"/>
              </a:rPr>
              <a:t>Updates to existing data ingestion processes from UDW to capture and store the new attributes related to BA </a:t>
            </a:r>
          </a:p>
          <a:p>
            <a:pPr>
              <a:buFont typeface="Wingdings" panose="05000000000000000000" pitchFamily="2" charset="2"/>
              <a:buChar char="Ø"/>
            </a:pPr>
            <a:r>
              <a:rPr lang="en-US" sz="1200">
                <a:latin typeface="Calibri" panose="020F0502020204030204" pitchFamily="34" charset="0"/>
                <a:ea typeface="Calibri" panose="020F0502020204030204" pitchFamily="34" charset="0"/>
              </a:rPr>
              <a:t>Updates to data dictionary for users to include BA related information</a:t>
            </a:r>
          </a:p>
          <a:p>
            <a:pPr>
              <a:buFont typeface="Wingdings" panose="05000000000000000000" pitchFamily="2" charset="2"/>
              <a:buChar char="Ø"/>
            </a:pPr>
            <a:r>
              <a:rPr lang="en-US" sz="1200">
                <a:latin typeface="Calibri" panose="020F0502020204030204" pitchFamily="34" charset="0"/>
                <a:ea typeface="Calibri" panose="020F0502020204030204" pitchFamily="34" charset="0"/>
              </a:rPr>
              <a:t>Provide access to ARA team and Underwriters to access data for business reporting as self service </a:t>
            </a:r>
          </a:p>
          <a:p>
            <a:pPr marL="0" indent="0">
              <a:buNone/>
            </a:pPr>
            <a:r>
              <a:rPr lang="en-US" sz="1200" b="1"/>
              <a:t>CER:</a:t>
            </a:r>
          </a:p>
          <a:p>
            <a:pPr>
              <a:buFont typeface="Wingdings" panose="05000000000000000000" pitchFamily="2" charset="2"/>
              <a:buChar char="Ø"/>
            </a:pPr>
            <a:r>
              <a:rPr lang="en-US" sz="1200">
                <a:latin typeface="Calibri" panose="020F0502020204030204" pitchFamily="34" charset="0"/>
                <a:ea typeface="Calibri" panose="020F0502020204030204" pitchFamily="34" charset="0"/>
              </a:rPr>
              <a:t>Updates to existing data ingestion processes from UDW / Cirrus / DWAAS / Underwriting sources to capture and store the new attributes related to BA </a:t>
            </a:r>
          </a:p>
          <a:p>
            <a:pPr>
              <a:buFont typeface="Wingdings" panose="05000000000000000000" pitchFamily="2" charset="2"/>
              <a:buChar char="Ø"/>
            </a:pPr>
            <a:r>
              <a:rPr lang="en-US" sz="1200">
                <a:latin typeface="Calibri" panose="020F0502020204030204" pitchFamily="34" charset="0"/>
                <a:ea typeface="Calibri" panose="020F0502020204030204" pitchFamily="34" charset="0"/>
              </a:rPr>
              <a:t>Updates to data dictionary for users to include BA related information</a:t>
            </a:r>
          </a:p>
          <a:p>
            <a:pPr>
              <a:buFont typeface="Wingdings" panose="05000000000000000000" pitchFamily="2" charset="2"/>
              <a:buChar char="Ø"/>
            </a:pPr>
            <a:r>
              <a:rPr lang="en-US" sz="1200">
                <a:latin typeface="Calibri" panose="020F0502020204030204" pitchFamily="34" charset="0"/>
                <a:ea typeface="Calibri" panose="020F0502020204030204" pitchFamily="34" charset="0"/>
              </a:rPr>
              <a:t>Provide access to Underwriters to access data for business reporting as self service </a:t>
            </a:r>
          </a:p>
          <a:p>
            <a:pPr marL="0" indent="0">
              <a:buNone/>
            </a:pPr>
            <a:r>
              <a:rPr lang="en-US" sz="1200" b="1"/>
              <a:t>Alteryx &amp; Tableau:</a:t>
            </a:r>
          </a:p>
          <a:p>
            <a:pPr>
              <a:buFont typeface="Wingdings" panose="05000000000000000000" pitchFamily="2" charset="2"/>
              <a:buChar char="Ø"/>
            </a:pPr>
            <a:r>
              <a:rPr lang="en-US" sz="1200">
                <a:latin typeface="Calibri" panose="020F0502020204030204" pitchFamily="34" charset="0"/>
                <a:ea typeface="Calibri" panose="020F0502020204030204" pitchFamily="34" charset="0"/>
              </a:rPr>
              <a:t>Business Operations reporting team will make updates to existing data ingestion process to capture USP data related to BA</a:t>
            </a:r>
          </a:p>
          <a:p>
            <a:pPr>
              <a:buFont typeface="Wingdings" panose="05000000000000000000" pitchFamily="2" charset="2"/>
              <a:buChar char="Ø"/>
            </a:pPr>
            <a:r>
              <a:rPr lang="en-US" sz="1200">
                <a:latin typeface="Calibri" panose="020F0502020204030204" pitchFamily="34" charset="0"/>
                <a:ea typeface="Calibri" panose="020F0502020204030204" pitchFamily="34" charset="0"/>
              </a:rPr>
              <a:t>Update reports to include USP Data</a:t>
            </a:r>
          </a:p>
          <a:p>
            <a:pPr marL="0" indent="0">
              <a:buNone/>
            </a:pPr>
            <a:r>
              <a:rPr lang="en-US" sz="1200">
                <a:latin typeface="Calibri" panose="020F0502020204030204" pitchFamily="34" charset="0"/>
                <a:ea typeface="Calibri" panose="020F0502020204030204" pitchFamily="34" charset="0"/>
              </a:rPr>
              <a:t>ARA Team will update their existing reporting process to report on the BA USP transactions to support OnBase supplemental claims processing.</a:t>
            </a:r>
          </a:p>
          <a:p>
            <a:pPr marL="0" indent="0">
              <a:buNone/>
            </a:pPr>
            <a:r>
              <a:rPr lang="en-US" sz="1200" b="1">
                <a:latin typeface="Calibri" panose="020F0502020204030204" pitchFamily="34" charset="0"/>
                <a:ea typeface="Calibri" panose="020F0502020204030204" pitchFamily="34" charset="0"/>
              </a:rPr>
              <a:t>Note: </a:t>
            </a:r>
            <a:r>
              <a:rPr lang="en-US" sz="1200">
                <a:latin typeface="Calibri" panose="020F0502020204030204" pitchFamily="34" charset="0"/>
                <a:ea typeface="Calibri" panose="020F0502020204030204" pitchFamily="34" charset="0"/>
              </a:rPr>
              <a:t>Need to validate if the above impacts were addressed and changes completed in past ?</a:t>
            </a:r>
          </a:p>
          <a:p>
            <a:pPr marL="0" indent="0">
              <a:buNone/>
            </a:pPr>
            <a:endParaRPr lang="en-US" sz="1200" b="1"/>
          </a:p>
          <a:p>
            <a:pPr marL="0" indent="0">
              <a:buNone/>
            </a:pPr>
            <a:endParaRPr lang="en-US" sz="1200" b="1"/>
          </a:p>
          <a:p>
            <a:pPr marL="0" indent="0">
              <a:buNone/>
            </a:pPr>
            <a:endParaRPr lang="en-US" sz="1200" b="1"/>
          </a:p>
          <a:p>
            <a:pPr marR="0">
              <a:spcBef>
                <a:spcPts val="0"/>
              </a:spcBef>
              <a:spcAft>
                <a:spcPts val="0"/>
              </a:spcAft>
              <a:buFontTx/>
              <a:buChar char="-"/>
            </a:pPr>
            <a:endParaRPr lang="en-US" sz="1200">
              <a:effectLst/>
              <a:latin typeface="Calibri" panose="020F0502020204030204" pitchFamily="34" charset="0"/>
              <a:ea typeface="Calibri" panose="020F0502020204030204" pitchFamily="34" charset="0"/>
            </a:endParaRPr>
          </a:p>
          <a:p>
            <a:pPr marR="0">
              <a:spcBef>
                <a:spcPts val="0"/>
              </a:spcBef>
              <a:spcAft>
                <a:spcPts val="0"/>
              </a:spcAft>
              <a:buFontTx/>
              <a:buChar char="-"/>
            </a:pPr>
            <a:endParaRPr lang="en-US" sz="1200">
              <a:latin typeface="Calibri" panose="020F0502020204030204" pitchFamily="34" charset="0"/>
              <a:ea typeface="Calibri" panose="020F0502020204030204" pitchFamily="34" charset="0"/>
            </a:endParaRPr>
          </a:p>
          <a:p>
            <a:pPr marR="0">
              <a:spcBef>
                <a:spcPts val="0"/>
              </a:spcBef>
              <a:spcAft>
                <a:spcPts val="0"/>
              </a:spcAft>
              <a:buFontTx/>
              <a:buChar char="-"/>
            </a:pPr>
            <a:endParaRPr lang="en-US" sz="1200">
              <a:effectLst/>
              <a:latin typeface="Calibri" panose="020F0502020204030204" pitchFamily="34" charset="0"/>
              <a:ea typeface="Calibri" panose="020F0502020204030204" pitchFamily="34" charset="0"/>
            </a:endParaRPr>
          </a:p>
          <a:p>
            <a:pPr marR="0">
              <a:spcBef>
                <a:spcPts val="0"/>
              </a:spcBef>
              <a:spcAft>
                <a:spcPts val="0"/>
              </a:spcAft>
              <a:buFontTx/>
              <a:buChar char="-"/>
            </a:pPr>
            <a:endParaRPr lang="en-US" sz="1200">
              <a:latin typeface="Calibri" panose="020F0502020204030204" pitchFamily="34" charset="0"/>
              <a:ea typeface="Calibri" panose="020F0502020204030204" pitchFamily="34" charset="0"/>
            </a:endParaRPr>
          </a:p>
          <a:p>
            <a:pPr marR="0">
              <a:spcBef>
                <a:spcPts val="0"/>
              </a:spcBef>
              <a:spcAft>
                <a:spcPts val="0"/>
              </a:spcAft>
              <a:buFontTx/>
              <a:buChar char="-"/>
            </a:pPr>
            <a:endParaRPr lang="en-US" sz="1200">
              <a:effectLst/>
              <a:latin typeface="Calibri" panose="020F0502020204030204" pitchFamily="34" charset="0"/>
              <a:ea typeface="Calibri" panose="020F0502020204030204" pitchFamily="34" charset="0"/>
            </a:endParaRPr>
          </a:p>
          <a:p>
            <a:pPr marR="0">
              <a:spcBef>
                <a:spcPts val="0"/>
              </a:spcBef>
              <a:spcAft>
                <a:spcPts val="0"/>
              </a:spcAft>
              <a:buFontTx/>
              <a:buChar char="-"/>
            </a:pPr>
            <a:endParaRPr lang="en-US" sz="1200">
              <a:latin typeface="Calibri" panose="020F0502020204030204" pitchFamily="34" charset="0"/>
              <a:ea typeface="Calibri" panose="020F0502020204030204" pitchFamily="34" charset="0"/>
            </a:endParaRPr>
          </a:p>
          <a:p>
            <a:pPr marR="0">
              <a:spcBef>
                <a:spcPts val="0"/>
              </a:spcBef>
              <a:spcAft>
                <a:spcPts val="0"/>
              </a:spcAft>
              <a:buFontTx/>
              <a:buChar char="-"/>
            </a:pPr>
            <a:endParaRPr lang="en-US" sz="1200">
              <a:effectLst/>
              <a:latin typeface="Calibri" panose="020F0502020204030204" pitchFamily="34" charset="0"/>
              <a:ea typeface="Calibri" panose="020F0502020204030204" pitchFamily="34" charset="0"/>
            </a:endParaRPr>
          </a:p>
          <a:p>
            <a:pPr marR="0">
              <a:spcBef>
                <a:spcPts val="0"/>
              </a:spcBef>
              <a:spcAft>
                <a:spcPts val="0"/>
              </a:spcAft>
              <a:buFontTx/>
              <a:buChar char="-"/>
            </a:pPr>
            <a:endParaRPr lang="en-US" sz="1200">
              <a:latin typeface="Calibri" panose="020F0502020204030204" pitchFamily="34" charset="0"/>
              <a:ea typeface="Calibri" panose="020F0502020204030204" pitchFamily="34" charset="0"/>
            </a:endParaRPr>
          </a:p>
          <a:p>
            <a:pPr marR="0">
              <a:spcBef>
                <a:spcPts val="0"/>
              </a:spcBef>
              <a:spcAft>
                <a:spcPts val="0"/>
              </a:spcAft>
              <a:buFontTx/>
              <a:buChar char="-"/>
            </a:pPr>
            <a:endParaRPr lang="en-US" sz="1200">
              <a:effectLst/>
              <a:latin typeface="Calibri" panose="020F0502020204030204" pitchFamily="34" charset="0"/>
              <a:ea typeface="Calibri" panose="020F0502020204030204" pitchFamily="34" charset="0"/>
            </a:endParaRPr>
          </a:p>
          <a:p>
            <a:pPr marR="0">
              <a:spcBef>
                <a:spcPts val="0"/>
              </a:spcBef>
              <a:spcAft>
                <a:spcPts val="0"/>
              </a:spcAft>
              <a:buFontTx/>
              <a:buChar char="-"/>
            </a:pPr>
            <a:endParaRPr lang="en-US" sz="1200">
              <a:latin typeface="Calibri" panose="020F0502020204030204" pitchFamily="34" charset="0"/>
              <a:ea typeface="Calibri" panose="020F0502020204030204" pitchFamily="34" charset="0"/>
            </a:endParaRPr>
          </a:p>
          <a:p>
            <a:pPr marR="0">
              <a:spcBef>
                <a:spcPts val="0"/>
              </a:spcBef>
              <a:spcAft>
                <a:spcPts val="0"/>
              </a:spcAft>
              <a:buFontTx/>
              <a:buChar char="-"/>
            </a:pPr>
            <a:endParaRPr lang="en-US" sz="1200">
              <a:effectLst/>
              <a:latin typeface="Calibri" panose="020F0502020204030204" pitchFamily="34" charset="0"/>
              <a:ea typeface="Calibri" panose="020F0502020204030204" pitchFamily="34" charset="0"/>
            </a:endParaRPr>
          </a:p>
          <a:p>
            <a:pPr marR="0">
              <a:spcBef>
                <a:spcPts val="0"/>
              </a:spcBef>
              <a:spcAft>
                <a:spcPts val="0"/>
              </a:spcAft>
              <a:buFontTx/>
              <a:buChar char="-"/>
            </a:pPr>
            <a:endParaRPr lang="en-US" sz="1200">
              <a:latin typeface="Calibri" panose="020F0502020204030204" pitchFamily="34" charset="0"/>
              <a:ea typeface="Calibri" panose="020F0502020204030204" pitchFamily="34" charset="0"/>
            </a:endParaRPr>
          </a:p>
          <a:p>
            <a:pPr marR="0">
              <a:spcBef>
                <a:spcPts val="0"/>
              </a:spcBef>
              <a:spcAft>
                <a:spcPts val="0"/>
              </a:spcAft>
              <a:buFontTx/>
              <a:buChar char="-"/>
            </a:pPr>
            <a:endParaRPr lang="en-US" sz="1200">
              <a:latin typeface="Calibri" panose="020F0502020204030204" pitchFamily="34" charset="0"/>
              <a:ea typeface="Calibri" panose="020F0502020204030204" pitchFamily="34" charset="0"/>
            </a:endParaRPr>
          </a:p>
          <a:p>
            <a:pPr marR="0">
              <a:spcBef>
                <a:spcPts val="0"/>
              </a:spcBef>
              <a:spcAft>
                <a:spcPts val="0"/>
              </a:spcAft>
              <a:buFontTx/>
              <a:buChar char="-"/>
            </a:pPr>
            <a:endParaRPr lang="en-US" sz="1200">
              <a:latin typeface="Calibri" panose="020F0502020204030204" pitchFamily="34" charset="0"/>
              <a:ea typeface="Calibri" panose="020F0502020204030204" pitchFamily="34" charset="0"/>
            </a:endParaRPr>
          </a:p>
          <a:p>
            <a:pPr marR="0">
              <a:spcBef>
                <a:spcPts val="0"/>
              </a:spcBef>
              <a:spcAft>
                <a:spcPts val="0"/>
              </a:spcAft>
              <a:buFontTx/>
              <a:buChar char="-"/>
            </a:pPr>
            <a:endParaRPr lang="en-US" sz="1200">
              <a:latin typeface="Calibri" panose="020F0502020204030204" pitchFamily="34" charset="0"/>
              <a:ea typeface="Calibri" panose="020F0502020204030204" pitchFamily="34" charset="0"/>
            </a:endParaRPr>
          </a:p>
          <a:p>
            <a:pPr marR="0">
              <a:spcBef>
                <a:spcPts val="0"/>
              </a:spcBef>
              <a:spcAft>
                <a:spcPts val="0"/>
              </a:spcAft>
              <a:buFontTx/>
              <a:buChar char="-"/>
            </a:pPr>
            <a:endParaRPr lang="en-US" sz="1200">
              <a:latin typeface="Calibri" panose="020F0502020204030204" pitchFamily="34" charset="0"/>
              <a:ea typeface="Calibri" panose="020F0502020204030204" pitchFamily="34" charset="0"/>
            </a:endParaRPr>
          </a:p>
          <a:p>
            <a:pPr marR="0">
              <a:spcBef>
                <a:spcPts val="0"/>
              </a:spcBef>
              <a:spcAft>
                <a:spcPts val="0"/>
              </a:spcAft>
              <a:buFontTx/>
              <a:buChar char="-"/>
            </a:pPr>
            <a:endParaRPr lang="en-US" sz="1200">
              <a:latin typeface="Calibri" panose="020F0502020204030204" pitchFamily="34" charset="0"/>
              <a:ea typeface="Calibri" panose="020F0502020204030204" pitchFamily="34" charset="0"/>
            </a:endParaRPr>
          </a:p>
          <a:p>
            <a:pPr marL="0" marR="0" indent="0">
              <a:spcBef>
                <a:spcPts val="0"/>
              </a:spcBef>
              <a:spcAft>
                <a:spcPts val="0"/>
              </a:spcAft>
              <a:buNone/>
            </a:pPr>
            <a:endParaRPr lang="en-US" sz="700">
              <a:effectLst/>
              <a:latin typeface="Calibri" panose="020F0502020204030204" pitchFamily="34" charset="0"/>
              <a:ea typeface="Calibri" panose="020F0502020204030204" pitchFamily="34" charset="0"/>
            </a:endParaRPr>
          </a:p>
        </p:txBody>
      </p:sp>
      <p:sp>
        <p:nvSpPr>
          <p:cNvPr id="3" name="Slide Number Placeholder 2">
            <a:extLst>
              <a:ext uri="{FF2B5EF4-FFF2-40B4-BE49-F238E27FC236}">
                <a16:creationId xmlns:a16="http://schemas.microsoft.com/office/drawing/2014/main" id="{FA9ABF99-5DB3-49CC-8CB1-F5C88761698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F9BDA0-AF0E-4BA8-B742-3B9C92A3E6FE}" type="slidenum">
              <a:rPr kumimoji="0" lang="en-US" sz="900" b="0" i="0" u="none" strike="noStrike" kern="1200" cap="none" spc="0" normalizeH="0" baseline="0" noProof="0" smtClean="0">
                <a:ln>
                  <a:noFill/>
                </a:ln>
                <a:solidFill>
                  <a:srgbClr val="8C9599"/>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65</a:t>
            </a:fld>
            <a:endParaRPr kumimoji="0" lang="en-US" sz="900" b="0" i="0" u="none" strike="noStrike" kern="1200" cap="none" spc="0" normalizeH="0" baseline="0" noProof="0">
              <a:ln>
                <a:noFill/>
              </a:ln>
              <a:solidFill>
                <a:srgbClr val="8C9599"/>
              </a:solidFill>
              <a:effectLst/>
              <a:uLnTx/>
              <a:uFillTx/>
              <a:latin typeface="Arial"/>
              <a:ea typeface="+mn-ea"/>
              <a:cs typeface="+mn-cs"/>
            </a:endParaRPr>
          </a:p>
        </p:txBody>
      </p:sp>
      <p:sp>
        <p:nvSpPr>
          <p:cNvPr id="4" name="Title 3">
            <a:extLst>
              <a:ext uri="{FF2B5EF4-FFF2-40B4-BE49-F238E27FC236}">
                <a16:creationId xmlns:a16="http://schemas.microsoft.com/office/drawing/2014/main" id="{27A650EE-D079-423C-AA95-7554C6B87124}"/>
              </a:ext>
            </a:extLst>
          </p:cNvPr>
          <p:cNvSpPr>
            <a:spLocks noGrp="1"/>
          </p:cNvSpPr>
          <p:nvPr>
            <p:ph type="title"/>
          </p:nvPr>
        </p:nvSpPr>
        <p:spPr>
          <a:xfrm>
            <a:off x="800101" y="100668"/>
            <a:ext cx="6552044" cy="646501"/>
          </a:xfrm>
        </p:spPr>
        <p:txBody>
          <a:bodyPr>
            <a:normAutofit fontScale="90000"/>
          </a:bodyPr>
          <a:lstStyle/>
          <a:p>
            <a:br>
              <a:rPr lang="en-US" sz="1800">
                <a:solidFill>
                  <a:schemeClr val="accent1"/>
                </a:solidFill>
              </a:rPr>
            </a:br>
            <a:br>
              <a:rPr lang="en-US" sz="1800">
                <a:solidFill>
                  <a:schemeClr val="accent1"/>
                </a:solidFill>
              </a:rPr>
            </a:br>
            <a:br>
              <a:rPr lang="en-US" sz="1800">
                <a:solidFill>
                  <a:schemeClr val="accent1"/>
                </a:solidFill>
              </a:rPr>
            </a:br>
            <a:br>
              <a:rPr lang="en-US" sz="1800">
                <a:solidFill>
                  <a:schemeClr val="accent1"/>
                </a:solidFill>
              </a:rPr>
            </a:br>
            <a:br>
              <a:rPr lang="en-US" sz="1800">
                <a:solidFill>
                  <a:schemeClr val="accent1"/>
                </a:solidFill>
              </a:rPr>
            </a:br>
            <a:br>
              <a:rPr lang="en-US" sz="1800">
                <a:solidFill>
                  <a:schemeClr val="accent1"/>
                </a:solidFill>
              </a:rPr>
            </a:br>
            <a:br>
              <a:rPr lang="en-US" sz="1800">
                <a:solidFill>
                  <a:schemeClr val="accent1"/>
                </a:solidFill>
              </a:rPr>
            </a:br>
            <a:br>
              <a:rPr lang="en-US" sz="1800">
                <a:solidFill>
                  <a:schemeClr val="accent1"/>
                </a:solidFill>
              </a:rPr>
            </a:br>
            <a:br>
              <a:rPr lang="en-US" sz="1800">
                <a:solidFill>
                  <a:schemeClr val="accent1"/>
                </a:solidFill>
              </a:rPr>
            </a:br>
            <a:br>
              <a:rPr lang="en-US" sz="1800">
                <a:solidFill>
                  <a:schemeClr val="accent1"/>
                </a:solidFill>
              </a:rPr>
            </a:br>
            <a:br>
              <a:rPr lang="en-US" sz="1800">
                <a:solidFill>
                  <a:schemeClr val="accent1"/>
                </a:solidFill>
              </a:rPr>
            </a:br>
            <a:br>
              <a:rPr lang="en-US" sz="1800">
                <a:solidFill>
                  <a:schemeClr val="accent1"/>
                </a:solidFill>
              </a:rPr>
            </a:br>
            <a:br>
              <a:rPr lang="en-US" sz="1800">
                <a:solidFill>
                  <a:schemeClr val="accent1"/>
                </a:solidFill>
              </a:rPr>
            </a:br>
            <a:br>
              <a:rPr lang="en-US" sz="1800">
                <a:solidFill>
                  <a:schemeClr val="accent1"/>
                </a:solidFill>
              </a:rPr>
            </a:br>
            <a:br>
              <a:rPr lang="en-US" sz="1800">
                <a:solidFill>
                  <a:schemeClr val="accent1"/>
                </a:solidFill>
              </a:rPr>
            </a:br>
            <a:br>
              <a:rPr lang="en-US" sz="1800">
                <a:solidFill>
                  <a:schemeClr val="accent1"/>
                </a:solidFill>
              </a:rPr>
            </a:br>
            <a:br>
              <a:rPr lang="en-US" sz="1800">
                <a:solidFill>
                  <a:schemeClr val="accent1"/>
                </a:solidFill>
              </a:rPr>
            </a:br>
            <a:br>
              <a:rPr lang="en-US" sz="1800">
                <a:solidFill>
                  <a:schemeClr val="accent1"/>
                </a:solidFill>
              </a:rPr>
            </a:br>
            <a:br>
              <a:rPr lang="en-US" sz="1800">
                <a:solidFill>
                  <a:schemeClr val="accent1"/>
                </a:solidFill>
              </a:rPr>
            </a:br>
            <a:br>
              <a:rPr lang="en-US" sz="1800">
                <a:solidFill>
                  <a:schemeClr val="accent1"/>
                </a:solidFill>
              </a:rPr>
            </a:br>
            <a:br>
              <a:rPr lang="en-US" sz="1800">
                <a:solidFill>
                  <a:schemeClr val="accent1"/>
                </a:solidFill>
              </a:rPr>
            </a:br>
            <a:br>
              <a:rPr lang="en-US" sz="1800">
                <a:solidFill>
                  <a:schemeClr val="accent1"/>
                </a:solidFill>
              </a:rPr>
            </a:br>
            <a:br>
              <a:rPr lang="en-US" sz="1800">
                <a:solidFill>
                  <a:schemeClr val="accent1"/>
                </a:solidFill>
              </a:rPr>
            </a:br>
            <a:br>
              <a:rPr lang="en-US" sz="2200">
                <a:solidFill>
                  <a:schemeClr val="accent1"/>
                </a:solidFill>
              </a:rPr>
            </a:br>
            <a:br>
              <a:rPr lang="en-US" sz="2200">
                <a:solidFill>
                  <a:schemeClr val="accent1"/>
                </a:solidFill>
              </a:rPr>
            </a:br>
            <a:endParaRPr lang="en-US" sz="2200"/>
          </a:p>
        </p:txBody>
      </p:sp>
      <p:sp>
        <p:nvSpPr>
          <p:cNvPr id="5" name="Rectangle 4">
            <a:extLst>
              <a:ext uri="{FF2B5EF4-FFF2-40B4-BE49-F238E27FC236}">
                <a16:creationId xmlns:a16="http://schemas.microsoft.com/office/drawing/2014/main" id="{2397D47E-66E1-4061-97A7-FE581EE78C7B}"/>
              </a:ext>
            </a:extLst>
          </p:cNvPr>
          <p:cNvSpPr/>
          <p:nvPr/>
        </p:nvSpPr>
        <p:spPr>
          <a:xfrm>
            <a:off x="8040656" y="82227"/>
            <a:ext cx="1056700" cy="400110"/>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w="12700" cmpd="sng">
                  <a:solidFill>
                    <a:srgbClr val="9521AD"/>
                  </a:solidFill>
                  <a:prstDash val="solid"/>
                </a:ln>
                <a:gradFill>
                  <a:gsLst>
                    <a:gs pos="0">
                      <a:srgbClr val="9521AD"/>
                    </a:gs>
                    <a:gs pos="4000">
                      <a:srgbClr val="9521AD">
                        <a:lumMod val="60000"/>
                        <a:lumOff val="40000"/>
                      </a:srgbClr>
                    </a:gs>
                    <a:gs pos="87000">
                      <a:srgbClr val="9521AD">
                        <a:lumMod val="20000"/>
                        <a:lumOff val="80000"/>
                      </a:srgbClr>
                    </a:gs>
                  </a:gsLst>
                  <a:lin ang="5400000"/>
                </a:gradFill>
                <a:effectLst/>
                <a:uLnTx/>
                <a:uFillTx/>
                <a:latin typeface="Arial"/>
                <a:ea typeface="+mn-ea"/>
                <a:cs typeface="+mn-cs"/>
              </a:rPr>
              <a:t>DRAFT</a:t>
            </a:r>
          </a:p>
        </p:txBody>
      </p:sp>
      <p:sp>
        <p:nvSpPr>
          <p:cNvPr id="8" name="Rectangle 7">
            <a:extLst>
              <a:ext uri="{FF2B5EF4-FFF2-40B4-BE49-F238E27FC236}">
                <a16:creationId xmlns:a16="http://schemas.microsoft.com/office/drawing/2014/main" id="{48D494F1-6129-4D4C-B0E5-219A997E629A}"/>
              </a:ext>
            </a:extLst>
          </p:cNvPr>
          <p:cNvSpPr/>
          <p:nvPr/>
        </p:nvSpPr>
        <p:spPr>
          <a:xfrm>
            <a:off x="403745" y="193086"/>
            <a:ext cx="7129169" cy="461665"/>
          </a:xfrm>
          <a:prstGeom prst="rect">
            <a:avLst/>
          </a:prstGeom>
        </p:spPr>
        <p:txBody>
          <a:bodyPr wrap="square">
            <a:spAutoFit/>
          </a:bodyPr>
          <a:lstStyle/>
          <a:p>
            <a:r>
              <a:rPr lang="en-US" sz="1200" b="1">
                <a:solidFill>
                  <a:schemeClr val="accent1"/>
                </a:solidFill>
              </a:rPr>
              <a:t>BA Reporting for USP - Application Impacts </a:t>
            </a:r>
          </a:p>
          <a:p>
            <a:r>
              <a:rPr lang="en-US" sz="1200" b="1">
                <a:solidFill>
                  <a:schemeClr val="accent1"/>
                </a:solidFill>
              </a:rPr>
              <a:t>   ( Internal &amp; External - Large Group 99+)</a:t>
            </a:r>
          </a:p>
        </p:txBody>
      </p:sp>
    </p:spTree>
    <p:extLst>
      <p:ext uri="{BB962C8B-B14F-4D97-AF65-F5344CB8AC3E}">
        <p14:creationId xmlns:p14="http://schemas.microsoft.com/office/powerpoint/2010/main" val="3450211380"/>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CC229-033B-EE0B-C2D5-6EBF4FF6C6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668FEA-FA6A-6F14-4F99-73624C2D167E}"/>
              </a:ext>
            </a:extLst>
          </p:cNvPr>
          <p:cNvSpPr>
            <a:spLocks noGrp="1"/>
          </p:cNvSpPr>
          <p:nvPr>
            <p:ph type="ctrTitle"/>
          </p:nvPr>
        </p:nvSpPr>
        <p:spPr>
          <a:xfrm>
            <a:off x="3857625" y="1371600"/>
            <a:ext cx="5286375" cy="1824681"/>
          </a:xfrm>
        </p:spPr>
        <p:txBody>
          <a:bodyPr/>
          <a:lstStyle/>
          <a:p>
            <a:r>
              <a:rPr lang="en-US" sz="2400"/>
              <a:t>Appendix:</a:t>
            </a:r>
            <a:br>
              <a:rPr lang="en-US" sz="2400"/>
            </a:br>
            <a:br>
              <a:rPr lang="en-US" sz="2400"/>
            </a:br>
            <a:endParaRPr lang="en-US" sz="1400"/>
          </a:p>
        </p:txBody>
      </p:sp>
    </p:spTree>
    <p:extLst>
      <p:ext uri="{BB962C8B-B14F-4D97-AF65-F5344CB8AC3E}">
        <p14:creationId xmlns:p14="http://schemas.microsoft.com/office/powerpoint/2010/main" val="1046201332"/>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KXkfn4yvTYuGA90aS_ssMg"/>
</p:tagLst>
</file>

<file path=ppt/theme/theme1.xml><?xml version="1.0" encoding="utf-8"?>
<a:theme xmlns:a="http://schemas.openxmlformats.org/drawingml/2006/main" name="UnitedHealthcare">
  <a:themeElements>
    <a:clrScheme name="UnitedHealthcare_AllColors_3.0">
      <a:dk1>
        <a:srgbClr val="8C9599"/>
      </a:dk1>
      <a:lt1>
        <a:srgbClr val="FFFFFF"/>
      </a:lt1>
      <a:dk2>
        <a:srgbClr val="122377"/>
      </a:dk2>
      <a:lt2>
        <a:srgbClr val="C0E9FF"/>
      </a:lt2>
      <a:accent1>
        <a:srgbClr val="003DA1"/>
      </a:accent1>
      <a:accent2>
        <a:srgbClr val="FF5F0E"/>
      </a:accent2>
      <a:accent3>
        <a:srgbClr val="00A8F7"/>
      </a:accent3>
      <a:accent4>
        <a:srgbClr val="9521AD"/>
      </a:accent4>
      <a:accent5>
        <a:srgbClr val="21B01E"/>
      </a:accent5>
      <a:accent6>
        <a:srgbClr val="E91B18"/>
      </a:accent6>
      <a:hlink>
        <a:srgbClr val="003DA1"/>
      </a:hlink>
      <a:folHlink>
        <a:srgbClr val="00A8F7"/>
      </a:folHlink>
    </a:clrScheme>
    <a:fontScheme name="UnitedHealthcar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A8F7"/>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rgbClr val="00A8F7"/>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marL="171450" indent="-171450">
          <a:spcAft>
            <a:spcPts val="400"/>
          </a:spcAft>
          <a:buClr>
            <a:schemeClr val="accent3"/>
          </a:buClr>
          <a:buFont typeface="Arial" panose="020B0604020202020204" pitchFamily="34" charset="0"/>
          <a:buChar char="•"/>
          <a:defRPr dirty="0" smtClean="0">
            <a:solidFill>
              <a:srgbClr val="4D4D4D"/>
            </a:solidFill>
          </a:defRPr>
        </a:defPPr>
      </a:lstStyle>
    </a:txDef>
  </a:objectDefaults>
  <a:extraClrSchemeLst/>
  <a:extLst>
    <a:ext uri="{05A4C25C-085E-4340-85A3-A5531E510DB2}">
      <thm15:themeFamily xmlns:thm15="http://schemas.microsoft.com/office/thememl/2012/main" name="UHCTechnology_Template_v2" id="{DBA7EF4D-AD6C-3B4E-B2E7-DFFBAC215C54}" vid="{5685A221-050E-574F-842A-A51F198A0CB8}"/>
    </a:ext>
  </a:extLst>
</a:theme>
</file>

<file path=ppt/theme/theme2.xml><?xml version="1.0" encoding="utf-8"?>
<a:theme xmlns:a="http://schemas.openxmlformats.org/drawingml/2006/main" name="UHC_2017_Expanded_Template_Wide_EI">
  <a:themeElements>
    <a:clrScheme name="UnitedHealthcare_AllColors_3.0">
      <a:dk1>
        <a:srgbClr val="8C9599"/>
      </a:dk1>
      <a:lt1>
        <a:srgbClr val="FFFFFF"/>
      </a:lt1>
      <a:dk2>
        <a:srgbClr val="122377"/>
      </a:dk2>
      <a:lt2>
        <a:srgbClr val="C0E9FF"/>
      </a:lt2>
      <a:accent1>
        <a:srgbClr val="003DA1"/>
      </a:accent1>
      <a:accent2>
        <a:srgbClr val="FF5F0E"/>
      </a:accent2>
      <a:accent3>
        <a:srgbClr val="00A8F7"/>
      </a:accent3>
      <a:accent4>
        <a:srgbClr val="9521AD"/>
      </a:accent4>
      <a:accent5>
        <a:srgbClr val="21B01E"/>
      </a:accent5>
      <a:accent6>
        <a:srgbClr val="E91B18"/>
      </a:accent6>
      <a:hlink>
        <a:srgbClr val="003DA1"/>
      </a:hlink>
      <a:folHlink>
        <a:srgbClr val="00A8F7"/>
      </a:folHlink>
    </a:clrScheme>
    <a:fontScheme name="UnitedHealthcar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A8F7"/>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rgbClr val="00A8F7"/>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marL="171450" indent="-171450">
          <a:spcAft>
            <a:spcPts val="400"/>
          </a:spcAft>
          <a:buClr>
            <a:schemeClr val="accent3"/>
          </a:buClr>
          <a:buFont typeface="Arial" panose="020B0604020202020204" pitchFamily="34" charset="0"/>
          <a:buChar char="•"/>
          <a:defRPr dirty="0" smtClean="0">
            <a:solidFill>
              <a:srgbClr val="4D4D4D"/>
            </a:solidFill>
          </a:defRPr>
        </a:defPPr>
      </a:lstStyle>
    </a:txDef>
  </a:objectDefaults>
  <a:extraClrSchemeLst/>
</a:theme>
</file>

<file path=ppt/theme/theme3.xml><?xml version="1.0" encoding="utf-8"?>
<a:theme xmlns:a="http://schemas.openxmlformats.org/drawingml/2006/main" name="Office Theme">
  <a:themeElements>
    <a:clrScheme name="UnitedHealthcare_AllColors_3.0">
      <a:dk1>
        <a:srgbClr val="8C9599"/>
      </a:dk1>
      <a:lt1>
        <a:srgbClr val="FFFFFF"/>
      </a:lt1>
      <a:dk2>
        <a:srgbClr val="122377"/>
      </a:dk2>
      <a:lt2>
        <a:srgbClr val="C0E9FF"/>
      </a:lt2>
      <a:accent1>
        <a:srgbClr val="003DA1"/>
      </a:accent1>
      <a:accent2>
        <a:srgbClr val="FF5F0E"/>
      </a:accent2>
      <a:accent3>
        <a:srgbClr val="00A8F7"/>
      </a:accent3>
      <a:accent4>
        <a:srgbClr val="9521AD"/>
      </a:accent4>
      <a:accent5>
        <a:srgbClr val="21B01E"/>
      </a:accent5>
      <a:accent6>
        <a:srgbClr val="E91B18"/>
      </a:accent6>
      <a:hlink>
        <a:srgbClr val="003DA1"/>
      </a:hlink>
      <a:folHlink>
        <a:srgbClr val="00A8F7"/>
      </a:folHlink>
    </a:clrScheme>
    <a:fontScheme name="UnitedHealthcar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UnitedHealthcare_AllColors_3.0">
      <a:dk1>
        <a:srgbClr val="8C9599"/>
      </a:dk1>
      <a:lt1>
        <a:srgbClr val="FFFFFF"/>
      </a:lt1>
      <a:dk2>
        <a:srgbClr val="122377"/>
      </a:dk2>
      <a:lt2>
        <a:srgbClr val="C0E9FF"/>
      </a:lt2>
      <a:accent1>
        <a:srgbClr val="003DA1"/>
      </a:accent1>
      <a:accent2>
        <a:srgbClr val="FF5F0E"/>
      </a:accent2>
      <a:accent3>
        <a:srgbClr val="00A8F7"/>
      </a:accent3>
      <a:accent4>
        <a:srgbClr val="9521AD"/>
      </a:accent4>
      <a:accent5>
        <a:srgbClr val="21B01E"/>
      </a:accent5>
      <a:accent6>
        <a:srgbClr val="E91B18"/>
      </a:accent6>
      <a:hlink>
        <a:srgbClr val="003DA1"/>
      </a:hlink>
      <a:folHlink>
        <a:srgbClr val="00A8F7"/>
      </a:folHlink>
    </a:clrScheme>
    <a:fontScheme name="UnitedHealthcar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36716fb1-4a12-4469-8a07-f1cc905dfa80">
      <UserInfo>
        <DisplayName/>
        <AccountId xsi:nil="true"/>
        <AccountType/>
      </UserInfo>
    </SharedWithUsers>
    <lcf76f155ced4ddcb4097134ff3c332f xmlns="8c2787b0-6c1e-4283-ad02-40c3b8fc0e51">
      <Terms xmlns="http://schemas.microsoft.com/office/infopath/2007/PartnerControls"/>
    </lcf76f155ced4ddcb4097134ff3c332f>
    <TaxCatchAll xmlns="36716fb1-4a12-4469-8a07-f1cc905dfa80"/>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C29DF41DE54444382374BD281E09C34" ma:contentTypeVersion="15" ma:contentTypeDescription="Create a new document." ma:contentTypeScope="" ma:versionID="cf8efec92b9483a54b6a4b1d311499e5">
  <xsd:schema xmlns:xsd="http://www.w3.org/2001/XMLSchema" xmlns:xs="http://www.w3.org/2001/XMLSchema" xmlns:p="http://schemas.microsoft.com/office/2006/metadata/properties" xmlns:ns2="8c2787b0-6c1e-4283-ad02-40c3b8fc0e51" xmlns:ns3="36716fb1-4a12-4469-8a07-f1cc905dfa80" targetNamespace="http://schemas.microsoft.com/office/2006/metadata/properties" ma:root="true" ma:fieldsID="a457f0b42269427881e3866e94fc4493" ns2:_="" ns3:_="">
    <xsd:import namespace="8c2787b0-6c1e-4283-ad02-40c3b8fc0e51"/>
    <xsd:import namespace="36716fb1-4a12-4469-8a07-f1cc905dfa80"/>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ObjectDetectorVersions" minOccurs="0"/>
                <xsd:element ref="ns2:MediaServiceSearchProperties"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c2787b0-6c1e-4283-ad02-40c3b8fc0e5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2a6b2b66-40d8-4e06-8a39-adc3ecd4519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DateTaken" ma:index="21" nillable="true" ma:displayName="MediaServiceDateTaken" ma:hidden="true" ma:indexed="true" ma:internalName="MediaServiceDateTake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6716fb1-4a12-4469-8a07-f1cc905dfa80"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8" nillable="true" ma:displayName="Taxonomy Catch All Column" ma:hidden="true" ma:list="{5b1bb424-d6bc-4d2c-a540-2efb4e3bade6}" ma:internalName="TaxCatchAll" ma:showField="CatchAllData" ma:web="36716fb1-4a12-4469-8a07-f1cc905dfa8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857BD6E-5CA8-4951-A9D2-61B31334541F}">
  <ds:schemaRefs>
    <ds:schemaRef ds:uri="36716fb1-4a12-4469-8a07-f1cc905dfa80"/>
    <ds:schemaRef ds:uri="http://schemas.openxmlformats.org/package/2006/metadata/core-properties"/>
    <ds:schemaRef ds:uri="http://purl.org/dc/terms/"/>
    <ds:schemaRef ds:uri="http://schemas.microsoft.com/office/infopath/2007/PartnerControls"/>
    <ds:schemaRef ds:uri="http://schemas.microsoft.com/office/2006/documentManagement/types"/>
    <ds:schemaRef ds:uri="8c2787b0-6c1e-4283-ad02-40c3b8fc0e51"/>
    <ds:schemaRef ds:uri="http://purl.org/dc/elements/1.1/"/>
    <ds:schemaRef ds:uri="http://schemas.microsoft.com/office/2006/metadata/properties"/>
    <ds:schemaRef ds:uri="http://www.w3.org/XML/1998/namespace"/>
    <ds:schemaRef ds:uri="http://purl.org/dc/dcmitype/"/>
  </ds:schemaRefs>
</ds:datastoreItem>
</file>

<file path=customXml/itemProps2.xml><?xml version="1.0" encoding="utf-8"?>
<ds:datastoreItem xmlns:ds="http://schemas.openxmlformats.org/officeDocument/2006/customXml" ds:itemID="{E5B37333-FC49-4B18-8B6E-06846D8789DD}">
  <ds:schemaRefs>
    <ds:schemaRef ds:uri="http://schemas.microsoft.com/sharepoint/v3/contenttype/forms"/>
  </ds:schemaRefs>
</ds:datastoreItem>
</file>

<file path=customXml/itemProps3.xml><?xml version="1.0" encoding="utf-8"?>
<ds:datastoreItem xmlns:ds="http://schemas.openxmlformats.org/officeDocument/2006/customXml" ds:itemID="{28E10BF7-5B10-430B-A8B9-1F99BDEF144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c2787b0-6c1e-4283-ad02-40c3b8fc0e51"/>
    <ds:schemaRef ds:uri="36716fb1-4a12-4469-8a07-f1cc905dfa8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605</TotalTime>
  <Words>10835</Words>
  <Application>Microsoft Office PowerPoint</Application>
  <PresentationFormat>On-screen Show (16:9)</PresentationFormat>
  <Paragraphs>863</Paragraphs>
  <Slides>66</Slides>
  <Notes>22</Notes>
  <HiddenSlides>0</HiddenSlides>
  <MMClips>0</MMClips>
  <ScaleCrop>false</ScaleCrop>
  <HeadingPairs>
    <vt:vector size="8" baseType="variant">
      <vt:variant>
        <vt:lpstr>Fonts Used</vt:lpstr>
      </vt:variant>
      <vt:variant>
        <vt:i4>8</vt:i4>
      </vt:variant>
      <vt:variant>
        <vt:lpstr>Theme</vt:lpstr>
      </vt:variant>
      <vt:variant>
        <vt:i4>2</vt:i4>
      </vt:variant>
      <vt:variant>
        <vt:lpstr>Embedded OLE Servers</vt:lpstr>
      </vt:variant>
      <vt:variant>
        <vt:i4>1</vt:i4>
      </vt:variant>
      <vt:variant>
        <vt:lpstr>Slide Titles</vt:lpstr>
      </vt:variant>
      <vt:variant>
        <vt:i4>66</vt:i4>
      </vt:variant>
    </vt:vector>
  </HeadingPairs>
  <TitlesOfParts>
    <vt:vector size="77" baseType="lpstr">
      <vt:lpstr>MS PGothic</vt:lpstr>
      <vt:lpstr>Arial</vt:lpstr>
      <vt:lpstr>Arial Body</vt:lpstr>
      <vt:lpstr>Calibri</vt:lpstr>
      <vt:lpstr>Century Gothic</vt:lpstr>
      <vt:lpstr>Georgia</vt:lpstr>
      <vt:lpstr>System Font Regular</vt:lpstr>
      <vt:lpstr>Wingdings</vt:lpstr>
      <vt:lpstr>UnitedHealthcare</vt:lpstr>
      <vt:lpstr>UHC_2017_Expanded_Template_Wide_EI</vt:lpstr>
      <vt:lpstr>think-cell Slide</vt:lpstr>
      <vt:lpstr>PowerPoint Presentation</vt:lpstr>
      <vt:lpstr>Change History</vt:lpstr>
      <vt:lpstr>                         </vt:lpstr>
      <vt:lpstr>PowerPoint Presentation</vt:lpstr>
      <vt:lpstr>UnitedHealthcare Benefit Ally by the numbers</vt:lpstr>
      <vt:lpstr>Here’s how it works…</vt:lpstr>
      <vt:lpstr>Benefit Ally LG 51-99 Market Expansion - Scope </vt:lpstr>
      <vt:lpstr>Capability Overview – Phase 1 &amp; 2 (High Level requirements for FI 51-99)</vt:lpstr>
      <vt:lpstr>Capability Overview – Phase 2 (High Level requirements for FI 51-99) </vt:lpstr>
      <vt:lpstr>Capability Overview – Phase 2 (High Level requirements for FI 51-99) </vt:lpstr>
      <vt:lpstr>Benefit Ally Market Expansion – UHC FI 51-99 – Product Capabilities Impacts by Phases</vt:lpstr>
      <vt:lpstr>Customer Management Product Family Capabilities:  Case Installation &amp; Implementation Sold Case Installation &amp; Implementation  For Oxford FI UHC  LG 51-99 group size</vt:lpstr>
      <vt:lpstr>Architecture Interactions Context Diagram –  Customer Management – Customer Installation &amp; Implementation ( New Business – FI 51-99 )</vt:lpstr>
      <vt:lpstr>                          </vt:lpstr>
      <vt:lpstr>Customer Management Product Family Capabilities:  Billing Consolidated Billing Invoice &amp;  Premium   Revenue Booking  - Large Group 51-99</vt:lpstr>
      <vt:lpstr>Phase 2 - BA FI 51-99 - High Level requirements for Billing</vt:lpstr>
      <vt:lpstr>                          </vt:lpstr>
      <vt:lpstr>                          </vt:lpstr>
      <vt:lpstr>Sales Compensation &amp; Broker Commissions for BA Capabilities:  Commissions &amp; Bonus / Sales Compensation Sales Comp &amp; Broker Commission &amp; Bonus- Large Group NB 51-99 </vt:lpstr>
      <vt:lpstr>PowerPoint Presentation</vt:lpstr>
      <vt:lpstr>High Level Architecture – Broker Commissions – Context Diagram       (Current State – BA USP – BASICS  implementation )</vt:lpstr>
      <vt:lpstr>Sales Compensation Capability on USP – High Level Experience Journey Map</vt:lpstr>
      <vt:lpstr>High Level E2E Architecture – Broker Commissions &amp; Bonus (Current State)</vt:lpstr>
      <vt:lpstr>PowerPoint Presentation</vt:lpstr>
      <vt:lpstr>C101747 &amp; C101748– Dependencies &amp; Assumptions</vt:lpstr>
      <vt:lpstr>Financial Management Product Family Capability :  Supplemental Health - Finance Financial Accounting &amp; Reporting - Large Group NB 51-99 </vt:lpstr>
      <vt:lpstr>Phase 2 - BA FI 51-99 - High Level requirements for Finance</vt:lpstr>
      <vt:lpstr>High Level E2E Architecture – Financial Accounting &amp; Reporting (Current State)</vt:lpstr>
      <vt:lpstr>PowerPoint Presentation</vt:lpstr>
      <vt:lpstr>Member Management Product Family Capability &amp; DRA 1099 Reporting Capability:  Supplemental Health Implementation  Eligibility &amp; Financial 1099 Tax Reporting - Large Group NB 51-99 </vt:lpstr>
      <vt:lpstr>Phase 2 - BA FI 51-99 - High Level requirements for 1099 Tax Reporting &amp; Claims Payment</vt:lpstr>
      <vt:lpstr>Eligibility &amp; Claims (Medical &amp; Supplemental) - Large Group 99+) – Current State</vt:lpstr>
      <vt:lpstr>PowerPoint Presentation</vt:lpstr>
      <vt:lpstr>Claims Management Product Family Capability : Claims Payment &amp; Presentment  Supplemental Health Administration Claims EOBs &amp; Eligibility - Large Group NB 51-99 </vt:lpstr>
      <vt:lpstr>PowerPoint Presentation</vt:lpstr>
      <vt:lpstr>Member Management Product Family Capability : Member Fulfillment  Supplemental Health Contracts &amp; Fulfillments Supp COCs - Large Group NB 51-99 </vt:lpstr>
      <vt:lpstr>Phase 2 - BA FI 51-99 - High Level requirements for Contracts &amp; Fulfillment</vt:lpstr>
      <vt:lpstr>Member Management – Member Fulfillment – Supplemental Health COCs NB Large Group 99+ – Current State</vt:lpstr>
      <vt:lpstr>PowerPoint Presentation</vt:lpstr>
      <vt:lpstr>Large Group 99+ – Medical COCs &amp; BA COCs  (Fulfillment Materials) – Future State – Target Architecture</vt:lpstr>
      <vt:lpstr>Member Management Product Family Capability : Member Self Service  Member Access to Benefit Ally Information Benefit Summaries - Large Group NB 51-99 </vt:lpstr>
      <vt:lpstr>Phase 2 - BA FI 51-99 - High Level requirements for Member Access to BA info</vt:lpstr>
      <vt:lpstr>Member Portal – Member Self Service  Member Access of BA info (Current State)</vt:lpstr>
      <vt:lpstr>High Level Architecture – Member Portal &amp; ACET        Benefit Summaries Document – Target State Architecture</vt:lpstr>
      <vt:lpstr>(Current State – USP – BA Supplemental Health content displayed in myUHC)</vt:lpstr>
      <vt:lpstr>Current State – USP – SBC pdf &amp; content displayed under Coverage &amp; Benefits tab in myUHC </vt:lpstr>
      <vt:lpstr>Member Portal – Member Self Service - Member Access of BA info  (Large Group 100+ ) – Applications Impact</vt:lpstr>
      <vt:lpstr>Sales Product Family Capability : Sell To Customers  Broker and Employer Access to Benefit Ally Information Constituent Services - Large Group NB 51-99 </vt:lpstr>
      <vt:lpstr>Phase 2 - BA FI 51-99 - High Level requirements for  Broker &amp; Employer Access to BA</vt:lpstr>
      <vt:lpstr>Sales – Sell to Customers - Brokers Access of BA info  (Large Group 100+ ) – Applications Impact</vt:lpstr>
      <vt:lpstr>Advocacy Product Family Capability : Guided Experience  Customer Service   Constituent Services - Large Group NB 51-99 </vt:lpstr>
      <vt:lpstr>Phase 2 - BA FI 51-99 - High Level requirements for  Customer Service</vt:lpstr>
      <vt:lpstr>Advocacy – Customer Service – ACET display of BA info  (Large Group 100+ ) – Applications Impact</vt:lpstr>
      <vt:lpstr>High Level Architecture – ACET USP Commons       BA Coverage Display in ACET for Customer Service Rep</vt:lpstr>
      <vt:lpstr>High Level Architecture – ACET USP Commons       BA Benefit Summaries Display for Customer Service Rep</vt:lpstr>
      <vt:lpstr>ACET BEO – Application Impacts       General Information Display</vt:lpstr>
      <vt:lpstr>ACET USP Commons – Application Impacts Group Plan Info Display</vt:lpstr>
      <vt:lpstr>High Level Architecture – ACET USP Commons       Group Plan Display with Contract Options</vt:lpstr>
      <vt:lpstr>DRA Product Family Capability : Operational &amp; Analytical Reporting  Supplemental Health Reporting  BA Customer Reporting  - Large Group NB 51-99 </vt:lpstr>
      <vt:lpstr>Phase 2 - BA FI 51-99 - High Level requirements for  Supplemental Health Reporting</vt:lpstr>
      <vt:lpstr>DRA – Operational &amp; Analytical Reporting – BA Customer Reports (Large Group 100+ ) – Applications Impact</vt:lpstr>
      <vt:lpstr>High Level Architecture – Reporting– Internal Rpts      Future State – USP – BA Reporting – Day 1</vt:lpstr>
      <vt:lpstr>High Level Architecture – Reporting (C101744) – Internal Rpts (Future State – USP – BA Reporting – Day 2 Target Architecture Solution )</vt:lpstr>
      <vt:lpstr>High Level Architecture – BA Reporting (C101744) – External (Future State – USP – BA External Reports implementation for Customers)</vt:lpstr>
      <vt:lpstr>                         </vt:lpstr>
      <vt:lpstr>Appendix:  </vt:lpstr>
    </vt:vector>
  </TitlesOfParts>
  <Company>UnitedHealth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Solution Analysis</dc:title>
  <dc:creator>Smith-Fries, Elizabeth</dc:creator>
  <cp:lastModifiedBy>Sharma, Vandana</cp:lastModifiedBy>
  <cp:revision>5</cp:revision>
  <cp:lastPrinted>2019-03-05T23:36:09Z</cp:lastPrinted>
  <dcterms:created xsi:type="dcterms:W3CDTF">2017-04-30T13:48:41Z</dcterms:created>
  <dcterms:modified xsi:type="dcterms:W3CDTF">2026-06-03T17:13:40Z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0x0101008C29DF41DE54444382374BD281E09C34</vt:lpwstr>
  </property>
  <property fmtid="{D5CDD505-2E9C-101B-9397-08002B2CF9AE}" pid="3" name="Order">
    <vt:r8>3800</vt:r8>
  </property>
  <property fmtid="{D5CDD505-2E9C-101B-9397-08002B2CF9AE}" pid="4" name="ComplianceAssetId">
    <vt:lpwstr/>
  </property>
  <property fmtid="{D5CDD505-2E9C-101B-9397-08002B2CF9AE}" pid="5" name="MediaServiceImageTags">
    <vt:lpwstr/>
  </property>
</Properties>
</file>